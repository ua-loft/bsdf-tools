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01"/>
  </p:notesMasterIdLst>
  <p:sldIdLst>
    <p:sldId id="272" r:id="rId5"/>
    <p:sldId id="303" r:id="rId6"/>
    <p:sldId id="273" r:id="rId7"/>
    <p:sldId id="274" r:id="rId8"/>
    <p:sldId id="275" r:id="rId9"/>
    <p:sldId id="277" r:id="rId10"/>
    <p:sldId id="276" r:id="rId11"/>
    <p:sldId id="278" r:id="rId12"/>
    <p:sldId id="279" r:id="rId13"/>
    <p:sldId id="280" r:id="rId14"/>
    <p:sldId id="281" r:id="rId15"/>
    <p:sldId id="282" r:id="rId16"/>
    <p:sldId id="304" r:id="rId17"/>
    <p:sldId id="285" r:id="rId18"/>
    <p:sldId id="284" r:id="rId19"/>
    <p:sldId id="286" r:id="rId20"/>
    <p:sldId id="305" r:id="rId21"/>
    <p:sldId id="288" r:id="rId22"/>
    <p:sldId id="290" r:id="rId23"/>
    <p:sldId id="291" r:id="rId24"/>
    <p:sldId id="293" r:id="rId25"/>
    <p:sldId id="294" r:id="rId26"/>
    <p:sldId id="307" r:id="rId27"/>
    <p:sldId id="295" r:id="rId28"/>
    <p:sldId id="296" r:id="rId29"/>
    <p:sldId id="297" r:id="rId30"/>
    <p:sldId id="306" r:id="rId31"/>
    <p:sldId id="311" r:id="rId32"/>
    <p:sldId id="313" r:id="rId33"/>
    <p:sldId id="302" r:id="rId34"/>
    <p:sldId id="308" r:id="rId35"/>
    <p:sldId id="314" r:id="rId36"/>
    <p:sldId id="315" r:id="rId37"/>
    <p:sldId id="321" r:id="rId38"/>
    <p:sldId id="317" r:id="rId39"/>
    <p:sldId id="320" r:id="rId40"/>
    <p:sldId id="318" r:id="rId41"/>
    <p:sldId id="319" r:id="rId42"/>
    <p:sldId id="322" r:id="rId43"/>
    <p:sldId id="310" r:id="rId44"/>
    <p:sldId id="312" r:id="rId45"/>
    <p:sldId id="323" r:id="rId46"/>
    <p:sldId id="326" r:id="rId47"/>
    <p:sldId id="324" r:id="rId48"/>
    <p:sldId id="336" r:id="rId49"/>
    <p:sldId id="337" r:id="rId50"/>
    <p:sldId id="325" r:id="rId51"/>
    <p:sldId id="331" r:id="rId52"/>
    <p:sldId id="332" r:id="rId53"/>
    <p:sldId id="333" r:id="rId54"/>
    <p:sldId id="335" r:id="rId55"/>
    <p:sldId id="334" r:id="rId56"/>
    <p:sldId id="327" r:id="rId57"/>
    <p:sldId id="338" r:id="rId58"/>
    <p:sldId id="342" r:id="rId59"/>
    <p:sldId id="343" r:id="rId60"/>
    <p:sldId id="344" r:id="rId61"/>
    <p:sldId id="345" r:id="rId62"/>
    <p:sldId id="346" r:id="rId63"/>
    <p:sldId id="339" r:id="rId64"/>
    <p:sldId id="341" r:id="rId65"/>
    <p:sldId id="328" r:id="rId66"/>
    <p:sldId id="329" r:id="rId67"/>
    <p:sldId id="330" r:id="rId68"/>
    <p:sldId id="348" r:id="rId69"/>
    <p:sldId id="347" r:id="rId70"/>
    <p:sldId id="340" r:id="rId71"/>
    <p:sldId id="349" r:id="rId72"/>
    <p:sldId id="352" r:id="rId73"/>
    <p:sldId id="353" r:id="rId74"/>
    <p:sldId id="354" r:id="rId75"/>
    <p:sldId id="351" r:id="rId76"/>
    <p:sldId id="350" r:id="rId77"/>
    <p:sldId id="355" r:id="rId78"/>
    <p:sldId id="356" r:id="rId79"/>
    <p:sldId id="357" r:id="rId80"/>
    <p:sldId id="358" r:id="rId81"/>
    <p:sldId id="359" r:id="rId82"/>
    <p:sldId id="360" r:id="rId83"/>
    <p:sldId id="361" r:id="rId84"/>
    <p:sldId id="362" r:id="rId85"/>
    <p:sldId id="363" r:id="rId86"/>
    <p:sldId id="364" r:id="rId87"/>
    <p:sldId id="376" r:id="rId88"/>
    <p:sldId id="366" r:id="rId89"/>
    <p:sldId id="367" r:id="rId90"/>
    <p:sldId id="368" r:id="rId91"/>
    <p:sldId id="370" r:id="rId92"/>
    <p:sldId id="372" r:id="rId93"/>
    <p:sldId id="373" r:id="rId94"/>
    <p:sldId id="369" r:id="rId95"/>
    <p:sldId id="374" r:id="rId96"/>
    <p:sldId id="375" r:id="rId97"/>
    <p:sldId id="378" r:id="rId98"/>
    <p:sldId id="380" r:id="rId99"/>
    <p:sldId id="377" r:id="rId100"/>
    <p:sldId id="379" r:id="rId101"/>
    <p:sldId id="381" r:id="rId102"/>
    <p:sldId id="382" r:id="rId103"/>
    <p:sldId id="383" r:id="rId104"/>
    <p:sldId id="384" r:id="rId105"/>
    <p:sldId id="387" r:id="rId106"/>
    <p:sldId id="388" r:id="rId107"/>
    <p:sldId id="389" r:id="rId108"/>
    <p:sldId id="390" r:id="rId109"/>
    <p:sldId id="391" r:id="rId110"/>
    <p:sldId id="392" r:id="rId111"/>
    <p:sldId id="393" r:id="rId112"/>
    <p:sldId id="394" r:id="rId113"/>
    <p:sldId id="395" r:id="rId114"/>
    <p:sldId id="396" r:id="rId115"/>
    <p:sldId id="397" r:id="rId116"/>
    <p:sldId id="400" r:id="rId117"/>
    <p:sldId id="401" r:id="rId118"/>
    <p:sldId id="398" r:id="rId119"/>
    <p:sldId id="399" r:id="rId120"/>
    <p:sldId id="403" r:id="rId121"/>
    <p:sldId id="402" r:id="rId122"/>
    <p:sldId id="407" r:id="rId123"/>
    <p:sldId id="404" r:id="rId124"/>
    <p:sldId id="405" r:id="rId125"/>
    <p:sldId id="406" r:id="rId126"/>
    <p:sldId id="408" r:id="rId127"/>
    <p:sldId id="409" r:id="rId128"/>
    <p:sldId id="410" r:id="rId129"/>
    <p:sldId id="411" r:id="rId130"/>
    <p:sldId id="413" r:id="rId131"/>
    <p:sldId id="414" r:id="rId132"/>
    <p:sldId id="415" r:id="rId133"/>
    <p:sldId id="412" r:id="rId134"/>
    <p:sldId id="416" r:id="rId135"/>
    <p:sldId id="417" r:id="rId136"/>
    <p:sldId id="420" r:id="rId137"/>
    <p:sldId id="421" r:id="rId138"/>
    <p:sldId id="422" r:id="rId139"/>
    <p:sldId id="423" r:id="rId140"/>
    <p:sldId id="424" r:id="rId141"/>
    <p:sldId id="433" r:id="rId142"/>
    <p:sldId id="426" r:id="rId143"/>
    <p:sldId id="431" r:id="rId144"/>
    <p:sldId id="434" r:id="rId145"/>
    <p:sldId id="435" r:id="rId146"/>
    <p:sldId id="436" r:id="rId147"/>
    <p:sldId id="437" r:id="rId148"/>
    <p:sldId id="438" r:id="rId149"/>
    <p:sldId id="439" r:id="rId150"/>
    <p:sldId id="440" r:id="rId151"/>
    <p:sldId id="442" r:id="rId152"/>
    <p:sldId id="443" r:id="rId153"/>
    <p:sldId id="441" r:id="rId154"/>
    <p:sldId id="444" r:id="rId155"/>
    <p:sldId id="446" r:id="rId156"/>
    <p:sldId id="447" r:id="rId157"/>
    <p:sldId id="448" r:id="rId158"/>
    <p:sldId id="449" r:id="rId159"/>
    <p:sldId id="453" r:id="rId160"/>
    <p:sldId id="451" r:id="rId161"/>
    <p:sldId id="452" r:id="rId162"/>
    <p:sldId id="450" r:id="rId163"/>
    <p:sldId id="454" r:id="rId164"/>
    <p:sldId id="455" r:id="rId165"/>
    <p:sldId id="458" r:id="rId166"/>
    <p:sldId id="459" r:id="rId167"/>
    <p:sldId id="460" r:id="rId168"/>
    <p:sldId id="461" r:id="rId169"/>
    <p:sldId id="462" r:id="rId170"/>
    <p:sldId id="463" r:id="rId171"/>
    <p:sldId id="464" r:id="rId172"/>
    <p:sldId id="465" r:id="rId173"/>
    <p:sldId id="469" r:id="rId174"/>
    <p:sldId id="456" r:id="rId175"/>
    <p:sldId id="466" r:id="rId176"/>
    <p:sldId id="467" r:id="rId177"/>
    <p:sldId id="468" r:id="rId178"/>
    <p:sldId id="474" r:id="rId179"/>
    <p:sldId id="470" r:id="rId180"/>
    <p:sldId id="472" r:id="rId181"/>
    <p:sldId id="473" r:id="rId182"/>
    <p:sldId id="457" r:id="rId183"/>
    <p:sldId id="475" r:id="rId184"/>
    <p:sldId id="476" r:id="rId185"/>
    <p:sldId id="477" r:id="rId186"/>
    <p:sldId id="478" r:id="rId187"/>
    <p:sldId id="480" r:id="rId188"/>
    <p:sldId id="481" r:id="rId189"/>
    <p:sldId id="482" r:id="rId190"/>
    <p:sldId id="483" r:id="rId191"/>
    <p:sldId id="484" r:id="rId192"/>
    <p:sldId id="493" r:id="rId193"/>
    <p:sldId id="494" r:id="rId194"/>
    <p:sldId id="488" r:id="rId195"/>
    <p:sldId id="492" r:id="rId196"/>
    <p:sldId id="485" r:id="rId197"/>
    <p:sldId id="487" r:id="rId198"/>
    <p:sldId id="496" r:id="rId199"/>
    <p:sldId id="495" r:id="rId200"/>
  </p:sldIdLst>
  <p:sldSz cx="12192000" cy="6858000"/>
  <p:notesSz cx="6858000" cy="9144000"/>
  <p:embeddedFontLst>
    <p:embeddedFont>
      <p:font typeface="Arial Black" panose="020B0A04020102020204" pitchFamily="34" charset="0"/>
      <p:bold r:id="rId202"/>
    </p:embeddedFont>
    <p:embeddedFont>
      <p:font typeface="Cambria Math" panose="02040503050406030204" pitchFamily="18" charset="0"/>
      <p:regular r:id="rId20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04" roundtripDataSignature="AMtx7mg7b4a4HOdmfooKQnQZaRoq93cMm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FAFAF"/>
    <a:srgbClr val="00FF00"/>
    <a:srgbClr val="D51FC8"/>
    <a:srgbClr val="33CCFF"/>
    <a:srgbClr val="FF944A"/>
    <a:srgbClr val="D1282E"/>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6B6764-9EEE-7350-0E91-5BB52201C81C}" v="106" dt="2025-10-07T18:17:23.5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slide" Target="slides/slide166.xml"/><Relationship Id="rId191" Type="http://schemas.openxmlformats.org/officeDocument/2006/relationships/slide" Target="slides/slide187.xml"/><Relationship Id="rId205" Type="http://schemas.openxmlformats.org/officeDocument/2006/relationships/presProps" Target="presProps.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slide" Target="slides/slide177.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92" Type="http://schemas.openxmlformats.org/officeDocument/2006/relationships/slide" Target="slides/slide188.xml"/><Relationship Id="rId206" Type="http://schemas.openxmlformats.org/officeDocument/2006/relationships/viewProps" Target="viewProps.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slide" Target="slides/slide178.xml"/><Relationship Id="rId6" Type="http://schemas.openxmlformats.org/officeDocument/2006/relationships/slide" Target="slides/slide2.xml"/><Relationship Id="rId23" Type="http://schemas.openxmlformats.org/officeDocument/2006/relationships/slide" Target="slides/slide19.xml"/><Relationship Id="rId119" Type="http://schemas.openxmlformats.org/officeDocument/2006/relationships/slide" Target="slides/slide115.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93" Type="http://schemas.openxmlformats.org/officeDocument/2006/relationships/slide" Target="slides/slide189.xml"/><Relationship Id="rId207" Type="http://schemas.openxmlformats.org/officeDocument/2006/relationships/theme" Target="theme/theme1.xml"/><Relationship Id="rId13" Type="http://schemas.openxmlformats.org/officeDocument/2006/relationships/slide" Target="slides/slide9.xml"/><Relationship Id="rId109" Type="http://schemas.openxmlformats.org/officeDocument/2006/relationships/slide" Target="slides/slide105.xml"/><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162" Type="http://schemas.openxmlformats.org/officeDocument/2006/relationships/slide" Target="slides/slide158.xml"/><Relationship Id="rId183" Type="http://schemas.openxmlformats.org/officeDocument/2006/relationships/slide" Target="slides/slide179.xml"/><Relationship Id="rId24" Type="http://schemas.openxmlformats.org/officeDocument/2006/relationships/slide" Target="slides/slide20.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31" Type="http://schemas.openxmlformats.org/officeDocument/2006/relationships/slide" Target="slides/slide127.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199" Type="http://schemas.openxmlformats.org/officeDocument/2006/relationships/slide" Target="slides/slide195.xml"/><Relationship Id="rId203" Type="http://schemas.openxmlformats.org/officeDocument/2006/relationships/font" Target="fonts/font2.fntdata"/><Relationship Id="rId208"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189" Type="http://schemas.openxmlformats.org/officeDocument/2006/relationships/slide" Target="slides/slide185.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79" Type="http://schemas.openxmlformats.org/officeDocument/2006/relationships/slide" Target="slides/slide175.xml"/><Relationship Id="rId195" Type="http://schemas.openxmlformats.org/officeDocument/2006/relationships/slide" Target="slides/slide191.xml"/><Relationship Id="rId209" Type="http://schemas.microsoft.com/office/2016/11/relationships/changesInfo" Target="changesInfos/changesInfo1.xml"/><Relationship Id="rId190" Type="http://schemas.openxmlformats.org/officeDocument/2006/relationships/slide" Target="slides/slide186.xml"/><Relationship Id="rId204" Type="http://customschemas.google.com/relationships/presentationmetadata" Target="metadata"/><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185" Type="http://schemas.openxmlformats.org/officeDocument/2006/relationships/slide" Target="slides/slide181.xml"/><Relationship Id="rId4" Type="http://schemas.openxmlformats.org/officeDocument/2006/relationships/slideMaster" Target="slideMasters/slideMaster1.xml"/><Relationship Id="rId9" Type="http://schemas.openxmlformats.org/officeDocument/2006/relationships/slide" Target="slides/slide5.xml"/><Relationship Id="rId180" Type="http://schemas.openxmlformats.org/officeDocument/2006/relationships/slide" Target="slides/slide176.xml"/><Relationship Id="rId210" Type="http://schemas.microsoft.com/office/2015/10/relationships/revisionInfo" Target="revisionInfo.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notesMaster" Target="notesMasters/notesMaster1.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1" Type="http://schemas.openxmlformats.org/officeDocument/2006/relationships/customXml" Target="../customXml/item1.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202" Type="http://schemas.openxmlformats.org/officeDocument/2006/relationships/font" Target="fonts/font1.fntdata"/><Relationship Id="rId18" Type="http://schemas.openxmlformats.org/officeDocument/2006/relationships/slide" Target="slides/slide14.xml"/><Relationship Id="rId39" Type="http://schemas.openxmlformats.org/officeDocument/2006/relationships/slide" Target="slides/slide35.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parza, Marcos A - (maesparza)" userId="1b0460fc-f8b0-40fb-b03b-27fb3d2d7d63" providerId="ADAL" clId="{9E4B7386-269C-4573-83AB-00D8F7DF2D06}"/>
    <pc:docChg chg="custSel addSld delSld modSld">
      <pc:chgData name="Esparza, Marcos A - (maesparza)" userId="1b0460fc-f8b0-40fb-b03b-27fb3d2d7d63" providerId="ADAL" clId="{9E4B7386-269C-4573-83AB-00D8F7DF2D06}" dt="2025-03-04T03:23:03.657" v="427" actId="20577"/>
      <pc:docMkLst>
        <pc:docMk/>
      </pc:docMkLst>
      <pc:sldChg chg="modSp mod">
        <pc:chgData name="Esparza, Marcos A - (maesparza)" userId="1b0460fc-f8b0-40fb-b03b-27fb3d2d7d63" providerId="ADAL" clId="{9E4B7386-269C-4573-83AB-00D8F7DF2D06}" dt="2025-03-04T03:20:34.294" v="6" actId="20577"/>
        <pc:sldMkLst>
          <pc:docMk/>
          <pc:sldMk cId="3476571280" sldId="272"/>
        </pc:sldMkLst>
      </pc:sldChg>
      <pc:sldChg chg="addSp delSp modSp mod">
        <pc:chgData name="Esparza, Marcos A - (maesparza)" userId="1b0460fc-f8b0-40fb-b03b-27fb3d2d7d63" providerId="ADAL" clId="{9E4B7386-269C-4573-83AB-00D8F7DF2D06}" dt="2025-03-04T03:23:03.657" v="427" actId="20577"/>
        <pc:sldMkLst>
          <pc:docMk/>
          <pc:sldMk cId="4092025891" sldId="273"/>
        </pc:sldMkLst>
      </pc:sldChg>
      <pc:sldChg chg="addSp delSp modSp new mod">
        <pc:chgData name="Esparza, Marcos A - (maesparza)" userId="1b0460fc-f8b0-40fb-b03b-27fb3d2d7d63" providerId="ADAL" clId="{9E4B7386-269C-4573-83AB-00D8F7DF2D06}" dt="2025-03-04T03:22:27.743" v="307" actId="20577"/>
        <pc:sldMkLst>
          <pc:docMk/>
          <pc:sldMk cId="2251461906" sldId="274"/>
        </pc:sldMkLst>
      </pc:sldChg>
      <pc:sldChg chg="del">
        <pc:chgData name="Esparza, Marcos A - (maesparza)" userId="1b0460fc-f8b0-40fb-b03b-27fb3d2d7d63" providerId="ADAL" clId="{9E4B7386-269C-4573-83AB-00D8F7DF2D06}" dt="2025-03-04T03:22:02.256" v="257" actId="47"/>
        <pc:sldMkLst>
          <pc:docMk/>
          <pc:sldMk cId="2884476172" sldId="274"/>
        </pc:sldMkLst>
      </pc:sldChg>
    </pc:docChg>
  </pc:docChgLst>
  <pc:docChgLst>
    <pc:chgData name="Jacob Krell" userId="S::krell.j@titan.arizona.edu::fa2cdde1-a2be-4962-b54b-6145a6017cba" providerId="AD" clId="Web-{596B6764-9EEE-7350-0E91-5BB52201C81C}"/>
    <pc:docChg chg="modSld">
      <pc:chgData name="Jacob Krell" userId="S::krell.j@titan.arizona.edu::fa2cdde1-a2be-4962-b54b-6145a6017cba" providerId="AD" clId="Web-{596B6764-9EEE-7350-0E91-5BB52201C81C}" dt="2025-10-07T18:17:22.435" v="100" actId="20577"/>
      <pc:docMkLst>
        <pc:docMk/>
      </pc:docMkLst>
      <pc:sldChg chg="modSp">
        <pc:chgData name="Jacob Krell" userId="S::krell.j@titan.arizona.edu::fa2cdde1-a2be-4962-b54b-6145a6017cba" providerId="AD" clId="Web-{596B6764-9EEE-7350-0E91-5BB52201C81C}" dt="2025-10-07T18:17:22.435" v="100" actId="20577"/>
        <pc:sldMkLst>
          <pc:docMk/>
          <pc:sldMk cId="2577755336" sldId="378"/>
        </pc:sldMkLst>
        <pc:spChg chg="mod">
          <ac:chgData name="Jacob Krell" userId="S::krell.j@titan.arizona.edu::fa2cdde1-a2be-4962-b54b-6145a6017cba" providerId="AD" clId="Web-{596B6764-9EEE-7350-0E91-5BB52201C81C}" dt="2025-10-07T18:17:22.435" v="100" actId="20577"/>
          <ac:spMkLst>
            <pc:docMk/>
            <pc:sldMk cId="2577755336" sldId="378"/>
            <ac:spMk id="3" creationId="{3DCFD0A5-9DDF-0A51-1C1A-417B49721EE1}"/>
          </ac:spMkLst>
        </pc:spChg>
        <pc:spChg chg="mod">
          <ac:chgData name="Jacob Krell" userId="S::krell.j@titan.arizona.edu::fa2cdde1-a2be-4962-b54b-6145a6017cba" providerId="AD" clId="Web-{596B6764-9EEE-7350-0E91-5BB52201C81C}" dt="2025-10-07T18:15:26.295" v="1" actId="1076"/>
          <ac:spMkLst>
            <pc:docMk/>
            <pc:sldMk cId="2577755336" sldId="378"/>
            <ac:spMk id="5" creationId="{F874E550-41A5-C6A6-48CD-90319B2A0684}"/>
          </ac:spMkLst>
        </pc:spChg>
        <pc:graphicFrameChg chg="mod modGraphic">
          <ac:chgData name="Jacob Krell" userId="S::krell.j@titan.arizona.edu::fa2cdde1-a2be-4962-b54b-6145a6017cba" providerId="AD" clId="Web-{596B6764-9EEE-7350-0E91-5BB52201C81C}" dt="2025-10-07T18:17:16.529" v="95" actId="1076"/>
          <ac:graphicFrameMkLst>
            <pc:docMk/>
            <pc:sldMk cId="2577755336" sldId="378"/>
            <ac:graphicFrameMk id="4" creationId="{422E0867-F911-6515-8108-12F85A6865AA}"/>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283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187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49526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CAE8E-E93C-C0FF-DC86-4AD454B853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93DC1-527E-1D32-A24D-12F3827B50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7A0AF5-5FAC-2032-072D-5C03223AD5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08659E-C02E-EFC2-9818-4F718EC1BF89}"/>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189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67357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402C4-F064-DC8A-5A3F-7092B0E75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243D06-509D-8585-FB0F-F14AFB3FFF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FC33F6-C58E-4C4F-3B66-AA9CFAD8A2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8CC746-91C8-5C71-78AD-92E92EC390E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193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95755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956BC-13F4-51E8-ED7B-F25D9637E8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1218A0-A453-CB28-BA74-43D268180B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863C49-F890-B29F-6CF3-91BC9B5317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BDC5E7-8E92-22B8-AAD3-A7C6AD234CD6}"/>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195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54859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0"/>
        <p:cNvGrpSpPr/>
        <p:nvPr/>
      </p:nvGrpSpPr>
      <p:grpSpPr>
        <a:xfrm>
          <a:off x="0" y="0"/>
          <a:ext cx="0" cy="0"/>
          <a:chOff x="0" y="0"/>
          <a:chExt cx="0" cy="0"/>
        </a:xfrm>
      </p:grpSpPr>
      <p:sp>
        <p:nvSpPr>
          <p:cNvPr id="21" name="Google Shape;21;p22"/>
          <p:cNvSpPr txBox="1">
            <a:spLocks noGrp="1"/>
          </p:cNvSpPr>
          <p:nvPr>
            <p:ph type="ctrTitle"/>
          </p:nvPr>
        </p:nvSpPr>
        <p:spPr>
          <a:xfrm>
            <a:off x="609600" y="228601"/>
            <a:ext cx="10363200" cy="4571999"/>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002060"/>
              </a:buClr>
              <a:buSzPts val="5400"/>
              <a:buFont typeface="Arial Black"/>
              <a:buNone/>
              <a:defRPr sz="5400">
                <a:solidFill>
                  <a:srgbClr val="00206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2"/>
          <p:cNvSpPr txBox="1">
            <a:spLocks noGrp="1"/>
          </p:cNvSpPr>
          <p:nvPr>
            <p:ph type="subTitle" idx="1"/>
          </p:nvPr>
        </p:nvSpPr>
        <p:spPr>
          <a:xfrm>
            <a:off x="609600" y="4800600"/>
            <a:ext cx="9144000" cy="9144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400"/>
              </a:spcBef>
              <a:spcAft>
                <a:spcPts val="0"/>
              </a:spcAft>
              <a:buClr>
                <a:schemeClr val="dk2"/>
              </a:buClr>
              <a:buSzPts val="2000"/>
              <a:buNone/>
              <a:defRPr b="0" cap="none">
                <a:solidFill>
                  <a:schemeClr val="dk2"/>
                </a:solidFill>
                <a:latin typeface="Arial Black"/>
                <a:ea typeface="Arial Black"/>
                <a:cs typeface="Arial Black"/>
                <a:sym typeface="Arial Black"/>
              </a:defRPr>
            </a:lvl1pPr>
            <a:lvl2pPr lvl="1" algn="ctr">
              <a:lnSpc>
                <a:spcPct val="100000"/>
              </a:lnSpc>
              <a:spcBef>
                <a:spcPts val="600"/>
              </a:spcBef>
              <a:spcAft>
                <a:spcPts val="0"/>
              </a:spcAft>
              <a:buSzPts val="2000"/>
              <a:buNone/>
              <a:defRPr>
                <a:solidFill>
                  <a:srgbClr val="888888"/>
                </a:solidFill>
              </a:defRPr>
            </a:lvl2pPr>
            <a:lvl3pPr lvl="2" algn="ctr">
              <a:lnSpc>
                <a:spcPct val="100000"/>
              </a:lnSpc>
              <a:spcBef>
                <a:spcPts val="360"/>
              </a:spcBef>
              <a:spcAft>
                <a:spcPts val="0"/>
              </a:spcAft>
              <a:buSzPts val="1800"/>
              <a:buNone/>
              <a:defRPr>
                <a:solidFill>
                  <a:srgbClr val="888888"/>
                </a:solidFill>
              </a:defRPr>
            </a:lvl3pPr>
            <a:lvl4pPr lvl="3" algn="ctr">
              <a:lnSpc>
                <a:spcPct val="100000"/>
              </a:lnSpc>
              <a:spcBef>
                <a:spcPts val="360"/>
              </a:spcBef>
              <a:spcAft>
                <a:spcPts val="0"/>
              </a:spcAft>
              <a:buSzPts val="1800"/>
              <a:buNone/>
              <a:defRPr>
                <a:solidFill>
                  <a:srgbClr val="888888"/>
                </a:solidFill>
              </a:defRPr>
            </a:lvl4pPr>
            <a:lvl5pPr lvl="4" algn="ctr">
              <a:lnSpc>
                <a:spcPct val="100000"/>
              </a:lnSpc>
              <a:spcBef>
                <a:spcPts val="360"/>
              </a:spcBef>
              <a:spcAft>
                <a:spcPts val="0"/>
              </a:spcAft>
              <a:buSzPts val="1800"/>
              <a:buNone/>
              <a:defRPr>
                <a:solidFill>
                  <a:srgbClr val="888888"/>
                </a:solidFill>
              </a:defRPr>
            </a:lvl5pPr>
            <a:lvl6pPr lvl="5" algn="ctr">
              <a:lnSpc>
                <a:spcPct val="100000"/>
              </a:lnSpc>
              <a:spcBef>
                <a:spcPts val="320"/>
              </a:spcBef>
              <a:spcAft>
                <a:spcPts val="0"/>
              </a:spcAft>
              <a:buSzPts val="1600"/>
              <a:buNone/>
              <a:defRPr>
                <a:solidFill>
                  <a:srgbClr val="888888"/>
                </a:solidFill>
              </a:defRPr>
            </a:lvl6pPr>
            <a:lvl7pPr lvl="6" algn="ctr">
              <a:lnSpc>
                <a:spcPct val="100000"/>
              </a:lnSpc>
              <a:spcBef>
                <a:spcPts val="320"/>
              </a:spcBef>
              <a:spcAft>
                <a:spcPts val="0"/>
              </a:spcAft>
              <a:buSzPts val="1600"/>
              <a:buNone/>
              <a:defRPr>
                <a:solidFill>
                  <a:srgbClr val="888888"/>
                </a:solidFill>
              </a:defRPr>
            </a:lvl7pPr>
            <a:lvl8pPr lvl="7" algn="ctr">
              <a:lnSpc>
                <a:spcPct val="100000"/>
              </a:lnSpc>
              <a:spcBef>
                <a:spcPts val="320"/>
              </a:spcBef>
              <a:spcAft>
                <a:spcPts val="0"/>
              </a:spcAft>
              <a:buSzPts val="1600"/>
              <a:buNone/>
              <a:defRPr>
                <a:solidFill>
                  <a:srgbClr val="888888"/>
                </a:solidFill>
              </a:defRPr>
            </a:lvl8pPr>
            <a:lvl9pPr lvl="8" algn="ctr">
              <a:lnSpc>
                <a:spcPct val="100000"/>
              </a:lnSpc>
              <a:spcBef>
                <a:spcPts val="320"/>
              </a:spcBef>
              <a:spcAft>
                <a:spcPts val="0"/>
              </a:spcAft>
              <a:buSzPts val="1600"/>
              <a:buNone/>
              <a:defRPr>
                <a:solidFill>
                  <a:srgbClr val="888888"/>
                </a:solidFill>
              </a:defRPr>
            </a:lvl9pPr>
          </a:lstStyle>
          <a:p>
            <a:endParaRPr/>
          </a:p>
        </p:txBody>
      </p:sp>
      <p:sp>
        <p:nvSpPr>
          <p:cNvPr id="23" name="Google Shape;23;p22"/>
          <p:cNvSpPr txBox="1">
            <a:spLocks noGrp="1"/>
          </p:cNvSpPr>
          <p:nvPr>
            <p:ph type="dt" idx="10"/>
          </p:nvPr>
        </p:nvSpPr>
        <p:spPr>
          <a:xfrm>
            <a:off x="609600" y="6456046"/>
            <a:ext cx="1026017"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2"/>
          <p:cNvSpPr txBox="1">
            <a:spLocks noGrp="1"/>
          </p:cNvSpPr>
          <p:nvPr>
            <p:ph type="ftr" idx="11"/>
          </p:nvPr>
        </p:nvSpPr>
        <p:spPr>
          <a:xfrm>
            <a:off x="2873598" y="6477001"/>
            <a:ext cx="5632003"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2"/>
          <p:cNvSpPr/>
          <p:nvPr/>
        </p:nvSpPr>
        <p:spPr>
          <a:xfrm>
            <a:off x="12001499" y="4846320"/>
            <a:ext cx="190501" cy="201168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6" name="Google Shape;26;p22"/>
          <p:cNvSpPr/>
          <p:nvPr/>
        </p:nvSpPr>
        <p:spPr>
          <a:xfrm>
            <a:off x="12001499" y="0"/>
            <a:ext cx="190501" cy="484632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7" name="Google Shape;27;p22"/>
          <p:cNvSpPr txBox="1">
            <a:spLocks noGrp="1"/>
          </p:cNvSpPr>
          <p:nvPr>
            <p:ph type="sldNum" idx="12"/>
          </p:nvPr>
        </p:nvSpPr>
        <p:spPr>
          <a:xfrm rot="-5400000">
            <a:off x="11189124" y="5824644"/>
            <a:ext cx="1315721" cy="486833"/>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23"/>
          <p:cNvSpPr txBox="1">
            <a:spLocks noGrp="1"/>
          </p:cNvSpPr>
          <p:nvPr>
            <p:ph type="title"/>
          </p:nvPr>
        </p:nvSpPr>
        <p:spPr>
          <a:xfrm>
            <a:off x="609599" y="152718"/>
            <a:ext cx="9011323"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00206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3"/>
          <p:cNvSpPr txBox="1">
            <a:spLocks noGrp="1"/>
          </p:cNvSpPr>
          <p:nvPr>
            <p:ph type="body" idx="1"/>
          </p:nvPr>
        </p:nvSpPr>
        <p:spPr>
          <a:xfrm>
            <a:off x="609600" y="1752601"/>
            <a:ext cx="10160000" cy="43735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Font typeface="Arial"/>
              <a:buChar char="•"/>
              <a:defRPr sz="2800"/>
            </a:lvl1pPr>
            <a:lvl2pPr marL="914400" lvl="1" indent="-381000" algn="l">
              <a:lnSpc>
                <a:spcPct val="100000"/>
              </a:lnSpc>
              <a:spcBef>
                <a:spcPts val="600"/>
              </a:spcBef>
              <a:spcAft>
                <a:spcPts val="0"/>
              </a:spcAft>
              <a:buSzPts val="2400"/>
              <a:buChar char="•"/>
              <a:defRPr sz="2400"/>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31" name="Google Shape;31;p23"/>
          <p:cNvSpPr txBox="1">
            <a:spLocks noGrp="1"/>
          </p:cNvSpPr>
          <p:nvPr>
            <p:ph type="dt" idx="10"/>
          </p:nvPr>
        </p:nvSpPr>
        <p:spPr>
          <a:xfrm>
            <a:off x="609600" y="6456046"/>
            <a:ext cx="1026017"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3"/>
          <p:cNvSpPr txBox="1">
            <a:spLocks noGrp="1"/>
          </p:cNvSpPr>
          <p:nvPr>
            <p:ph type="ftr" idx="11"/>
          </p:nvPr>
        </p:nvSpPr>
        <p:spPr>
          <a:xfrm>
            <a:off x="2873598" y="6477001"/>
            <a:ext cx="5632003"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3"/>
          <p:cNvSpPr txBox="1">
            <a:spLocks noGrp="1"/>
          </p:cNvSpPr>
          <p:nvPr>
            <p:ph type="sldNum" idx="12"/>
          </p:nvPr>
        </p:nvSpPr>
        <p:spPr>
          <a:xfrm rot="-5400000">
            <a:off x="11189124" y="5824644"/>
            <a:ext cx="1315721" cy="486833"/>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25"/>
          <p:cNvSpPr txBox="1">
            <a:spLocks noGrp="1"/>
          </p:cNvSpPr>
          <p:nvPr>
            <p:ph type="title"/>
          </p:nvPr>
        </p:nvSpPr>
        <p:spPr>
          <a:xfrm>
            <a:off x="609600" y="1447801"/>
            <a:ext cx="10363200" cy="43211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8800"/>
              <a:buFont typeface="Arial Black"/>
              <a:buNone/>
              <a:defRPr sz="8800" b="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5"/>
          <p:cNvSpPr txBox="1">
            <a:spLocks noGrp="1"/>
          </p:cNvSpPr>
          <p:nvPr>
            <p:ph type="body" idx="1"/>
          </p:nvPr>
        </p:nvSpPr>
        <p:spPr>
          <a:xfrm>
            <a:off x="609600" y="228601"/>
            <a:ext cx="10363200" cy="10668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chemeClr val="dk2"/>
              </a:buClr>
              <a:buSzPts val="2000"/>
              <a:buNone/>
              <a:defRPr sz="2000" b="0" cap="none">
                <a:solidFill>
                  <a:schemeClr val="dk2"/>
                </a:solidFill>
                <a:latin typeface="Arial Black"/>
                <a:ea typeface="Arial Black"/>
                <a:cs typeface="Arial Black"/>
                <a:sym typeface="Arial Black"/>
              </a:defRPr>
            </a:lvl1pPr>
            <a:lvl2pPr marL="914400" lvl="1" indent="-228600" algn="l">
              <a:lnSpc>
                <a:spcPct val="100000"/>
              </a:lnSpc>
              <a:spcBef>
                <a:spcPts val="600"/>
              </a:spcBef>
              <a:spcAft>
                <a:spcPts val="0"/>
              </a:spcAft>
              <a:buSzPts val="1800"/>
              <a:buNone/>
              <a:defRPr sz="1800">
                <a:solidFill>
                  <a:srgbClr val="888888"/>
                </a:solidFill>
              </a:defRPr>
            </a:lvl2pPr>
            <a:lvl3pPr marL="1371600" lvl="2" indent="-228600" algn="l">
              <a:lnSpc>
                <a:spcPct val="100000"/>
              </a:lnSpc>
              <a:spcBef>
                <a:spcPts val="320"/>
              </a:spcBef>
              <a:spcAft>
                <a:spcPts val="0"/>
              </a:spcAft>
              <a:buSzPts val="1600"/>
              <a:buNone/>
              <a:defRPr sz="1600">
                <a:solidFill>
                  <a:srgbClr val="888888"/>
                </a:solidFill>
              </a:defRPr>
            </a:lvl3pPr>
            <a:lvl4pPr marL="1828800" lvl="3" indent="-228600" algn="l">
              <a:lnSpc>
                <a:spcPct val="100000"/>
              </a:lnSpc>
              <a:spcBef>
                <a:spcPts val="280"/>
              </a:spcBef>
              <a:spcAft>
                <a:spcPts val="0"/>
              </a:spcAft>
              <a:buSzPts val="1400"/>
              <a:buNone/>
              <a:defRPr sz="1400">
                <a:solidFill>
                  <a:srgbClr val="888888"/>
                </a:solidFill>
              </a:defRPr>
            </a:lvl4pPr>
            <a:lvl5pPr marL="2286000" lvl="4" indent="-228600" algn="l">
              <a:lnSpc>
                <a:spcPct val="100000"/>
              </a:lnSpc>
              <a:spcBef>
                <a:spcPts val="280"/>
              </a:spcBef>
              <a:spcAft>
                <a:spcPts val="0"/>
              </a:spcAft>
              <a:buSzPts val="1400"/>
              <a:buNone/>
              <a:defRPr sz="1400">
                <a:solidFill>
                  <a:srgbClr val="888888"/>
                </a:solidFill>
              </a:defRPr>
            </a:lvl5pPr>
            <a:lvl6pPr marL="2743200" lvl="5" indent="-228600" algn="l">
              <a:lnSpc>
                <a:spcPct val="100000"/>
              </a:lnSpc>
              <a:spcBef>
                <a:spcPts val="280"/>
              </a:spcBef>
              <a:spcAft>
                <a:spcPts val="0"/>
              </a:spcAft>
              <a:buSzPts val="1400"/>
              <a:buNone/>
              <a:defRPr sz="1400">
                <a:solidFill>
                  <a:srgbClr val="888888"/>
                </a:solidFill>
              </a:defRPr>
            </a:lvl6pPr>
            <a:lvl7pPr marL="3200400" lvl="6" indent="-228600" algn="l">
              <a:lnSpc>
                <a:spcPct val="100000"/>
              </a:lnSpc>
              <a:spcBef>
                <a:spcPts val="280"/>
              </a:spcBef>
              <a:spcAft>
                <a:spcPts val="0"/>
              </a:spcAft>
              <a:buSzPts val="1400"/>
              <a:buNone/>
              <a:defRPr sz="1400">
                <a:solidFill>
                  <a:srgbClr val="888888"/>
                </a:solidFill>
              </a:defRPr>
            </a:lvl7pPr>
            <a:lvl8pPr marL="3657600" lvl="7" indent="-228600" algn="l">
              <a:lnSpc>
                <a:spcPct val="100000"/>
              </a:lnSpc>
              <a:spcBef>
                <a:spcPts val="280"/>
              </a:spcBef>
              <a:spcAft>
                <a:spcPts val="0"/>
              </a:spcAft>
              <a:buSzPts val="1400"/>
              <a:buNone/>
              <a:defRPr sz="1400">
                <a:solidFill>
                  <a:srgbClr val="888888"/>
                </a:solidFill>
              </a:defRPr>
            </a:lvl8pPr>
            <a:lvl9pPr marL="4114800" lvl="8" indent="-228600" algn="l">
              <a:lnSpc>
                <a:spcPct val="100000"/>
              </a:lnSpc>
              <a:spcBef>
                <a:spcPts val="280"/>
              </a:spcBef>
              <a:spcAft>
                <a:spcPts val="0"/>
              </a:spcAft>
              <a:buSzPts val="1400"/>
              <a:buNone/>
              <a:defRPr sz="1400">
                <a:solidFill>
                  <a:srgbClr val="888888"/>
                </a:solidFill>
              </a:defRPr>
            </a:lvl9pPr>
          </a:lstStyle>
          <a:p>
            <a:endParaRPr/>
          </a:p>
        </p:txBody>
      </p:sp>
      <p:sp>
        <p:nvSpPr>
          <p:cNvPr id="37" name="Google Shape;37;p25"/>
          <p:cNvSpPr txBox="1">
            <a:spLocks noGrp="1"/>
          </p:cNvSpPr>
          <p:nvPr>
            <p:ph type="dt" idx="10"/>
          </p:nvPr>
        </p:nvSpPr>
        <p:spPr>
          <a:xfrm>
            <a:off x="609600" y="6456046"/>
            <a:ext cx="1026017"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5"/>
          <p:cNvSpPr txBox="1">
            <a:spLocks noGrp="1"/>
          </p:cNvSpPr>
          <p:nvPr>
            <p:ph type="sldNum" idx="12"/>
          </p:nvPr>
        </p:nvSpPr>
        <p:spPr>
          <a:xfrm rot="-5400000">
            <a:off x="11189124" y="5824644"/>
            <a:ext cx="1315721" cy="486833"/>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
        <p:nvSpPr>
          <p:cNvPr id="39" name="Google Shape;39;p25"/>
          <p:cNvSpPr txBox="1">
            <a:spLocks noGrp="1"/>
          </p:cNvSpPr>
          <p:nvPr>
            <p:ph type="ftr" idx="11"/>
          </p:nvPr>
        </p:nvSpPr>
        <p:spPr>
          <a:xfrm>
            <a:off x="2873598" y="6477001"/>
            <a:ext cx="5632003"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28"/>
          <p:cNvSpPr txBox="1">
            <a:spLocks noGrp="1"/>
          </p:cNvSpPr>
          <p:nvPr>
            <p:ph type="dt" idx="10"/>
          </p:nvPr>
        </p:nvSpPr>
        <p:spPr>
          <a:xfrm>
            <a:off x="609600" y="6456046"/>
            <a:ext cx="1026017"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ftr" idx="11"/>
          </p:nvPr>
        </p:nvSpPr>
        <p:spPr>
          <a:xfrm>
            <a:off x="2873598" y="6477001"/>
            <a:ext cx="5632003"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8"/>
          <p:cNvSpPr txBox="1">
            <a:spLocks noGrp="1"/>
          </p:cNvSpPr>
          <p:nvPr>
            <p:ph type="sldNum" idx="12"/>
          </p:nvPr>
        </p:nvSpPr>
        <p:spPr>
          <a:xfrm rot="-5400000">
            <a:off x="11189124" y="5824644"/>
            <a:ext cx="1315721" cy="486833"/>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9"/>
        <p:cNvGrpSpPr/>
        <p:nvPr/>
      </p:nvGrpSpPr>
      <p:grpSpPr>
        <a:xfrm>
          <a:off x="0" y="0"/>
          <a:ext cx="0" cy="0"/>
          <a:chOff x="0" y="0"/>
          <a:chExt cx="0" cy="0"/>
        </a:xfrm>
      </p:grpSpPr>
      <p:sp>
        <p:nvSpPr>
          <p:cNvPr id="50" name="Google Shape;50;p29"/>
          <p:cNvSpPr txBox="1">
            <a:spLocks noGrp="1"/>
          </p:cNvSpPr>
          <p:nvPr>
            <p:ph type="body" idx="1"/>
          </p:nvPr>
        </p:nvSpPr>
        <p:spPr>
          <a:xfrm>
            <a:off x="4766733" y="1600200"/>
            <a:ext cx="6815667" cy="448056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640"/>
              </a:spcBef>
              <a:spcAft>
                <a:spcPts val="0"/>
              </a:spcAft>
              <a:buClr>
                <a:schemeClr val="dk1"/>
              </a:buClr>
              <a:buSzPts val="3200"/>
              <a:buNone/>
              <a:defRPr sz="3200"/>
            </a:lvl1pPr>
            <a:lvl2pPr marL="914400" lvl="1" indent="-406400" algn="l">
              <a:lnSpc>
                <a:spcPct val="100000"/>
              </a:lnSpc>
              <a:spcBef>
                <a:spcPts val="600"/>
              </a:spcBef>
              <a:spcAft>
                <a:spcPts val="0"/>
              </a:spcAft>
              <a:buSzPts val="2800"/>
              <a:buChar char="•"/>
              <a:defRPr sz="2800"/>
            </a:lvl2pPr>
            <a:lvl3pPr marL="1371600" lvl="2" indent="-381000" algn="l">
              <a:lnSpc>
                <a:spcPct val="100000"/>
              </a:lnSpc>
              <a:spcBef>
                <a:spcPts val="480"/>
              </a:spcBef>
              <a:spcAft>
                <a:spcPts val="0"/>
              </a:spcAft>
              <a:buSzPts val="2400"/>
              <a:buChar char="•"/>
              <a:defRPr sz="2400"/>
            </a:lvl3pPr>
            <a:lvl4pPr marL="1828800" lvl="3" indent="-355600" algn="l">
              <a:lnSpc>
                <a:spcPct val="100000"/>
              </a:lnSpc>
              <a:spcBef>
                <a:spcPts val="400"/>
              </a:spcBef>
              <a:spcAft>
                <a:spcPts val="0"/>
              </a:spcAft>
              <a:buSzPts val="2000"/>
              <a:buChar char="•"/>
              <a:defRPr sz="2000"/>
            </a:lvl4pPr>
            <a:lvl5pPr marL="2286000" lvl="4" indent="-355600" algn="l">
              <a:lnSpc>
                <a:spcPct val="100000"/>
              </a:lnSpc>
              <a:spcBef>
                <a:spcPts val="400"/>
              </a:spcBef>
              <a:spcAft>
                <a:spcPts val="0"/>
              </a:spcAft>
              <a:buSzPts val="2000"/>
              <a:buChar char="•"/>
              <a:defRPr sz="2000"/>
            </a:lvl5pPr>
            <a:lvl6pPr marL="2743200" lvl="5" indent="-355600" algn="l">
              <a:lnSpc>
                <a:spcPct val="100000"/>
              </a:lnSpc>
              <a:spcBef>
                <a:spcPts val="400"/>
              </a:spcBef>
              <a:spcAft>
                <a:spcPts val="0"/>
              </a:spcAft>
              <a:buSzPts val="2000"/>
              <a:buChar char="•"/>
              <a:defRPr sz="2000"/>
            </a:lvl6pPr>
            <a:lvl7pPr marL="3200400" lvl="6" indent="-355600" algn="l">
              <a:lnSpc>
                <a:spcPct val="100000"/>
              </a:lnSpc>
              <a:spcBef>
                <a:spcPts val="400"/>
              </a:spcBef>
              <a:spcAft>
                <a:spcPts val="0"/>
              </a:spcAft>
              <a:buSzPts val="2000"/>
              <a:buChar char="•"/>
              <a:defRPr sz="2000"/>
            </a:lvl7pPr>
            <a:lvl8pPr marL="3657600" lvl="7" indent="-355600" algn="l">
              <a:lnSpc>
                <a:spcPct val="100000"/>
              </a:lnSpc>
              <a:spcBef>
                <a:spcPts val="400"/>
              </a:spcBef>
              <a:spcAft>
                <a:spcPts val="0"/>
              </a:spcAft>
              <a:buSzPts val="2000"/>
              <a:buChar char="•"/>
              <a:defRPr sz="2000"/>
            </a:lvl8pPr>
            <a:lvl9pPr marL="4114800" lvl="8" indent="-355600" algn="l">
              <a:lnSpc>
                <a:spcPct val="100000"/>
              </a:lnSpc>
              <a:spcBef>
                <a:spcPts val="400"/>
              </a:spcBef>
              <a:spcAft>
                <a:spcPts val="0"/>
              </a:spcAft>
              <a:buSzPts val="2000"/>
              <a:buChar char="•"/>
              <a:defRPr sz="2000"/>
            </a:lvl9pPr>
          </a:lstStyle>
          <a:p>
            <a:endParaRPr/>
          </a:p>
        </p:txBody>
      </p:sp>
      <p:sp>
        <p:nvSpPr>
          <p:cNvPr id="51" name="Google Shape;51;p29"/>
          <p:cNvSpPr txBox="1">
            <a:spLocks noGrp="1"/>
          </p:cNvSpPr>
          <p:nvPr>
            <p:ph type="body" idx="2"/>
          </p:nvPr>
        </p:nvSpPr>
        <p:spPr>
          <a:xfrm>
            <a:off x="609601" y="1600200"/>
            <a:ext cx="4011084" cy="448056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20"/>
              </a:spcBef>
              <a:spcAft>
                <a:spcPts val="0"/>
              </a:spcAft>
              <a:buClr>
                <a:schemeClr val="dk1"/>
              </a:buClr>
              <a:buSzPts val="1600"/>
              <a:buNone/>
              <a:defRPr sz="16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52" name="Google Shape;52;p29"/>
          <p:cNvSpPr txBox="1">
            <a:spLocks noGrp="1"/>
          </p:cNvSpPr>
          <p:nvPr>
            <p:ph type="dt" idx="10"/>
          </p:nvPr>
        </p:nvSpPr>
        <p:spPr>
          <a:xfrm>
            <a:off x="609600" y="6456046"/>
            <a:ext cx="1026017"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2873598" y="6477001"/>
            <a:ext cx="5632003"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rot="-5400000">
            <a:off x="11189124" y="5824644"/>
            <a:ext cx="1315721" cy="486833"/>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
        <p:nvSpPr>
          <p:cNvPr id="55" name="Google Shape;55;p29"/>
          <p:cNvSpPr txBox="1">
            <a:spLocks noGrp="1"/>
          </p:cNvSpPr>
          <p:nvPr>
            <p:ph type="title"/>
          </p:nvPr>
        </p:nvSpPr>
        <p:spPr>
          <a:xfrm>
            <a:off x="609599" y="152718"/>
            <a:ext cx="9011323"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00206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56"/>
        <p:cNvGrpSpPr/>
        <p:nvPr/>
      </p:nvGrpSpPr>
      <p:grpSpPr>
        <a:xfrm>
          <a:off x="0" y="0"/>
          <a:ext cx="0" cy="0"/>
          <a:chOff x="0" y="0"/>
          <a:chExt cx="0" cy="0"/>
        </a:xfrm>
      </p:grpSpPr>
      <p:sp>
        <p:nvSpPr>
          <p:cNvPr id="57" name="Google Shape;57;p30"/>
          <p:cNvSpPr/>
          <p:nvPr/>
        </p:nvSpPr>
        <p:spPr>
          <a:xfrm>
            <a:off x="12001499" y="4846320"/>
            <a:ext cx="190501" cy="201168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8" name="Google Shape;58;p30"/>
          <p:cNvSpPr>
            <a:spLocks noGrp="1"/>
          </p:cNvSpPr>
          <p:nvPr>
            <p:ph type="pic" idx="2"/>
          </p:nvPr>
        </p:nvSpPr>
        <p:spPr>
          <a:xfrm>
            <a:off x="-1" y="0"/>
            <a:ext cx="12001169" cy="4846320"/>
          </a:xfrm>
          <a:prstGeom prst="rect">
            <a:avLst/>
          </a:prstGeom>
          <a:solidFill>
            <a:srgbClr val="BFBFBF"/>
          </a:solidFill>
          <a:ln>
            <a:noFill/>
          </a:ln>
        </p:spPr>
        <p:txBody>
          <a:bodyPr/>
          <a:lstStyle/>
          <a:p>
            <a:endParaRPr lang="en-US"/>
          </a:p>
        </p:txBody>
      </p:sp>
      <p:sp>
        <p:nvSpPr>
          <p:cNvPr id="59" name="Google Shape;59;p30"/>
          <p:cNvSpPr txBox="1">
            <a:spLocks noGrp="1"/>
          </p:cNvSpPr>
          <p:nvPr>
            <p:ph type="body" idx="1"/>
          </p:nvPr>
        </p:nvSpPr>
        <p:spPr>
          <a:xfrm>
            <a:off x="609600" y="5715000"/>
            <a:ext cx="10871200" cy="4572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20"/>
              </a:spcBef>
              <a:spcAft>
                <a:spcPts val="0"/>
              </a:spcAft>
              <a:buClr>
                <a:schemeClr val="dk1"/>
              </a:buClr>
              <a:buSzPts val="1600"/>
              <a:buNone/>
              <a:defRPr sz="16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60" name="Google Shape;60;p30"/>
          <p:cNvSpPr txBox="1">
            <a:spLocks noGrp="1"/>
          </p:cNvSpPr>
          <p:nvPr>
            <p:ph type="dt" idx="10"/>
          </p:nvPr>
        </p:nvSpPr>
        <p:spPr>
          <a:xfrm>
            <a:off x="609600" y="6456046"/>
            <a:ext cx="1026017"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ftr" idx="11"/>
          </p:nvPr>
        </p:nvSpPr>
        <p:spPr>
          <a:xfrm>
            <a:off x="2873598" y="6477001"/>
            <a:ext cx="5632003"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30"/>
          <p:cNvSpPr txBox="1">
            <a:spLocks noGrp="1"/>
          </p:cNvSpPr>
          <p:nvPr>
            <p:ph type="sldNum" idx="12"/>
          </p:nvPr>
        </p:nvSpPr>
        <p:spPr>
          <a:xfrm rot="-5400000">
            <a:off x="11189124" y="5824644"/>
            <a:ext cx="1315721" cy="486833"/>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
        <p:nvSpPr>
          <p:cNvPr id="63" name="Google Shape;63;p30"/>
          <p:cNvSpPr txBox="1">
            <a:spLocks noGrp="1"/>
          </p:cNvSpPr>
          <p:nvPr>
            <p:ph type="title"/>
          </p:nvPr>
        </p:nvSpPr>
        <p:spPr>
          <a:xfrm>
            <a:off x="609600" y="4953000"/>
            <a:ext cx="10871200" cy="7620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rgbClr val="002060"/>
              </a:buClr>
              <a:buSzPts val="3200"/>
              <a:buFont typeface="Arial Black"/>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0"/>
          <p:cNvSpPr/>
          <p:nvPr/>
        </p:nvSpPr>
        <p:spPr>
          <a:xfrm>
            <a:off x="12001499" y="0"/>
            <a:ext cx="190501" cy="484632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5"/>
        <p:cNvGrpSpPr/>
        <p:nvPr/>
      </p:nvGrpSpPr>
      <p:grpSpPr>
        <a:xfrm>
          <a:off x="0" y="0"/>
          <a:ext cx="0" cy="0"/>
          <a:chOff x="0" y="0"/>
          <a:chExt cx="0" cy="0"/>
        </a:xfrm>
      </p:grpSpPr>
      <p:sp>
        <p:nvSpPr>
          <p:cNvPr id="66" name="Google Shape;66;p31"/>
          <p:cNvSpPr txBox="1">
            <a:spLocks noGrp="1"/>
          </p:cNvSpPr>
          <p:nvPr>
            <p:ph type="title"/>
          </p:nvPr>
        </p:nvSpPr>
        <p:spPr>
          <a:xfrm>
            <a:off x="609599" y="152718"/>
            <a:ext cx="9011323"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00206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body" idx="1"/>
          </p:nvPr>
        </p:nvSpPr>
        <p:spPr>
          <a:xfrm rot="5400000">
            <a:off x="3502818" y="-1140618"/>
            <a:ext cx="4373563" cy="101600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Clr>
                <a:schemeClr val="dk1"/>
              </a:buClr>
              <a:buSzPts val="18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68" name="Google Shape;68;p31"/>
          <p:cNvSpPr txBox="1">
            <a:spLocks noGrp="1"/>
          </p:cNvSpPr>
          <p:nvPr>
            <p:ph type="dt" idx="10"/>
          </p:nvPr>
        </p:nvSpPr>
        <p:spPr>
          <a:xfrm>
            <a:off x="609600" y="6456046"/>
            <a:ext cx="1026017"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31"/>
          <p:cNvSpPr txBox="1">
            <a:spLocks noGrp="1"/>
          </p:cNvSpPr>
          <p:nvPr>
            <p:ph type="ftr" idx="11"/>
          </p:nvPr>
        </p:nvSpPr>
        <p:spPr>
          <a:xfrm>
            <a:off x="2873598" y="6477001"/>
            <a:ext cx="5632003"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1"/>
          <p:cNvSpPr txBox="1">
            <a:spLocks noGrp="1"/>
          </p:cNvSpPr>
          <p:nvPr>
            <p:ph type="sldNum" idx="12"/>
          </p:nvPr>
        </p:nvSpPr>
        <p:spPr>
          <a:xfrm rot="-5400000">
            <a:off x="11189124" y="5824644"/>
            <a:ext cx="1315721" cy="486833"/>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1"/>
        <p:cNvGrpSpPr/>
        <p:nvPr/>
      </p:nvGrpSpPr>
      <p:grpSpPr>
        <a:xfrm>
          <a:off x="0" y="0"/>
          <a:ext cx="0" cy="0"/>
          <a:chOff x="0" y="0"/>
          <a:chExt cx="0" cy="0"/>
        </a:xfrm>
      </p:grpSpPr>
      <p:sp>
        <p:nvSpPr>
          <p:cNvPr id="72" name="Google Shape;72;p32"/>
          <p:cNvSpPr txBox="1">
            <a:spLocks noGrp="1"/>
          </p:cNvSpPr>
          <p:nvPr>
            <p:ph type="title"/>
          </p:nvPr>
        </p:nvSpPr>
        <p:spPr>
          <a:xfrm rot="5400000">
            <a:off x="7285037" y="1828802"/>
            <a:ext cx="5851525" cy="2743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00206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body" idx="1"/>
          </p:nvPr>
        </p:nvSpPr>
        <p:spPr>
          <a:xfrm rot="5400000">
            <a:off x="1697037" y="-812799"/>
            <a:ext cx="5851525" cy="80264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Clr>
                <a:schemeClr val="dk1"/>
              </a:buClr>
              <a:buSzPts val="18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4" name="Google Shape;74;p32"/>
          <p:cNvSpPr txBox="1">
            <a:spLocks noGrp="1"/>
          </p:cNvSpPr>
          <p:nvPr>
            <p:ph type="dt" idx="10"/>
          </p:nvPr>
        </p:nvSpPr>
        <p:spPr>
          <a:xfrm>
            <a:off x="609600" y="6456046"/>
            <a:ext cx="1026017"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32"/>
          <p:cNvSpPr txBox="1">
            <a:spLocks noGrp="1"/>
          </p:cNvSpPr>
          <p:nvPr>
            <p:ph type="ftr" idx="11"/>
          </p:nvPr>
        </p:nvSpPr>
        <p:spPr>
          <a:xfrm>
            <a:off x="2873598" y="6477001"/>
            <a:ext cx="5632003"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2"/>
          <p:cNvSpPr txBox="1">
            <a:spLocks noGrp="1"/>
          </p:cNvSpPr>
          <p:nvPr>
            <p:ph type="sldNum" idx="12"/>
          </p:nvPr>
        </p:nvSpPr>
        <p:spPr>
          <a:xfrm rot="-5400000">
            <a:off x="11189124" y="5824644"/>
            <a:ext cx="1315721" cy="486833"/>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Title slide: cyan">
  <p:cSld name="Title slide: cyan">
    <p:spTree>
      <p:nvGrpSpPr>
        <p:cNvPr id="1" name="Shape 77"/>
        <p:cNvGrpSpPr/>
        <p:nvPr/>
      </p:nvGrpSpPr>
      <p:grpSpPr>
        <a:xfrm>
          <a:off x="0" y="0"/>
          <a:ext cx="0" cy="0"/>
          <a:chOff x="0" y="0"/>
          <a:chExt cx="0" cy="0"/>
        </a:xfrm>
      </p:grpSpPr>
      <p:sp>
        <p:nvSpPr>
          <p:cNvPr id="78" name="Google Shape;78;p33"/>
          <p:cNvSpPr txBox="1">
            <a:spLocks noGrp="1"/>
          </p:cNvSpPr>
          <p:nvPr>
            <p:ph type="ctrTitle"/>
          </p:nvPr>
        </p:nvSpPr>
        <p:spPr>
          <a:xfrm>
            <a:off x="1212783" y="2457203"/>
            <a:ext cx="7161196" cy="984885"/>
          </a:xfrm>
          <a:prstGeom prst="rect">
            <a:avLst/>
          </a:prstGeom>
          <a:noFill/>
          <a:ln>
            <a:noFill/>
          </a:ln>
        </p:spPr>
        <p:txBody>
          <a:bodyPr spcFirstLastPara="1" wrap="square" lIns="91425" tIns="91425" rIns="91425" bIns="45700" anchor="ctr" anchorCtr="0">
            <a:spAutoFit/>
          </a:bodyPr>
          <a:lstStyle>
            <a:lvl1pPr lvl="0" algn="l">
              <a:lnSpc>
                <a:spcPct val="100000"/>
              </a:lnSpc>
              <a:spcBef>
                <a:spcPts val="0"/>
              </a:spcBef>
              <a:spcAft>
                <a:spcPts val="0"/>
              </a:spcAft>
              <a:buClr>
                <a:schemeClr val="dk2"/>
              </a:buClr>
              <a:buSzPts val="3300"/>
              <a:buFont typeface="Arial Black"/>
              <a:buNone/>
              <a:defRPr sz="33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33"/>
          <p:cNvSpPr txBox="1">
            <a:spLocks noGrp="1"/>
          </p:cNvSpPr>
          <p:nvPr>
            <p:ph type="subTitle" idx="1"/>
          </p:nvPr>
        </p:nvSpPr>
        <p:spPr>
          <a:xfrm>
            <a:off x="1212783" y="3709760"/>
            <a:ext cx="7161196" cy="369332"/>
          </a:xfrm>
          <a:prstGeom prst="rect">
            <a:avLst/>
          </a:prstGeom>
          <a:noFill/>
          <a:ln>
            <a:noFill/>
          </a:ln>
        </p:spPr>
        <p:txBody>
          <a:bodyPr spcFirstLastPara="1" wrap="square" lIns="91425" tIns="45700" rIns="91425" bIns="45700" anchor="t" anchorCtr="0">
            <a:spAutoFit/>
          </a:bodyPr>
          <a:lstStyle>
            <a:lvl1pPr lvl="0" algn="l">
              <a:lnSpc>
                <a:spcPct val="100000"/>
              </a:lnSpc>
              <a:spcBef>
                <a:spcPts val="360"/>
              </a:spcBef>
              <a:spcAft>
                <a:spcPts val="0"/>
              </a:spcAft>
              <a:buClr>
                <a:schemeClr val="accent2"/>
              </a:buClr>
              <a:buSzPts val="1800"/>
              <a:buNone/>
              <a:defRPr sz="1800">
                <a:solidFill>
                  <a:schemeClr val="accent2"/>
                </a:solidFill>
              </a:defRPr>
            </a:lvl1pPr>
            <a:lvl2pPr lvl="1" algn="ctr">
              <a:lnSpc>
                <a:spcPct val="100000"/>
              </a:lnSpc>
              <a:spcBef>
                <a:spcPts val="600"/>
              </a:spcBef>
              <a:spcAft>
                <a:spcPts val="0"/>
              </a:spcAft>
              <a:buSzPts val="2000"/>
              <a:buNone/>
              <a:defRPr>
                <a:solidFill>
                  <a:srgbClr val="888888"/>
                </a:solidFill>
              </a:defRPr>
            </a:lvl2pPr>
            <a:lvl3pPr lvl="2" algn="ctr">
              <a:lnSpc>
                <a:spcPct val="100000"/>
              </a:lnSpc>
              <a:spcBef>
                <a:spcPts val="360"/>
              </a:spcBef>
              <a:spcAft>
                <a:spcPts val="0"/>
              </a:spcAft>
              <a:buSzPts val="1800"/>
              <a:buNone/>
              <a:defRPr>
                <a:solidFill>
                  <a:srgbClr val="888888"/>
                </a:solidFill>
              </a:defRPr>
            </a:lvl3pPr>
            <a:lvl4pPr lvl="3" algn="ctr">
              <a:lnSpc>
                <a:spcPct val="100000"/>
              </a:lnSpc>
              <a:spcBef>
                <a:spcPts val="360"/>
              </a:spcBef>
              <a:spcAft>
                <a:spcPts val="0"/>
              </a:spcAft>
              <a:buSzPts val="1800"/>
              <a:buNone/>
              <a:defRPr>
                <a:solidFill>
                  <a:srgbClr val="888888"/>
                </a:solidFill>
              </a:defRPr>
            </a:lvl4pPr>
            <a:lvl5pPr lvl="4" algn="ctr">
              <a:lnSpc>
                <a:spcPct val="100000"/>
              </a:lnSpc>
              <a:spcBef>
                <a:spcPts val="360"/>
              </a:spcBef>
              <a:spcAft>
                <a:spcPts val="0"/>
              </a:spcAft>
              <a:buSzPts val="1800"/>
              <a:buNone/>
              <a:defRPr>
                <a:solidFill>
                  <a:srgbClr val="888888"/>
                </a:solidFill>
              </a:defRPr>
            </a:lvl5pPr>
            <a:lvl6pPr lvl="5" algn="ctr">
              <a:lnSpc>
                <a:spcPct val="100000"/>
              </a:lnSpc>
              <a:spcBef>
                <a:spcPts val="320"/>
              </a:spcBef>
              <a:spcAft>
                <a:spcPts val="0"/>
              </a:spcAft>
              <a:buSzPts val="1600"/>
              <a:buNone/>
              <a:defRPr>
                <a:solidFill>
                  <a:srgbClr val="888888"/>
                </a:solidFill>
              </a:defRPr>
            </a:lvl6pPr>
            <a:lvl7pPr lvl="6" algn="ctr">
              <a:lnSpc>
                <a:spcPct val="100000"/>
              </a:lnSpc>
              <a:spcBef>
                <a:spcPts val="320"/>
              </a:spcBef>
              <a:spcAft>
                <a:spcPts val="0"/>
              </a:spcAft>
              <a:buSzPts val="1600"/>
              <a:buNone/>
              <a:defRPr>
                <a:solidFill>
                  <a:srgbClr val="888888"/>
                </a:solidFill>
              </a:defRPr>
            </a:lvl7pPr>
            <a:lvl8pPr lvl="7" algn="ctr">
              <a:lnSpc>
                <a:spcPct val="100000"/>
              </a:lnSpc>
              <a:spcBef>
                <a:spcPts val="320"/>
              </a:spcBef>
              <a:spcAft>
                <a:spcPts val="0"/>
              </a:spcAft>
              <a:buSzPts val="1600"/>
              <a:buNone/>
              <a:defRPr>
                <a:solidFill>
                  <a:srgbClr val="888888"/>
                </a:solidFill>
              </a:defRPr>
            </a:lvl8pPr>
            <a:lvl9pPr lvl="8" algn="ctr">
              <a:lnSpc>
                <a:spcPct val="100000"/>
              </a:lnSpc>
              <a:spcBef>
                <a:spcPts val="320"/>
              </a:spcBef>
              <a:spcAft>
                <a:spcPts val="0"/>
              </a:spcAft>
              <a:buSzPts val="1600"/>
              <a:buNone/>
              <a:defRPr>
                <a:solidFill>
                  <a:srgbClr val="888888"/>
                </a:solidFill>
              </a:defRPr>
            </a:lvl9pPr>
          </a:lstStyle>
          <a:p>
            <a:endParaRPr/>
          </a:p>
        </p:txBody>
      </p:sp>
      <p:sp>
        <p:nvSpPr>
          <p:cNvPr id="80" name="Google Shape;80;p33"/>
          <p:cNvSpPr/>
          <p:nvPr/>
        </p:nvSpPr>
        <p:spPr>
          <a:xfrm>
            <a:off x="7826038" y="-6810"/>
            <a:ext cx="4372773" cy="6872473"/>
          </a:xfrm>
          <a:custGeom>
            <a:avLst/>
            <a:gdLst/>
            <a:ahLst/>
            <a:cxnLst/>
            <a:rect l="l" t="t" r="r" b="b"/>
            <a:pathLst>
              <a:path w="3279580" h="5154355" extrusionOk="0">
                <a:moveTo>
                  <a:pt x="0" y="0"/>
                </a:moveTo>
                <a:lnTo>
                  <a:pt x="3279580" y="5108"/>
                </a:lnTo>
                <a:lnTo>
                  <a:pt x="3279580" y="5149247"/>
                </a:lnTo>
                <a:lnTo>
                  <a:pt x="1568273" y="5154355"/>
                </a:lnTo>
                <a:lnTo>
                  <a:pt x="0" y="0"/>
                </a:lnTo>
                <a:close/>
              </a:path>
            </a:pathLst>
          </a:cu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1" name="Google Shape;81;p33"/>
          <p:cNvSpPr/>
          <p:nvPr/>
        </p:nvSpPr>
        <p:spPr>
          <a:xfrm flipH="1">
            <a:off x="7002657" y="0"/>
            <a:ext cx="3671224" cy="6858000"/>
          </a:xfrm>
          <a:prstGeom prst="parallelogram">
            <a:avLst>
              <a:gd name="adj" fmla="val 97000"/>
            </a:avLst>
          </a:prstGeom>
          <a:gradFill>
            <a:gsLst>
              <a:gs pos="0">
                <a:schemeClr val="dk2"/>
              </a:gs>
              <a:gs pos="51000">
                <a:schemeClr val="dk2"/>
              </a:gs>
              <a:gs pos="78000">
                <a:schemeClr val="accent2"/>
              </a:gs>
              <a:gs pos="100000">
                <a:schemeClr val="lt2"/>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1"/>
          <p:cNvSpPr txBox="1">
            <a:spLocks noGrp="1"/>
          </p:cNvSpPr>
          <p:nvPr>
            <p:ph type="title"/>
          </p:nvPr>
        </p:nvSpPr>
        <p:spPr>
          <a:xfrm>
            <a:off x="609599" y="152718"/>
            <a:ext cx="9011323" cy="1371600"/>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rgbClr val="002060"/>
              </a:buClr>
              <a:buSzPts val="3600"/>
              <a:buFont typeface="Arial Black"/>
              <a:buNone/>
              <a:defRPr sz="3600" b="0" i="0" u="none" strike="noStrike" cap="none">
                <a:solidFill>
                  <a:srgbClr val="002060"/>
                </a:solidFill>
                <a:latin typeface="Arial Black"/>
                <a:ea typeface="Arial Black"/>
                <a:cs typeface="Arial Black"/>
                <a:sym typeface="Arial Black"/>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1"/>
          <p:cNvSpPr txBox="1">
            <a:spLocks noGrp="1"/>
          </p:cNvSpPr>
          <p:nvPr>
            <p:ph type="body" idx="1"/>
          </p:nvPr>
        </p:nvSpPr>
        <p:spPr>
          <a:xfrm>
            <a:off x="609600" y="1752601"/>
            <a:ext cx="10160000" cy="437356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40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55600" algn="l" rtl="0">
              <a:lnSpc>
                <a:spcPct val="100000"/>
              </a:lnSpc>
              <a:spcBef>
                <a:spcPts val="600"/>
              </a:spcBef>
              <a:spcAft>
                <a:spcPts val="0"/>
              </a:spcAft>
              <a:buClr>
                <a:schemeClr val="dk2"/>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100000"/>
              </a:lnSpc>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00000"/>
              </a:lnSpc>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30200" algn="l" rtl="0">
              <a:lnSpc>
                <a:spcPct val="100000"/>
              </a:lnSpc>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2" name="Google Shape;12;p21"/>
          <p:cNvSpPr txBox="1">
            <a:spLocks noGrp="1"/>
          </p:cNvSpPr>
          <p:nvPr>
            <p:ph type="dt" idx="10"/>
          </p:nvPr>
        </p:nvSpPr>
        <p:spPr>
          <a:xfrm>
            <a:off x="609600" y="6456046"/>
            <a:ext cx="1026017" cy="304800"/>
          </a:xfrm>
          <a:prstGeom prst="rect">
            <a:avLst/>
          </a:prstGeom>
          <a:noFill/>
          <a:ln>
            <a:noFill/>
          </a:ln>
        </p:spPr>
        <p:txBody>
          <a:bodyPr spcFirstLastPara="1" wrap="square" lIns="91425" tIns="45700" rIns="91425" bIns="0" anchor="b"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21"/>
          <p:cNvSpPr txBox="1">
            <a:spLocks noGrp="1"/>
          </p:cNvSpPr>
          <p:nvPr>
            <p:ph type="ftr" idx="11"/>
          </p:nvPr>
        </p:nvSpPr>
        <p:spPr>
          <a:xfrm>
            <a:off x="2873598" y="6477001"/>
            <a:ext cx="5632003" cy="28384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21"/>
          <p:cNvSpPr txBox="1">
            <a:spLocks noGrp="1"/>
          </p:cNvSpPr>
          <p:nvPr>
            <p:ph type="sldNum" idx="12"/>
          </p:nvPr>
        </p:nvSpPr>
        <p:spPr>
          <a:xfrm rot="-5400000">
            <a:off x="11189124" y="5824644"/>
            <a:ext cx="1315721" cy="486833"/>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
        <p:nvSpPr>
          <p:cNvPr id="15" name="Google Shape;15;p21"/>
          <p:cNvSpPr/>
          <p:nvPr/>
        </p:nvSpPr>
        <p:spPr>
          <a:xfrm>
            <a:off x="12001499" y="0"/>
            <a:ext cx="190501" cy="13716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6" name="Google Shape;16;p21"/>
          <p:cNvSpPr/>
          <p:nvPr/>
        </p:nvSpPr>
        <p:spPr>
          <a:xfrm>
            <a:off x="12001499" y="1371600"/>
            <a:ext cx="190501" cy="54864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7" name="Google Shape;17;p21"/>
          <p:cNvPicPr preferRelativeResize="0"/>
          <p:nvPr/>
        </p:nvPicPr>
        <p:blipFill rotWithShape="1">
          <a:blip r:embed="rId11">
            <a:alphaModFix/>
          </a:blip>
          <a:srcRect/>
          <a:stretch/>
        </p:blipFill>
        <p:spPr>
          <a:xfrm>
            <a:off x="9714969" y="396067"/>
            <a:ext cx="341508" cy="256131"/>
          </a:xfrm>
          <a:prstGeom prst="rect">
            <a:avLst/>
          </a:prstGeom>
          <a:noFill/>
          <a:ln>
            <a:noFill/>
          </a:ln>
        </p:spPr>
      </p:pic>
      <p:pic>
        <p:nvPicPr>
          <p:cNvPr id="18" name="Google Shape;18;p21" descr="COSLogoForPrintLandscape"/>
          <p:cNvPicPr preferRelativeResize="0"/>
          <p:nvPr/>
        </p:nvPicPr>
        <p:blipFill rotWithShape="1">
          <a:blip r:embed="rId12">
            <a:alphaModFix/>
          </a:blip>
          <a:srcRect l="9000" t="1455" r="78802"/>
          <a:stretch/>
        </p:blipFill>
        <p:spPr>
          <a:xfrm>
            <a:off x="10150523" y="372883"/>
            <a:ext cx="380071" cy="287064"/>
          </a:xfrm>
          <a:prstGeom prst="rect">
            <a:avLst/>
          </a:prstGeom>
          <a:noFill/>
          <a:ln>
            <a:noFill/>
          </a:ln>
        </p:spPr>
      </p:pic>
      <p:pic>
        <p:nvPicPr>
          <p:cNvPr id="19" name="Google Shape;19;p21" descr="UA_horiz_color_250_no%20tag"/>
          <p:cNvPicPr preferRelativeResize="0"/>
          <p:nvPr/>
        </p:nvPicPr>
        <p:blipFill rotWithShape="1">
          <a:blip r:embed="rId13">
            <a:alphaModFix/>
          </a:blip>
          <a:srcRect/>
          <a:stretch/>
        </p:blipFill>
        <p:spPr>
          <a:xfrm>
            <a:off x="10588262" y="398981"/>
            <a:ext cx="1322493" cy="28169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optics.ansys.com/hc/en-us/articles/43071107687699-Zemax-Tabular-BSDF-data-file-format"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optics.ansys.com/hc/en-us/articles/43071107687699-Zemax-Tabular-BSDF-data-file-format"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jpg"/><Relationship Id="rId7" Type="http://schemas.openxmlformats.org/officeDocument/2006/relationships/image" Target="../media/image28.png"/><Relationship Id="rId2" Type="http://schemas.openxmlformats.org/officeDocument/2006/relationships/image" Target="../media/image23.jp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jpg"/><Relationship Id="rId4" Type="http://schemas.openxmlformats.org/officeDocument/2006/relationships/image" Target="../media/image25.jpg"/></Relationships>
</file>

<file path=ppt/slides/_rels/slide2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2.xml"/><Relationship Id="rId4" Type="http://schemas.openxmlformats.org/officeDocument/2006/relationships/image" Target="../media/image29.jpg"/></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hyperlink" Target="https://optics.ansys.com/hc/en-us/articles/43071089490451-How-to-use-tabular-BSDF-data-to-define-the-surface-scattering-distribution"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71.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0.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8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8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8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88.png"/><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101.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103.png"/><Relationship Id="rId3" Type="http://schemas.openxmlformats.org/officeDocument/2006/relationships/image" Target="../media/image95.png"/><Relationship Id="rId7" Type="http://schemas.openxmlformats.org/officeDocument/2006/relationships/image" Target="../media/image97.png"/><Relationship Id="rId12" Type="http://schemas.openxmlformats.org/officeDocument/2006/relationships/image" Target="../media/image102.png"/><Relationship Id="rId2" Type="http://schemas.openxmlformats.org/officeDocument/2006/relationships/image" Target="../media/image94.png"/><Relationship Id="rId1" Type="http://schemas.openxmlformats.org/officeDocument/2006/relationships/slideLayout" Target="../slideLayouts/slideLayout2.xml"/><Relationship Id="rId6" Type="http://schemas.openxmlformats.org/officeDocument/2006/relationships/image" Target="../media/image92.png"/><Relationship Id="rId11" Type="http://schemas.openxmlformats.org/officeDocument/2006/relationships/image" Target="../media/image101.png"/><Relationship Id="rId5" Type="http://schemas.openxmlformats.org/officeDocument/2006/relationships/image" Target="../media/image96.png"/><Relationship Id="rId10" Type="http://schemas.openxmlformats.org/officeDocument/2006/relationships/image" Target="../media/image100.png"/><Relationship Id="rId4" Type="http://schemas.openxmlformats.org/officeDocument/2006/relationships/image" Target="../media/image90.png"/><Relationship Id="rId9" Type="http://schemas.openxmlformats.org/officeDocument/2006/relationships/image" Target="../media/image99.png"/></Relationships>
</file>

<file path=ppt/slides/_rels/slide102.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107.png"/><Relationship Id="rId3" Type="http://schemas.openxmlformats.org/officeDocument/2006/relationships/image" Target="../media/image105.png"/><Relationship Id="rId7" Type="http://schemas.openxmlformats.org/officeDocument/2006/relationships/image" Target="../media/image106.png"/><Relationship Id="rId12" Type="http://schemas.openxmlformats.org/officeDocument/2006/relationships/image" Target="../media/image102.png"/><Relationship Id="rId2" Type="http://schemas.openxmlformats.org/officeDocument/2006/relationships/image" Target="../media/image104.png"/><Relationship Id="rId1" Type="http://schemas.openxmlformats.org/officeDocument/2006/relationships/slideLayout" Target="../slideLayouts/slideLayout2.xml"/><Relationship Id="rId6" Type="http://schemas.openxmlformats.org/officeDocument/2006/relationships/image" Target="../media/image92.png"/><Relationship Id="rId11" Type="http://schemas.openxmlformats.org/officeDocument/2006/relationships/image" Target="../media/image101.png"/><Relationship Id="rId5" Type="http://schemas.openxmlformats.org/officeDocument/2006/relationships/image" Target="../media/image96.png"/><Relationship Id="rId10" Type="http://schemas.openxmlformats.org/officeDocument/2006/relationships/image" Target="../media/image100.png"/><Relationship Id="rId4" Type="http://schemas.openxmlformats.org/officeDocument/2006/relationships/image" Target="../media/image90.png"/><Relationship Id="rId9" Type="http://schemas.openxmlformats.org/officeDocument/2006/relationships/image" Target="../media/image99.png"/></Relationships>
</file>

<file path=ppt/slides/_rels/slide103.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109.png"/><Relationship Id="rId7" Type="http://schemas.openxmlformats.org/officeDocument/2006/relationships/image" Target="../media/image113.png"/><Relationship Id="rId2"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 Id="rId9" Type="http://schemas.openxmlformats.org/officeDocument/2006/relationships/image" Target="../media/image115.png"/></Relationships>
</file>

<file path=ppt/slides/_rels/slide104.xml.rels><?xml version="1.0" encoding="UTF-8" standalone="yes"?>
<Relationships xmlns="http://schemas.openxmlformats.org/package/2006/relationships"><Relationship Id="rId2" Type="http://schemas.openxmlformats.org/officeDocument/2006/relationships/image" Target="../media/image109.jp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09.jp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103.png"/><Relationship Id="rId3" Type="http://schemas.openxmlformats.org/officeDocument/2006/relationships/image" Target="../media/image120.png"/><Relationship Id="rId7" Type="http://schemas.openxmlformats.org/officeDocument/2006/relationships/image" Target="../media/image97.png"/><Relationship Id="rId12" Type="http://schemas.openxmlformats.org/officeDocument/2006/relationships/image" Target="../media/image102.png"/><Relationship Id="rId2" Type="http://schemas.openxmlformats.org/officeDocument/2006/relationships/image" Target="../media/image119.png"/><Relationship Id="rId1" Type="http://schemas.openxmlformats.org/officeDocument/2006/relationships/slideLayout" Target="../slideLayouts/slideLayout2.xml"/><Relationship Id="rId6" Type="http://schemas.openxmlformats.org/officeDocument/2006/relationships/image" Target="../media/image92.png"/><Relationship Id="rId11" Type="http://schemas.openxmlformats.org/officeDocument/2006/relationships/image" Target="../media/image101.png"/><Relationship Id="rId5" Type="http://schemas.openxmlformats.org/officeDocument/2006/relationships/image" Target="../media/image96.png"/><Relationship Id="rId10" Type="http://schemas.openxmlformats.org/officeDocument/2006/relationships/image" Target="../media/image100.png"/><Relationship Id="rId4" Type="http://schemas.openxmlformats.org/officeDocument/2006/relationships/image" Target="../media/image90.png"/><Relationship Id="rId9" Type="http://schemas.openxmlformats.org/officeDocument/2006/relationships/image" Target="../media/image99.png"/></Relationships>
</file>

<file path=ppt/slides/_rels/slide116.xml.rels><?xml version="1.0" encoding="UTF-8" standalone="yes"?>
<Relationships xmlns="http://schemas.openxmlformats.org/package/2006/relationships"><Relationship Id="rId8" Type="http://schemas.openxmlformats.org/officeDocument/2006/relationships/image" Target="../media/image126.png"/><Relationship Id="rId13" Type="http://schemas.openxmlformats.org/officeDocument/2006/relationships/image" Target="../media/image131.png"/><Relationship Id="rId3" Type="http://schemas.openxmlformats.org/officeDocument/2006/relationships/image" Target="../media/image122.png"/><Relationship Id="rId7" Type="http://schemas.openxmlformats.org/officeDocument/2006/relationships/image" Target="../media/image125.png"/><Relationship Id="rId12" Type="http://schemas.openxmlformats.org/officeDocument/2006/relationships/image" Target="../media/image130.png"/><Relationship Id="rId2" Type="http://schemas.openxmlformats.org/officeDocument/2006/relationships/image" Target="../media/image121.png"/><Relationship Id="rId1" Type="http://schemas.openxmlformats.org/officeDocument/2006/relationships/slideLayout" Target="../slideLayouts/slideLayout2.xml"/><Relationship Id="rId6" Type="http://schemas.openxmlformats.org/officeDocument/2006/relationships/image" Target="../media/image124.png"/><Relationship Id="rId11" Type="http://schemas.openxmlformats.org/officeDocument/2006/relationships/image" Target="../media/image129.png"/><Relationship Id="rId5" Type="http://schemas.openxmlformats.org/officeDocument/2006/relationships/image" Target="../media/image123.png"/><Relationship Id="rId10" Type="http://schemas.openxmlformats.org/officeDocument/2006/relationships/image" Target="../media/image128.png"/><Relationship Id="rId4" Type="http://schemas.openxmlformats.org/officeDocument/2006/relationships/image" Target="../media/image1220.png"/><Relationship Id="rId9" Type="http://schemas.openxmlformats.org/officeDocument/2006/relationships/image" Target="../media/image127.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hyperlink" Target="https://support.photonengr.com/article/304-viavi-engineered-diffuser-bsdf" TargetMode="External"/><Relationship Id="rId2" Type="http://schemas.openxmlformats.org/officeDocument/2006/relationships/image" Target="../media/image134.png"/><Relationship Id="rId1" Type="http://schemas.openxmlformats.org/officeDocument/2006/relationships/slideLayout" Target="../slideLayouts/slideLayout2.xml"/><Relationship Id="rId4" Type="http://schemas.openxmlformats.org/officeDocument/2006/relationships/image" Target="../media/image135.png"/></Relationships>
</file>

<file path=ppt/slides/_rels/slide122.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0.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8" Type="http://schemas.openxmlformats.org/officeDocument/2006/relationships/image" Target="../media/image147.png"/><Relationship Id="rId13" Type="http://schemas.openxmlformats.org/officeDocument/2006/relationships/image" Target="../media/image152.png"/><Relationship Id="rId3" Type="http://schemas.openxmlformats.org/officeDocument/2006/relationships/image" Target="../media/image120.png"/><Relationship Id="rId7" Type="http://schemas.openxmlformats.org/officeDocument/2006/relationships/image" Target="../media/image146.png"/><Relationship Id="rId12" Type="http://schemas.openxmlformats.org/officeDocument/2006/relationships/image" Target="../media/image151.png"/><Relationship Id="rId2" Type="http://schemas.openxmlformats.org/officeDocument/2006/relationships/image" Target="../media/image142.png"/><Relationship Id="rId1" Type="http://schemas.openxmlformats.org/officeDocument/2006/relationships/slideLayout" Target="../slideLayouts/slideLayout2.xml"/><Relationship Id="rId6" Type="http://schemas.openxmlformats.org/officeDocument/2006/relationships/image" Target="../media/image145.png"/><Relationship Id="rId11" Type="http://schemas.openxmlformats.org/officeDocument/2006/relationships/image" Target="../media/image150.png"/><Relationship Id="rId5" Type="http://schemas.openxmlformats.org/officeDocument/2006/relationships/image" Target="../media/image144.png"/><Relationship Id="rId15" Type="http://schemas.openxmlformats.org/officeDocument/2006/relationships/image" Target="../media/image154.png"/><Relationship Id="rId10" Type="http://schemas.openxmlformats.org/officeDocument/2006/relationships/image" Target="../media/image149.png"/><Relationship Id="rId4" Type="http://schemas.openxmlformats.org/officeDocument/2006/relationships/image" Target="../media/image143.png"/><Relationship Id="rId9" Type="http://schemas.openxmlformats.org/officeDocument/2006/relationships/image" Target="../media/image148.png"/><Relationship Id="rId14" Type="http://schemas.openxmlformats.org/officeDocument/2006/relationships/image" Target="../media/image153.png"/></Relationships>
</file>

<file path=ppt/slides/_rels/slide133.xml.rels><?xml version="1.0" encoding="UTF-8" standalone="yes"?>
<Relationships xmlns="http://schemas.openxmlformats.org/package/2006/relationships"><Relationship Id="rId8" Type="http://schemas.openxmlformats.org/officeDocument/2006/relationships/image" Target="../media/image146.png"/><Relationship Id="rId13" Type="http://schemas.openxmlformats.org/officeDocument/2006/relationships/image" Target="../media/image157.png"/><Relationship Id="rId3" Type="http://schemas.openxmlformats.org/officeDocument/2006/relationships/image" Target="../media/image156.png"/><Relationship Id="rId7" Type="http://schemas.openxmlformats.org/officeDocument/2006/relationships/image" Target="../media/image145.png"/><Relationship Id="rId12" Type="http://schemas.openxmlformats.org/officeDocument/2006/relationships/image" Target="../media/image152.png"/><Relationship Id="rId2" Type="http://schemas.openxmlformats.org/officeDocument/2006/relationships/image" Target="../media/image155.png"/><Relationship Id="rId1" Type="http://schemas.openxmlformats.org/officeDocument/2006/relationships/slideLayout" Target="../slideLayouts/slideLayout2.xml"/><Relationship Id="rId6" Type="http://schemas.openxmlformats.org/officeDocument/2006/relationships/image" Target="../media/image144.png"/><Relationship Id="rId11" Type="http://schemas.openxmlformats.org/officeDocument/2006/relationships/image" Target="../media/image151.png"/><Relationship Id="rId5" Type="http://schemas.openxmlformats.org/officeDocument/2006/relationships/image" Target="../media/image143.png"/><Relationship Id="rId15" Type="http://schemas.openxmlformats.org/officeDocument/2006/relationships/image" Target="../media/image159.png"/><Relationship Id="rId10" Type="http://schemas.openxmlformats.org/officeDocument/2006/relationships/image" Target="../media/image150.png"/><Relationship Id="rId4" Type="http://schemas.openxmlformats.org/officeDocument/2006/relationships/image" Target="../media/image119.png"/><Relationship Id="rId9" Type="http://schemas.openxmlformats.org/officeDocument/2006/relationships/image" Target="../media/image149.png"/><Relationship Id="rId14" Type="http://schemas.openxmlformats.org/officeDocument/2006/relationships/image" Target="../media/image158.png"/></Relationships>
</file>

<file path=ppt/slides/_rels/slide134.xml.rels><?xml version="1.0" encoding="UTF-8" standalone="yes"?>
<Relationships xmlns="http://schemas.openxmlformats.org/package/2006/relationships"><Relationship Id="rId8" Type="http://schemas.openxmlformats.org/officeDocument/2006/relationships/image" Target="../media/image146.png"/><Relationship Id="rId13" Type="http://schemas.openxmlformats.org/officeDocument/2006/relationships/image" Target="../media/image162.png"/><Relationship Id="rId3" Type="http://schemas.openxmlformats.org/officeDocument/2006/relationships/image" Target="../media/image161.png"/><Relationship Id="rId7" Type="http://schemas.openxmlformats.org/officeDocument/2006/relationships/image" Target="../media/image145.png"/><Relationship Id="rId12" Type="http://schemas.openxmlformats.org/officeDocument/2006/relationships/image" Target="../media/image152.png"/><Relationship Id="rId2" Type="http://schemas.openxmlformats.org/officeDocument/2006/relationships/image" Target="../media/image160.png"/><Relationship Id="rId1" Type="http://schemas.openxmlformats.org/officeDocument/2006/relationships/slideLayout" Target="../slideLayouts/slideLayout2.xml"/><Relationship Id="rId6" Type="http://schemas.openxmlformats.org/officeDocument/2006/relationships/image" Target="../media/image144.png"/><Relationship Id="rId11" Type="http://schemas.openxmlformats.org/officeDocument/2006/relationships/image" Target="../media/image151.png"/><Relationship Id="rId5" Type="http://schemas.openxmlformats.org/officeDocument/2006/relationships/image" Target="../media/image143.png"/><Relationship Id="rId15" Type="http://schemas.openxmlformats.org/officeDocument/2006/relationships/image" Target="../media/image164.png"/><Relationship Id="rId10" Type="http://schemas.openxmlformats.org/officeDocument/2006/relationships/image" Target="../media/image150.png"/><Relationship Id="rId4" Type="http://schemas.openxmlformats.org/officeDocument/2006/relationships/image" Target="../media/image122.png"/><Relationship Id="rId9" Type="http://schemas.openxmlformats.org/officeDocument/2006/relationships/image" Target="../media/image149.png"/><Relationship Id="rId14" Type="http://schemas.openxmlformats.org/officeDocument/2006/relationships/image" Target="../media/image163.png"/></Relationships>
</file>

<file path=ppt/slides/_rels/slide135.xml.rels><?xml version="1.0" encoding="UTF-8" standalone="yes"?>
<Relationships xmlns="http://schemas.openxmlformats.org/package/2006/relationships"><Relationship Id="rId8" Type="http://schemas.openxmlformats.org/officeDocument/2006/relationships/image" Target="../media/image146.png"/><Relationship Id="rId13" Type="http://schemas.openxmlformats.org/officeDocument/2006/relationships/image" Target="../media/image167.png"/><Relationship Id="rId3" Type="http://schemas.openxmlformats.org/officeDocument/2006/relationships/image" Target="../media/image166.png"/><Relationship Id="rId7" Type="http://schemas.openxmlformats.org/officeDocument/2006/relationships/image" Target="../media/image145.png"/><Relationship Id="rId12" Type="http://schemas.openxmlformats.org/officeDocument/2006/relationships/image" Target="../media/image152.png"/><Relationship Id="rId2" Type="http://schemas.openxmlformats.org/officeDocument/2006/relationships/image" Target="../media/image165.png"/><Relationship Id="rId1" Type="http://schemas.openxmlformats.org/officeDocument/2006/relationships/slideLayout" Target="../slideLayouts/slideLayout2.xml"/><Relationship Id="rId6" Type="http://schemas.openxmlformats.org/officeDocument/2006/relationships/image" Target="../media/image144.png"/><Relationship Id="rId11" Type="http://schemas.openxmlformats.org/officeDocument/2006/relationships/image" Target="../media/image151.png"/><Relationship Id="rId5" Type="http://schemas.openxmlformats.org/officeDocument/2006/relationships/image" Target="../media/image143.png"/><Relationship Id="rId15" Type="http://schemas.openxmlformats.org/officeDocument/2006/relationships/image" Target="../media/image164.png"/><Relationship Id="rId10" Type="http://schemas.openxmlformats.org/officeDocument/2006/relationships/image" Target="../media/image150.png"/><Relationship Id="rId4" Type="http://schemas.openxmlformats.org/officeDocument/2006/relationships/image" Target="../media/image121.png"/><Relationship Id="rId9" Type="http://schemas.openxmlformats.org/officeDocument/2006/relationships/image" Target="../media/image149.png"/><Relationship Id="rId14" Type="http://schemas.openxmlformats.org/officeDocument/2006/relationships/image" Target="../media/image168.png"/></Relationships>
</file>

<file path=ppt/slides/_rels/slide136.xml.rels><?xml version="1.0" encoding="UTF-8" standalone="yes"?>
<Relationships xmlns="http://schemas.openxmlformats.org/package/2006/relationships"><Relationship Id="rId8" Type="http://schemas.openxmlformats.org/officeDocument/2006/relationships/image" Target="../media/image175.png"/><Relationship Id="rId13" Type="http://schemas.openxmlformats.org/officeDocument/2006/relationships/image" Target="../media/image179.png"/><Relationship Id="rId3" Type="http://schemas.openxmlformats.org/officeDocument/2006/relationships/image" Target="../media/image170.png"/><Relationship Id="rId7" Type="http://schemas.openxmlformats.org/officeDocument/2006/relationships/image" Target="../media/image174.png"/><Relationship Id="rId12" Type="http://schemas.openxmlformats.org/officeDocument/2006/relationships/image" Target="../media/image178.png"/><Relationship Id="rId2" Type="http://schemas.openxmlformats.org/officeDocument/2006/relationships/image" Target="../media/image169.png"/><Relationship Id="rId1" Type="http://schemas.openxmlformats.org/officeDocument/2006/relationships/slideLayout" Target="../slideLayouts/slideLayout2.xml"/><Relationship Id="rId6" Type="http://schemas.openxmlformats.org/officeDocument/2006/relationships/image" Target="../media/image173.png"/><Relationship Id="rId11" Type="http://schemas.openxmlformats.org/officeDocument/2006/relationships/image" Target="../media/image177.png"/><Relationship Id="rId5" Type="http://schemas.openxmlformats.org/officeDocument/2006/relationships/image" Target="../media/image172.png"/><Relationship Id="rId15" Type="http://schemas.openxmlformats.org/officeDocument/2006/relationships/image" Target="../media/image181.png"/><Relationship Id="rId10" Type="http://schemas.openxmlformats.org/officeDocument/2006/relationships/image" Target="../media/image176.png"/><Relationship Id="rId4" Type="http://schemas.openxmlformats.org/officeDocument/2006/relationships/image" Target="../media/image171.png"/><Relationship Id="rId9" Type="http://schemas.openxmlformats.org/officeDocument/2006/relationships/image" Target="../media/image152.png"/><Relationship Id="rId14" Type="http://schemas.openxmlformats.org/officeDocument/2006/relationships/image" Target="../media/image180.png"/></Relationships>
</file>

<file path=ppt/slides/_rels/slide137.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8" Type="http://schemas.openxmlformats.org/officeDocument/2006/relationships/image" Target="../media/image187.png"/><Relationship Id="rId13" Type="http://schemas.openxmlformats.org/officeDocument/2006/relationships/image" Target="../media/image190.png"/><Relationship Id="rId3" Type="http://schemas.openxmlformats.org/officeDocument/2006/relationships/image" Target="../media/image148.png"/><Relationship Id="rId7" Type="http://schemas.openxmlformats.org/officeDocument/2006/relationships/image" Target="../media/image186.png"/><Relationship Id="rId12" Type="http://schemas.openxmlformats.org/officeDocument/2006/relationships/image" Target="../media/image189.png"/><Relationship Id="rId2" Type="http://schemas.openxmlformats.org/officeDocument/2006/relationships/image" Target="../media/image147.png"/><Relationship Id="rId1" Type="http://schemas.openxmlformats.org/officeDocument/2006/relationships/slideLayout" Target="../slideLayouts/slideLayout2.xml"/><Relationship Id="rId6" Type="http://schemas.openxmlformats.org/officeDocument/2006/relationships/image" Target="../media/image185.png"/><Relationship Id="rId11" Type="http://schemas.openxmlformats.org/officeDocument/2006/relationships/image" Target="../media/image188.png"/><Relationship Id="rId5" Type="http://schemas.openxmlformats.org/officeDocument/2006/relationships/image" Target="../media/image184.png"/><Relationship Id="rId15" Type="http://schemas.openxmlformats.org/officeDocument/2006/relationships/image" Target="../media/image192.png"/><Relationship Id="rId10" Type="http://schemas.openxmlformats.org/officeDocument/2006/relationships/image" Target="../media/image156.png"/><Relationship Id="rId4" Type="http://schemas.openxmlformats.org/officeDocument/2006/relationships/image" Target="../media/image183.png"/><Relationship Id="rId9" Type="http://schemas.openxmlformats.org/officeDocument/2006/relationships/image" Target="../media/image155.png"/><Relationship Id="rId14" Type="http://schemas.openxmlformats.org/officeDocument/2006/relationships/image" Target="../media/image191.png"/></Relationships>
</file>

<file path=ppt/slides/_rels/slide140.xml.rels><?xml version="1.0" encoding="UTF-8" standalone="yes"?>
<Relationships xmlns="http://schemas.openxmlformats.org/package/2006/relationships"><Relationship Id="rId8" Type="http://schemas.openxmlformats.org/officeDocument/2006/relationships/image" Target="../media/image197.png"/><Relationship Id="rId13" Type="http://schemas.openxmlformats.org/officeDocument/2006/relationships/image" Target="../media/image200.png"/><Relationship Id="rId3" Type="http://schemas.openxmlformats.org/officeDocument/2006/relationships/image" Target="../media/image161.png"/><Relationship Id="rId7" Type="http://schemas.openxmlformats.org/officeDocument/2006/relationships/image" Target="../media/image196.png"/><Relationship Id="rId12" Type="http://schemas.openxmlformats.org/officeDocument/2006/relationships/image" Target="../media/image199.png"/><Relationship Id="rId2" Type="http://schemas.openxmlformats.org/officeDocument/2006/relationships/image" Target="../media/image160.png"/><Relationship Id="rId1" Type="http://schemas.openxmlformats.org/officeDocument/2006/relationships/slideLayout" Target="../slideLayouts/slideLayout2.xml"/><Relationship Id="rId6" Type="http://schemas.openxmlformats.org/officeDocument/2006/relationships/image" Target="../media/image195.png"/><Relationship Id="rId11" Type="http://schemas.openxmlformats.org/officeDocument/2006/relationships/image" Target="../media/image198.png"/><Relationship Id="rId5" Type="http://schemas.openxmlformats.org/officeDocument/2006/relationships/image" Target="../media/image194.png"/><Relationship Id="rId15" Type="http://schemas.openxmlformats.org/officeDocument/2006/relationships/image" Target="../media/image202.png"/><Relationship Id="rId10" Type="http://schemas.openxmlformats.org/officeDocument/2006/relationships/image" Target="../media/image166.png"/><Relationship Id="rId4" Type="http://schemas.openxmlformats.org/officeDocument/2006/relationships/image" Target="../media/image193.png"/><Relationship Id="rId9" Type="http://schemas.openxmlformats.org/officeDocument/2006/relationships/image" Target="../media/image165.png"/><Relationship Id="rId14" Type="http://schemas.openxmlformats.org/officeDocument/2006/relationships/image" Target="../media/image20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image" Target="../media/image203.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image" Target="../media/image204.png"/><Relationship Id="rId1" Type="http://schemas.openxmlformats.org/officeDocument/2006/relationships/slideLayout" Target="../slideLayouts/slideLayout2.xml"/><Relationship Id="rId4" Type="http://schemas.openxmlformats.org/officeDocument/2006/relationships/image" Target="../media/image206.png"/></Relationships>
</file>

<file path=ppt/slides/_rels/slide151.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image" Target="../media/image207.png"/><Relationship Id="rId1" Type="http://schemas.openxmlformats.org/officeDocument/2006/relationships/slideLayout" Target="../slideLayouts/slideLayout2.xml"/><Relationship Id="rId6" Type="http://schemas.openxmlformats.org/officeDocument/2006/relationships/image" Target="../media/image211.png"/><Relationship Id="rId5" Type="http://schemas.openxmlformats.org/officeDocument/2006/relationships/image" Target="../media/image210.png"/><Relationship Id="rId4" Type="http://schemas.openxmlformats.org/officeDocument/2006/relationships/image" Target="../media/image209.png"/></Relationships>
</file>

<file path=ppt/slides/_rels/slide152.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image" Target="../media/image212.png"/><Relationship Id="rId1" Type="http://schemas.openxmlformats.org/officeDocument/2006/relationships/slideLayout" Target="../slideLayouts/slideLayout2.xml"/><Relationship Id="rId4" Type="http://schemas.openxmlformats.org/officeDocument/2006/relationships/image" Target="../media/image213.png"/></Relationships>
</file>

<file path=ppt/slides/_rels/slide153.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image" Target="../media/image214.png"/><Relationship Id="rId1" Type="http://schemas.openxmlformats.org/officeDocument/2006/relationships/slideLayout" Target="../slideLayouts/slideLayout2.xml"/><Relationship Id="rId4" Type="http://schemas.openxmlformats.org/officeDocument/2006/relationships/image" Target="../media/image213.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216.jpg"/><Relationship Id="rId2" Type="http://schemas.openxmlformats.org/officeDocument/2006/relationships/image" Target="../media/image215.jp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8" Type="http://schemas.openxmlformats.org/officeDocument/2006/relationships/image" Target="../media/image223.png"/><Relationship Id="rId3" Type="http://schemas.openxmlformats.org/officeDocument/2006/relationships/image" Target="../media/image218.png"/><Relationship Id="rId7" Type="http://schemas.openxmlformats.org/officeDocument/2006/relationships/image" Target="../media/image222.png"/><Relationship Id="rId2" Type="http://schemas.openxmlformats.org/officeDocument/2006/relationships/image" Target="../media/image217.png"/><Relationship Id="rId1" Type="http://schemas.openxmlformats.org/officeDocument/2006/relationships/slideLayout" Target="../slideLayouts/slideLayout2.xml"/><Relationship Id="rId6" Type="http://schemas.openxmlformats.org/officeDocument/2006/relationships/image" Target="../media/image221.png"/><Relationship Id="rId5" Type="http://schemas.openxmlformats.org/officeDocument/2006/relationships/image" Target="../media/image220.png"/><Relationship Id="rId4" Type="http://schemas.openxmlformats.org/officeDocument/2006/relationships/image" Target="../media/image219.png"/></Relationships>
</file>

<file path=ppt/slides/_rels/slide158.xml.rels><?xml version="1.0" encoding="UTF-8" standalone="yes"?>
<Relationships xmlns="http://schemas.openxmlformats.org/package/2006/relationships"><Relationship Id="rId8" Type="http://schemas.openxmlformats.org/officeDocument/2006/relationships/image" Target="../media/image223.png"/><Relationship Id="rId3" Type="http://schemas.openxmlformats.org/officeDocument/2006/relationships/image" Target="../media/image218.png"/><Relationship Id="rId7" Type="http://schemas.openxmlformats.org/officeDocument/2006/relationships/image" Target="../media/image222.png"/><Relationship Id="rId2" Type="http://schemas.openxmlformats.org/officeDocument/2006/relationships/image" Target="../media/image224.png"/><Relationship Id="rId1" Type="http://schemas.openxmlformats.org/officeDocument/2006/relationships/slideLayout" Target="../slideLayouts/slideLayout2.xml"/><Relationship Id="rId6" Type="http://schemas.openxmlformats.org/officeDocument/2006/relationships/image" Target="../media/image221.png"/><Relationship Id="rId5" Type="http://schemas.openxmlformats.org/officeDocument/2006/relationships/image" Target="../media/image220.png"/><Relationship Id="rId4" Type="http://schemas.openxmlformats.org/officeDocument/2006/relationships/image" Target="../media/image219.png"/></Relationships>
</file>

<file path=ppt/slides/_rels/slide159.xml.rels><?xml version="1.0" encoding="UTF-8" standalone="yes"?>
<Relationships xmlns="http://schemas.openxmlformats.org/package/2006/relationships"><Relationship Id="rId8" Type="http://schemas.openxmlformats.org/officeDocument/2006/relationships/image" Target="../media/image223.png"/><Relationship Id="rId3" Type="http://schemas.openxmlformats.org/officeDocument/2006/relationships/image" Target="../media/image218.png"/><Relationship Id="rId7" Type="http://schemas.openxmlformats.org/officeDocument/2006/relationships/image" Target="../media/image222.png"/><Relationship Id="rId2" Type="http://schemas.openxmlformats.org/officeDocument/2006/relationships/image" Target="../media/image225.png"/><Relationship Id="rId1" Type="http://schemas.openxmlformats.org/officeDocument/2006/relationships/slideLayout" Target="../slideLayouts/slideLayout2.xml"/><Relationship Id="rId6" Type="http://schemas.openxmlformats.org/officeDocument/2006/relationships/image" Target="../media/image221.png"/><Relationship Id="rId5" Type="http://schemas.openxmlformats.org/officeDocument/2006/relationships/image" Target="../media/image220.png"/><Relationship Id="rId4" Type="http://schemas.openxmlformats.org/officeDocument/2006/relationships/image" Target="../media/image219.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227.png"/><Relationship Id="rId2" Type="http://schemas.openxmlformats.org/officeDocument/2006/relationships/image" Target="../media/image226.png"/><Relationship Id="rId1" Type="http://schemas.openxmlformats.org/officeDocument/2006/relationships/slideLayout" Target="../slideLayouts/slideLayout2.xml"/><Relationship Id="rId6" Type="http://schemas.openxmlformats.org/officeDocument/2006/relationships/image" Target="../media/image230.png"/><Relationship Id="rId5" Type="http://schemas.openxmlformats.org/officeDocument/2006/relationships/image" Target="../media/image229.png"/><Relationship Id="rId4" Type="http://schemas.openxmlformats.org/officeDocument/2006/relationships/image" Target="../media/image228.png"/></Relationships>
</file>

<file path=ppt/slides/_rels/slide164.xml.rels><?xml version="1.0" encoding="UTF-8" standalone="yes"?>
<Relationships xmlns="http://schemas.openxmlformats.org/package/2006/relationships"><Relationship Id="rId3" Type="http://schemas.openxmlformats.org/officeDocument/2006/relationships/image" Target="../media/image227.png"/><Relationship Id="rId2" Type="http://schemas.openxmlformats.org/officeDocument/2006/relationships/image" Target="../media/image231.png"/><Relationship Id="rId1" Type="http://schemas.openxmlformats.org/officeDocument/2006/relationships/slideLayout" Target="../slideLayouts/slideLayout2.xml"/><Relationship Id="rId6" Type="http://schemas.openxmlformats.org/officeDocument/2006/relationships/image" Target="../media/image230.png"/><Relationship Id="rId5" Type="http://schemas.openxmlformats.org/officeDocument/2006/relationships/image" Target="../media/image232.png"/><Relationship Id="rId4" Type="http://schemas.openxmlformats.org/officeDocument/2006/relationships/image" Target="../media/image228.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2" Type="http://schemas.openxmlformats.org/officeDocument/2006/relationships/image" Target="../media/image233.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3" Type="http://schemas.openxmlformats.org/officeDocument/2006/relationships/hyperlink" Target="https://optics.ansys.com/hc/en-us/articles/35901706416019-Speos-Scattering-Surface-Format" TargetMode="External"/><Relationship Id="rId2" Type="http://schemas.openxmlformats.org/officeDocument/2006/relationships/hyperlink" Target="https://optics.ansys.com/hc/en-us/articles/18384793374227-Speos-BRDF-BTDF-and-BSDF-Formats" TargetMode="External"/><Relationship Id="rId1" Type="http://schemas.openxmlformats.org/officeDocument/2006/relationships/slideLayout" Target="../slideLayouts/slideLayout2.xml"/><Relationship Id="rId5" Type="http://schemas.openxmlformats.org/officeDocument/2006/relationships/hyperlink" Target="https://community.zemax.com/code-exchange-10/python-zemax-to-speos-bsdf-converter-version-in-progress-3760" TargetMode="External"/><Relationship Id="rId4" Type="http://schemas.openxmlformats.org/officeDocument/2006/relationships/hyperlink" Target="https://speos.docs.pyansys.com/version/stable/examples/core/bsdf.html" TargetMode="External"/></Relationships>
</file>

<file path=ppt/slides/_rels/slide172.xml.rels><?xml version="1.0" encoding="UTF-8" standalone="yes"?>
<Relationships xmlns="http://schemas.openxmlformats.org/package/2006/relationships"><Relationship Id="rId2" Type="http://schemas.openxmlformats.org/officeDocument/2006/relationships/image" Target="../media/image234.pn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hyperlink" Target="https://github.com/ansys/optical-automation/blob/main/ansys_optical_automation/application/BSDF_converter_example.py" TargetMode="Externa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8" Type="http://schemas.openxmlformats.org/officeDocument/2006/relationships/image" Target="../media/image241.png"/><Relationship Id="rId3" Type="http://schemas.openxmlformats.org/officeDocument/2006/relationships/image" Target="../media/image236.png"/><Relationship Id="rId7" Type="http://schemas.openxmlformats.org/officeDocument/2006/relationships/image" Target="../media/image240.png"/><Relationship Id="rId2" Type="http://schemas.openxmlformats.org/officeDocument/2006/relationships/image" Target="../media/image235.png"/><Relationship Id="rId1" Type="http://schemas.openxmlformats.org/officeDocument/2006/relationships/slideLayout" Target="../slideLayouts/slideLayout2.xml"/><Relationship Id="rId6" Type="http://schemas.openxmlformats.org/officeDocument/2006/relationships/image" Target="../media/image239.png"/><Relationship Id="rId5" Type="http://schemas.openxmlformats.org/officeDocument/2006/relationships/image" Target="../media/image238.png"/><Relationship Id="rId4" Type="http://schemas.openxmlformats.org/officeDocument/2006/relationships/image" Target="../media/image237.png"/><Relationship Id="rId9" Type="http://schemas.openxmlformats.org/officeDocument/2006/relationships/image" Target="../media/image242.png"/></Relationships>
</file>

<file path=ppt/slides/_rels/slide178.xml.rels><?xml version="1.0" encoding="UTF-8" standalone="yes"?>
<Relationships xmlns="http://schemas.openxmlformats.org/package/2006/relationships"><Relationship Id="rId8" Type="http://schemas.openxmlformats.org/officeDocument/2006/relationships/image" Target="../media/image241.png"/><Relationship Id="rId3" Type="http://schemas.openxmlformats.org/officeDocument/2006/relationships/image" Target="../media/image240.emf"/><Relationship Id="rId7" Type="http://schemas.openxmlformats.org/officeDocument/2006/relationships/image" Target="../media/image240.png"/><Relationship Id="rId2" Type="http://schemas.openxmlformats.org/officeDocument/2006/relationships/image" Target="../media/image239.emf"/><Relationship Id="rId1" Type="http://schemas.openxmlformats.org/officeDocument/2006/relationships/slideLayout" Target="../slideLayouts/slideLayout2.xml"/><Relationship Id="rId6" Type="http://schemas.openxmlformats.org/officeDocument/2006/relationships/image" Target="../media/image239.png"/><Relationship Id="rId5" Type="http://schemas.openxmlformats.org/officeDocument/2006/relationships/image" Target="../media/image242.emf"/><Relationship Id="rId4" Type="http://schemas.openxmlformats.org/officeDocument/2006/relationships/image" Target="../media/image241.emf"/><Relationship Id="rId9" Type="http://schemas.openxmlformats.org/officeDocument/2006/relationships/image" Target="../media/image242.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2" Type="http://schemas.openxmlformats.org/officeDocument/2006/relationships/image" Target="../media/image243.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244.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246.png"/><Relationship Id="rId2" Type="http://schemas.openxmlformats.org/officeDocument/2006/relationships/image" Target="../media/image245.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247.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248.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249.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252.png"/><Relationship Id="rId2" Type="http://schemas.openxmlformats.org/officeDocument/2006/relationships/image" Target="../media/image251.png"/><Relationship Id="rId1" Type="http://schemas.openxmlformats.org/officeDocument/2006/relationships/slideLayout" Target="../slideLayouts/slideLayout2.xml"/><Relationship Id="rId4" Type="http://schemas.openxmlformats.org/officeDocument/2006/relationships/image" Target="../media/image253.png"/></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8" Type="http://schemas.openxmlformats.org/officeDocument/2006/relationships/image" Target="../media/image260.png"/><Relationship Id="rId3" Type="http://schemas.openxmlformats.org/officeDocument/2006/relationships/image" Target="../media/image255.png"/><Relationship Id="rId7" Type="http://schemas.openxmlformats.org/officeDocument/2006/relationships/image" Target="../media/image259.png"/><Relationship Id="rId2" Type="http://schemas.openxmlformats.org/officeDocument/2006/relationships/image" Target="../media/image254.png"/><Relationship Id="rId1" Type="http://schemas.openxmlformats.org/officeDocument/2006/relationships/slideLayout" Target="../slideLayouts/slideLayout2.xml"/><Relationship Id="rId6" Type="http://schemas.openxmlformats.org/officeDocument/2006/relationships/image" Target="../media/image258.png"/><Relationship Id="rId5" Type="http://schemas.openxmlformats.org/officeDocument/2006/relationships/image" Target="../media/image257.png"/><Relationship Id="rId10" Type="http://schemas.openxmlformats.org/officeDocument/2006/relationships/image" Target="../media/image262.png"/><Relationship Id="rId4" Type="http://schemas.openxmlformats.org/officeDocument/2006/relationships/image" Target="../media/image256.png"/><Relationship Id="rId9" Type="http://schemas.openxmlformats.org/officeDocument/2006/relationships/image" Target="../media/image261.png"/></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3" Type="http://schemas.openxmlformats.org/officeDocument/2006/relationships/image" Target="../media/image264.png"/><Relationship Id="rId2" Type="http://schemas.openxmlformats.org/officeDocument/2006/relationships/image" Target="../media/image263.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265.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3" Type="http://schemas.openxmlformats.org/officeDocument/2006/relationships/image" Target="../media/image266.png"/><Relationship Id="rId2" Type="http://schemas.openxmlformats.org/officeDocument/2006/relationships/image" Target="../media/image264.png"/><Relationship Id="rId1" Type="http://schemas.openxmlformats.org/officeDocument/2006/relationships/slideLayout" Target="../slideLayouts/slideLayout2.xml"/><Relationship Id="rId6" Type="http://schemas.openxmlformats.org/officeDocument/2006/relationships/image" Target="../media/image269.png"/><Relationship Id="rId5" Type="http://schemas.openxmlformats.org/officeDocument/2006/relationships/image" Target="../media/image268.png"/><Relationship Id="rId4" Type="http://schemas.openxmlformats.org/officeDocument/2006/relationships/image" Target="../media/image267.png"/></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3" Type="http://schemas.openxmlformats.org/officeDocument/2006/relationships/image" Target="../media/image272.png"/><Relationship Id="rId2" Type="http://schemas.openxmlformats.org/officeDocument/2006/relationships/image" Target="../media/image271.png"/><Relationship Id="rId1" Type="http://schemas.openxmlformats.org/officeDocument/2006/relationships/slideLayout" Target="../slideLayouts/slideLayout2.xml"/><Relationship Id="rId6" Type="http://schemas.openxmlformats.org/officeDocument/2006/relationships/image" Target="../media/image275.png"/><Relationship Id="rId5" Type="http://schemas.openxmlformats.org/officeDocument/2006/relationships/image" Target="../media/image274.png"/><Relationship Id="rId4" Type="http://schemas.openxmlformats.org/officeDocument/2006/relationships/image" Target="../media/image27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BCC2C-DE94-B8FA-97F7-375F365DB6F6}"/>
              </a:ext>
            </a:extLst>
          </p:cNvPr>
          <p:cNvSpPr>
            <a:spLocks noGrp="1"/>
          </p:cNvSpPr>
          <p:nvPr>
            <p:ph type="ctrTitle"/>
          </p:nvPr>
        </p:nvSpPr>
        <p:spPr/>
        <p:txBody>
          <a:bodyPr/>
          <a:lstStyle/>
          <a:p>
            <a:r>
              <a:rPr lang="en-US" sz="3600" dirty="0"/>
              <a:t>Ongoing development notes for BRDF data processing</a:t>
            </a:r>
            <a:br>
              <a:rPr lang="en-US" sz="3600" dirty="0"/>
            </a:br>
            <a:r>
              <a:rPr lang="en-US" sz="2400" dirty="0">
                <a:solidFill>
                  <a:schemeClr val="bg2"/>
                </a:solidFill>
              </a:rPr>
              <a:t>[exportable STP material]</a:t>
            </a:r>
            <a:endParaRPr lang="en-US" sz="3600" dirty="0">
              <a:solidFill>
                <a:schemeClr val="bg2"/>
              </a:solidFill>
            </a:endParaRPr>
          </a:p>
        </p:txBody>
      </p:sp>
      <p:sp>
        <p:nvSpPr>
          <p:cNvPr id="3" name="Subtitle 2">
            <a:extLst>
              <a:ext uri="{FF2B5EF4-FFF2-40B4-BE49-F238E27FC236}">
                <a16:creationId xmlns:a16="http://schemas.microsoft.com/office/drawing/2014/main" id="{A2EE3039-6CC8-7628-B7C2-FDBBE2D38091}"/>
              </a:ext>
            </a:extLst>
          </p:cNvPr>
          <p:cNvSpPr>
            <a:spLocks noGrp="1"/>
          </p:cNvSpPr>
          <p:nvPr>
            <p:ph type="subTitle" idx="1"/>
          </p:nvPr>
        </p:nvSpPr>
        <p:spPr/>
        <p:txBody>
          <a:bodyPr>
            <a:normAutofit/>
          </a:bodyPr>
          <a:lstStyle/>
          <a:p>
            <a:r>
              <a:rPr lang="en-US" dirty="0"/>
              <a:t>Jacob P. Krell (jacobpkrell@arizona.edu)</a:t>
            </a:r>
          </a:p>
          <a:p>
            <a:r>
              <a:rPr lang="en-US" dirty="0"/>
              <a:t>2025/08/30 – 2025/11/19</a:t>
            </a:r>
          </a:p>
        </p:txBody>
      </p:sp>
    </p:spTree>
    <p:extLst>
      <p:ext uri="{BB962C8B-B14F-4D97-AF65-F5344CB8AC3E}">
        <p14:creationId xmlns:p14="http://schemas.microsoft.com/office/powerpoint/2010/main" val="3476571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D1BB3-C3DB-0130-8906-020DAADC62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FC1B91-A62A-05AE-190E-562B818A2EA7}"/>
              </a:ext>
            </a:extLst>
          </p:cNvPr>
          <p:cNvSpPr>
            <a:spLocks noGrp="1"/>
          </p:cNvSpPr>
          <p:nvPr>
            <p:ph type="ctrTitle"/>
          </p:nvPr>
        </p:nvSpPr>
        <p:spPr/>
        <p:txBody>
          <a:bodyPr/>
          <a:lstStyle/>
          <a:p>
            <a:r>
              <a:rPr lang="en-US" sz="3600" dirty="0"/>
              <a:t>Notes on BSDF processing</a:t>
            </a:r>
          </a:p>
        </p:txBody>
      </p:sp>
      <p:sp>
        <p:nvSpPr>
          <p:cNvPr id="3" name="Subtitle 2">
            <a:extLst>
              <a:ext uri="{FF2B5EF4-FFF2-40B4-BE49-F238E27FC236}">
                <a16:creationId xmlns:a16="http://schemas.microsoft.com/office/drawing/2014/main" id="{89B8538F-7F93-D0E4-3FB4-A1280C775458}"/>
              </a:ext>
            </a:extLst>
          </p:cNvPr>
          <p:cNvSpPr>
            <a:spLocks noGrp="1"/>
          </p:cNvSpPr>
          <p:nvPr>
            <p:ph type="subTitle" idx="1"/>
          </p:nvPr>
        </p:nvSpPr>
        <p:spPr/>
        <p:txBody>
          <a:bodyPr>
            <a:normAutofit/>
          </a:bodyPr>
          <a:lstStyle/>
          <a:p>
            <a:endParaRPr lang="en-US" dirty="0"/>
          </a:p>
          <a:p>
            <a:r>
              <a:rPr lang="en-US" dirty="0"/>
              <a:t>2025/08/30</a:t>
            </a:r>
          </a:p>
        </p:txBody>
      </p:sp>
    </p:spTree>
    <p:extLst>
      <p:ext uri="{BB962C8B-B14F-4D97-AF65-F5344CB8AC3E}">
        <p14:creationId xmlns:p14="http://schemas.microsoft.com/office/powerpoint/2010/main" val="172807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A5D25-5FB4-8142-A27B-8DE6C8E67AE1}"/>
              </a:ext>
            </a:extLst>
          </p:cNvPr>
          <p:cNvSpPr>
            <a:spLocks noGrp="1"/>
          </p:cNvSpPr>
          <p:nvPr>
            <p:ph type="title"/>
          </p:nvPr>
        </p:nvSpPr>
        <p:spPr/>
        <p:txBody>
          <a:bodyPr/>
          <a:lstStyle/>
          <a:p>
            <a:r>
              <a:rPr lang="en-US" dirty="0"/>
              <a:t>Notes</a:t>
            </a:r>
          </a:p>
        </p:txBody>
      </p:sp>
      <p:sp>
        <p:nvSpPr>
          <p:cNvPr id="3" name="Text Placeholder 2">
            <a:extLst>
              <a:ext uri="{FF2B5EF4-FFF2-40B4-BE49-F238E27FC236}">
                <a16:creationId xmlns:a16="http://schemas.microsoft.com/office/drawing/2014/main" id="{9073D255-9339-484C-AB97-2B6198140E78}"/>
              </a:ext>
            </a:extLst>
          </p:cNvPr>
          <p:cNvSpPr>
            <a:spLocks noGrp="1"/>
          </p:cNvSpPr>
          <p:nvPr>
            <p:ph type="body" idx="1"/>
          </p:nvPr>
        </p:nvSpPr>
        <p:spPr>
          <a:xfrm>
            <a:off x="609598" y="1746251"/>
            <a:ext cx="10647874" cy="4525153"/>
          </a:xfrm>
        </p:spPr>
        <p:txBody>
          <a:bodyPr>
            <a:normAutofit/>
          </a:bodyPr>
          <a:lstStyle/>
          <a:p>
            <a:r>
              <a:rPr lang="en-US" dirty="0"/>
              <a:t>Help docs reference article</a:t>
            </a:r>
          </a:p>
          <a:p>
            <a:pPr lvl="1"/>
            <a:r>
              <a:rPr lang="en-US" dirty="0">
                <a:hlinkClick r:id="rId2"/>
              </a:rPr>
              <a:t>https://optics.ansys.com/hc/en-us/articles/43071107687699-Zemax-Tabular-BSDF-data-file-format</a:t>
            </a:r>
            <a:endParaRPr lang="en-US" dirty="0"/>
          </a:p>
          <a:p>
            <a:r>
              <a:rPr lang="en-US" dirty="0"/>
              <a:t>So, need total integrated scatter (TIS) but this is difficult to measure</a:t>
            </a:r>
          </a:p>
          <a:p>
            <a:pPr lvl="1"/>
            <a:r>
              <a:rPr lang="en-US" dirty="0"/>
              <a:t>Synopsys (in Sec. 2) offers relation to BSDF: </a:t>
            </a:r>
          </a:p>
          <a:p>
            <a:pPr lvl="2"/>
            <a:r>
              <a:rPr lang="en-US" dirty="0"/>
              <a:t>https://www.synopsys.com/glossary/what-is-total-integrated-scattering.html</a:t>
            </a:r>
          </a:p>
        </p:txBody>
      </p:sp>
    </p:spTree>
    <p:extLst>
      <p:ext uri="{BB962C8B-B14F-4D97-AF65-F5344CB8AC3E}">
        <p14:creationId xmlns:p14="http://schemas.microsoft.com/office/powerpoint/2010/main" val="4092025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5EF56-2D77-2A41-D1D5-E50B5C7226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274935-B107-4EC4-CA10-BD3E3D5C1718}"/>
              </a:ext>
            </a:extLst>
          </p:cNvPr>
          <p:cNvSpPr>
            <a:spLocks noGrp="1"/>
          </p:cNvSpPr>
          <p:nvPr>
            <p:ph type="title"/>
          </p:nvPr>
        </p:nvSpPr>
        <p:spPr/>
        <p:txBody>
          <a:bodyPr/>
          <a:lstStyle/>
          <a:p>
            <a:r>
              <a:rPr lang="en-US" dirty="0"/>
              <a:t>Caution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0C0E56C-2E1B-EBC5-165F-3E53B2B8618D}"/>
                  </a:ext>
                </a:extLst>
              </p:cNvPr>
              <p:cNvSpPr>
                <a:spLocks noGrp="1"/>
              </p:cNvSpPr>
              <p:nvPr>
                <p:ph type="body" idx="1"/>
              </p:nvPr>
            </p:nvSpPr>
            <p:spPr>
              <a:xfrm>
                <a:off x="609598" y="1746251"/>
                <a:ext cx="10647874" cy="4525153"/>
              </a:xfrm>
            </p:spPr>
            <p:txBody>
              <a:bodyPr>
                <a:normAutofit/>
              </a:bodyPr>
              <a:lstStyle/>
              <a:p>
                <a:r>
                  <a:rPr lang="en-US" dirty="0"/>
                  <a:t>Isotropic means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𝝍</m:t>
                        </m:r>
                      </m:e>
                      <m:sub>
                        <m:r>
                          <a:rPr lang="en-US" b="1" i="1" smtClean="0">
                            <a:latin typeface="Cambria Math" panose="02040503050406030204" pitchFamily="18" charset="0"/>
                          </a:rPr>
                          <m:t>𝒊</m:t>
                        </m:r>
                      </m:sub>
                    </m:sSub>
                  </m:oMath>
                </a14:m>
                <a:r>
                  <a:rPr lang="en-US" dirty="0"/>
                  <a:t> (azimuth of incident light) does not matter</a:t>
                </a:r>
              </a:p>
              <a:p>
                <a:pPr lvl="1"/>
                <a:r>
                  <a:rPr lang="en-US" dirty="0"/>
                  <a:t>But, </a:t>
                </a:r>
                <a14:m>
                  <m:oMath xmlns:m="http://schemas.openxmlformats.org/officeDocument/2006/math">
                    <m:r>
                      <m:rPr>
                        <m:sty m:val="p"/>
                      </m:rPr>
                      <a:rPr lang="en-US" b="0" i="0" smtClean="0">
                        <a:latin typeface="Cambria Math" panose="02040503050406030204" pitchFamily="18" charset="0"/>
                      </a:rPr>
                      <m:t>Δ</m:t>
                    </m:r>
                    <m:r>
                      <a:rPr lang="en-US" b="0" i="1" smtClean="0">
                        <a:latin typeface="Cambria Math" panose="02040503050406030204" pitchFamily="18" charset="0"/>
                      </a:rPr>
                      <m:t>𝜓</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𝜓</m:t>
                        </m:r>
                      </m:e>
                      <m:sub>
                        <m:r>
                          <a:rPr lang="en-US" b="0" i="1" smtClean="0">
                            <a:latin typeface="Cambria Math" panose="02040503050406030204" pitchFamily="18" charset="0"/>
                          </a:rPr>
                          <m:t>𝑟</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𝜓</m:t>
                        </m:r>
                      </m:e>
                      <m:sub>
                        <m:r>
                          <a:rPr lang="en-US" b="0" i="1" smtClean="0">
                            <a:latin typeface="Cambria Math" panose="02040503050406030204" pitchFamily="18" charset="0"/>
                          </a:rPr>
                          <m:t>𝑖</m:t>
                        </m:r>
                      </m:sub>
                    </m:sSub>
                  </m:oMath>
                </a14:m>
                <a:r>
                  <a:rPr lang="en-US" dirty="0"/>
                  <a:t> difference between receive and incident azimuth should still matter, right?</a:t>
                </a:r>
              </a:p>
              <a:p>
                <a:pPr lvl="2"/>
                <a:r>
                  <a:rPr lang="en-US" dirty="0"/>
                  <a:t>I think this might have been mistakenly excluded on the basis of the sample being isotropic. Is this theory right?</a:t>
                </a:r>
              </a:p>
              <a:p>
                <a:pPr lvl="1"/>
                <a:r>
                  <a:rPr lang="en-US" dirty="0"/>
                  <a:t>In other words, rotation of sample does not matter, but azimuth of scatter does matter</a:t>
                </a:r>
              </a:p>
              <a:p>
                <a:pPr lvl="2"/>
                <a:r>
                  <a:rPr lang="en-US" dirty="0"/>
                  <a:t>Azimuth of scatter might have </a:t>
                </a:r>
                <a:r>
                  <a:rPr lang="en-US"/>
                  <a:t>been thought to not matter</a:t>
                </a:r>
                <a:endParaRPr lang="en-US" dirty="0"/>
              </a:p>
            </p:txBody>
          </p:sp>
        </mc:Choice>
        <mc:Fallback xmlns="">
          <p:sp>
            <p:nvSpPr>
              <p:cNvPr id="3" name="Text Placeholder 2">
                <a:extLst>
                  <a:ext uri="{FF2B5EF4-FFF2-40B4-BE49-F238E27FC236}">
                    <a16:creationId xmlns:a16="http://schemas.microsoft.com/office/drawing/2014/main" id="{80C0E56C-2E1B-EBC5-165F-3E53B2B8618D}"/>
                  </a:ext>
                </a:extLst>
              </p:cNvPr>
              <p:cNvSpPr>
                <a:spLocks noGrp="1" noRot="1" noChangeAspect="1" noMove="1" noResize="1" noEditPoints="1" noAdjustHandles="1" noChangeArrowheads="1" noChangeShapeType="1" noTextEdit="1"/>
              </p:cNvSpPr>
              <p:nvPr>
                <p:ph type="body" idx="1"/>
              </p:nvPr>
            </p:nvSpPr>
            <p:spPr>
              <a:xfrm>
                <a:off x="609598" y="1746251"/>
                <a:ext cx="10647874" cy="4525153"/>
              </a:xfrm>
              <a:blipFill>
                <a:blip r:embed="rId2"/>
                <a:stretch>
                  <a:fillRect l="-572"/>
                </a:stretch>
              </a:blipFill>
            </p:spPr>
            <p:txBody>
              <a:bodyPr/>
              <a:lstStyle/>
              <a:p>
                <a:r>
                  <a:rPr lang="en-US">
                    <a:noFill/>
                  </a:rPr>
                  <a:t> </a:t>
                </a:r>
              </a:p>
            </p:txBody>
          </p:sp>
        </mc:Fallback>
      </mc:AlternateContent>
    </p:spTree>
    <p:extLst>
      <p:ext uri="{BB962C8B-B14F-4D97-AF65-F5344CB8AC3E}">
        <p14:creationId xmlns:p14="http://schemas.microsoft.com/office/powerpoint/2010/main" val="2073836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ollage of graphs&#10;&#10;AI-generated content may be incorrect.">
            <a:extLst>
              <a:ext uri="{FF2B5EF4-FFF2-40B4-BE49-F238E27FC236}">
                <a16:creationId xmlns:a16="http://schemas.microsoft.com/office/drawing/2014/main" id="{2C658A26-4A72-F266-14B2-28D1C3D4B96B}"/>
              </a:ext>
            </a:extLst>
          </p:cNvPr>
          <p:cNvPicPr>
            <a:picLocks noChangeAspect="1"/>
          </p:cNvPicPr>
          <p:nvPr/>
        </p:nvPicPr>
        <p:blipFill>
          <a:blip r:embed="rId2"/>
          <a:stretch>
            <a:fillRect/>
          </a:stretch>
        </p:blipFill>
        <p:spPr>
          <a:xfrm>
            <a:off x="1518060" y="1117600"/>
            <a:ext cx="10196219" cy="5523384"/>
          </a:xfrm>
          <a:prstGeom prst="rect">
            <a:avLst/>
          </a:prstGeom>
        </p:spPr>
      </p:pic>
      <p:sp>
        <p:nvSpPr>
          <p:cNvPr id="2" name="Title 1">
            <a:extLst>
              <a:ext uri="{FF2B5EF4-FFF2-40B4-BE49-F238E27FC236}">
                <a16:creationId xmlns:a16="http://schemas.microsoft.com/office/drawing/2014/main" id="{6AA75FFE-0211-CA6F-24D4-D789AF87EB0D}"/>
              </a:ext>
            </a:extLst>
          </p:cNvPr>
          <p:cNvSpPr>
            <a:spLocks noGrp="1"/>
          </p:cNvSpPr>
          <p:nvPr>
            <p:ph type="title"/>
          </p:nvPr>
        </p:nvSpPr>
        <p:spPr/>
        <p:txBody>
          <a:bodyPr/>
          <a:lstStyle/>
          <a:p>
            <a:r>
              <a:rPr lang="en-US" dirty="0"/>
              <a:t>Results</a:t>
            </a:r>
          </a:p>
        </p:txBody>
      </p:sp>
      <p:sp>
        <p:nvSpPr>
          <p:cNvPr id="3" name="Text Placeholder 2">
            <a:extLst>
              <a:ext uri="{FF2B5EF4-FFF2-40B4-BE49-F238E27FC236}">
                <a16:creationId xmlns:a16="http://schemas.microsoft.com/office/drawing/2014/main" id="{D11B2ECF-4346-BA60-839B-862EB3012825}"/>
              </a:ext>
            </a:extLst>
          </p:cNvPr>
          <p:cNvSpPr>
            <a:spLocks noGrp="1"/>
          </p:cNvSpPr>
          <p:nvPr>
            <p:ph type="body" idx="1"/>
          </p:nvPr>
        </p:nvSpPr>
        <p:spPr/>
        <p:txBody>
          <a:bodyPr/>
          <a:lstStyle/>
          <a:p>
            <a:r>
              <a:rPr lang="en-US" dirty="0"/>
              <a:t>2025/09/02</a:t>
            </a:r>
          </a:p>
        </p:txBody>
      </p:sp>
    </p:spTree>
    <p:extLst>
      <p:ext uri="{BB962C8B-B14F-4D97-AF65-F5344CB8AC3E}">
        <p14:creationId xmlns:p14="http://schemas.microsoft.com/office/powerpoint/2010/main" val="1828363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256AF-ED85-4962-D54A-93707DBEF7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FF312-53C4-CEE9-4BC3-484025ED1D7B}"/>
              </a:ext>
            </a:extLst>
          </p:cNvPr>
          <p:cNvSpPr>
            <a:spLocks noGrp="1"/>
          </p:cNvSpPr>
          <p:nvPr>
            <p:ph type="ctrTitle"/>
          </p:nvPr>
        </p:nvSpPr>
        <p:spPr/>
        <p:txBody>
          <a:bodyPr/>
          <a:lstStyle/>
          <a:p>
            <a:r>
              <a:rPr lang="en-US" sz="3600" dirty="0"/>
              <a:t>Development of conversion to </a:t>
            </a:r>
            <a:r>
              <a:rPr lang="en-US" sz="3600" dirty="0" err="1"/>
              <a:t>Zemax</a:t>
            </a:r>
            <a:endParaRPr lang="en-US" sz="3600" dirty="0"/>
          </a:p>
        </p:txBody>
      </p:sp>
    </p:spTree>
    <p:extLst>
      <p:ext uri="{BB962C8B-B14F-4D97-AF65-F5344CB8AC3E}">
        <p14:creationId xmlns:p14="http://schemas.microsoft.com/office/powerpoint/2010/main" val="3379768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7B220-9588-DA21-2A93-3F05F23B7AE0}"/>
              </a:ext>
            </a:extLst>
          </p:cNvPr>
          <p:cNvSpPr>
            <a:spLocks noGrp="1"/>
          </p:cNvSpPr>
          <p:nvPr>
            <p:ph type="title"/>
          </p:nvPr>
        </p:nvSpPr>
        <p:spPr/>
        <p:txBody>
          <a:bodyPr/>
          <a:lstStyle/>
          <a:p>
            <a:r>
              <a:rPr lang="en-US" dirty="0"/>
              <a:t>Coordinate definitions</a:t>
            </a:r>
          </a:p>
        </p:txBody>
      </p:sp>
      <p:sp>
        <p:nvSpPr>
          <p:cNvPr id="3" name="Text Placeholder 2">
            <a:extLst>
              <a:ext uri="{FF2B5EF4-FFF2-40B4-BE49-F238E27FC236}">
                <a16:creationId xmlns:a16="http://schemas.microsoft.com/office/drawing/2014/main" id="{C7844BF1-B34C-93D3-BF37-882D389F6A0B}"/>
              </a:ext>
            </a:extLst>
          </p:cNvPr>
          <p:cNvSpPr>
            <a:spLocks noGrp="1"/>
          </p:cNvSpPr>
          <p:nvPr>
            <p:ph type="body" idx="1"/>
          </p:nvPr>
        </p:nvSpPr>
        <p:spPr/>
        <p:txBody>
          <a:bodyPr>
            <a:normAutofit/>
          </a:bodyPr>
          <a:lstStyle/>
          <a:p>
            <a:r>
              <a:rPr lang="en-US" sz="1600" b="0" dirty="0">
                <a:hlinkClick r:id="rId2"/>
              </a:rPr>
              <a:t>https://optics.ansys.com/hc/en-us/articles/43071107687699-Zemax-Tabular-BSDF-data-file-format</a:t>
            </a:r>
            <a:endParaRPr lang="en-US" sz="1600" b="0" dirty="0"/>
          </a:p>
          <a:p>
            <a:endParaRPr lang="en-US" sz="1600" b="0" dirty="0"/>
          </a:p>
        </p:txBody>
      </p:sp>
      <p:pic>
        <p:nvPicPr>
          <p:cNvPr id="1026" name="Picture 2">
            <a:extLst>
              <a:ext uri="{FF2B5EF4-FFF2-40B4-BE49-F238E27FC236}">
                <a16:creationId xmlns:a16="http://schemas.microsoft.com/office/drawing/2014/main" id="{ABACFDA9-C4E7-E668-76CF-4C55F35831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3468" y="2337588"/>
            <a:ext cx="7391400" cy="410184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4189BDC-5159-7242-D6D5-0D6BB18820FB}"/>
              </a:ext>
            </a:extLst>
          </p:cNvPr>
          <p:cNvSpPr txBox="1"/>
          <p:nvPr/>
        </p:nvSpPr>
        <p:spPr>
          <a:xfrm>
            <a:off x="169333" y="3209184"/>
            <a:ext cx="1498600" cy="954107"/>
          </a:xfrm>
          <a:prstGeom prst="rect">
            <a:avLst/>
          </a:prstGeom>
          <a:noFill/>
        </p:spPr>
        <p:txBody>
          <a:bodyPr wrap="square" rtlCol="0">
            <a:spAutoFit/>
          </a:bodyPr>
          <a:lstStyle/>
          <a:p>
            <a:r>
              <a:rPr lang="en-US" dirty="0"/>
              <a:t>*FRED just needs various radial angles at Azi = 0deg</a:t>
            </a:r>
          </a:p>
        </p:txBody>
      </p:sp>
    </p:spTree>
    <p:extLst>
      <p:ext uri="{BB962C8B-B14F-4D97-AF65-F5344CB8AC3E}">
        <p14:creationId xmlns:p14="http://schemas.microsoft.com/office/powerpoint/2010/main" val="3151169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084F2-8FCE-04A6-FD69-F95E66AF52EB}"/>
              </a:ext>
            </a:extLst>
          </p:cNvPr>
          <p:cNvSpPr>
            <a:spLocks noGrp="1"/>
          </p:cNvSpPr>
          <p:nvPr>
            <p:ph type="title"/>
          </p:nvPr>
        </p:nvSpPr>
        <p:spPr/>
        <p:txBody>
          <a:bodyPr/>
          <a:lstStyle/>
          <a:p>
            <a:r>
              <a:rPr lang="en-US" dirty="0"/>
              <a:t>Interpolation strategy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5C56362-8644-CD7C-D324-85F57352D8EB}"/>
                  </a:ext>
                </a:extLst>
              </p:cNvPr>
              <p:cNvSpPr>
                <a:spLocks noGrp="1"/>
              </p:cNvSpPr>
              <p:nvPr>
                <p:ph type="body" idx="1"/>
              </p:nvPr>
            </p:nvSpPr>
            <p:spPr/>
            <p:txBody>
              <a:bodyPr>
                <a:normAutofit fontScale="92500" lnSpcReduction="10000"/>
              </a:bodyPr>
              <a:lstStyle/>
              <a:p>
                <a:r>
                  <a:rPr lang="en-US" dirty="0"/>
                  <a:t>Our machine can only measure in-plane of incidence</a:t>
                </a:r>
              </a:p>
              <a:p>
                <a:pPr lvl="1"/>
                <a:r>
                  <a:rPr lang="en-US" dirty="0"/>
                  <a:t>So, set A = -90deg (so in-plane with R angles), and measure all R at high res</a:t>
                </a:r>
              </a:p>
              <a:p>
                <a:pPr lvl="1"/>
                <a:r>
                  <a:rPr lang="en-US" dirty="0"/>
                  <a:t>Then, we have data for Rz at Az = 0deg</a:t>
                </a:r>
              </a:p>
              <a:p>
                <a:pPr lvl="2"/>
                <a:r>
                  <a:rPr lang="en-US" dirty="0"/>
                  <a:t>Need to interpolate to get Az = (0, 90], [270, 360) for each Rz</a:t>
                </a:r>
              </a:p>
              <a:p>
                <a:r>
                  <a:rPr lang="en-US" dirty="0"/>
                  <a:t>Average upper and lower (+Rz, -Rz) to get symmetric horizontal line (i.e., values at Az = 90, 270)</a:t>
                </a:r>
              </a:p>
              <a:p>
                <a:r>
                  <a:rPr lang="en-US" dirty="0"/>
                  <a:t>Interpolate four values (upper, middle, lower) along circle</a:t>
                </a:r>
              </a:p>
              <a:p>
                <a:pPr lvl="1"/>
                <a14:m>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rPr>
                          <m:t>𝜕</m:t>
                        </m:r>
                        <m:sSub>
                          <m:sSubPr>
                            <m:ctrlPr>
                              <a:rPr lang="en-US" b="0" i="1" smtClean="0">
                                <a:latin typeface="Cambria Math" panose="02040503050406030204" pitchFamily="18" charset="0"/>
                              </a:rPr>
                            </m:ctrlPr>
                          </m:sSubPr>
                          <m:e>
                            <m:d>
                              <m:dPr>
                                <m:begChr m:val="["/>
                                <m:endChr m:val="]"/>
                                <m:ctrlPr>
                                  <a:rPr lang="en-US" b="0" i="0" smtClean="0">
                                    <a:latin typeface="Cambria Math" panose="02040503050406030204" pitchFamily="18" charset="0"/>
                                  </a:rPr>
                                </m:ctrlPr>
                              </m:dPr>
                              <m:e>
                                <m:r>
                                  <m:rPr>
                                    <m:sty m:val="p"/>
                                  </m:rPr>
                                  <a:rPr lang="en-US" b="0" i="0" smtClean="0">
                                    <a:latin typeface="Cambria Math" panose="02040503050406030204" pitchFamily="18" charset="0"/>
                                  </a:rPr>
                                  <m:t>RT</m:t>
                                </m:r>
                              </m:e>
                            </m:d>
                          </m:e>
                          <m:sub>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R</m:t>
                                </m:r>
                              </m:e>
                              <m:sub>
                                <m:r>
                                  <m:rPr>
                                    <m:sty m:val="p"/>
                                  </m:rPr>
                                  <a:rPr lang="en-US" b="0" i="0" smtClean="0">
                                    <a:latin typeface="Cambria Math" panose="02040503050406030204" pitchFamily="18" charset="0"/>
                                  </a:rPr>
                                  <m:t>Z</m:t>
                                </m:r>
                              </m:sub>
                            </m:sSub>
                          </m:sub>
                        </m:sSub>
                      </m:num>
                      <m:den>
                        <m:r>
                          <a:rPr lang="en-US" i="1"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A</m:t>
                            </m:r>
                          </m:e>
                          <m:sub>
                            <m:r>
                              <m:rPr>
                                <m:sty m:val="p"/>
                              </m:rPr>
                              <a:rPr lang="en-US" b="0" i="0" smtClean="0">
                                <a:latin typeface="Cambria Math" panose="02040503050406030204" pitchFamily="18" charset="0"/>
                              </a:rPr>
                              <m:t>Z</m:t>
                            </m:r>
                          </m:sub>
                        </m:sSub>
                      </m:den>
                    </m:f>
                    <m:r>
                      <a:rPr lang="en-US" b="0" i="1" smtClean="0">
                        <a:latin typeface="Cambria Math" panose="02040503050406030204" pitchFamily="18" charset="0"/>
                      </a:rPr>
                      <m:t>=</m:t>
                    </m:r>
                    <m:r>
                      <m:rPr>
                        <m:sty m:val="p"/>
                      </m:rPr>
                      <a:rPr lang="en-US" b="0" i="0" smtClean="0">
                        <a:latin typeface="Cambria Math" panose="02040503050406030204" pitchFamily="18" charset="0"/>
                      </a:rPr>
                      <m:t>const</m:t>
                    </m:r>
                    <m:r>
                      <a:rPr lang="en-US" b="0" i="0" smtClean="0">
                        <a:latin typeface="Cambria Math" panose="02040503050406030204" pitchFamily="18" charset="0"/>
                      </a:rPr>
                      <m:t>.</m:t>
                    </m:r>
                  </m:oMath>
                </a14:m>
                <a:r>
                  <a:rPr lang="en-US" dirty="0"/>
                  <a:t> for getting from upper to lower values, and </a:t>
                </a:r>
                <a14:m>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rPr>
                          <m:t>𝜕</m:t>
                        </m:r>
                      </m:num>
                      <m:den>
                        <m:r>
                          <a:rPr lang="en-US" i="1"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R</m:t>
                            </m:r>
                          </m:e>
                          <m:sub>
                            <m:r>
                              <m:rPr>
                                <m:sty m:val="p"/>
                              </m:rPr>
                              <a:rPr lang="en-US" b="0" i="0" smtClean="0">
                                <a:latin typeface="Cambria Math" panose="02040503050406030204" pitchFamily="18" charset="0"/>
                              </a:rPr>
                              <m:t>Z</m:t>
                            </m:r>
                          </m:sub>
                        </m:sSub>
                      </m:den>
                    </m:f>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m:t>
                            </m:r>
                            <m:sSub>
                              <m:sSubPr>
                                <m:ctrlPr>
                                  <a:rPr lang="en-US" i="1">
                                    <a:latin typeface="Cambria Math" panose="02040503050406030204" pitchFamily="18" charset="0"/>
                                  </a:rPr>
                                </m:ctrlPr>
                              </m:sSubPr>
                              <m:e>
                                <m:d>
                                  <m:dPr>
                                    <m:begChr m:val="["/>
                                    <m:endChr m:val="]"/>
                                    <m:ctrlPr>
                                      <a:rPr lang="en-US">
                                        <a:latin typeface="Cambria Math" panose="02040503050406030204" pitchFamily="18" charset="0"/>
                                      </a:rPr>
                                    </m:ctrlPr>
                                  </m:dPr>
                                  <m:e>
                                    <m:r>
                                      <m:rPr>
                                        <m:sty m:val="p"/>
                                      </m:rPr>
                                      <a:rPr lang="en-US">
                                        <a:latin typeface="Cambria Math" panose="02040503050406030204" pitchFamily="18" charset="0"/>
                                      </a:rPr>
                                      <m:t>RT</m:t>
                                    </m:r>
                                  </m:e>
                                </m:d>
                              </m:e>
                              <m:sub>
                                <m:sSub>
                                  <m:sSubPr>
                                    <m:ctrlPr>
                                      <a:rPr lang="en-US">
                                        <a:latin typeface="Cambria Math" panose="02040503050406030204" pitchFamily="18" charset="0"/>
                                      </a:rPr>
                                    </m:ctrlPr>
                                  </m:sSubPr>
                                  <m:e>
                                    <m:r>
                                      <m:rPr>
                                        <m:sty m:val="p"/>
                                      </m:rPr>
                                      <a:rPr lang="en-US">
                                        <a:latin typeface="Cambria Math" panose="02040503050406030204" pitchFamily="18" charset="0"/>
                                      </a:rPr>
                                      <m:t>R</m:t>
                                    </m:r>
                                  </m:e>
                                  <m:sub>
                                    <m:r>
                                      <m:rPr>
                                        <m:sty m:val="p"/>
                                      </m:rPr>
                                      <a:rPr lang="en-US">
                                        <a:latin typeface="Cambria Math" panose="02040503050406030204" pitchFamily="18" charset="0"/>
                                      </a:rPr>
                                      <m:t>Z</m:t>
                                    </m:r>
                                  </m:sub>
                                </m:sSub>
                              </m:sub>
                            </m:sSub>
                          </m:num>
                          <m:den>
                            <m:r>
                              <a:rPr lang="en-US" i="1">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A</m:t>
                                </m:r>
                              </m:e>
                              <m:sub>
                                <m:r>
                                  <m:rPr>
                                    <m:sty m:val="p"/>
                                  </m:rPr>
                                  <a:rPr lang="en-US" b="0" i="0" smtClean="0">
                                    <a:latin typeface="Cambria Math" panose="02040503050406030204" pitchFamily="18" charset="0"/>
                                  </a:rPr>
                                  <m:t>Z</m:t>
                                </m:r>
                              </m:sub>
                            </m:sSub>
                          </m:den>
                        </m:f>
                      </m:e>
                    </m:d>
                    <m:r>
                      <a:rPr lang="en-US" i="1">
                        <a:latin typeface="Cambria Math" panose="02040503050406030204" pitchFamily="18" charset="0"/>
                      </a:rPr>
                      <m:t>=</m:t>
                    </m:r>
                    <m:r>
                      <m:rPr>
                        <m:sty m:val="p"/>
                      </m:rPr>
                      <a:rPr lang="en-US">
                        <a:latin typeface="Cambria Math" panose="02040503050406030204" pitchFamily="18" charset="0"/>
                      </a:rPr>
                      <m:t>const</m:t>
                    </m:r>
                    <m:r>
                      <a:rPr lang="en-US" b="0" i="0" smtClean="0">
                        <a:latin typeface="Cambria Math" panose="02040503050406030204" pitchFamily="18" charset="0"/>
                      </a:rPr>
                      <m:t>.</m:t>
                    </m:r>
                  </m:oMath>
                </a14:m>
                <a:r>
                  <a:rPr lang="en-US" dirty="0"/>
                  <a:t> for assuming values when desired lower is out-of-bounds</a:t>
                </a:r>
              </a:p>
            </p:txBody>
          </p:sp>
        </mc:Choice>
        <mc:Fallback xmlns="">
          <p:sp>
            <p:nvSpPr>
              <p:cNvPr id="3" name="Text Placeholder 2">
                <a:extLst>
                  <a:ext uri="{FF2B5EF4-FFF2-40B4-BE49-F238E27FC236}">
                    <a16:creationId xmlns:a16="http://schemas.microsoft.com/office/drawing/2014/main" id="{95C56362-8644-CD7C-D324-85F57352D8EB}"/>
                  </a:ext>
                </a:extLst>
              </p:cNvPr>
              <p:cNvSpPr>
                <a:spLocks noGrp="1" noRot="1" noChangeAspect="1" noMove="1" noResize="1" noEditPoints="1" noAdjustHandles="1" noChangeArrowheads="1" noChangeShapeType="1" noTextEdit="1"/>
              </p:cNvSpPr>
              <p:nvPr>
                <p:ph type="body" idx="1"/>
              </p:nvPr>
            </p:nvSpPr>
            <p:spPr>
              <a:blipFill>
                <a:blip r:embed="rId3"/>
                <a:stretch>
                  <a:fillRect l="-600" t="-558" r="-1380"/>
                </a:stretch>
              </a:blipFill>
            </p:spPr>
            <p:txBody>
              <a:bodyPr/>
              <a:lstStyle/>
              <a:p>
                <a:r>
                  <a:rPr lang="en-US">
                    <a:noFill/>
                  </a:rPr>
                  <a:t> </a:t>
                </a:r>
              </a:p>
            </p:txBody>
          </p:sp>
        </mc:Fallback>
      </mc:AlternateContent>
    </p:spTree>
    <p:extLst>
      <p:ext uri="{BB962C8B-B14F-4D97-AF65-F5344CB8AC3E}">
        <p14:creationId xmlns:p14="http://schemas.microsoft.com/office/powerpoint/2010/main" val="3384267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98BE4F6-FA63-780D-E0E1-3453C41641F1}"/>
              </a:ext>
            </a:extLst>
          </p:cNvPr>
          <p:cNvPicPr>
            <a:picLocks noChangeAspect="1"/>
          </p:cNvPicPr>
          <p:nvPr/>
        </p:nvPicPr>
        <p:blipFill>
          <a:blip r:embed="rId2"/>
          <a:stretch>
            <a:fillRect/>
          </a:stretch>
        </p:blipFill>
        <p:spPr>
          <a:xfrm>
            <a:off x="694266" y="1233571"/>
            <a:ext cx="10470363" cy="5471711"/>
          </a:xfrm>
          <a:prstGeom prst="rect">
            <a:avLst/>
          </a:prstGeom>
        </p:spPr>
      </p:pic>
      <p:sp>
        <p:nvSpPr>
          <p:cNvPr id="2" name="Title 1">
            <a:extLst>
              <a:ext uri="{FF2B5EF4-FFF2-40B4-BE49-F238E27FC236}">
                <a16:creationId xmlns:a16="http://schemas.microsoft.com/office/drawing/2014/main" id="{6461BE74-7FAA-8F4A-12AB-3FC5C1B63D4B}"/>
              </a:ext>
            </a:extLst>
          </p:cNvPr>
          <p:cNvSpPr>
            <a:spLocks noGrp="1"/>
          </p:cNvSpPr>
          <p:nvPr>
            <p:ph type="title"/>
          </p:nvPr>
        </p:nvSpPr>
        <p:spPr>
          <a:xfrm>
            <a:off x="609599" y="152718"/>
            <a:ext cx="9011323" cy="685800"/>
          </a:xfrm>
        </p:spPr>
        <p:txBody>
          <a:bodyPr/>
          <a:lstStyle/>
          <a:p>
            <a:r>
              <a:rPr lang="en-US" dirty="0"/>
              <a:t>Interpolate BRDF or RT values ?</a:t>
            </a:r>
          </a:p>
        </p:txBody>
      </p:sp>
      <p:sp>
        <p:nvSpPr>
          <p:cNvPr id="8" name="TextBox 7">
            <a:extLst>
              <a:ext uri="{FF2B5EF4-FFF2-40B4-BE49-F238E27FC236}">
                <a16:creationId xmlns:a16="http://schemas.microsoft.com/office/drawing/2014/main" id="{23143EC8-3626-3CCA-CAC6-86AEA13B4179}"/>
              </a:ext>
            </a:extLst>
          </p:cNvPr>
          <p:cNvSpPr txBox="1"/>
          <p:nvPr/>
        </p:nvSpPr>
        <p:spPr>
          <a:xfrm>
            <a:off x="8204199" y="2801034"/>
            <a:ext cx="2175933" cy="923330"/>
          </a:xfrm>
          <a:prstGeom prst="rect">
            <a:avLst/>
          </a:prstGeom>
          <a:noFill/>
        </p:spPr>
        <p:txBody>
          <a:bodyPr wrap="square" rtlCol="0">
            <a:spAutoFit/>
          </a:bodyPr>
          <a:lstStyle/>
          <a:p>
            <a:r>
              <a:rPr lang="en-US" sz="1800" dirty="0">
                <a:solidFill>
                  <a:schemeClr val="bg2"/>
                </a:solidFill>
              </a:rPr>
              <a:t>RT has more uniform change, use this</a:t>
            </a:r>
          </a:p>
        </p:txBody>
      </p:sp>
    </p:spTree>
    <p:extLst>
      <p:ext uri="{BB962C8B-B14F-4D97-AF65-F5344CB8AC3E}">
        <p14:creationId xmlns:p14="http://schemas.microsoft.com/office/powerpoint/2010/main" val="752834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E57DB-20BA-638F-ADD3-118CE5BE541A}"/>
              </a:ext>
            </a:extLst>
          </p:cNvPr>
          <p:cNvSpPr>
            <a:spLocks noGrp="1"/>
          </p:cNvSpPr>
          <p:nvPr>
            <p:ph type="title"/>
          </p:nvPr>
        </p:nvSpPr>
        <p:spPr/>
        <p:txBody>
          <a:bodyPr/>
          <a:lstStyle/>
          <a:p>
            <a:r>
              <a:rPr lang="en-US" dirty="0" err="1"/>
              <a:t>R_specular</a:t>
            </a:r>
            <a:r>
              <a:rPr lang="en-US" dirty="0"/>
              <a:t> as measured or inferred from max BRDF ?</a:t>
            </a:r>
          </a:p>
        </p:txBody>
      </p:sp>
      <p:sp>
        <p:nvSpPr>
          <p:cNvPr id="3" name="Text Placeholder 2">
            <a:extLst>
              <a:ext uri="{FF2B5EF4-FFF2-40B4-BE49-F238E27FC236}">
                <a16:creationId xmlns:a16="http://schemas.microsoft.com/office/drawing/2014/main" id="{9AA30A69-E2A3-1211-4388-29D1004F515A}"/>
              </a:ext>
            </a:extLst>
          </p:cNvPr>
          <p:cNvSpPr>
            <a:spLocks noGrp="1"/>
          </p:cNvSpPr>
          <p:nvPr>
            <p:ph type="body" idx="1"/>
          </p:nvPr>
        </p:nvSpPr>
        <p:spPr/>
        <p:txBody>
          <a:bodyPr/>
          <a:lstStyle/>
          <a:p>
            <a:r>
              <a:rPr lang="en-US" dirty="0"/>
              <a:t>As measured</a:t>
            </a:r>
          </a:p>
          <a:p>
            <a:pPr lvl="1"/>
            <a:r>
              <a:rPr lang="en-US" dirty="0"/>
              <a:t>See accuracy of plots</a:t>
            </a:r>
          </a:p>
        </p:txBody>
      </p:sp>
      <p:pic>
        <p:nvPicPr>
          <p:cNvPr id="5" name="Picture 4" descr="A graph of different types of benchmark results&#10;&#10;AI-generated content may be incorrect.">
            <a:extLst>
              <a:ext uri="{FF2B5EF4-FFF2-40B4-BE49-F238E27FC236}">
                <a16:creationId xmlns:a16="http://schemas.microsoft.com/office/drawing/2014/main" id="{1636EE42-107B-6E83-D39F-40B02354B4B0}"/>
              </a:ext>
            </a:extLst>
          </p:cNvPr>
          <p:cNvPicPr>
            <a:picLocks noChangeAspect="1"/>
          </p:cNvPicPr>
          <p:nvPr/>
        </p:nvPicPr>
        <p:blipFill>
          <a:blip r:embed="rId2"/>
          <a:stretch>
            <a:fillRect/>
          </a:stretch>
        </p:blipFill>
        <p:spPr>
          <a:xfrm>
            <a:off x="74878" y="2864328"/>
            <a:ext cx="5879328" cy="3935057"/>
          </a:xfrm>
          <a:prstGeom prst="rect">
            <a:avLst/>
          </a:prstGeom>
        </p:spPr>
      </p:pic>
      <p:pic>
        <p:nvPicPr>
          <p:cNvPr id="7" name="Picture 6" descr="A graph of a graph of a graph&#10;&#10;AI-generated content may be incorrect.">
            <a:extLst>
              <a:ext uri="{FF2B5EF4-FFF2-40B4-BE49-F238E27FC236}">
                <a16:creationId xmlns:a16="http://schemas.microsoft.com/office/drawing/2014/main" id="{F077DE73-E43B-C1D4-A273-FCE0BB477985}"/>
              </a:ext>
            </a:extLst>
          </p:cNvPr>
          <p:cNvPicPr>
            <a:picLocks noChangeAspect="1"/>
          </p:cNvPicPr>
          <p:nvPr/>
        </p:nvPicPr>
        <p:blipFill>
          <a:blip r:embed="rId3"/>
          <a:stretch>
            <a:fillRect/>
          </a:stretch>
        </p:blipFill>
        <p:spPr>
          <a:xfrm>
            <a:off x="6013939" y="2864328"/>
            <a:ext cx="5879328" cy="3925754"/>
          </a:xfrm>
          <a:prstGeom prst="rect">
            <a:avLst/>
          </a:prstGeom>
        </p:spPr>
      </p:pic>
    </p:spTree>
    <p:extLst>
      <p:ext uri="{BB962C8B-B14F-4D97-AF65-F5344CB8AC3E}">
        <p14:creationId xmlns:p14="http://schemas.microsoft.com/office/powerpoint/2010/main" val="3638824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67776-CAE7-7461-B30C-2D4BAE5B165E}"/>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3664137-4130-F507-6EC8-6E5F81425165}"/>
              </a:ext>
            </a:extLst>
          </p:cNvPr>
          <p:cNvSpPr>
            <a:spLocks noGrp="1"/>
          </p:cNvSpPr>
          <p:nvPr>
            <p:ph type="body" idx="1"/>
          </p:nvPr>
        </p:nvSpPr>
        <p:spPr/>
        <p:txBody>
          <a:bodyPr/>
          <a:lstStyle/>
          <a:p>
            <a:r>
              <a:rPr lang="en-US" dirty="0"/>
              <a:t>Previous plot was Azi = 0deg, and assumed uniform cone (i.e., all Azi have same RT as Azi=0)</a:t>
            </a:r>
          </a:p>
          <a:p>
            <a:r>
              <a:rPr lang="en-US" dirty="0"/>
              <a:t>I have since developed coordinate transformation of measured RT values to cone’s (Azi, radial) angle</a:t>
            </a:r>
          </a:p>
          <a:p>
            <a:pPr lvl="1"/>
            <a:r>
              <a:rPr lang="en-US" dirty="0"/>
              <a:t>But, took all day yesterday and still not sure about math, but empirically coordinate transfers make sense</a:t>
            </a:r>
          </a:p>
          <a:p>
            <a:pPr lvl="2"/>
            <a:endParaRPr lang="en-US" dirty="0"/>
          </a:p>
        </p:txBody>
      </p:sp>
    </p:spTree>
    <p:extLst>
      <p:ext uri="{BB962C8B-B14F-4D97-AF65-F5344CB8AC3E}">
        <p14:creationId xmlns:p14="http://schemas.microsoft.com/office/powerpoint/2010/main" val="3492352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2F43B-B4D2-0A06-C329-06BD98DDC475}"/>
              </a:ext>
            </a:extLst>
          </p:cNvPr>
          <p:cNvSpPr>
            <a:spLocks noGrp="1"/>
          </p:cNvSpPr>
          <p:nvPr>
            <p:ph type="title"/>
          </p:nvPr>
        </p:nvSpPr>
        <p:spPr/>
        <p:txBody>
          <a:bodyPr/>
          <a:lstStyle/>
          <a:p>
            <a:r>
              <a:rPr lang="en-US" dirty="0"/>
              <a:t>Empirically, transform is working</a:t>
            </a:r>
          </a:p>
        </p:txBody>
      </p:sp>
      <p:sp>
        <p:nvSpPr>
          <p:cNvPr id="3" name="Text Placeholder 2">
            <a:extLst>
              <a:ext uri="{FF2B5EF4-FFF2-40B4-BE49-F238E27FC236}">
                <a16:creationId xmlns:a16="http://schemas.microsoft.com/office/drawing/2014/main" id="{0C0EFE5F-DE0E-FF95-47D4-A685D9726DDD}"/>
              </a:ext>
            </a:extLst>
          </p:cNvPr>
          <p:cNvSpPr>
            <a:spLocks noGrp="1"/>
          </p:cNvSpPr>
          <p:nvPr>
            <p:ph type="body" idx="1"/>
          </p:nvPr>
        </p:nvSpPr>
        <p:spPr/>
        <p:txBody>
          <a:bodyPr/>
          <a:lstStyle/>
          <a:p>
            <a:r>
              <a:rPr lang="pt-BR" b="0" dirty="0"/>
              <a:t>[A, I, R, Az, Rz]</a:t>
            </a:r>
          </a:p>
          <a:p>
            <a:endParaRPr lang="en-US" dirty="0"/>
          </a:p>
        </p:txBody>
      </p:sp>
      <p:pic>
        <p:nvPicPr>
          <p:cNvPr id="5" name="Picture 4">
            <a:extLst>
              <a:ext uri="{FF2B5EF4-FFF2-40B4-BE49-F238E27FC236}">
                <a16:creationId xmlns:a16="http://schemas.microsoft.com/office/drawing/2014/main" id="{070CC975-B46B-8118-8312-49691B07C1A0}"/>
              </a:ext>
            </a:extLst>
          </p:cNvPr>
          <p:cNvPicPr>
            <a:picLocks noChangeAspect="1"/>
          </p:cNvPicPr>
          <p:nvPr/>
        </p:nvPicPr>
        <p:blipFill>
          <a:blip r:embed="rId2"/>
          <a:stretch>
            <a:fillRect/>
          </a:stretch>
        </p:blipFill>
        <p:spPr>
          <a:xfrm>
            <a:off x="956733" y="2576768"/>
            <a:ext cx="4667901" cy="3905795"/>
          </a:xfrm>
          <a:prstGeom prst="rect">
            <a:avLst/>
          </a:prstGeom>
        </p:spPr>
      </p:pic>
      <p:pic>
        <p:nvPicPr>
          <p:cNvPr id="7" name="Picture 6">
            <a:extLst>
              <a:ext uri="{FF2B5EF4-FFF2-40B4-BE49-F238E27FC236}">
                <a16:creationId xmlns:a16="http://schemas.microsoft.com/office/drawing/2014/main" id="{3CEFB70C-E749-75B5-3D26-221977E3E43B}"/>
              </a:ext>
            </a:extLst>
          </p:cNvPr>
          <p:cNvPicPr>
            <a:picLocks noChangeAspect="1"/>
          </p:cNvPicPr>
          <p:nvPr/>
        </p:nvPicPr>
        <p:blipFill>
          <a:blip r:embed="rId3"/>
          <a:stretch>
            <a:fillRect/>
          </a:stretch>
        </p:blipFill>
        <p:spPr>
          <a:xfrm>
            <a:off x="6779886" y="2524863"/>
            <a:ext cx="4677428" cy="3829584"/>
          </a:xfrm>
          <a:prstGeom prst="rect">
            <a:avLst/>
          </a:prstGeom>
        </p:spPr>
      </p:pic>
    </p:spTree>
    <p:extLst>
      <p:ext uri="{BB962C8B-B14F-4D97-AF65-F5344CB8AC3E}">
        <p14:creationId xmlns:p14="http://schemas.microsoft.com/office/powerpoint/2010/main" val="3971212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3BD8C-8CE0-8673-9248-BB34DB24F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12FED1-4738-56A1-1356-538C4021C6F1}"/>
              </a:ext>
            </a:extLst>
          </p:cNvPr>
          <p:cNvSpPr>
            <a:spLocks noGrp="1"/>
          </p:cNvSpPr>
          <p:nvPr>
            <p:ph type="ctrTitle"/>
          </p:nvPr>
        </p:nvSpPr>
        <p:spPr/>
        <p:txBody>
          <a:bodyPr/>
          <a:lstStyle/>
          <a:p>
            <a:r>
              <a:rPr lang="en-US" sz="3600" dirty="0"/>
              <a:t>Debugging coordinate transformation</a:t>
            </a:r>
          </a:p>
        </p:txBody>
      </p:sp>
      <p:sp>
        <p:nvSpPr>
          <p:cNvPr id="5" name="Subtitle 4">
            <a:extLst>
              <a:ext uri="{FF2B5EF4-FFF2-40B4-BE49-F238E27FC236}">
                <a16:creationId xmlns:a16="http://schemas.microsoft.com/office/drawing/2014/main" id="{4BDF9BD3-0F2C-79F7-7A03-F8DFB038A13E}"/>
              </a:ext>
            </a:extLst>
          </p:cNvPr>
          <p:cNvSpPr>
            <a:spLocks noGrp="1"/>
          </p:cNvSpPr>
          <p:nvPr>
            <p:ph type="subTitle" idx="1"/>
          </p:nvPr>
        </p:nvSpPr>
        <p:spPr/>
        <p:txBody>
          <a:bodyPr/>
          <a:lstStyle/>
          <a:p>
            <a:r>
              <a:rPr lang="en-US" dirty="0"/>
              <a:t>2025/09/09</a:t>
            </a:r>
          </a:p>
        </p:txBody>
      </p:sp>
    </p:spTree>
    <p:extLst>
      <p:ext uri="{BB962C8B-B14F-4D97-AF65-F5344CB8AC3E}">
        <p14:creationId xmlns:p14="http://schemas.microsoft.com/office/powerpoint/2010/main" val="1916718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0F5F8-6D12-9E27-72A5-1B1E6C3B44E1}"/>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4FEFEC0-D437-9E4A-50A1-33370A9EF4DA}"/>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9F3D9F49-ED27-44B8-96FA-62B8584FF13B}"/>
              </a:ext>
            </a:extLst>
          </p:cNvPr>
          <p:cNvPicPr>
            <a:picLocks noChangeAspect="1"/>
          </p:cNvPicPr>
          <p:nvPr/>
        </p:nvPicPr>
        <p:blipFill>
          <a:blip r:embed="rId2"/>
          <a:stretch>
            <a:fillRect/>
          </a:stretch>
        </p:blipFill>
        <p:spPr>
          <a:xfrm>
            <a:off x="575844" y="0"/>
            <a:ext cx="11040311" cy="6858000"/>
          </a:xfrm>
          <a:prstGeom prst="rect">
            <a:avLst/>
          </a:prstGeom>
        </p:spPr>
      </p:pic>
    </p:spTree>
    <p:extLst>
      <p:ext uri="{BB962C8B-B14F-4D97-AF65-F5344CB8AC3E}">
        <p14:creationId xmlns:p14="http://schemas.microsoft.com/office/powerpoint/2010/main" val="3468659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A5B0A2F-7C1B-DCBF-37ED-717855FE58FF}"/>
              </a:ext>
            </a:extLst>
          </p:cNvPr>
          <p:cNvPicPr>
            <a:picLocks noChangeAspect="1"/>
          </p:cNvPicPr>
          <p:nvPr/>
        </p:nvPicPr>
        <p:blipFill>
          <a:blip r:embed="rId2"/>
          <a:srcRect/>
          <a:stretch/>
        </p:blipFill>
        <p:spPr>
          <a:xfrm>
            <a:off x="2367450" y="0"/>
            <a:ext cx="6869687" cy="6820749"/>
          </a:xfrm>
          <a:prstGeom prst="rect">
            <a:avLst/>
          </a:prstGeom>
        </p:spPr>
      </p:pic>
      <p:sp>
        <p:nvSpPr>
          <p:cNvPr id="7" name="Rectangle 6">
            <a:extLst>
              <a:ext uri="{FF2B5EF4-FFF2-40B4-BE49-F238E27FC236}">
                <a16:creationId xmlns:a16="http://schemas.microsoft.com/office/drawing/2014/main" id="{9389D595-37DC-B327-6C0A-7ECA30C1CCA4}"/>
              </a:ext>
            </a:extLst>
          </p:cNvPr>
          <p:cNvSpPr/>
          <p:nvPr/>
        </p:nvSpPr>
        <p:spPr>
          <a:xfrm>
            <a:off x="7577667" y="3759199"/>
            <a:ext cx="1744133" cy="2921001"/>
          </a:xfrm>
          <a:prstGeom prst="rect">
            <a:avLst/>
          </a:prstGeom>
          <a:solidFill>
            <a:srgbClr val="D1282E">
              <a:alpha val="20000"/>
            </a:srgb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285EB6A-6F82-2AA7-B7EE-71C476D3046D}"/>
              </a:ext>
            </a:extLst>
          </p:cNvPr>
          <p:cNvSpPr/>
          <p:nvPr/>
        </p:nvSpPr>
        <p:spPr>
          <a:xfrm>
            <a:off x="2556933" y="5164667"/>
            <a:ext cx="3191934" cy="126999"/>
          </a:xfrm>
          <a:prstGeom prst="rect">
            <a:avLst/>
          </a:prstGeom>
          <a:solidFill>
            <a:schemeClr val="accent2">
              <a:alpha val="2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B9E3075-1315-B4B6-AE6E-17C863AA028C}"/>
              </a:ext>
            </a:extLst>
          </p:cNvPr>
          <p:cNvSpPr txBox="1"/>
          <p:nvPr/>
        </p:nvSpPr>
        <p:spPr>
          <a:xfrm>
            <a:off x="2734733" y="69968"/>
            <a:ext cx="1342983" cy="307777"/>
          </a:xfrm>
          <a:prstGeom prst="rect">
            <a:avLst/>
          </a:prstGeom>
          <a:noFill/>
        </p:spPr>
        <p:txBody>
          <a:bodyPr wrap="square" rtlCol="0">
            <a:spAutoFit/>
          </a:bodyPr>
          <a:lstStyle/>
          <a:p>
            <a:r>
              <a:rPr lang="en-US" b="1" dirty="0"/>
              <a:t>I = 10deg</a:t>
            </a:r>
          </a:p>
        </p:txBody>
      </p:sp>
      <p:sp>
        <p:nvSpPr>
          <p:cNvPr id="10" name="TextBox 9">
            <a:extLst>
              <a:ext uri="{FF2B5EF4-FFF2-40B4-BE49-F238E27FC236}">
                <a16:creationId xmlns:a16="http://schemas.microsoft.com/office/drawing/2014/main" id="{D9E4C91C-B3F0-C270-BB1B-998B163F897E}"/>
              </a:ext>
            </a:extLst>
          </p:cNvPr>
          <p:cNvSpPr txBox="1"/>
          <p:nvPr/>
        </p:nvSpPr>
        <p:spPr>
          <a:xfrm>
            <a:off x="8066114" y="0"/>
            <a:ext cx="1342983" cy="307777"/>
          </a:xfrm>
          <a:prstGeom prst="rect">
            <a:avLst/>
          </a:prstGeom>
          <a:noFill/>
        </p:spPr>
        <p:txBody>
          <a:bodyPr wrap="square" rtlCol="0">
            <a:spAutoFit/>
          </a:bodyPr>
          <a:lstStyle/>
          <a:p>
            <a:r>
              <a:rPr lang="en-US" b="1" dirty="0"/>
              <a:t>I = 30deg</a:t>
            </a:r>
          </a:p>
        </p:txBody>
      </p:sp>
      <p:sp>
        <p:nvSpPr>
          <p:cNvPr id="11" name="TextBox 10">
            <a:extLst>
              <a:ext uri="{FF2B5EF4-FFF2-40B4-BE49-F238E27FC236}">
                <a16:creationId xmlns:a16="http://schemas.microsoft.com/office/drawing/2014/main" id="{024D7F04-13A2-3431-8180-07C840C7AE6C}"/>
              </a:ext>
            </a:extLst>
          </p:cNvPr>
          <p:cNvSpPr txBox="1"/>
          <p:nvPr/>
        </p:nvSpPr>
        <p:spPr>
          <a:xfrm>
            <a:off x="2734733" y="3410374"/>
            <a:ext cx="1342983" cy="307777"/>
          </a:xfrm>
          <a:prstGeom prst="rect">
            <a:avLst/>
          </a:prstGeom>
          <a:noFill/>
        </p:spPr>
        <p:txBody>
          <a:bodyPr wrap="square" rtlCol="0">
            <a:spAutoFit/>
          </a:bodyPr>
          <a:lstStyle/>
          <a:p>
            <a:r>
              <a:rPr lang="en-US" b="1" dirty="0"/>
              <a:t>I = 50deg</a:t>
            </a:r>
          </a:p>
        </p:txBody>
      </p:sp>
      <p:sp>
        <p:nvSpPr>
          <p:cNvPr id="12" name="TextBox 11">
            <a:extLst>
              <a:ext uri="{FF2B5EF4-FFF2-40B4-BE49-F238E27FC236}">
                <a16:creationId xmlns:a16="http://schemas.microsoft.com/office/drawing/2014/main" id="{57EC1EFC-062F-C371-A8DD-8575349EB658}"/>
              </a:ext>
            </a:extLst>
          </p:cNvPr>
          <p:cNvSpPr txBox="1"/>
          <p:nvPr/>
        </p:nvSpPr>
        <p:spPr>
          <a:xfrm>
            <a:off x="8066113" y="3410374"/>
            <a:ext cx="1342983" cy="307777"/>
          </a:xfrm>
          <a:prstGeom prst="rect">
            <a:avLst/>
          </a:prstGeom>
          <a:noFill/>
        </p:spPr>
        <p:txBody>
          <a:bodyPr wrap="square" rtlCol="0">
            <a:spAutoFit/>
          </a:bodyPr>
          <a:lstStyle/>
          <a:p>
            <a:r>
              <a:rPr lang="en-US" b="1" dirty="0"/>
              <a:t>I = 70deg</a:t>
            </a:r>
          </a:p>
        </p:txBody>
      </p:sp>
      <p:sp>
        <p:nvSpPr>
          <p:cNvPr id="13" name="TextBox 12">
            <a:extLst>
              <a:ext uri="{FF2B5EF4-FFF2-40B4-BE49-F238E27FC236}">
                <a16:creationId xmlns:a16="http://schemas.microsoft.com/office/drawing/2014/main" id="{97C650CF-D489-5EFD-4B2D-DF8337C9869B}"/>
              </a:ext>
            </a:extLst>
          </p:cNvPr>
          <p:cNvSpPr txBox="1"/>
          <p:nvPr/>
        </p:nvSpPr>
        <p:spPr>
          <a:xfrm>
            <a:off x="1109134" y="5065809"/>
            <a:ext cx="1625599" cy="738664"/>
          </a:xfrm>
          <a:prstGeom prst="rect">
            <a:avLst/>
          </a:prstGeom>
          <a:noFill/>
        </p:spPr>
        <p:txBody>
          <a:bodyPr wrap="square" rtlCol="0">
            <a:spAutoFit/>
          </a:bodyPr>
          <a:lstStyle/>
          <a:p>
            <a:r>
              <a:rPr lang="en-US" b="1" dirty="0">
                <a:solidFill>
                  <a:schemeClr val="accent2"/>
                </a:solidFill>
              </a:rPr>
              <a:t>FRED</a:t>
            </a:r>
          </a:p>
          <a:p>
            <a:endParaRPr lang="en-US" b="1" dirty="0">
              <a:solidFill>
                <a:schemeClr val="accent2"/>
              </a:solidFill>
            </a:endParaRPr>
          </a:p>
          <a:p>
            <a:r>
              <a:rPr lang="en-US" b="1" dirty="0">
                <a:solidFill>
                  <a:schemeClr val="accent2"/>
                </a:solidFill>
              </a:rPr>
              <a:t>R = -80:1:80</a:t>
            </a:r>
          </a:p>
        </p:txBody>
      </p:sp>
      <p:sp>
        <p:nvSpPr>
          <p:cNvPr id="14" name="TextBox 13">
            <a:extLst>
              <a:ext uri="{FF2B5EF4-FFF2-40B4-BE49-F238E27FC236}">
                <a16:creationId xmlns:a16="http://schemas.microsoft.com/office/drawing/2014/main" id="{4CB6F555-3089-5BAA-AD23-D30AE315BD27}"/>
              </a:ext>
            </a:extLst>
          </p:cNvPr>
          <p:cNvSpPr txBox="1"/>
          <p:nvPr/>
        </p:nvSpPr>
        <p:spPr>
          <a:xfrm>
            <a:off x="9567333" y="5065809"/>
            <a:ext cx="2243667" cy="954107"/>
          </a:xfrm>
          <a:prstGeom prst="rect">
            <a:avLst/>
          </a:prstGeom>
          <a:noFill/>
        </p:spPr>
        <p:txBody>
          <a:bodyPr wrap="square" rtlCol="0">
            <a:spAutoFit/>
          </a:bodyPr>
          <a:lstStyle/>
          <a:p>
            <a:r>
              <a:rPr lang="en-US" b="1" dirty="0" err="1">
                <a:solidFill>
                  <a:schemeClr val="bg2"/>
                </a:solidFill>
              </a:rPr>
              <a:t>Zemax</a:t>
            </a:r>
            <a:endParaRPr lang="en-US" b="1" dirty="0">
              <a:solidFill>
                <a:schemeClr val="bg2"/>
              </a:solidFill>
            </a:endParaRPr>
          </a:p>
          <a:p>
            <a:endParaRPr lang="en-US" b="1" dirty="0">
              <a:solidFill>
                <a:schemeClr val="bg2"/>
              </a:solidFill>
            </a:endParaRPr>
          </a:p>
          <a:p>
            <a:r>
              <a:rPr lang="en-US" b="1" dirty="0">
                <a:solidFill>
                  <a:schemeClr val="bg2"/>
                </a:solidFill>
              </a:rPr>
              <a:t>Az = -90:10:90;</a:t>
            </a:r>
          </a:p>
          <a:p>
            <a:r>
              <a:rPr lang="en-US" b="1" dirty="0">
                <a:solidFill>
                  <a:schemeClr val="bg2"/>
                </a:solidFill>
              </a:rPr>
              <a:t>Rz = [0:5:20, 30:10: 80];</a:t>
            </a:r>
          </a:p>
        </p:txBody>
      </p:sp>
      <p:sp>
        <p:nvSpPr>
          <p:cNvPr id="15" name="TextBox 14">
            <a:extLst>
              <a:ext uri="{FF2B5EF4-FFF2-40B4-BE49-F238E27FC236}">
                <a16:creationId xmlns:a16="http://schemas.microsoft.com/office/drawing/2014/main" id="{57CA8D83-B76C-55BC-73E4-B2775A4F5A66}"/>
              </a:ext>
            </a:extLst>
          </p:cNvPr>
          <p:cNvSpPr txBox="1"/>
          <p:nvPr/>
        </p:nvSpPr>
        <p:spPr>
          <a:xfrm>
            <a:off x="168317" y="6290357"/>
            <a:ext cx="2446866" cy="430887"/>
          </a:xfrm>
          <a:prstGeom prst="rect">
            <a:avLst/>
          </a:prstGeom>
          <a:noFill/>
        </p:spPr>
        <p:txBody>
          <a:bodyPr wrap="square" rtlCol="0">
            <a:spAutoFit/>
          </a:bodyPr>
          <a:lstStyle/>
          <a:p>
            <a:r>
              <a:rPr lang="en-US" sz="1100" i="1" dirty="0"/>
              <a:t>*maybe bug?… b/c Az = 180deg should be populated like Az = 0deg</a:t>
            </a:r>
          </a:p>
        </p:txBody>
      </p:sp>
      <p:sp>
        <p:nvSpPr>
          <p:cNvPr id="16" name="TextBox 15">
            <a:extLst>
              <a:ext uri="{FF2B5EF4-FFF2-40B4-BE49-F238E27FC236}">
                <a16:creationId xmlns:a16="http://schemas.microsoft.com/office/drawing/2014/main" id="{05B3A585-B992-125E-ECB2-8B66F47BABC3}"/>
              </a:ext>
            </a:extLst>
          </p:cNvPr>
          <p:cNvSpPr txBox="1"/>
          <p:nvPr/>
        </p:nvSpPr>
        <p:spPr>
          <a:xfrm>
            <a:off x="211666" y="69968"/>
            <a:ext cx="1625600" cy="738664"/>
          </a:xfrm>
          <a:prstGeom prst="rect">
            <a:avLst/>
          </a:prstGeom>
          <a:noFill/>
        </p:spPr>
        <p:txBody>
          <a:bodyPr wrap="square" rtlCol="0">
            <a:spAutoFit/>
          </a:bodyPr>
          <a:lstStyle/>
          <a:p>
            <a:r>
              <a:rPr lang="en-US" dirty="0"/>
              <a:t>Measured:</a:t>
            </a:r>
          </a:p>
          <a:p>
            <a:pPr marL="285750" indent="-285750">
              <a:buFont typeface="Arial" panose="020B0604020202020204" pitchFamily="34" charset="0"/>
              <a:buChar char="•"/>
            </a:pPr>
            <a:r>
              <a:rPr lang="en-US" dirty="0"/>
              <a:t>A = [-90, 90];</a:t>
            </a:r>
          </a:p>
          <a:p>
            <a:pPr marL="285750" indent="-285750">
              <a:buFont typeface="Arial" panose="020B0604020202020204" pitchFamily="34" charset="0"/>
              <a:buChar char="•"/>
            </a:pPr>
            <a:r>
              <a:rPr lang="en-US" dirty="0"/>
              <a:t>R = [-80, 80];</a:t>
            </a:r>
          </a:p>
        </p:txBody>
      </p:sp>
    </p:spTree>
    <p:extLst>
      <p:ext uri="{BB962C8B-B14F-4D97-AF65-F5344CB8AC3E}">
        <p14:creationId xmlns:p14="http://schemas.microsoft.com/office/powerpoint/2010/main" val="948408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8A517-D61B-0498-339C-1B7AEBCD17E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B596BCC-2D05-6770-A9C5-D47BDBB802D8}"/>
              </a:ext>
            </a:extLst>
          </p:cNvPr>
          <p:cNvPicPr>
            <a:picLocks noChangeAspect="1"/>
          </p:cNvPicPr>
          <p:nvPr/>
        </p:nvPicPr>
        <p:blipFill>
          <a:blip r:embed="rId2"/>
          <a:srcRect/>
          <a:stretch/>
        </p:blipFill>
        <p:spPr>
          <a:xfrm>
            <a:off x="2505490" y="0"/>
            <a:ext cx="6593607" cy="6820749"/>
          </a:xfrm>
          <a:prstGeom prst="rect">
            <a:avLst/>
          </a:prstGeom>
        </p:spPr>
      </p:pic>
      <p:sp>
        <p:nvSpPr>
          <p:cNvPr id="7" name="Rectangle 6">
            <a:extLst>
              <a:ext uri="{FF2B5EF4-FFF2-40B4-BE49-F238E27FC236}">
                <a16:creationId xmlns:a16="http://schemas.microsoft.com/office/drawing/2014/main" id="{477A89AD-A51B-3360-53C3-DA8A56F378E6}"/>
              </a:ext>
            </a:extLst>
          </p:cNvPr>
          <p:cNvSpPr/>
          <p:nvPr/>
        </p:nvSpPr>
        <p:spPr>
          <a:xfrm>
            <a:off x="6172201" y="4004734"/>
            <a:ext cx="2607732" cy="1329266"/>
          </a:xfrm>
          <a:prstGeom prst="rect">
            <a:avLst/>
          </a:prstGeom>
          <a:solidFill>
            <a:srgbClr val="D1282E">
              <a:alpha val="20000"/>
            </a:srgb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6838CD4-6A57-F49D-7752-B3D36AF30376}"/>
              </a:ext>
            </a:extLst>
          </p:cNvPr>
          <p:cNvSpPr/>
          <p:nvPr/>
        </p:nvSpPr>
        <p:spPr>
          <a:xfrm rot="5400000">
            <a:off x="2733902" y="5273904"/>
            <a:ext cx="2650066" cy="111727"/>
          </a:xfrm>
          <a:prstGeom prst="rect">
            <a:avLst/>
          </a:prstGeom>
          <a:solidFill>
            <a:schemeClr val="accent2">
              <a:alpha val="2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E7294D9-10FD-9377-2E19-6F09B0132596}"/>
              </a:ext>
            </a:extLst>
          </p:cNvPr>
          <p:cNvSpPr txBox="1"/>
          <p:nvPr/>
        </p:nvSpPr>
        <p:spPr>
          <a:xfrm>
            <a:off x="1109134" y="5065809"/>
            <a:ext cx="1625599" cy="738664"/>
          </a:xfrm>
          <a:prstGeom prst="rect">
            <a:avLst/>
          </a:prstGeom>
          <a:noFill/>
        </p:spPr>
        <p:txBody>
          <a:bodyPr wrap="square" rtlCol="0">
            <a:spAutoFit/>
          </a:bodyPr>
          <a:lstStyle/>
          <a:p>
            <a:r>
              <a:rPr lang="en-US" b="1" dirty="0">
                <a:solidFill>
                  <a:schemeClr val="accent2"/>
                </a:solidFill>
              </a:rPr>
              <a:t>FRED</a:t>
            </a:r>
          </a:p>
          <a:p>
            <a:endParaRPr lang="en-US" b="1" dirty="0">
              <a:solidFill>
                <a:schemeClr val="accent2"/>
              </a:solidFill>
            </a:endParaRPr>
          </a:p>
          <a:p>
            <a:r>
              <a:rPr lang="en-US" b="1" dirty="0">
                <a:solidFill>
                  <a:schemeClr val="accent2"/>
                </a:solidFill>
              </a:rPr>
              <a:t>R = -80:1:80</a:t>
            </a:r>
          </a:p>
        </p:txBody>
      </p:sp>
      <p:sp>
        <p:nvSpPr>
          <p:cNvPr id="14" name="TextBox 13">
            <a:extLst>
              <a:ext uri="{FF2B5EF4-FFF2-40B4-BE49-F238E27FC236}">
                <a16:creationId xmlns:a16="http://schemas.microsoft.com/office/drawing/2014/main" id="{CE1B39C0-ADF3-C5E5-FD62-5CE08D486E9C}"/>
              </a:ext>
            </a:extLst>
          </p:cNvPr>
          <p:cNvSpPr txBox="1"/>
          <p:nvPr/>
        </p:nvSpPr>
        <p:spPr>
          <a:xfrm>
            <a:off x="9567333" y="5065809"/>
            <a:ext cx="2243667" cy="954107"/>
          </a:xfrm>
          <a:prstGeom prst="rect">
            <a:avLst/>
          </a:prstGeom>
          <a:noFill/>
        </p:spPr>
        <p:txBody>
          <a:bodyPr wrap="square" rtlCol="0">
            <a:spAutoFit/>
          </a:bodyPr>
          <a:lstStyle/>
          <a:p>
            <a:r>
              <a:rPr lang="en-US" b="1" dirty="0" err="1">
                <a:solidFill>
                  <a:schemeClr val="bg2"/>
                </a:solidFill>
              </a:rPr>
              <a:t>Zemax</a:t>
            </a:r>
            <a:endParaRPr lang="en-US" b="1" dirty="0">
              <a:solidFill>
                <a:schemeClr val="bg2"/>
              </a:solidFill>
            </a:endParaRPr>
          </a:p>
          <a:p>
            <a:endParaRPr lang="en-US" b="1" dirty="0">
              <a:solidFill>
                <a:schemeClr val="bg2"/>
              </a:solidFill>
            </a:endParaRPr>
          </a:p>
          <a:p>
            <a:r>
              <a:rPr lang="en-US" b="1" dirty="0">
                <a:solidFill>
                  <a:schemeClr val="bg2"/>
                </a:solidFill>
              </a:rPr>
              <a:t>Az = -90:10:90;</a:t>
            </a:r>
          </a:p>
          <a:p>
            <a:r>
              <a:rPr lang="en-US" b="1" dirty="0">
                <a:solidFill>
                  <a:schemeClr val="bg2"/>
                </a:solidFill>
              </a:rPr>
              <a:t>Rz = [0:5:20, 30:10: 80];</a:t>
            </a:r>
          </a:p>
        </p:txBody>
      </p:sp>
      <p:sp>
        <p:nvSpPr>
          <p:cNvPr id="15" name="TextBox 14">
            <a:extLst>
              <a:ext uri="{FF2B5EF4-FFF2-40B4-BE49-F238E27FC236}">
                <a16:creationId xmlns:a16="http://schemas.microsoft.com/office/drawing/2014/main" id="{73A823D6-FFF3-3CF7-FA5F-E5375A6D24B4}"/>
              </a:ext>
            </a:extLst>
          </p:cNvPr>
          <p:cNvSpPr txBox="1"/>
          <p:nvPr/>
        </p:nvSpPr>
        <p:spPr>
          <a:xfrm>
            <a:off x="168317" y="6290357"/>
            <a:ext cx="2446866" cy="261610"/>
          </a:xfrm>
          <a:prstGeom prst="rect">
            <a:avLst/>
          </a:prstGeom>
          <a:noFill/>
        </p:spPr>
        <p:txBody>
          <a:bodyPr wrap="square" rtlCol="0">
            <a:spAutoFit/>
          </a:bodyPr>
          <a:lstStyle/>
          <a:p>
            <a:r>
              <a:rPr lang="en-US" sz="1100" i="1" dirty="0"/>
              <a:t>*bug fixed</a:t>
            </a:r>
          </a:p>
        </p:txBody>
      </p:sp>
      <p:sp>
        <p:nvSpPr>
          <p:cNvPr id="16" name="TextBox 15">
            <a:extLst>
              <a:ext uri="{FF2B5EF4-FFF2-40B4-BE49-F238E27FC236}">
                <a16:creationId xmlns:a16="http://schemas.microsoft.com/office/drawing/2014/main" id="{04A6B5D9-1D65-DD61-0E64-8500B35A1214}"/>
              </a:ext>
            </a:extLst>
          </p:cNvPr>
          <p:cNvSpPr txBox="1"/>
          <p:nvPr/>
        </p:nvSpPr>
        <p:spPr>
          <a:xfrm>
            <a:off x="211666" y="69968"/>
            <a:ext cx="1625600" cy="738664"/>
          </a:xfrm>
          <a:prstGeom prst="rect">
            <a:avLst/>
          </a:prstGeom>
          <a:noFill/>
        </p:spPr>
        <p:txBody>
          <a:bodyPr wrap="square" rtlCol="0">
            <a:spAutoFit/>
          </a:bodyPr>
          <a:lstStyle/>
          <a:p>
            <a:r>
              <a:rPr lang="en-US" dirty="0"/>
              <a:t>Measured:</a:t>
            </a:r>
          </a:p>
          <a:p>
            <a:pPr marL="285750" indent="-285750">
              <a:buFont typeface="Arial" panose="020B0604020202020204" pitchFamily="34" charset="0"/>
              <a:buChar char="•"/>
            </a:pPr>
            <a:r>
              <a:rPr lang="en-US" dirty="0"/>
              <a:t>A = [-90, 90];</a:t>
            </a:r>
          </a:p>
          <a:p>
            <a:pPr marL="285750" indent="-285750">
              <a:buFont typeface="Arial" panose="020B0604020202020204" pitchFamily="34" charset="0"/>
              <a:buChar char="•"/>
            </a:pPr>
            <a:r>
              <a:rPr lang="en-US" dirty="0"/>
              <a:t>R = [-80, 80];</a:t>
            </a:r>
          </a:p>
        </p:txBody>
      </p:sp>
    </p:spTree>
    <p:extLst>
      <p:ext uri="{BB962C8B-B14F-4D97-AF65-F5344CB8AC3E}">
        <p14:creationId xmlns:p14="http://schemas.microsoft.com/office/powerpoint/2010/main" val="1285344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442B7-AFF7-5700-34B5-2F5458CDE2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AD02A6-942F-C032-B3E1-15400FA4D8A1}"/>
              </a:ext>
            </a:extLst>
          </p:cNvPr>
          <p:cNvSpPr>
            <a:spLocks noGrp="1"/>
          </p:cNvSpPr>
          <p:nvPr>
            <p:ph type="ctrTitle"/>
          </p:nvPr>
        </p:nvSpPr>
        <p:spPr/>
        <p:txBody>
          <a:bodyPr/>
          <a:lstStyle/>
          <a:p>
            <a:r>
              <a:rPr lang="en-US" sz="3600" dirty="0"/>
              <a:t>Some more results / debugging</a:t>
            </a:r>
          </a:p>
        </p:txBody>
      </p:sp>
    </p:spTree>
    <p:extLst>
      <p:ext uri="{BB962C8B-B14F-4D97-AF65-F5344CB8AC3E}">
        <p14:creationId xmlns:p14="http://schemas.microsoft.com/office/powerpoint/2010/main" val="897508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67A41-2F11-6541-71E6-DCC917288C71}"/>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B43B129-6366-475F-7A2F-9B0DA1BE25EF}"/>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F9558C6F-4FB1-1C5D-A559-45C1413E59F8}"/>
              </a:ext>
            </a:extLst>
          </p:cNvPr>
          <p:cNvPicPr>
            <a:picLocks noChangeAspect="1"/>
          </p:cNvPicPr>
          <p:nvPr/>
        </p:nvPicPr>
        <p:blipFill>
          <a:blip r:embed="rId2"/>
          <a:srcRect/>
          <a:stretch/>
        </p:blipFill>
        <p:spPr>
          <a:xfrm>
            <a:off x="15027" y="384761"/>
            <a:ext cx="12161945" cy="6088477"/>
          </a:xfrm>
          <a:prstGeom prst="rect">
            <a:avLst/>
          </a:prstGeom>
        </p:spPr>
      </p:pic>
    </p:spTree>
    <p:extLst>
      <p:ext uri="{BB962C8B-B14F-4D97-AF65-F5344CB8AC3E}">
        <p14:creationId xmlns:p14="http://schemas.microsoft.com/office/powerpoint/2010/main" val="3759205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0681C-209C-655C-841B-D8DF1F7F8C36}"/>
              </a:ext>
            </a:extLst>
          </p:cNvPr>
          <p:cNvSpPr>
            <a:spLocks noGrp="1"/>
          </p:cNvSpPr>
          <p:nvPr>
            <p:ph type="title"/>
          </p:nvPr>
        </p:nvSpPr>
        <p:spPr/>
        <p:txBody>
          <a:bodyPr/>
          <a:lstStyle/>
          <a:p>
            <a:r>
              <a:rPr lang="en-US" dirty="0"/>
              <a:t>Coverage Plot</a:t>
            </a:r>
          </a:p>
        </p:txBody>
      </p:sp>
      <p:sp>
        <p:nvSpPr>
          <p:cNvPr id="3" name="Text Placeholder 2">
            <a:extLst>
              <a:ext uri="{FF2B5EF4-FFF2-40B4-BE49-F238E27FC236}">
                <a16:creationId xmlns:a16="http://schemas.microsoft.com/office/drawing/2014/main" id="{EEC46174-D088-C9CC-DA5F-8AA22E4497A7}"/>
              </a:ext>
            </a:extLst>
          </p:cNvPr>
          <p:cNvSpPr>
            <a:spLocks noGrp="1"/>
          </p:cNvSpPr>
          <p:nvPr>
            <p:ph type="body" idx="1"/>
          </p:nvPr>
        </p:nvSpPr>
        <p:spPr/>
        <p:txBody>
          <a:bodyPr/>
          <a:lstStyle/>
          <a:p>
            <a:r>
              <a:rPr lang="en-US" dirty="0"/>
              <a:t>(Az, Rz) covered by:</a:t>
            </a:r>
          </a:p>
          <a:p>
            <a:pPr lvl="1"/>
            <a:r>
              <a:rPr lang="en-US" dirty="0"/>
              <a:t>I = [10 : 20 : 70] deg</a:t>
            </a:r>
          </a:p>
          <a:p>
            <a:pPr lvl="1"/>
            <a:r>
              <a:rPr lang="en-US" dirty="0"/>
              <a:t>A = [-90 : 10 : 90] deg</a:t>
            </a:r>
          </a:p>
          <a:p>
            <a:pPr lvl="1"/>
            <a:r>
              <a:rPr lang="en-US" dirty="0"/>
              <a:t>R = [-80 : 5 : 80] deg</a:t>
            </a:r>
          </a:p>
        </p:txBody>
      </p:sp>
      <p:pic>
        <p:nvPicPr>
          <p:cNvPr id="5" name="Picture 4">
            <a:extLst>
              <a:ext uri="{FF2B5EF4-FFF2-40B4-BE49-F238E27FC236}">
                <a16:creationId xmlns:a16="http://schemas.microsoft.com/office/drawing/2014/main" id="{60B4B141-D388-4AF6-6DDF-A2F642F0AA67}"/>
              </a:ext>
            </a:extLst>
          </p:cNvPr>
          <p:cNvPicPr>
            <a:picLocks noChangeAspect="1"/>
          </p:cNvPicPr>
          <p:nvPr/>
        </p:nvPicPr>
        <p:blipFill>
          <a:blip r:embed="rId2"/>
          <a:stretch>
            <a:fillRect/>
          </a:stretch>
        </p:blipFill>
        <p:spPr>
          <a:xfrm>
            <a:off x="5714910" y="442207"/>
            <a:ext cx="5876058" cy="5973586"/>
          </a:xfrm>
          <a:prstGeom prst="rect">
            <a:avLst/>
          </a:prstGeom>
        </p:spPr>
      </p:pic>
    </p:spTree>
    <p:extLst>
      <p:ext uri="{BB962C8B-B14F-4D97-AF65-F5344CB8AC3E}">
        <p14:creationId xmlns:p14="http://schemas.microsoft.com/office/powerpoint/2010/main" val="10645489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56C65-6B79-F865-002A-E41D664BD6B9}"/>
              </a:ext>
            </a:extLst>
          </p:cNvPr>
          <p:cNvSpPr>
            <a:spLocks noGrp="1"/>
          </p:cNvSpPr>
          <p:nvPr>
            <p:ph type="title"/>
          </p:nvPr>
        </p:nvSpPr>
        <p:spPr/>
        <p:txBody>
          <a:bodyPr/>
          <a:lstStyle/>
          <a:p>
            <a:r>
              <a:rPr lang="en-US" dirty="0"/>
              <a:t>Prior to zero-</a:t>
            </a:r>
            <a:r>
              <a:rPr lang="en-US" dirty="0" err="1"/>
              <a:t>ing</a:t>
            </a: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E5A1152-ABDE-E1F9-884F-408FE90D6AD5}"/>
                  </a:ext>
                </a:extLst>
              </p:cNvPr>
              <p:cNvSpPr>
                <a:spLocks noGrp="1"/>
              </p:cNvSpPr>
              <p:nvPr>
                <p:ph type="body" idx="1"/>
              </p:nvPr>
            </p:nvSpPr>
            <p:spPr/>
            <p:txBody>
              <a:bodyPr/>
              <a:lstStyle/>
              <a:p>
                <a:r>
                  <a:rPr lang="en-US" sz="2400" b="0" dirty="0"/>
                  <a:t>Red is (A, R) = ([-90, 0], [-80, +80])</a:t>
                </a:r>
              </a:p>
              <a:p>
                <a:r>
                  <a:rPr lang="en-US" sz="2400" b="0" dirty="0"/>
                  <a:t>Blue is (A, R) = ([+90, 0], [+80, -80])</a:t>
                </a:r>
              </a:p>
              <a:p>
                <a:pPr lvl="1"/>
                <a:r>
                  <a:rPr lang="en-US" sz="2000" dirty="0"/>
                  <a:t>Plane symmetric equivalent,</a:t>
                </a:r>
                <a:br>
                  <a:rPr lang="en-US" sz="2000" dirty="0"/>
                </a:br>
                <a:r>
                  <a:rPr lang="en-US" sz="2000" dirty="0"/>
                  <a:t>but measured from negative A</a:t>
                </a:r>
              </a:p>
              <a:p>
                <a:r>
                  <a:rPr lang="en-US" sz="2400" b="0" dirty="0"/>
                  <a:t>Blank not yet subtracted, this is </a:t>
                </a:r>
                <a:br>
                  <a:rPr lang="en-US" sz="2400" b="0" dirty="0"/>
                </a:br>
                <a:r>
                  <a:rPr lang="en-US" sz="2400" b="0" dirty="0"/>
                  <a:t>just raw RT measurements</a:t>
                </a:r>
              </a:p>
              <a:p>
                <a:r>
                  <a:rPr lang="en-US" sz="2400" b="0" dirty="0"/>
                  <a:t>Same periodicity, but sign of </a:t>
                </a:r>
                <a:br>
                  <a:rPr lang="en-US" sz="2400" b="0" dirty="0"/>
                </a:br>
                <a14:m>
                  <m:oMath xmlns:m="http://schemas.openxmlformats.org/officeDocument/2006/math">
                    <m:r>
                      <m:rPr>
                        <m:sty m:val="p"/>
                      </m:rPr>
                      <a:rPr lang="en-US" sz="2400" b="0" i="0" smtClean="0">
                        <a:latin typeface="Cambria Math" panose="02040503050406030204" pitchFamily="18" charset="0"/>
                      </a:rPr>
                      <m:t>Δ</m:t>
                    </m:r>
                  </m:oMath>
                </a14:m>
                <a:r>
                  <a:rPr lang="en-US" sz="2400" b="0" dirty="0"/>
                  <a:t>RT flipped, and scaled less for -A</a:t>
                </a:r>
              </a:p>
            </p:txBody>
          </p:sp>
        </mc:Choice>
        <mc:Fallback xmlns="">
          <p:sp>
            <p:nvSpPr>
              <p:cNvPr id="3" name="Text Placeholder 2">
                <a:extLst>
                  <a:ext uri="{FF2B5EF4-FFF2-40B4-BE49-F238E27FC236}">
                    <a16:creationId xmlns:a16="http://schemas.microsoft.com/office/drawing/2014/main" id="{EE5A1152-ABDE-E1F9-884F-408FE90D6AD5}"/>
                  </a:ext>
                </a:extLst>
              </p:cNvPr>
              <p:cNvSpPr>
                <a:spLocks noGrp="1" noRot="1" noChangeAspect="1" noMove="1" noResize="1" noEditPoints="1" noAdjustHandles="1" noChangeArrowheads="1" noChangeShapeType="1" noTextEdit="1"/>
              </p:cNvSpPr>
              <p:nvPr>
                <p:ph type="body" idx="1"/>
              </p:nvPr>
            </p:nvSpPr>
            <p:spPr>
              <a:blipFill>
                <a:blip r:embed="rId2"/>
                <a:stretch>
                  <a:fillRect l="-600" t="-279"/>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1790402B-5753-455F-5E66-F5257D397CA1}"/>
              </a:ext>
            </a:extLst>
          </p:cNvPr>
          <p:cNvGrpSpPr/>
          <p:nvPr/>
        </p:nvGrpSpPr>
        <p:grpSpPr>
          <a:xfrm>
            <a:off x="6185285" y="0"/>
            <a:ext cx="5614949" cy="6858000"/>
            <a:chOff x="3416678" y="0"/>
            <a:chExt cx="5614949" cy="6858000"/>
          </a:xfrm>
        </p:grpSpPr>
        <p:pic>
          <p:nvPicPr>
            <p:cNvPr id="5" name="Picture 4">
              <a:extLst>
                <a:ext uri="{FF2B5EF4-FFF2-40B4-BE49-F238E27FC236}">
                  <a16:creationId xmlns:a16="http://schemas.microsoft.com/office/drawing/2014/main" id="{1F50F751-1F4C-214D-9C4C-116A603D3BA7}"/>
                </a:ext>
              </a:extLst>
            </p:cNvPr>
            <p:cNvPicPr>
              <a:picLocks noChangeAspect="1"/>
            </p:cNvPicPr>
            <p:nvPr/>
          </p:nvPicPr>
          <p:blipFill>
            <a:blip r:embed="rId3"/>
            <a:stretch>
              <a:fillRect/>
            </a:stretch>
          </p:blipFill>
          <p:spPr>
            <a:xfrm>
              <a:off x="3416678" y="0"/>
              <a:ext cx="5358644" cy="6858000"/>
            </a:xfrm>
            <a:prstGeom prst="rect">
              <a:avLst/>
            </a:prstGeom>
          </p:spPr>
        </p:pic>
        <p:sp>
          <p:nvSpPr>
            <p:cNvPr id="6" name="TextBox 5">
              <a:extLst>
                <a:ext uri="{FF2B5EF4-FFF2-40B4-BE49-F238E27FC236}">
                  <a16:creationId xmlns:a16="http://schemas.microsoft.com/office/drawing/2014/main" id="{5BF79D5F-5B8A-4714-256D-3DC8CFDA6A5F}"/>
                </a:ext>
              </a:extLst>
            </p:cNvPr>
            <p:cNvSpPr txBox="1"/>
            <p:nvPr/>
          </p:nvSpPr>
          <p:spPr>
            <a:xfrm>
              <a:off x="3416678" y="1117598"/>
              <a:ext cx="1481667" cy="307777"/>
            </a:xfrm>
            <a:prstGeom prst="rect">
              <a:avLst/>
            </a:prstGeom>
            <a:noFill/>
          </p:spPr>
          <p:txBody>
            <a:bodyPr wrap="square" rtlCol="0">
              <a:spAutoFit/>
            </a:bodyPr>
            <a:lstStyle/>
            <a:p>
              <a:r>
                <a:rPr lang="en-US" dirty="0"/>
                <a:t>RT</a:t>
              </a:r>
            </a:p>
          </p:txBody>
        </p:sp>
        <p:sp>
          <p:nvSpPr>
            <p:cNvPr id="7" name="TextBox 6">
              <a:extLst>
                <a:ext uri="{FF2B5EF4-FFF2-40B4-BE49-F238E27FC236}">
                  <a16:creationId xmlns:a16="http://schemas.microsoft.com/office/drawing/2014/main" id="{A48AA1C5-3E2F-41FA-FDDC-54E0312FC26F}"/>
                </a:ext>
              </a:extLst>
            </p:cNvPr>
            <p:cNvSpPr txBox="1"/>
            <p:nvPr/>
          </p:nvSpPr>
          <p:spPr>
            <a:xfrm>
              <a:off x="7549960" y="6510476"/>
              <a:ext cx="1481667" cy="307777"/>
            </a:xfrm>
            <a:prstGeom prst="rect">
              <a:avLst/>
            </a:prstGeom>
            <a:noFill/>
          </p:spPr>
          <p:txBody>
            <a:bodyPr wrap="square" rtlCol="0">
              <a:spAutoFit/>
            </a:bodyPr>
            <a:lstStyle/>
            <a:p>
              <a:r>
                <a:rPr lang="en-US" dirty="0"/>
                <a:t>A</a:t>
              </a:r>
            </a:p>
          </p:txBody>
        </p:sp>
      </p:grpSp>
    </p:spTree>
    <p:extLst>
      <p:ext uri="{BB962C8B-B14F-4D97-AF65-F5344CB8AC3E}">
        <p14:creationId xmlns:p14="http://schemas.microsoft.com/office/powerpoint/2010/main" val="21062141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3A946-75AD-5A16-B92D-BA31BDD3FF7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06A46C43-8903-8108-D6B3-86165C3F85CF}"/>
              </a:ext>
            </a:extLst>
          </p:cNvPr>
          <p:cNvSpPr>
            <a:spLocks noGrp="1"/>
          </p:cNvSpPr>
          <p:nvPr>
            <p:ph type="body" idx="1"/>
          </p:nvPr>
        </p:nvSpPr>
        <p:spPr/>
        <p:txBody>
          <a:bodyPr/>
          <a:lstStyle/>
          <a:p>
            <a:r>
              <a:rPr lang="en-US" dirty="0"/>
              <a:t>Thought code was good, got worse </a:t>
            </a:r>
          </a:p>
        </p:txBody>
      </p:sp>
      <p:pic>
        <p:nvPicPr>
          <p:cNvPr id="5" name="Picture 4" descr="A group of graphs with numbers and lines&#10;&#10;AI-generated content may be incorrect.">
            <a:extLst>
              <a:ext uri="{FF2B5EF4-FFF2-40B4-BE49-F238E27FC236}">
                <a16:creationId xmlns:a16="http://schemas.microsoft.com/office/drawing/2014/main" id="{5951B044-1B2C-70AF-E885-F6B73C04EC30}"/>
              </a:ext>
            </a:extLst>
          </p:cNvPr>
          <p:cNvPicPr>
            <a:picLocks noChangeAspect="1"/>
          </p:cNvPicPr>
          <p:nvPr/>
        </p:nvPicPr>
        <p:blipFill>
          <a:blip r:embed="rId2"/>
          <a:stretch>
            <a:fillRect/>
          </a:stretch>
        </p:blipFill>
        <p:spPr>
          <a:xfrm>
            <a:off x="1859280" y="142859"/>
            <a:ext cx="10043851" cy="6576700"/>
          </a:xfrm>
          <a:prstGeom prst="rect">
            <a:avLst/>
          </a:prstGeom>
        </p:spPr>
      </p:pic>
    </p:spTree>
    <p:extLst>
      <p:ext uri="{BB962C8B-B14F-4D97-AF65-F5344CB8AC3E}">
        <p14:creationId xmlns:p14="http://schemas.microsoft.com/office/powerpoint/2010/main" val="25760799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1A6FD-960A-05A3-29E0-DBE79662A558}"/>
              </a:ext>
            </a:extLst>
          </p:cNvPr>
          <p:cNvSpPr>
            <a:spLocks noGrp="1"/>
          </p:cNvSpPr>
          <p:nvPr>
            <p:ph type="title"/>
          </p:nvPr>
        </p:nvSpPr>
        <p:spPr/>
        <p:txBody>
          <a:bodyPr/>
          <a:lstStyle/>
          <a:p>
            <a:r>
              <a:rPr lang="en-US" dirty="0"/>
              <a:t>Moving forward (for now)</a:t>
            </a:r>
          </a:p>
        </p:txBody>
      </p:sp>
      <p:sp>
        <p:nvSpPr>
          <p:cNvPr id="3" name="Text Placeholder 2">
            <a:extLst>
              <a:ext uri="{FF2B5EF4-FFF2-40B4-BE49-F238E27FC236}">
                <a16:creationId xmlns:a16="http://schemas.microsoft.com/office/drawing/2014/main" id="{FB2DF5B0-B39D-58E9-65FD-5118A989186A}"/>
              </a:ext>
            </a:extLst>
          </p:cNvPr>
          <p:cNvSpPr>
            <a:spLocks noGrp="1"/>
          </p:cNvSpPr>
          <p:nvPr>
            <p:ph type="body" idx="1"/>
          </p:nvPr>
        </p:nvSpPr>
        <p:spPr/>
        <p:txBody>
          <a:bodyPr/>
          <a:lstStyle/>
          <a:p>
            <a:r>
              <a:rPr lang="en-US" dirty="0"/>
              <a:t>Should we go with v3.1 for now?</a:t>
            </a:r>
          </a:p>
          <a:p>
            <a:pPr lvl="1"/>
            <a:r>
              <a:rPr lang="en-US" dirty="0"/>
              <a:t>In my opinion, better to get it right the first time</a:t>
            </a:r>
          </a:p>
          <a:p>
            <a:pPr lvl="2"/>
            <a:r>
              <a:rPr lang="en-US" dirty="0"/>
              <a:t>Avoid repeating analyses in future</a:t>
            </a:r>
          </a:p>
          <a:p>
            <a:pPr lvl="1"/>
            <a:r>
              <a:rPr lang="en-US" dirty="0"/>
              <a:t>But, thought I had it and got worse</a:t>
            </a:r>
          </a:p>
        </p:txBody>
      </p:sp>
    </p:spTree>
    <p:extLst>
      <p:ext uri="{BB962C8B-B14F-4D97-AF65-F5344CB8AC3E}">
        <p14:creationId xmlns:p14="http://schemas.microsoft.com/office/powerpoint/2010/main" val="32813514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EF719-3CC1-2CFD-3F60-E29A7564F6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3C2A0B-8078-BC35-F96D-2A7B76A3C899}"/>
              </a:ext>
            </a:extLst>
          </p:cNvPr>
          <p:cNvSpPr>
            <a:spLocks noGrp="1"/>
          </p:cNvSpPr>
          <p:nvPr>
            <p:ph type="ctrTitle"/>
          </p:nvPr>
        </p:nvSpPr>
        <p:spPr/>
        <p:txBody>
          <a:bodyPr/>
          <a:lstStyle/>
          <a:p>
            <a:r>
              <a:rPr lang="en-US" sz="3600" dirty="0"/>
              <a:t>More debugging</a:t>
            </a:r>
          </a:p>
        </p:txBody>
      </p:sp>
      <p:sp>
        <p:nvSpPr>
          <p:cNvPr id="5" name="Subtitle 4">
            <a:extLst>
              <a:ext uri="{FF2B5EF4-FFF2-40B4-BE49-F238E27FC236}">
                <a16:creationId xmlns:a16="http://schemas.microsoft.com/office/drawing/2014/main" id="{0A5287B3-D119-7FC0-997E-BB16E5F1F14C}"/>
              </a:ext>
            </a:extLst>
          </p:cNvPr>
          <p:cNvSpPr>
            <a:spLocks noGrp="1"/>
          </p:cNvSpPr>
          <p:nvPr>
            <p:ph type="subTitle" idx="1"/>
          </p:nvPr>
        </p:nvSpPr>
        <p:spPr/>
        <p:txBody>
          <a:bodyPr/>
          <a:lstStyle/>
          <a:p>
            <a:r>
              <a:rPr lang="en-US" dirty="0"/>
              <a:t>2025/09/16</a:t>
            </a:r>
          </a:p>
        </p:txBody>
      </p:sp>
    </p:spTree>
    <p:extLst>
      <p:ext uri="{BB962C8B-B14F-4D97-AF65-F5344CB8AC3E}">
        <p14:creationId xmlns:p14="http://schemas.microsoft.com/office/powerpoint/2010/main" val="9833071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062B9-06DC-F905-A68F-159814FB6E0C}"/>
              </a:ext>
            </a:extLst>
          </p:cNvPr>
          <p:cNvSpPr>
            <a:spLocks noGrp="1"/>
          </p:cNvSpPr>
          <p:nvPr>
            <p:ph type="title"/>
          </p:nvPr>
        </p:nvSpPr>
        <p:spPr/>
        <p:txBody>
          <a:bodyPr/>
          <a:lstStyle/>
          <a:p>
            <a:r>
              <a:rPr lang="en-US" dirty="0"/>
              <a:t>V4.3 = debugging v4.2</a:t>
            </a:r>
          </a:p>
        </p:txBody>
      </p:sp>
      <p:sp>
        <p:nvSpPr>
          <p:cNvPr id="3" name="Text Placeholder 2">
            <a:extLst>
              <a:ext uri="{FF2B5EF4-FFF2-40B4-BE49-F238E27FC236}">
                <a16:creationId xmlns:a16="http://schemas.microsoft.com/office/drawing/2014/main" id="{0315A512-81A5-727D-F31B-2C7C2A2180D3}"/>
              </a:ext>
            </a:extLst>
          </p:cNvPr>
          <p:cNvSpPr>
            <a:spLocks noGrp="1"/>
          </p:cNvSpPr>
          <p:nvPr>
            <p:ph type="body" idx="1"/>
          </p:nvPr>
        </p:nvSpPr>
        <p:spPr/>
        <p:txBody>
          <a:bodyPr/>
          <a:lstStyle/>
          <a:p>
            <a:r>
              <a:rPr lang="en-US" dirty="0"/>
              <a:t>Recall v3.1 sort of worked… so start by checking if in-plane interpolation gives similar/same results</a:t>
            </a:r>
          </a:p>
          <a:p>
            <a:pPr lvl="1"/>
            <a:r>
              <a:rPr lang="en-US" dirty="0"/>
              <a:t>Want this to be same, such that adding Az != 0 can be seen to increasingly degrade results from v3.1 to v4.2</a:t>
            </a:r>
          </a:p>
          <a:p>
            <a:pPr lvl="1"/>
            <a:endParaRPr lang="en-US" dirty="0"/>
          </a:p>
        </p:txBody>
      </p:sp>
    </p:spTree>
    <p:extLst>
      <p:ext uri="{BB962C8B-B14F-4D97-AF65-F5344CB8AC3E}">
        <p14:creationId xmlns:p14="http://schemas.microsoft.com/office/powerpoint/2010/main" val="34300986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B08E149-19D3-2605-CA1F-BFD8AB86FBF7}"/>
              </a:ext>
            </a:extLst>
          </p:cNvPr>
          <p:cNvPicPr>
            <a:picLocks noChangeAspect="1"/>
          </p:cNvPicPr>
          <p:nvPr/>
        </p:nvPicPr>
        <p:blipFill>
          <a:blip r:embed="rId2"/>
          <a:stretch>
            <a:fillRect/>
          </a:stretch>
        </p:blipFill>
        <p:spPr>
          <a:xfrm>
            <a:off x="2472268" y="202865"/>
            <a:ext cx="9330286" cy="6244797"/>
          </a:xfrm>
          <a:prstGeom prst="rect">
            <a:avLst/>
          </a:prstGeom>
        </p:spPr>
      </p:pic>
      <p:sp>
        <p:nvSpPr>
          <p:cNvPr id="2" name="Title 1">
            <a:extLst>
              <a:ext uri="{FF2B5EF4-FFF2-40B4-BE49-F238E27FC236}">
                <a16:creationId xmlns:a16="http://schemas.microsoft.com/office/drawing/2014/main" id="{BA57F72F-3F3B-17BA-16FF-B197BC21BE1F}"/>
              </a:ext>
            </a:extLst>
          </p:cNvPr>
          <p:cNvSpPr>
            <a:spLocks noGrp="1"/>
          </p:cNvSpPr>
          <p:nvPr>
            <p:ph type="title"/>
          </p:nvPr>
        </p:nvSpPr>
        <p:spPr/>
        <p:txBody>
          <a:bodyPr/>
          <a:lstStyle/>
          <a:p>
            <a:r>
              <a:rPr lang="en-US" dirty="0"/>
              <a:t>No azimuth correction needed, right?</a:t>
            </a:r>
          </a:p>
        </p:txBody>
      </p:sp>
    </p:spTree>
    <p:extLst>
      <p:ext uri="{BB962C8B-B14F-4D97-AF65-F5344CB8AC3E}">
        <p14:creationId xmlns:p14="http://schemas.microsoft.com/office/powerpoint/2010/main" val="33021639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090AC-14FE-7660-132B-9E04BA7C999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B6A0212-0A75-0771-535A-95CC5909E8C4}"/>
              </a:ext>
            </a:extLst>
          </p:cNvPr>
          <p:cNvPicPr>
            <a:picLocks noChangeAspect="1"/>
          </p:cNvPicPr>
          <p:nvPr/>
        </p:nvPicPr>
        <p:blipFill>
          <a:blip r:embed="rId2"/>
          <a:stretch>
            <a:fillRect/>
          </a:stretch>
        </p:blipFill>
        <p:spPr>
          <a:xfrm>
            <a:off x="0" y="976787"/>
            <a:ext cx="12192000" cy="5768029"/>
          </a:xfrm>
          <a:prstGeom prst="rect">
            <a:avLst/>
          </a:prstGeom>
        </p:spPr>
      </p:pic>
      <p:sp>
        <p:nvSpPr>
          <p:cNvPr id="2" name="Title 1">
            <a:extLst>
              <a:ext uri="{FF2B5EF4-FFF2-40B4-BE49-F238E27FC236}">
                <a16:creationId xmlns:a16="http://schemas.microsoft.com/office/drawing/2014/main" id="{DF961266-B704-D4AF-38F1-9A428329AC92}"/>
              </a:ext>
            </a:extLst>
          </p:cNvPr>
          <p:cNvSpPr>
            <a:spLocks noGrp="1"/>
          </p:cNvSpPr>
          <p:nvPr>
            <p:ph type="title"/>
          </p:nvPr>
        </p:nvSpPr>
        <p:spPr>
          <a:xfrm>
            <a:off x="609599" y="152718"/>
            <a:ext cx="9011323" cy="824069"/>
          </a:xfrm>
        </p:spPr>
        <p:txBody>
          <a:bodyPr/>
          <a:lstStyle/>
          <a:p>
            <a:r>
              <a:rPr lang="en-US" dirty="0"/>
              <a:t>Do we need azimuthal correction?</a:t>
            </a:r>
          </a:p>
        </p:txBody>
      </p:sp>
      <p:sp>
        <p:nvSpPr>
          <p:cNvPr id="3" name="TextBox 2">
            <a:extLst>
              <a:ext uri="{FF2B5EF4-FFF2-40B4-BE49-F238E27FC236}">
                <a16:creationId xmlns:a16="http://schemas.microsoft.com/office/drawing/2014/main" id="{C2CDEAE4-71BD-0DDC-6FE3-32EF5E9791D6}"/>
              </a:ext>
            </a:extLst>
          </p:cNvPr>
          <p:cNvSpPr txBox="1"/>
          <p:nvPr/>
        </p:nvSpPr>
        <p:spPr>
          <a:xfrm>
            <a:off x="4453467" y="5427902"/>
            <a:ext cx="2658533" cy="954107"/>
          </a:xfrm>
          <a:prstGeom prst="rect">
            <a:avLst/>
          </a:prstGeom>
          <a:noFill/>
        </p:spPr>
        <p:txBody>
          <a:bodyPr wrap="square" rtlCol="0">
            <a:spAutoFit/>
          </a:bodyPr>
          <a:lstStyle/>
          <a:p>
            <a:r>
              <a:rPr lang="en-US" b="1" dirty="0">
                <a:solidFill>
                  <a:srgbClr val="00B050"/>
                </a:solidFill>
              </a:rPr>
              <a:t>From Jojo: Max’s setup is how BRDF is defined in chapter 6 of stray light textbook.</a:t>
            </a:r>
          </a:p>
        </p:txBody>
      </p:sp>
      <p:sp>
        <p:nvSpPr>
          <p:cNvPr id="5" name="TextBox 4">
            <a:extLst>
              <a:ext uri="{FF2B5EF4-FFF2-40B4-BE49-F238E27FC236}">
                <a16:creationId xmlns:a16="http://schemas.microsoft.com/office/drawing/2014/main" id="{E0C550E4-B84E-9E24-2833-8ED25C6F89F5}"/>
              </a:ext>
            </a:extLst>
          </p:cNvPr>
          <p:cNvSpPr txBox="1"/>
          <p:nvPr/>
        </p:nvSpPr>
        <p:spPr>
          <a:xfrm>
            <a:off x="8001000" y="6050690"/>
            <a:ext cx="2048934" cy="307777"/>
          </a:xfrm>
          <a:prstGeom prst="rect">
            <a:avLst/>
          </a:prstGeom>
          <a:noFill/>
        </p:spPr>
        <p:txBody>
          <a:bodyPr wrap="square" rtlCol="0">
            <a:spAutoFit/>
          </a:bodyPr>
          <a:lstStyle/>
          <a:p>
            <a:r>
              <a:rPr lang="en-US" dirty="0"/>
              <a:t>Then yes</a:t>
            </a:r>
          </a:p>
        </p:txBody>
      </p:sp>
      <p:sp>
        <p:nvSpPr>
          <p:cNvPr id="6" name="TextBox 5">
            <a:extLst>
              <a:ext uri="{FF2B5EF4-FFF2-40B4-BE49-F238E27FC236}">
                <a16:creationId xmlns:a16="http://schemas.microsoft.com/office/drawing/2014/main" id="{5E697EA0-71AE-2CF3-3D70-C960F2C971A7}"/>
              </a:ext>
            </a:extLst>
          </p:cNvPr>
          <p:cNvSpPr txBox="1"/>
          <p:nvPr/>
        </p:nvSpPr>
        <p:spPr>
          <a:xfrm>
            <a:off x="1951566" y="6050690"/>
            <a:ext cx="2048934" cy="307777"/>
          </a:xfrm>
          <a:prstGeom prst="rect">
            <a:avLst/>
          </a:prstGeom>
          <a:noFill/>
        </p:spPr>
        <p:txBody>
          <a:bodyPr wrap="square" rtlCol="0">
            <a:spAutoFit/>
          </a:bodyPr>
          <a:lstStyle/>
          <a:p>
            <a:r>
              <a:rPr lang="en-US" dirty="0"/>
              <a:t>Then no</a:t>
            </a:r>
          </a:p>
        </p:txBody>
      </p:sp>
      <p:sp>
        <p:nvSpPr>
          <p:cNvPr id="7" name="TextBox 6">
            <a:extLst>
              <a:ext uri="{FF2B5EF4-FFF2-40B4-BE49-F238E27FC236}">
                <a16:creationId xmlns:a16="http://schemas.microsoft.com/office/drawing/2014/main" id="{5C97CD7D-5855-6F8E-D34A-0FE3A6BC9453}"/>
              </a:ext>
            </a:extLst>
          </p:cNvPr>
          <p:cNvSpPr txBox="1"/>
          <p:nvPr/>
        </p:nvSpPr>
        <p:spPr>
          <a:xfrm>
            <a:off x="160866" y="2940374"/>
            <a:ext cx="2048934" cy="307777"/>
          </a:xfrm>
          <a:prstGeom prst="rect">
            <a:avLst/>
          </a:prstGeom>
          <a:noFill/>
        </p:spPr>
        <p:txBody>
          <a:bodyPr wrap="square" rtlCol="0">
            <a:spAutoFit/>
          </a:bodyPr>
          <a:lstStyle/>
          <a:p>
            <a:r>
              <a:rPr lang="en-US" dirty="0"/>
              <a:t>(detector)</a:t>
            </a:r>
          </a:p>
        </p:txBody>
      </p:sp>
      <p:sp>
        <p:nvSpPr>
          <p:cNvPr id="8" name="TextBox 7">
            <a:extLst>
              <a:ext uri="{FF2B5EF4-FFF2-40B4-BE49-F238E27FC236}">
                <a16:creationId xmlns:a16="http://schemas.microsoft.com/office/drawing/2014/main" id="{C0EFB3DA-FCA0-A9C9-AD12-33D631240F7E}"/>
              </a:ext>
            </a:extLst>
          </p:cNvPr>
          <p:cNvSpPr txBox="1"/>
          <p:nvPr/>
        </p:nvSpPr>
        <p:spPr>
          <a:xfrm>
            <a:off x="6510866" y="3121223"/>
            <a:ext cx="2048934" cy="307777"/>
          </a:xfrm>
          <a:prstGeom prst="rect">
            <a:avLst/>
          </a:prstGeom>
          <a:noFill/>
        </p:spPr>
        <p:txBody>
          <a:bodyPr wrap="square" rtlCol="0">
            <a:spAutoFit/>
          </a:bodyPr>
          <a:lstStyle/>
          <a:p>
            <a:r>
              <a:rPr lang="en-US" dirty="0"/>
              <a:t>(detector)</a:t>
            </a:r>
          </a:p>
        </p:txBody>
      </p:sp>
    </p:spTree>
    <p:extLst>
      <p:ext uri="{BB962C8B-B14F-4D97-AF65-F5344CB8AC3E}">
        <p14:creationId xmlns:p14="http://schemas.microsoft.com/office/powerpoint/2010/main" val="39338762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F889F-2618-4DB9-9A6D-F77E31C7F5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EC9868-AAB0-3C60-E5C9-DCAB359CF1D0}"/>
              </a:ext>
            </a:extLst>
          </p:cNvPr>
          <p:cNvSpPr>
            <a:spLocks noGrp="1"/>
          </p:cNvSpPr>
          <p:nvPr>
            <p:ph type="ctrTitle"/>
          </p:nvPr>
        </p:nvSpPr>
        <p:spPr/>
        <p:txBody>
          <a:bodyPr/>
          <a:lstStyle/>
          <a:p>
            <a:r>
              <a:rPr lang="en-US" sz="3600" dirty="0"/>
              <a:t>Measurements given to Cameron and team, using v3.1 (incident plane only)</a:t>
            </a:r>
            <a:br>
              <a:rPr lang="en-US" sz="3600" dirty="0"/>
            </a:br>
            <a:br>
              <a:rPr lang="en-US" sz="3600" dirty="0"/>
            </a:br>
            <a:r>
              <a:rPr lang="en-US" sz="1800" dirty="0"/>
              <a:t>(these are initial results intended to provide team ability to do “ballpark” analysis… debugging the (Az, Rz) interpolation will follow for “official” results)</a:t>
            </a:r>
            <a:endParaRPr lang="en-US" sz="3600" dirty="0"/>
          </a:p>
        </p:txBody>
      </p:sp>
      <p:sp>
        <p:nvSpPr>
          <p:cNvPr id="5" name="Subtitle 4">
            <a:extLst>
              <a:ext uri="{FF2B5EF4-FFF2-40B4-BE49-F238E27FC236}">
                <a16:creationId xmlns:a16="http://schemas.microsoft.com/office/drawing/2014/main" id="{6E5165B4-0D9B-7BA2-24AA-E49AD0718A9D}"/>
              </a:ext>
            </a:extLst>
          </p:cNvPr>
          <p:cNvSpPr>
            <a:spLocks noGrp="1"/>
          </p:cNvSpPr>
          <p:nvPr>
            <p:ph type="subTitle" idx="1"/>
          </p:nvPr>
        </p:nvSpPr>
        <p:spPr/>
        <p:txBody>
          <a:bodyPr>
            <a:normAutofit fontScale="85000" lnSpcReduction="20000"/>
          </a:bodyPr>
          <a:lstStyle/>
          <a:p>
            <a:r>
              <a:rPr lang="en-US" dirty="0"/>
              <a:t>2025/09/17</a:t>
            </a:r>
          </a:p>
          <a:p>
            <a:endParaRPr lang="en-US" dirty="0"/>
          </a:p>
          <a:p>
            <a:r>
              <a:rPr lang="en-US" dirty="0"/>
              <a:t>Sample(s): </a:t>
            </a:r>
            <a:r>
              <a:rPr lang="en-US" dirty="0" err="1"/>
              <a:t>NiTE</a:t>
            </a:r>
            <a:r>
              <a:rPr lang="en-US" dirty="0"/>
              <a:t> on (1) steel, and (2) invar mounts</a:t>
            </a:r>
          </a:p>
        </p:txBody>
      </p:sp>
    </p:spTree>
    <p:extLst>
      <p:ext uri="{BB962C8B-B14F-4D97-AF65-F5344CB8AC3E}">
        <p14:creationId xmlns:p14="http://schemas.microsoft.com/office/powerpoint/2010/main" val="35725122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840EE-85E1-3459-BA3D-6A16BB3AFDCC}"/>
            </a:ext>
          </a:extLst>
        </p:cNvPr>
        <p:cNvGrpSpPr/>
        <p:nvPr/>
      </p:nvGrpSpPr>
      <p:grpSpPr>
        <a:xfrm>
          <a:off x="0" y="0"/>
          <a:ext cx="0" cy="0"/>
          <a:chOff x="0" y="0"/>
          <a:chExt cx="0" cy="0"/>
        </a:xfrm>
      </p:grpSpPr>
      <p:pic>
        <p:nvPicPr>
          <p:cNvPr id="11" name="Picture 10" descr="A machine with a circular object&#10;&#10;AI-generated content may be incorrect.">
            <a:extLst>
              <a:ext uri="{FF2B5EF4-FFF2-40B4-BE49-F238E27FC236}">
                <a16:creationId xmlns:a16="http://schemas.microsoft.com/office/drawing/2014/main" id="{7FAAA5EC-15A2-2F43-4333-44974758ABBD}"/>
              </a:ext>
            </a:extLst>
          </p:cNvPr>
          <p:cNvPicPr>
            <a:picLocks noChangeAspect="1"/>
          </p:cNvPicPr>
          <p:nvPr/>
        </p:nvPicPr>
        <p:blipFill>
          <a:blip r:embed="rId2"/>
          <a:stretch>
            <a:fillRect/>
          </a:stretch>
        </p:blipFill>
        <p:spPr>
          <a:xfrm>
            <a:off x="8063022" y="1564499"/>
            <a:ext cx="3747978" cy="4994133"/>
          </a:xfrm>
          <a:prstGeom prst="rect">
            <a:avLst/>
          </a:prstGeom>
        </p:spPr>
      </p:pic>
      <p:sp>
        <p:nvSpPr>
          <p:cNvPr id="2" name="Title 1">
            <a:extLst>
              <a:ext uri="{FF2B5EF4-FFF2-40B4-BE49-F238E27FC236}">
                <a16:creationId xmlns:a16="http://schemas.microsoft.com/office/drawing/2014/main" id="{846A395E-204D-B9F8-5378-F088C4F73F10}"/>
              </a:ext>
            </a:extLst>
          </p:cNvPr>
          <p:cNvSpPr>
            <a:spLocks noGrp="1"/>
          </p:cNvSpPr>
          <p:nvPr>
            <p:ph type="title"/>
          </p:nvPr>
        </p:nvSpPr>
        <p:spPr/>
        <p:txBody>
          <a:bodyPr/>
          <a:lstStyle/>
          <a:p>
            <a:r>
              <a:rPr lang="en-US" dirty="0"/>
              <a:t>Samples – </a:t>
            </a:r>
            <a:r>
              <a:rPr lang="en-US" dirty="0" err="1"/>
              <a:t>NiTE</a:t>
            </a:r>
            <a:r>
              <a:rPr lang="en-US" dirty="0"/>
              <a:t> on steel</a:t>
            </a:r>
          </a:p>
        </p:txBody>
      </p:sp>
      <p:pic>
        <p:nvPicPr>
          <p:cNvPr id="7" name="Picture 6" descr="A close-up of a device&#10;&#10;AI-generated content may be incorrect.">
            <a:extLst>
              <a:ext uri="{FF2B5EF4-FFF2-40B4-BE49-F238E27FC236}">
                <a16:creationId xmlns:a16="http://schemas.microsoft.com/office/drawing/2014/main" id="{98CC9BB5-9C64-1F0C-49E2-65EB1AD5ECA0}"/>
              </a:ext>
            </a:extLst>
          </p:cNvPr>
          <p:cNvPicPr>
            <a:picLocks noChangeAspect="1"/>
          </p:cNvPicPr>
          <p:nvPr/>
        </p:nvPicPr>
        <p:blipFill>
          <a:blip r:embed="rId3"/>
          <a:stretch>
            <a:fillRect/>
          </a:stretch>
        </p:blipFill>
        <p:spPr>
          <a:xfrm>
            <a:off x="177369" y="1520966"/>
            <a:ext cx="3780648" cy="5037665"/>
          </a:xfrm>
          <a:prstGeom prst="rect">
            <a:avLst/>
          </a:prstGeom>
        </p:spPr>
      </p:pic>
      <p:pic>
        <p:nvPicPr>
          <p:cNvPr id="9" name="Picture 8" descr="A machine with a long curved arm&#10;&#10;AI-generated content may be incorrect.">
            <a:extLst>
              <a:ext uri="{FF2B5EF4-FFF2-40B4-BE49-F238E27FC236}">
                <a16:creationId xmlns:a16="http://schemas.microsoft.com/office/drawing/2014/main" id="{DD88271E-1EF7-559B-1473-499F12C1E9E9}"/>
              </a:ext>
            </a:extLst>
          </p:cNvPr>
          <p:cNvPicPr>
            <a:picLocks noChangeAspect="1"/>
          </p:cNvPicPr>
          <p:nvPr/>
        </p:nvPicPr>
        <p:blipFill>
          <a:blip r:embed="rId4"/>
          <a:stretch>
            <a:fillRect/>
          </a:stretch>
        </p:blipFill>
        <p:spPr>
          <a:xfrm>
            <a:off x="4130893" y="1564498"/>
            <a:ext cx="3747978" cy="4994133"/>
          </a:xfrm>
          <a:prstGeom prst="rect">
            <a:avLst/>
          </a:prstGeom>
        </p:spPr>
      </p:pic>
      <p:pic>
        <p:nvPicPr>
          <p:cNvPr id="5" name="Picture 4" descr="A hand holding a package&#10;&#10;AI-generated content may be incorrect.">
            <a:extLst>
              <a:ext uri="{FF2B5EF4-FFF2-40B4-BE49-F238E27FC236}">
                <a16:creationId xmlns:a16="http://schemas.microsoft.com/office/drawing/2014/main" id="{C20C4AB1-5227-CE32-9D5A-45340F1C3614}"/>
              </a:ext>
            </a:extLst>
          </p:cNvPr>
          <p:cNvPicPr>
            <a:picLocks noChangeAspect="1"/>
          </p:cNvPicPr>
          <p:nvPr/>
        </p:nvPicPr>
        <p:blipFill>
          <a:blip r:embed="rId5"/>
          <a:srcRect l="16374" t="22529" r="16744" b="41355"/>
          <a:stretch>
            <a:fillRect/>
          </a:stretch>
        </p:blipFill>
        <p:spPr>
          <a:xfrm>
            <a:off x="7152419" y="238762"/>
            <a:ext cx="2961753" cy="1199512"/>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540E51D-DE93-DA26-372D-B71D2AB8E11C}"/>
                  </a:ext>
                </a:extLst>
              </p:cNvPr>
              <p:cNvSpPr txBox="1"/>
              <p:nvPr/>
            </p:nvSpPr>
            <p:spPr>
              <a:xfrm>
                <a:off x="321293" y="5337034"/>
                <a:ext cx="2142067" cy="963854"/>
              </a:xfrm>
              <a:prstGeom prst="rect">
                <a:avLst/>
              </a:prstGeom>
              <a:noFill/>
            </p:spPr>
            <p:txBody>
              <a:bodyPr wrap="square" rtlCol="0">
                <a:spAutoFit/>
              </a:bodyPr>
              <a:lstStyle/>
              <a:p>
                <a:r>
                  <a:rPr lang="en-US" sz="2800" b="1" dirty="0">
                    <a:solidFill>
                      <a:schemeClr val="bg1"/>
                    </a:solidFill>
                  </a:rPr>
                  <a:t>v1o0A</a:t>
                </a:r>
                <a:br>
                  <a:rPr lang="en-US" sz="2800" b="1" dirty="0">
                    <a:solidFill>
                      <a:schemeClr val="bg1"/>
                    </a:solidFill>
                  </a:rPr>
                </a:br>
                <a14:m>
                  <m:oMath xmlns:m="http://schemas.openxmlformats.org/officeDocument/2006/math">
                    <m:r>
                      <a:rPr lang="en-US" sz="2800" b="1" i="1" smtClean="0">
                        <a:solidFill>
                          <a:schemeClr val="bg1"/>
                        </a:solidFill>
                        <a:latin typeface="Cambria Math" panose="02040503050406030204" pitchFamily="18" charset="0"/>
                      </a:rPr>
                      <m:t>𝝍</m:t>
                    </m:r>
                    <m:r>
                      <a:rPr lang="en-US" sz="2800" b="1" i="1" smtClean="0">
                        <a:solidFill>
                          <a:schemeClr val="bg1"/>
                        </a:solidFill>
                        <a:latin typeface="Cambria Math" panose="02040503050406030204" pitchFamily="18" charset="0"/>
                      </a:rPr>
                      <m:t>=</m:t>
                    </m:r>
                    <m:sSup>
                      <m:sSupPr>
                        <m:ctrlPr>
                          <a:rPr lang="en-US" sz="2800" b="1" i="1" smtClean="0">
                            <a:solidFill>
                              <a:schemeClr val="bg1"/>
                            </a:solidFill>
                            <a:latin typeface="Cambria Math" panose="02040503050406030204" pitchFamily="18" charset="0"/>
                          </a:rPr>
                        </m:ctrlPr>
                      </m:sSupPr>
                      <m:e>
                        <m:r>
                          <a:rPr lang="en-US" sz="2800" b="1" i="1" smtClean="0">
                            <a:solidFill>
                              <a:schemeClr val="bg1"/>
                            </a:solidFill>
                            <a:latin typeface="Cambria Math" panose="02040503050406030204" pitchFamily="18" charset="0"/>
                          </a:rPr>
                          <m:t>𝟎</m:t>
                        </m:r>
                      </m:e>
                      <m:sup>
                        <m:r>
                          <a:rPr lang="en-US" sz="2800" b="1" i="1" smtClean="0">
                            <a:solidFill>
                              <a:schemeClr val="bg1"/>
                            </a:solidFill>
                            <a:latin typeface="Cambria Math" panose="02040503050406030204" pitchFamily="18" charset="0"/>
                            <a:ea typeface="Cambria Math" panose="02040503050406030204" pitchFamily="18" charset="0"/>
                          </a:rPr>
                          <m:t>°</m:t>
                        </m:r>
                      </m:sup>
                    </m:sSup>
                  </m:oMath>
                </a14:m>
                <a:r>
                  <a:rPr lang="en-US" sz="2800" b="1" dirty="0">
                    <a:solidFill>
                      <a:schemeClr val="bg1"/>
                    </a:solidFill>
                  </a:rPr>
                  <a:t> </a:t>
                </a:r>
              </a:p>
            </p:txBody>
          </p:sp>
        </mc:Choice>
        <mc:Fallback xmlns="">
          <p:sp>
            <p:nvSpPr>
              <p:cNvPr id="12" name="TextBox 11">
                <a:extLst>
                  <a:ext uri="{FF2B5EF4-FFF2-40B4-BE49-F238E27FC236}">
                    <a16:creationId xmlns:a16="http://schemas.microsoft.com/office/drawing/2014/main" id="{2540E51D-DE93-DA26-372D-B71D2AB8E11C}"/>
                  </a:ext>
                </a:extLst>
              </p:cNvPr>
              <p:cNvSpPr txBox="1">
                <a:spLocks noRot="1" noChangeAspect="1" noMove="1" noResize="1" noEditPoints="1" noAdjustHandles="1" noChangeArrowheads="1" noChangeShapeType="1" noTextEdit="1"/>
              </p:cNvSpPr>
              <p:nvPr/>
            </p:nvSpPr>
            <p:spPr>
              <a:xfrm>
                <a:off x="321293" y="5337034"/>
                <a:ext cx="2142067" cy="963854"/>
              </a:xfrm>
              <a:prstGeom prst="rect">
                <a:avLst/>
              </a:prstGeom>
              <a:blipFill>
                <a:blip r:embed="rId6"/>
                <a:stretch>
                  <a:fillRect l="-5983" t="-62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4FA0CDE-DA8B-D1A4-021E-1B95CC2E1D59}"/>
                  </a:ext>
                </a:extLst>
              </p:cNvPr>
              <p:cNvSpPr txBox="1"/>
              <p:nvPr/>
            </p:nvSpPr>
            <p:spPr>
              <a:xfrm>
                <a:off x="4317559" y="5293502"/>
                <a:ext cx="2142067" cy="963854"/>
              </a:xfrm>
              <a:prstGeom prst="rect">
                <a:avLst/>
              </a:prstGeom>
              <a:noFill/>
            </p:spPr>
            <p:txBody>
              <a:bodyPr wrap="square" rtlCol="0">
                <a:spAutoFit/>
              </a:bodyPr>
              <a:lstStyle/>
              <a:p>
                <a:r>
                  <a:rPr lang="en-US" sz="2800" b="1" dirty="0">
                    <a:solidFill>
                      <a:schemeClr val="bg1"/>
                    </a:solidFill>
                  </a:rPr>
                  <a:t>v1o0B</a:t>
                </a:r>
                <a:br>
                  <a:rPr lang="en-US" sz="2800" b="1" dirty="0">
                    <a:solidFill>
                      <a:schemeClr val="bg1"/>
                    </a:solidFill>
                  </a:rPr>
                </a:br>
                <a14:m>
                  <m:oMath xmlns:m="http://schemas.openxmlformats.org/officeDocument/2006/math">
                    <m:r>
                      <a:rPr lang="en-US" sz="2800" b="1" i="1" smtClean="0">
                        <a:solidFill>
                          <a:schemeClr val="bg1"/>
                        </a:solidFill>
                        <a:latin typeface="Cambria Math" panose="02040503050406030204" pitchFamily="18" charset="0"/>
                      </a:rPr>
                      <m:t>𝝍</m:t>
                    </m:r>
                    <m:r>
                      <a:rPr lang="en-US" sz="2800" b="1" i="1" smtClean="0">
                        <a:solidFill>
                          <a:schemeClr val="bg1"/>
                        </a:solidFill>
                        <a:latin typeface="Cambria Math" panose="02040503050406030204" pitchFamily="18" charset="0"/>
                      </a:rPr>
                      <m:t>=</m:t>
                    </m:r>
                    <m:sSup>
                      <m:sSupPr>
                        <m:ctrlPr>
                          <a:rPr lang="en-US" sz="2800" b="1" i="1" smtClean="0">
                            <a:solidFill>
                              <a:schemeClr val="bg1"/>
                            </a:solidFill>
                            <a:latin typeface="Cambria Math" panose="02040503050406030204" pitchFamily="18" charset="0"/>
                          </a:rPr>
                        </m:ctrlPr>
                      </m:sSupPr>
                      <m:e>
                        <m:r>
                          <a:rPr lang="en-US" sz="2800" b="1" i="1" smtClean="0">
                            <a:solidFill>
                              <a:schemeClr val="bg1"/>
                            </a:solidFill>
                            <a:latin typeface="Cambria Math" panose="02040503050406030204" pitchFamily="18" charset="0"/>
                          </a:rPr>
                          <m:t>𝟒𝟓</m:t>
                        </m:r>
                      </m:e>
                      <m:sup>
                        <m:r>
                          <a:rPr lang="en-US" sz="2800" b="1" i="1" smtClean="0">
                            <a:solidFill>
                              <a:schemeClr val="bg1"/>
                            </a:solidFill>
                            <a:latin typeface="Cambria Math" panose="02040503050406030204" pitchFamily="18" charset="0"/>
                            <a:ea typeface="Cambria Math" panose="02040503050406030204" pitchFamily="18" charset="0"/>
                          </a:rPr>
                          <m:t>°</m:t>
                        </m:r>
                      </m:sup>
                    </m:sSup>
                  </m:oMath>
                </a14:m>
                <a:r>
                  <a:rPr lang="en-US" sz="2800" b="1" dirty="0">
                    <a:solidFill>
                      <a:schemeClr val="bg1"/>
                    </a:solidFill>
                  </a:rPr>
                  <a:t> </a:t>
                </a:r>
              </a:p>
            </p:txBody>
          </p:sp>
        </mc:Choice>
        <mc:Fallback xmlns="">
          <p:sp>
            <p:nvSpPr>
              <p:cNvPr id="13" name="TextBox 12">
                <a:extLst>
                  <a:ext uri="{FF2B5EF4-FFF2-40B4-BE49-F238E27FC236}">
                    <a16:creationId xmlns:a16="http://schemas.microsoft.com/office/drawing/2014/main" id="{C4FA0CDE-DA8B-D1A4-021E-1B95CC2E1D59}"/>
                  </a:ext>
                </a:extLst>
              </p:cNvPr>
              <p:cNvSpPr txBox="1">
                <a:spLocks noRot="1" noChangeAspect="1" noMove="1" noResize="1" noEditPoints="1" noAdjustHandles="1" noChangeArrowheads="1" noChangeShapeType="1" noTextEdit="1"/>
              </p:cNvSpPr>
              <p:nvPr/>
            </p:nvSpPr>
            <p:spPr>
              <a:xfrm>
                <a:off x="4317559" y="5293502"/>
                <a:ext cx="2142067" cy="963854"/>
              </a:xfrm>
              <a:prstGeom prst="rect">
                <a:avLst/>
              </a:prstGeom>
              <a:blipFill>
                <a:blip r:embed="rId7"/>
                <a:stretch>
                  <a:fillRect l="-5682" t="-63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3A8965C-B316-08A3-274E-DE77CB92490B}"/>
                  </a:ext>
                </a:extLst>
              </p:cNvPr>
              <p:cNvSpPr txBox="1"/>
              <p:nvPr/>
            </p:nvSpPr>
            <p:spPr>
              <a:xfrm>
                <a:off x="8237627" y="5438634"/>
                <a:ext cx="2142067" cy="963854"/>
              </a:xfrm>
              <a:prstGeom prst="rect">
                <a:avLst/>
              </a:prstGeom>
              <a:noFill/>
            </p:spPr>
            <p:txBody>
              <a:bodyPr wrap="square" rtlCol="0">
                <a:spAutoFit/>
              </a:bodyPr>
              <a:lstStyle/>
              <a:p>
                <a:r>
                  <a:rPr lang="en-US" sz="2800" b="1" dirty="0">
                    <a:solidFill>
                      <a:schemeClr val="bg1"/>
                    </a:solidFill>
                  </a:rPr>
                  <a:t>v1o0C</a:t>
                </a:r>
                <a:br>
                  <a:rPr lang="en-US" sz="2800" b="1" dirty="0">
                    <a:solidFill>
                      <a:schemeClr val="bg1"/>
                    </a:solidFill>
                  </a:rPr>
                </a:br>
                <a14:m>
                  <m:oMath xmlns:m="http://schemas.openxmlformats.org/officeDocument/2006/math">
                    <m:r>
                      <a:rPr lang="en-US" sz="2800" b="1" i="1" smtClean="0">
                        <a:solidFill>
                          <a:schemeClr val="bg1"/>
                        </a:solidFill>
                        <a:latin typeface="Cambria Math" panose="02040503050406030204" pitchFamily="18" charset="0"/>
                      </a:rPr>
                      <m:t>𝝍</m:t>
                    </m:r>
                    <m:r>
                      <a:rPr lang="en-US" sz="2800" b="1" i="1" smtClean="0">
                        <a:solidFill>
                          <a:schemeClr val="bg1"/>
                        </a:solidFill>
                        <a:latin typeface="Cambria Math" panose="02040503050406030204" pitchFamily="18" charset="0"/>
                      </a:rPr>
                      <m:t>=</m:t>
                    </m:r>
                    <m:r>
                      <a:rPr lang="en-US" sz="2800" b="1" i="1" smtClean="0">
                        <a:solidFill>
                          <a:schemeClr val="bg1"/>
                        </a:solidFill>
                        <a:latin typeface="Cambria Math" panose="02040503050406030204" pitchFamily="18" charset="0"/>
                      </a:rPr>
                      <m:t>𝟗</m:t>
                    </m:r>
                    <m:sSup>
                      <m:sSupPr>
                        <m:ctrlPr>
                          <a:rPr lang="en-US" sz="2800" b="1" i="1" smtClean="0">
                            <a:solidFill>
                              <a:schemeClr val="bg1"/>
                            </a:solidFill>
                            <a:latin typeface="Cambria Math" panose="02040503050406030204" pitchFamily="18" charset="0"/>
                          </a:rPr>
                        </m:ctrlPr>
                      </m:sSupPr>
                      <m:e>
                        <m:r>
                          <a:rPr lang="en-US" sz="2800" b="1" i="1" smtClean="0">
                            <a:solidFill>
                              <a:schemeClr val="bg1"/>
                            </a:solidFill>
                            <a:latin typeface="Cambria Math" panose="02040503050406030204" pitchFamily="18" charset="0"/>
                          </a:rPr>
                          <m:t>𝟎</m:t>
                        </m:r>
                      </m:e>
                      <m:sup>
                        <m:r>
                          <a:rPr lang="en-US" sz="2800" b="1" i="1" smtClean="0">
                            <a:solidFill>
                              <a:schemeClr val="bg1"/>
                            </a:solidFill>
                            <a:latin typeface="Cambria Math" panose="02040503050406030204" pitchFamily="18" charset="0"/>
                            <a:ea typeface="Cambria Math" panose="02040503050406030204" pitchFamily="18" charset="0"/>
                          </a:rPr>
                          <m:t>°</m:t>
                        </m:r>
                      </m:sup>
                    </m:sSup>
                  </m:oMath>
                </a14:m>
                <a:r>
                  <a:rPr lang="en-US" sz="2800" b="1" dirty="0">
                    <a:solidFill>
                      <a:schemeClr val="bg1"/>
                    </a:solidFill>
                  </a:rPr>
                  <a:t> </a:t>
                </a:r>
              </a:p>
            </p:txBody>
          </p:sp>
        </mc:Choice>
        <mc:Fallback xmlns="">
          <p:sp>
            <p:nvSpPr>
              <p:cNvPr id="14" name="TextBox 13">
                <a:extLst>
                  <a:ext uri="{FF2B5EF4-FFF2-40B4-BE49-F238E27FC236}">
                    <a16:creationId xmlns:a16="http://schemas.microsoft.com/office/drawing/2014/main" id="{33A8965C-B316-08A3-274E-DE77CB92490B}"/>
                  </a:ext>
                </a:extLst>
              </p:cNvPr>
              <p:cNvSpPr txBox="1">
                <a:spLocks noRot="1" noChangeAspect="1" noMove="1" noResize="1" noEditPoints="1" noAdjustHandles="1" noChangeArrowheads="1" noChangeShapeType="1" noTextEdit="1"/>
              </p:cNvSpPr>
              <p:nvPr/>
            </p:nvSpPr>
            <p:spPr>
              <a:xfrm>
                <a:off x="8237627" y="5438634"/>
                <a:ext cx="2142067" cy="963854"/>
              </a:xfrm>
              <a:prstGeom prst="rect">
                <a:avLst/>
              </a:prstGeom>
              <a:blipFill>
                <a:blip r:embed="rId8"/>
                <a:stretch>
                  <a:fillRect l="-5682" t="-6329"/>
                </a:stretch>
              </a:blipFill>
            </p:spPr>
            <p:txBody>
              <a:bodyPr/>
              <a:lstStyle/>
              <a:p>
                <a:r>
                  <a:rPr lang="en-US">
                    <a:noFill/>
                  </a:rPr>
                  <a:t> </a:t>
                </a:r>
              </a:p>
            </p:txBody>
          </p:sp>
        </mc:Fallback>
      </mc:AlternateContent>
    </p:spTree>
    <p:extLst>
      <p:ext uri="{BB962C8B-B14F-4D97-AF65-F5344CB8AC3E}">
        <p14:creationId xmlns:p14="http://schemas.microsoft.com/office/powerpoint/2010/main" val="22306850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76C51-CD06-2A8B-415F-226F505CAED8}"/>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BCED2340-7C6E-9EDC-B398-FB31FA4D1DB2}"/>
              </a:ext>
            </a:extLst>
          </p:cNvPr>
          <p:cNvPicPr>
            <a:picLocks noChangeAspect="1"/>
          </p:cNvPicPr>
          <p:nvPr/>
        </p:nvPicPr>
        <p:blipFill>
          <a:blip r:embed="rId2"/>
          <a:srcRect/>
          <a:stretch/>
        </p:blipFill>
        <p:spPr>
          <a:xfrm>
            <a:off x="8063022" y="1564499"/>
            <a:ext cx="3747977" cy="4994133"/>
          </a:xfrm>
          <a:prstGeom prst="rect">
            <a:avLst/>
          </a:prstGeom>
        </p:spPr>
      </p:pic>
      <p:sp>
        <p:nvSpPr>
          <p:cNvPr id="2" name="Title 1">
            <a:extLst>
              <a:ext uri="{FF2B5EF4-FFF2-40B4-BE49-F238E27FC236}">
                <a16:creationId xmlns:a16="http://schemas.microsoft.com/office/drawing/2014/main" id="{C42D1DCC-0CF3-2CB4-50F0-13DBAD473270}"/>
              </a:ext>
            </a:extLst>
          </p:cNvPr>
          <p:cNvSpPr>
            <a:spLocks noGrp="1"/>
          </p:cNvSpPr>
          <p:nvPr>
            <p:ph type="title"/>
          </p:nvPr>
        </p:nvSpPr>
        <p:spPr/>
        <p:txBody>
          <a:bodyPr/>
          <a:lstStyle/>
          <a:p>
            <a:r>
              <a:rPr lang="en-US" dirty="0"/>
              <a:t>Samples – </a:t>
            </a:r>
            <a:r>
              <a:rPr lang="en-US" dirty="0" err="1"/>
              <a:t>NiTE</a:t>
            </a:r>
            <a:r>
              <a:rPr lang="en-US" dirty="0"/>
              <a:t> on invar</a:t>
            </a:r>
          </a:p>
        </p:txBody>
      </p:sp>
      <p:pic>
        <p:nvPicPr>
          <p:cNvPr id="7" name="Picture 6">
            <a:extLst>
              <a:ext uri="{FF2B5EF4-FFF2-40B4-BE49-F238E27FC236}">
                <a16:creationId xmlns:a16="http://schemas.microsoft.com/office/drawing/2014/main" id="{0D5DC2A2-7809-403F-5DA2-DDEB765CB10E}"/>
              </a:ext>
            </a:extLst>
          </p:cNvPr>
          <p:cNvPicPr>
            <a:picLocks noChangeAspect="1"/>
          </p:cNvPicPr>
          <p:nvPr/>
        </p:nvPicPr>
        <p:blipFill>
          <a:blip r:embed="rId3"/>
          <a:srcRect/>
          <a:stretch/>
        </p:blipFill>
        <p:spPr>
          <a:xfrm>
            <a:off x="177369" y="1520966"/>
            <a:ext cx="3780647" cy="5037665"/>
          </a:xfrm>
          <a:prstGeom prst="rect">
            <a:avLst/>
          </a:prstGeom>
        </p:spPr>
      </p:pic>
      <p:pic>
        <p:nvPicPr>
          <p:cNvPr id="9" name="Picture 8">
            <a:extLst>
              <a:ext uri="{FF2B5EF4-FFF2-40B4-BE49-F238E27FC236}">
                <a16:creationId xmlns:a16="http://schemas.microsoft.com/office/drawing/2014/main" id="{A9BDFEA3-CA89-0993-1D98-9C6EC728242A}"/>
              </a:ext>
            </a:extLst>
          </p:cNvPr>
          <p:cNvPicPr>
            <a:picLocks noChangeAspect="1"/>
          </p:cNvPicPr>
          <p:nvPr/>
        </p:nvPicPr>
        <p:blipFill>
          <a:blip r:embed="rId4"/>
          <a:srcRect/>
          <a:stretch/>
        </p:blipFill>
        <p:spPr>
          <a:xfrm>
            <a:off x="4130893" y="1564498"/>
            <a:ext cx="3747977" cy="4994133"/>
          </a:xfrm>
          <a:prstGeom prst="rect">
            <a:avLst/>
          </a:prstGeom>
        </p:spPr>
      </p:pic>
      <p:sp>
        <p:nvSpPr>
          <p:cNvPr id="12" name="TextBox 11">
            <a:extLst>
              <a:ext uri="{FF2B5EF4-FFF2-40B4-BE49-F238E27FC236}">
                <a16:creationId xmlns:a16="http://schemas.microsoft.com/office/drawing/2014/main" id="{BE036FBF-205B-8A78-F8F9-7261650C29C8}"/>
              </a:ext>
            </a:extLst>
          </p:cNvPr>
          <p:cNvSpPr txBox="1"/>
          <p:nvPr/>
        </p:nvSpPr>
        <p:spPr>
          <a:xfrm>
            <a:off x="321293" y="5337034"/>
            <a:ext cx="2142067" cy="954107"/>
          </a:xfrm>
          <a:prstGeom prst="rect">
            <a:avLst/>
          </a:prstGeom>
          <a:noFill/>
        </p:spPr>
        <p:txBody>
          <a:bodyPr wrap="square" rtlCol="0">
            <a:spAutoFit/>
          </a:bodyPr>
          <a:lstStyle/>
          <a:p>
            <a:r>
              <a:rPr lang="en-US" sz="2800" b="1" dirty="0">
                <a:solidFill>
                  <a:schemeClr val="bg1"/>
                </a:solidFill>
              </a:rPr>
              <a:t>v1o0A</a:t>
            </a:r>
          </a:p>
          <a:p>
            <a:r>
              <a:rPr lang="en-US" sz="2800" b="1" dirty="0">
                <a:solidFill>
                  <a:schemeClr val="bg1"/>
                </a:solidFill>
              </a:rPr>
              <a:t>First mount</a:t>
            </a:r>
          </a:p>
        </p:txBody>
      </p:sp>
      <p:sp>
        <p:nvSpPr>
          <p:cNvPr id="13" name="TextBox 12">
            <a:extLst>
              <a:ext uri="{FF2B5EF4-FFF2-40B4-BE49-F238E27FC236}">
                <a16:creationId xmlns:a16="http://schemas.microsoft.com/office/drawing/2014/main" id="{161F3357-18B0-F855-D5AD-F9F0498AEF4A}"/>
              </a:ext>
            </a:extLst>
          </p:cNvPr>
          <p:cNvSpPr txBox="1"/>
          <p:nvPr/>
        </p:nvSpPr>
        <p:spPr>
          <a:xfrm>
            <a:off x="4317558" y="5293502"/>
            <a:ext cx="3561311" cy="954107"/>
          </a:xfrm>
          <a:prstGeom prst="rect">
            <a:avLst/>
          </a:prstGeom>
          <a:noFill/>
        </p:spPr>
        <p:txBody>
          <a:bodyPr wrap="square" rtlCol="0">
            <a:spAutoFit/>
          </a:bodyPr>
          <a:lstStyle/>
          <a:p>
            <a:r>
              <a:rPr lang="en-US" sz="2800" b="1" dirty="0">
                <a:solidFill>
                  <a:schemeClr val="bg1"/>
                </a:solidFill>
              </a:rPr>
              <a:t>v1o0B</a:t>
            </a:r>
          </a:p>
          <a:p>
            <a:r>
              <a:rPr lang="en-US" sz="2800" b="1" dirty="0">
                <a:solidFill>
                  <a:schemeClr val="bg1"/>
                </a:solidFill>
              </a:rPr>
              <a:t>Second mount</a:t>
            </a:r>
          </a:p>
        </p:txBody>
      </p:sp>
      <p:sp>
        <p:nvSpPr>
          <p:cNvPr id="14" name="TextBox 13">
            <a:extLst>
              <a:ext uri="{FF2B5EF4-FFF2-40B4-BE49-F238E27FC236}">
                <a16:creationId xmlns:a16="http://schemas.microsoft.com/office/drawing/2014/main" id="{E8CB3C72-4736-2EAA-297D-3A7AF8CE1963}"/>
              </a:ext>
            </a:extLst>
          </p:cNvPr>
          <p:cNvSpPr txBox="1"/>
          <p:nvPr/>
        </p:nvSpPr>
        <p:spPr>
          <a:xfrm>
            <a:off x="8237627" y="5438634"/>
            <a:ext cx="2904506" cy="954107"/>
          </a:xfrm>
          <a:prstGeom prst="rect">
            <a:avLst/>
          </a:prstGeom>
          <a:noFill/>
        </p:spPr>
        <p:txBody>
          <a:bodyPr wrap="square" rtlCol="0">
            <a:spAutoFit/>
          </a:bodyPr>
          <a:lstStyle/>
          <a:p>
            <a:r>
              <a:rPr lang="en-US" sz="2800" b="1" dirty="0">
                <a:solidFill>
                  <a:schemeClr val="bg1"/>
                </a:solidFill>
              </a:rPr>
              <a:t>v1o0C</a:t>
            </a:r>
          </a:p>
          <a:p>
            <a:r>
              <a:rPr lang="en-US" sz="2800" b="1" dirty="0">
                <a:solidFill>
                  <a:schemeClr val="bg1"/>
                </a:solidFill>
              </a:rPr>
              <a:t>Third mount</a:t>
            </a:r>
          </a:p>
        </p:txBody>
      </p:sp>
    </p:spTree>
    <p:extLst>
      <p:ext uri="{BB962C8B-B14F-4D97-AF65-F5344CB8AC3E}">
        <p14:creationId xmlns:p14="http://schemas.microsoft.com/office/powerpoint/2010/main" val="20645267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of a graph of a graph&#10;&#10;AI-generated content may be incorrect.">
            <a:extLst>
              <a:ext uri="{FF2B5EF4-FFF2-40B4-BE49-F238E27FC236}">
                <a16:creationId xmlns:a16="http://schemas.microsoft.com/office/drawing/2014/main" id="{B29313E9-072D-AC48-029A-4978E7014E58}"/>
              </a:ext>
            </a:extLst>
          </p:cNvPr>
          <p:cNvPicPr>
            <a:picLocks noChangeAspect="1"/>
          </p:cNvPicPr>
          <p:nvPr/>
        </p:nvPicPr>
        <p:blipFill>
          <a:blip r:embed="rId2"/>
          <a:stretch>
            <a:fillRect/>
          </a:stretch>
        </p:blipFill>
        <p:spPr>
          <a:xfrm>
            <a:off x="2558341" y="465667"/>
            <a:ext cx="9326460" cy="6227478"/>
          </a:xfrm>
          <a:prstGeom prst="rect">
            <a:avLst/>
          </a:prstGeom>
        </p:spPr>
      </p:pic>
      <p:sp>
        <p:nvSpPr>
          <p:cNvPr id="2" name="Title 1">
            <a:extLst>
              <a:ext uri="{FF2B5EF4-FFF2-40B4-BE49-F238E27FC236}">
                <a16:creationId xmlns:a16="http://schemas.microsoft.com/office/drawing/2014/main" id="{90EF5271-4382-898B-0659-DD5BD7611789}"/>
              </a:ext>
            </a:extLst>
          </p:cNvPr>
          <p:cNvSpPr>
            <a:spLocks noGrp="1"/>
          </p:cNvSpPr>
          <p:nvPr>
            <p:ph type="title"/>
          </p:nvPr>
        </p:nvSpPr>
        <p:spPr/>
        <p:txBody>
          <a:bodyPr/>
          <a:lstStyle/>
          <a:p>
            <a:r>
              <a:rPr lang="en-US" dirty="0"/>
              <a:t>Recall v3.1 results</a:t>
            </a:r>
          </a:p>
        </p:txBody>
      </p:sp>
      <p:sp>
        <p:nvSpPr>
          <p:cNvPr id="3" name="Text Placeholder 2">
            <a:extLst>
              <a:ext uri="{FF2B5EF4-FFF2-40B4-BE49-F238E27FC236}">
                <a16:creationId xmlns:a16="http://schemas.microsoft.com/office/drawing/2014/main" id="{BB17518A-563C-BD1A-C9E8-F6ADDFD06658}"/>
              </a:ext>
            </a:extLst>
          </p:cNvPr>
          <p:cNvSpPr>
            <a:spLocks noGrp="1"/>
          </p:cNvSpPr>
          <p:nvPr>
            <p:ph type="body" idx="1"/>
          </p:nvPr>
        </p:nvSpPr>
        <p:spPr/>
        <p:txBody>
          <a:bodyPr/>
          <a:lstStyle/>
          <a:p>
            <a:r>
              <a:rPr lang="en-US" dirty="0"/>
              <a:t>On single</a:t>
            </a:r>
            <a:br>
              <a:rPr lang="en-US" dirty="0"/>
            </a:br>
            <a:r>
              <a:rPr lang="en-US" dirty="0"/>
              <a:t>Magic Black</a:t>
            </a:r>
            <a:br>
              <a:rPr lang="en-US" dirty="0"/>
            </a:br>
            <a:r>
              <a:rPr lang="en-US" dirty="0"/>
              <a:t>measurement</a:t>
            </a:r>
          </a:p>
        </p:txBody>
      </p:sp>
    </p:spTree>
    <p:extLst>
      <p:ext uri="{BB962C8B-B14F-4D97-AF65-F5344CB8AC3E}">
        <p14:creationId xmlns:p14="http://schemas.microsoft.com/office/powerpoint/2010/main" val="15974260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0DCEB-2FEA-4655-EA1A-4661AA2A7E3C}"/>
              </a:ext>
            </a:extLst>
          </p:cNvPr>
          <p:cNvSpPr>
            <a:spLocks noGrp="1"/>
          </p:cNvSpPr>
          <p:nvPr>
            <p:ph type="title"/>
          </p:nvPr>
        </p:nvSpPr>
        <p:spPr/>
        <p:txBody>
          <a:bodyPr/>
          <a:lstStyle/>
          <a:p>
            <a:r>
              <a:rPr lang="en-US" dirty="0"/>
              <a:t>Recall v3.1 method</a:t>
            </a:r>
          </a:p>
        </p:txBody>
      </p:sp>
      <p:sp>
        <p:nvSpPr>
          <p:cNvPr id="3" name="Text Placeholder 2">
            <a:extLst>
              <a:ext uri="{FF2B5EF4-FFF2-40B4-BE49-F238E27FC236}">
                <a16:creationId xmlns:a16="http://schemas.microsoft.com/office/drawing/2014/main" id="{E82CBD7D-CA04-A9F9-D605-5210ECFBA754}"/>
              </a:ext>
            </a:extLst>
          </p:cNvPr>
          <p:cNvSpPr>
            <a:spLocks noGrp="1"/>
          </p:cNvSpPr>
          <p:nvPr>
            <p:ph type="body" idx="1"/>
          </p:nvPr>
        </p:nvSpPr>
        <p:spPr/>
        <p:txBody>
          <a:bodyPr/>
          <a:lstStyle/>
          <a:p>
            <a:r>
              <a:rPr lang="en-US" dirty="0"/>
              <a:t>1) measures in-plane only (i.e., A = -90)</a:t>
            </a:r>
          </a:p>
          <a:p>
            <a:pPr lvl="1"/>
            <a:r>
              <a:rPr lang="en-US" dirty="0"/>
              <a:t>For Magic Black, R = [-80 : 1 : 80]</a:t>
            </a:r>
          </a:p>
          <a:p>
            <a:pPr lvl="1"/>
            <a:r>
              <a:rPr lang="en-US" dirty="0"/>
              <a:t>For </a:t>
            </a:r>
            <a:r>
              <a:rPr lang="en-US" dirty="0" err="1"/>
              <a:t>NiTE</a:t>
            </a:r>
            <a:r>
              <a:rPr lang="en-US" dirty="0"/>
              <a:t>, R = [-80 : 5 : 80]</a:t>
            </a:r>
          </a:p>
        </p:txBody>
      </p:sp>
    </p:spTree>
    <p:extLst>
      <p:ext uri="{BB962C8B-B14F-4D97-AF65-F5344CB8AC3E}">
        <p14:creationId xmlns:p14="http://schemas.microsoft.com/office/powerpoint/2010/main" val="13850212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70825-F1DE-B5E4-9B61-161704C6AD71}"/>
              </a:ext>
            </a:extLst>
          </p:cNvPr>
          <p:cNvSpPr>
            <a:spLocks noGrp="1"/>
          </p:cNvSpPr>
          <p:nvPr>
            <p:ph type="title"/>
          </p:nvPr>
        </p:nvSpPr>
        <p:spPr/>
        <p:txBody>
          <a:bodyPr>
            <a:noAutofit/>
          </a:bodyPr>
          <a:lstStyle/>
          <a:p>
            <a:r>
              <a:rPr lang="en-US" sz="2400" dirty="0"/>
              <a:t>Repeating v3.1 but with “MagicBlack_v2o0_20250902” since that has same angles as </a:t>
            </a:r>
            <a:r>
              <a:rPr lang="en-US" sz="2400" dirty="0" err="1"/>
              <a:t>NiTE</a:t>
            </a:r>
            <a:endParaRPr lang="en-US" sz="2400" dirty="0"/>
          </a:p>
        </p:txBody>
      </p:sp>
      <p:sp>
        <p:nvSpPr>
          <p:cNvPr id="3" name="Text Placeholder 2">
            <a:extLst>
              <a:ext uri="{FF2B5EF4-FFF2-40B4-BE49-F238E27FC236}">
                <a16:creationId xmlns:a16="http://schemas.microsoft.com/office/drawing/2014/main" id="{20ACB648-F80C-2F30-4AA5-38BEA0A88608}"/>
              </a:ext>
            </a:extLst>
          </p:cNvPr>
          <p:cNvSpPr>
            <a:spLocks noGrp="1"/>
          </p:cNvSpPr>
          <p:nvPr>
            <p:ph type="body" idx="1"/>
          </p:nvPr>
        </p:nvSpPr>
        <p:spPr/>
        <p:txBody>
          <a:bodyPr/>
          <a:lstStyle/>
          <a:p>
            <a:r>
              <a:rPr lang="en-US" dirty="0"/>
              <a:t>See </a:t>
            </a:r>
            <a:r>
              <a:rPr lang="en-US" dirty="0" err="1"/>
              <a:t>matlab</a:t>
            </a:r>
            <a:r>
              <a:rPr lang="en-US" dirty="0"/>
              <a:t> “BSDF_raw_to_processed_v4o2b_inplaneToZemax.m”</a:t>
            </a:r>
          </a:p>
          <a:p>
            <a:r>
              <a:rPr lang="en-US" dirty="0"/>
              <a:t>Only uses incident plane measurements</a:t>
            </a:r>
          </a:p>
          <a:p>
            <a:pPr lvl="1"/>
            <a:r>
              <a:rPr lang="en-US" dirty="0"/>
              <a:t>A = +/- 90 to provide two “trials” of same sample rotation, R = all</a:t>
            </a:r>
          </a:p>
        </p:txBody>
      </p:sp>
    </p:spTree>
    <p:extLst>
      <p:ext uri="{BB962C8B-B14F-4D97-AF65-F5344CB8AC3E}">
        <p14:creationId xmlns:p14="http://schemas.microsoft.com/office/powerpoint/2010/main" val="22215998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A8BDA-4091-F6EB-AE65-ED2480611922}"/>
              </a:ext>
            </a:extLst>
          </p:cNvPr>
          <p:cNvSpPr>
            <a:spLocks noGrp="1"/>
          </p:cNvSpPr>
          <p:nvPr>
            <p:ph type="title"/>
          </p:nvPr>
        </p:nvSpPr>
        <p:spPr>
          <a:xfrm>
            <a:off x="609599" y="152718"/>
            <a:ext cx="9011323" cy="1032615"/>
          </a:xfrm>
        </p:spPr>
        <p:txBody>
          <a:bodyPr>
            <a:noAutofit/>
          </a:bodyPr>
          <a:lstStyle/>
          <a:p>
            <a:r>
              <a:rPr lang="en-US" sz="2800" dirty="0"/>
              <a:t>Assumption for v4.2b (“official” simplified in-plane method)</a:t>
            </a:r>
          </a:p>
        </p:txBody>
      </p:sp>
      <p:pic>
        <p:nvPicPr>
          <p:cNvPr id="4" name="Picture 3">
            <a:extLst>
              <a:ext uri="{FF2B5EF4-FFF2-40B4-BE49-F238E27FC236}">
                <a16:creationId xmlns:a16="http://schemas.microsoft.com/office/drawing/2014/main" id="{C7F9344B-A352-58D5-FB5E-8804CA05C344}"/>
              </a:ext>
            </a:extLst>
          </p:cNvPr>
          <p:cNvPicPr>
            <a:picLocks noChangeAspect="1"/>
          </p:cNvPicPr>
          <p:nvPr/>
        </p:nvPicPr>
        <p:blipFill>
          <a:blip r:embed="rId2"/>
          <a:stretch>
            <a:fillRect/>
          </a:stretch>
        </p:blipFill>
        <p:spPr>
          <a:xfrm>
            <a:off x="837466" y="1294327"/>
            <a:ext cx="10517068" cy="5410955"/>
          </a:xfrm>
          <a:prstGeom prst="rect">
            <a:avLst/>
          </a:prstGeom>
        </p:spPr>
      </p:pic>
      <p:sp>
        <p:nvSpPr>
          <p:cNvPr id="6" name="TextBox 5">
            <a:extLst>
              <a:ext uri="{FF2B5EF4-FFF2-40B4-BE49-F238E27FC236}">
                <a16:creationId xmlns:a16="http://schemas.microsoft.com/office/drawing/2014/main" id="{2D90021F-404A-8F54-F375-CB290108C245}"/>
              </a:ext>
            </a:extLst>
          </p:cNvPr>
          <p:cNvSpPr txBox="1"/>
          <p:nvPr/>
        </p:nvSpPr>
        <p:spPr>
          <a:xfrm>
            <a:off x="5469465" y="923723"/>
            <a:ext cx="3454401" cy="523220"/>
          </a:xfrm>
          <a:prstGeom prst="rect">
            <a:avLst/>
          </a:prstGeom>
          <a:noFill/>
        </p:spPr>
        <p:txBody>
          <a:bodyPr wrap="square" rtlCol="0">
            <a:spAutoFit/>
          </a:bodyPr>
          <a:lstStyle/>
          <a:p>
            <a:r>
              <a:rPr lang="en-US" dirty="0"/>
              <a:t>*assumption is that measured angles are constant throughout cone’s azimuth </a:t>
            </a:r>
          </a:p>
        </p:txBody>
      </p:sp>
    </p:spTree>
    <p:extLst>
      <p:ext uri="{BB962C8B-B14F-4D97-AF65-F5344CB8AC3E}">
        <p14:creationId xmlns:p14="http://schemas.microsoft.com/office/powerpoint/2010/main" val="21727442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B1695-4713-2674-E38A-21215B84719A}"/>
            </a:ext>
          </a:extLst>
        </p:cNvPr>
        <p:cNvGrpSpPr/>
        <p:nvPr/>
      </p:nvGrpSpPr>
      <p:grpSpPr>
        <a:xfrm>
          <a:off x="0" y="0"/>
          <a:ext cx="0" cy="0"/>
          <a:chOff x="0" y="0"/>
          <a:chExt cx="0" cy="0"/>
        </a:xfrm>
      </p:grpSpPr>
      <p:pic>
        <p:nvPicPr>
          <p:cNvPr id="5" name="Picture 4" descr="A graph of different types of black benchmark&#10;&#10;AI-generated content may be incorrect.">
            <a:extLst>
              <a:ext uri="{FF2B5EF4-FFF2-40B4-BE49-F238E27FC236}">
                <a16:creationId xmlns:a16="http://schemas.microsoft.com/office/drawing/2014/main" id="{A8433C82-388D-4EB7-DA04-C1EF12495F61}"/>
              </a:ext>
            </a:extLst>
          </p:cNvPr>
          <p:cNvPicPr>
            <a:picLocks noChangeAspect="1"/>
          </p:cNvPicPr>
          <p:nvPr/>
        </p:nvPicPr>
        <p:blipFill>
          <a:blip r:embed="rId2"/>
          <a:stretch>
            <a:fillRect/>
          </a:stretch>
        </p:blipFill>
        <p:spPr>
          <a:xfrm>
            <a:off x="2556918" y="763482"/>
            <a:ext cx="9011323" cy="6031313"/>
          </a:xfrm>
          <a:prstGeom prst="rect">
            <a:avLst/>
          </a:prstGeom>
        </p:spPr>
      </p:pic>
      <p:sp>
        <p:nvSpPr>
          <p:cNvPr id="2" name="Title 1">
            <a:extLst>
              <a:ext uri="{FF2B5EF4-FFF2-40B4-BE49-F238E27FC236}">
                <a16:creationId xmlns:a16="http://schemas.microsoft.com/office/drawing/2014/main" id="{8F6A2D24-D085-0512-6C34-62C0359D5E13}"/>
              </a:ext>
            </a:extLst>
          </p:cNvPr>
          <p:cNvSpPr>
            <a:spLocks noGrp="1"/>
          </p:cNvSpPr>
          <p:nvPr>
            <p:ph type="title"/>
          </p:nvPr>
        </p:nvSpPr>
        <p:spPr>
          <a:xfrm>
            <a:off x="609599" y="152718"/>
            <a:ext cx="9011323" cy="1032615"/>
          </a:xfrm>
        </p:spPr>
        <p:txBody>
          <a:bodyPr>
            <a:noAutofit/>
          </a:bodyPr>
          <a:lstStyle/>
          <a:p>
            <a:r>
              <a:rPr lang="en-US" sz="2800" dirty="0"/>
              <a:t>Results of v4.2b (“official” simplified in-plane method)</a:t>
            </a:r>
          </a:p>
        </p:txBody>
      </p:sp>
      <p:sp>
        <p:nvSpPr>
          <p:cNvPr id="8" name="TextBox 7">
            <a:extLst>
              <a:ext uri="{FF2B5EF4-FFF2-40B4-BE49-F238E27FC236}">
                <a16:creationId xmlns:a16="http://schemas.microsoft.com/office/drawing/2014/main" id="{61EEB235-5E77-3DE5-B13D-171C7B0A872F}"/>
              </a:ext>
            </a:extLst>
          </p:cNvPr>
          <p:cNvSpPr txBox="1"/>
          <p:nvPr/>
        </p:nvSpPr>
        <p:spPr>
          <a:xfrm>
            <a:off x="499534" y="3486750"/>
            <a:ext cx="2362200" cy="584775"/>
          </a:xfrm>
          <a:prstGeom prst="rect">
            <a:avLst/>
          </a:prstGeom>
          <a:noFill/>
        </p:spPr>
        <p:txBody>
          <a:bodyPr wrap="square" rtlCol="0">
            <a:spAutoFit/>
          </a:bodyPr>
          <a:lstStyle/>
          <a:p>
            <a:r>
              <a:rPr lang="en-US" sz="1600" b="1" i="1" dirty="0">
                <a:solidFill>
                  <a:schemeClr val="bg2"/>
                </a:solidFill>
              </a:rPr>
              <a:t>TRUE </a:t>
            </a:r>
            <a:br>
              <a:rPr lang="en-US" sz="1600" b="1" i="1" dirty="0">
                <a:solidFill>
                  <a:schemeClr val="bg2"/>
                </a:solidFill>
              </a:rPr>
            </a:br>
            <a:r>
              <a:rPr lang="en-US" sz="1600" b="1" i="1" dirty="0">
                <a:solidFill>
                  <a:schemeClr val="bg2"/>
                </a:solidFill>
              </a:rPr>
              <a:t>SCALE</a:t>
            </a:r>
          </a:p>
        </p:txBody>
      </p:sp>
    </p:spTree>
    <p:extLst>
      <p:ext uri="{BB962C8B-B14F-4D97-AF65-F5344CB8AC3E}">
        <p14:creationId xmlns:p14="http://schemas.microsoft.com/office/powerpoint/2010/main" val="24206885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559F-9340-C79B-672A-28FEAF9947A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85EFB71-8547-C374-DB34-0B7B765D0C66}"/>
              </a:ext>
            </a:extLst>
          </p:cNvPr>
          <p:cNvPicPr>
            <a:picLocks noChangeAspect="1"/>
          </p:cNvPicPr>
          <p:nvPr/>
        </p:nvPicPr>
        <p:blipFill>
          <a:blip r:embed="rId2"/>
          <a:srcRect/>
          <a:stretch/>
        </p:blipFill>
        <p:spPr>
          <a:xfrm>
            <a:off x="2603258" y="763482"/>
            <a:ext cx="8918643" cy="6031313"/>
          </a:xfrm>
          <a:prstGeom prst="rect">
            <a:avLst/>
          </a:prstGeom>
        </p:spPr>
      </p:pic>
      <p:sp>
        <p:nvSpPr>
          <p:cNvPr id="2" name="Title 1">
            <a:extLst>
              <a:ext uri="{FF2B5EF4-FFF2-40B4-BE49-F238E27FC236}">
                <a16:creationId xmlns:a16="http://schemas.microsoft.com/office/drawing/2014/main" id="{1AAFFAA6-4F36-9493-38B7-4BE6084FA45D}"/>
              </a:ext>
            </a:extLst>
          </p:cNvPr>
          <p:cNvSpPr>
            <a:spLocks noGrp="1"/>
          </p:cNvSpPr>
          <p:nvPr>
            <p:ph type="title"/>
          </p:nvPr>
        </p:nvSpPr>
        <p:spPr>
          <a:xfrm>
            <a:off x="609599" y="152718"/>
            <a:ext cx="9011323" cy="1032615"/>
          </a:xfrm>
        </p:spPr>
        <p:txBody>
          <a:bodyPr>
            <a:noAutofit/>
          </a:bodyPr>
          <a:lstStyle/>
          <a:p>
            <a:r>
              <a:rPr lang="en-US" sz="2800" dirty="0"/>
              <a:t>Results of v4.2b (“official” simplified in-plane method)</a:t>
            </a:r>
          </a:p>
        </p:txBody>
      </p:sp>
      <p:sp>
        <p:nvSpPr>
          <p:cNvPr id="8" name="TextBox 7">
            <a:extLst>
              <a:ext uri="{FF2B5EF4-FFF2-40B4-BE49-F238E27FC236}">
                <a16:creationId xmlns:a16="http://schemas.microsoft.com/office/drawing/2014/main" id="{94796F4D-9972-A545-52A5-0AD1D744D4DB}"/>
              </a:ext>
            </a:extLst>
          </p:cNvPr>
          <p:cNvSpPr txBox="1"/>
          <p:nvPr/>
        </p:nvSpPr>
        <p:spPr>
          <a:xfrm>
            <a:off x="499534" y="3486750"/>
            <a:ext cx="2362200" cy="584775"/>
          </a:xfrm>
          <a:prstGeom prst="rect">
            <a:avLst/>
          </a:prstGeom>
          <a:noFill/>
        </p:spPr>
        <p:txBody>
          <a:bodyPr wrap="square" rtlCol="0">
            <a:spAutoFit/>
          </a:bodyPr>
          <a:lstStyle/>
          <a:p>
            <a:r>
              <a:rPr lang="en-US" sz="1600" b="1" i="1" dirty="0">
                <a:solidFill>
                  <a:schemeClr val="bg2"/>
                </a:solidFill>
              </a:rPr>
              <a:t>LOG </a:t>
            </a:r>
            <a:br>
              <a:rPr lang="en-US" sz="1600" b="1" i="1" dirty="0">
                <a:solidFill>
                  <a:schemeClr val="bg2"/>
                </a:solidFill>
              </a:rPr>
            </a:br>
            <a:r>
              <a:rPr lang="en-US" sz="1600" b="1" i="1" dirty="0">
                <a:solidFill>
                  <a:schemeClr val="bg2"/>
                </a:solidFill>
              </a:rPr>
              <a:t>SCALE</a:t>
            </a:r>
          </a:p>
        </p:txBody>
      </p:sp>
    </p:spTree>
    <p:extLst>
      <p:ext uri="{BB962C8B-B14F-4D97-AF65-F5344CB8AC3E}">
        <p14:creationId xmlns:p14="http://schemas.microsoft.com/office/powerpoint/2010/main" val="15411050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B8F4C-A93A-6545-A010-34588AE6F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286380-7705-8472-871D-F0706373FA1F}"/>
              </a:ext>
            </a:extLst>
          </p:cNvPr>
          <p:cNvSpPr>
            <a:spLocks noGrp="1"/>
          </p:cNvSpPr>
          <p:nvPr>
            <p:ph type="title"/>
          </p:nvPr>
        </p:nvSpPr>
        <p:spPr>
          <a:xfrm>
            <a:off x="609599" y="152718"/>
            <a:ext cx="9011323" cy="1032615"/>
          </a:xfrm>
        </p:spPr>
        <p:txBody>
          <a:bodyPr>
            <a:noAutofit/>
          </a:bodyPr>
          <a:lstStyle/>
          <a:p>
            <a:r>
              <a:rPr lang="en-US" sz="2800" dirty="0"/>
              <a:t>Results of v4.2b (“official” simplified in-plane method) – </a:t>
            </a:r>
            <a:r>
              <a:rPr lang="en-US" sz="2800" dirty="0">
                <a:highlight>
                  <a:srgbClr val="FFFF00"/>
                </a:highlight>
              </a:rPr>
              <a:t>TIS values</a:t>
            </a:r>
          </a:p>
        </p:txBody>
      </p:sp>
      <p:graphicFrame>
        <p:nvGraphicFramePr>
          <p:cNvPr id="3" name="Table 2">
            <a:extLst>
              <a:ext uri="{FF2B5EF4-FFF2-40B4-BE49-F238E27FC236}">
                <a16:creationId xmlns:a16="http://schemas.microsoft.com/office/drawing/2014/main" id="{F5A47C99-4478-92D4-D7B7-6EEF330511EF}"/>
              </a:ext>
            </a:extLst>
          </p:cNvPr>
          <p:cNvGraphicFramePr>
            <a:graphicFrameLocks noGrp="1"/>
          </p:cNvGraphicFramePr>
          <p:nvPr>
            <p:extLst>
              <p:ext uri="{D42A27DB-BD31-4B8C-83A1-F6EECF244321}">
                <p14:modId xmlns:p14="http://schemas.microsoft.com/office/powerpoint/2010/main" val="898319168"/>
              </p:ext>
            </p:extLst>
          </p:nvPr>
        </p:nvGraphicFramePr>
        <p:xfrm>
          <a:off x="1888067" y="2836332"/>
          <a:ext cx="8127999" cy="22148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657546664"/>
                    </a:ext>
                  </a:extLst>
                </a:gridCol>
                <a:gridCol w="2709333">
                  <a:extLst>
                    <a:ext uri="{9D8B030D-6E8A-4147-A177-3AD203B41FA5}">
                      <a16:colId xmlns:a16="http://schemas.microsoft.com/office/drawing/2014/main" val="1237535066"/>
                    </a:ext>
                  </a:extLst>
                </a:gridCol>
                <a:gridCol w="2709333">
                  <a:extLst>
                    <a:ext uri="{9D8B030D-6E8A-4147-A177-3AD203B41FA5}">
                      <a16:colId xmlns:a16="http://schemas.microsoft.com/office/drawing/2014/main" val="2796274385"/>
                    </a:ext>
                  </a:extLst>
                </a:gridCol>
              </a:tblGrid>
              <a:tr h="370840">
                <a:tc>
                  <a:txBody>
                    <a:bodyPr/>
                    <a:lstStyle/>
                    <a:p>
                      <a:r>
                        <a:rPr lang="en-US" dirty="0"/>
                        <a:t>Incident angle</a:t>
                      </a:r>
                    </a:p>
                  </a:txBody>
                  <a:tcPr/>
                </a:tc>
                <a:tc>
                  <a:txBody>
                    <a:bodyPr/>
                    <a:lstStyle/>
                    <a:p>
                      <a:r>
                        <a:rPr lang="en-US" dirty="0"/>
                        <a:t>Known (“</a:t>
                      </a:r>
                      <a:r>
                        <a:rPr lang="en-US" dirty="0" err="1"/>
                        <a:t>MagicBlack_VIS</a:t>
                      </a:r>
                      <a:r>
                        <a:rPr lang="en-US" dirty="0"/>
                        <a:t>” in “</a:t>
                      </a:r>
                      <a:r>
                        <a:rPr lang="en-US" dirty="0" err="1"/>
                        <a:t>Zemax</a:t>
                      </a:r>
                      <a:r>
                        <a:rPr lang="en-US" dirty="0"/>
                        <a:t>/</a:t>
                      </a:r>
                      <a:r>
                        <a:rPr lang="en-US" dirty="0" err="1"/>
                        <a:t>ScatterData</a:t>
                      </a:r>
                      <a:r>
                        <a:rPr lang="en-US" dirty="0"/>
                        <a:t>”)</a:t>
                      </a:r>
                    </a:p>
                  </a:txBody>
                  <a:tcPr/>
                </a:tc>
                <a:tc>
                  <a:txBody>
                    <a:bodyPr/>
                    <a:lstStyle/>
                    <a:p>
                      <a:r>
                        <a:rPr lang="en-US" dirty="0"/>
                        <a:t>Measured and calculated with Max’s python script “</a:t>
                      </a:r>
                      <a:r>
                        <a:rPr lang="en-US" dirty="0" err="1"/>
                        <a:t>masterBRDFcode</a:t>
                      </a:r>
                      <a:r>
                        <a:rPr lang="en-US" dirty="0"/>
                        <a:t>”</a:t>
                      </a:r>
                    </a:p>
                  </a:txBody>
                  <a:tcPr/>
                </a:tc>
                <a:extLst>
                  <a:ext uri="{0D108BD9-81ED-4DB2-BD59-A6C34878D82A}">
                    <a16:rowId xmlns:a16="http://schemas.microsoft.com/office/drawing/2014/main" val="3302901344"/>
                  </a:ext>
                </a:extLst>
              </a:tr>
              <a:tr h="370840">
                <a:tc>
                  <a:txBody>
                    <a:bodyPr/>
                    <a:lstStyle/>
                    <a:p>
                      <a:r>
                        <a:rPr lang="en-US" dirty="0"/>
                        <a:t>10 deg</a:t>
                      </a:r>
                    </a:p>
                  </a:txBody>
                  <a:tcPr/>
                </a:tc>
                <a:tc>
                  <a:txBody>
                    <a:bodyPr/>
                    <a:lstStyle/>
                    <a:p>
                      <a:r>
                        <a:rPr lang="en-US" dirty="0"/>
                        <a:t>0.005169</a:t>
                      </a:r>
                    </a:p>
                  </a:txBody>
                  <a:tcPr/>
                </a:tc>
                <a:tc>
                  <a:txBody>
                    <a:bodyPr/>
                    <a:lstStyle/>
                    <a:p>
                      <a:r>
                        <a:rPr lang="en-US" dirty="0"/>
                        <a:t>0.015229</a:t>
                      </a:r>
                    </a:p>
                  </a:txBody>
                  <a:tcPr/>
                </a:tc>
                <a:extLst>
                  <a:ext uri="{0D108BD9-81ED-4DB2-BD59-A6C34878D82A}">
                    <a16:rowId xmlns:a16="http://schemas.microsoft.com/office/drawing/2014/main" val="1232381194"/>
                  </a:ext>
                </a:extLst>
              </a:tr>
              <a:tr h="370840">
                <a:tc>
                  <a:txBody>
                    <a:bodyPr/>
                    <a:lstStyle/>
                    <a:p>
                      <a:r>
                        <a:rPr lang="en-US" dirty="0"/>
                        <a:t>30</a:t>
                      </a:r>
                    </a:p>
                  </a:txBody>
                  <a:tcPr/>
                </a:tc>
                <a:tc>
                  <a:txBody>
                    <a:bodyPr/>
                    <a:lstStyle/>
                    <a:p>
                      <a:r>
                        <a:rPr lang="en-US" dirty="0"/>
                        <a:t>0.0067297</a:t>
                      </a:r>
                    </a:p>
                  </a:txBody>
                  <a:tcPr/>
                </a:tc>
                <a:tc>
                  <a:txBody>
                    <a:bodyPr/>
                    <a:lstStyle/>
                    <a:p>
                      <a:r>
                        <a:rPr lang="en-US" dirty="0"/>
                        <a:t>0.019213</a:t>
                      </a:r>
                    </a:p>
                  </a:txBody>
                  <a:tcPr/>
                </a:tc>
                <a:extLst>
                  <a:ext uri="{0D108BD9-81ED-4DB2-BD59-A6C34878D82A}">
                    <a16:rowId xmlns:a16="http://schemas.microsoft.com/office/drawing/2014/main" val="1943253277"/>
                  </a:ext>
                </a:extLst>
              </a:tr>
              <a:tr h="370840">
                <a:tc>
                  <a:txBody>
                    <a:bodyPr/>
                    <a:lstStyle/>
                    <a:p>
                      <a:r>
                        <a:rPr lang="en-US" dirty="0"/>
                        <a:t>50</a:t>
                      </a:r>
                    </a:p>
                  </a:txBody>
                  <a:tcPr/>
                </a:tc>
                <a:tc>
                  <a:txBody>
                    <a:bodyPr/>
                    <a:lstStyle/>
                    <a:p>
                      <a:r>
                        <a:rPr lang="en-US" dirty="0"/>
                        <a:t>0.009598</a:t>
                      </a:r>
                    </a:p>
                  </a:txBody>
                  <a:tcPr/>
                </a:tc>
                <a:tc>
                  <a:txBody>
                    <a:bodyPr/>
                    <a:lstStyle/>
                    <a:p>
                      <a:r>
                        <a:rPr lang="en-US" dirty="0"/>
                        <a:t>0.047218</a:t>
                      </a:r>
                    </a:p>
                  </a:txBody>
                  <a:tcPr/>
                </a:tc>
                <a:extLst>
                  <a:ext uri="{0D108BD9-81ED-4DB2-BD59-A6C34878D82A}">
                    <a16:rowId xmlns:a16="http://schemas.microsoft.com/office/drawing/2014/main" val="2322794011"/>
                  </a:ext>
                </a:extLst>
              </a:tr>
              <a:tr h="370840">
                <a:tc>
                  <a:txBody>
                    <a:bodyPr/>
                    <a:lstStyle/>
                    <a:p>
                      <a:r>
                        <a:rPr lang="en-US" dirty="0"/>
                        <a:t>70</a:t>
                      </a:r>
                    </a:p>
                  </a:txBody>
                  <a:tcPr/>
                </a:tc>
                <a:tc>
                  <a:txBody>
                    <a:bodyPr/>
                    <a:lstStyle/>
                    <a:p>
                      <a:r>
                        <a:rPr lang="en-US" dirty="0"/>
                        <a:t>0.025526</a:t>
                      </a:r>
                    </a:p>
                  </a:txBody>
                  <a:tcPr/>
                </a:tc>
                <a:tc>
                  <a:txBody>
                    <a:bodyPr/>
                    <a:lstStyle/>
                    <a:p>
                      <a:r>
                        <a:rPr lang="en-US" dirty="0"/>
                        <a:t>0.357021</a:t>
                      </a:r>
                    </a:p>
                  </a:txBody>
                  <a:tcPr/>
                </a:tc>
                <a:extLst>
                  <a:ext uri="{0D108BD9-81ED-4DB2-BD59-A6C34878D82A}">
                    <a16:rowId xmlns:a16="http://schemas.microsoft.com/office/drawing/2014/main" val="714987995"/>
                  </a:ext>
                </a:extLst>
              </a:tr>
            </a:tbl>
          </a:graphicData>
        </a:graphic>
      </p:graphicFrame>
    </p:spTree>
    <p:extLst>
      <p:ext uri="{BB962C8B-B14F-4D97-AF65-F5344CB8AC3E}">
        <p14:creationId xmlns:p14="http://schemas.microsoft.com/office/powerpoint/2010/main" val="36797321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05B7E-D3FD-8C0A-88AE-E5DC6135B64E}"/>
              </a:ext>
            </a:extLst>
          </p:cNvPr>
          <p:cNvSpPr>
            <a:spLocks noGrp="1"/>
          </p:cNvSpPr>
          <p:nvPr>
            <p:ph type="title"/>
          </p:nvPr>
        </p:nvSpPr>
        <p:spPr/>
        <p:txBody>
          <a:bodyPr/>
          <a:lstStyle/>
          <a:p>
            <a:r>
              <a:rPr lang="en-US" dirty="0"/>
              <a:t>Assuming good enough,</a:t>
            </a:r>
          </a:p>
        </p:txBody>
      </p:sp>
      <p:sp>
        <p:nvSpPr>
          <p:cNvPr id="3" name="Text Placeholder 2">
            <a:extLst>
              <a:ext uri="{FF2B5EF4-FFF2-40B4-BE49-F238E27FC236}">
                <a16:creationId xmlns:a16="http://schemas.microsoft.com/office/drawing/2014/main" id="{2548385B-4B4C-0467-1978-B703856C94F0}"/>
              </a:ext>
            </a:extLst>
          </p:cNvPr>
          <p:cNvSpPr>
            <a:spLocks noGrp="1"/>
          </p:cNvSpPr>
          <p:nvPr>
            <p:ph type="body" idx="1"/>
          </p:nvPr>
        </p:nvSpPr>
        <p:spPr/>
        <p:txBody>
          <a:bodyPr/>
          <a:lstStyle/>
          <a:p>
            <a:r>
              <a:rPr lang="en-US" dirty="0"/>
              <a:t>For the TIS calculation,</a:t>
            </a:r>
          </a:p>
          <a:p>
            <a:pPr lvl="1"/>
            <a:r>
              <a:rPr lang="en-US" dirty="0"/>
              <a:t>Performed via Max’s code “</a:t>
            </a:r>
            <a:r>
              <a:rPr lang="en-US" dirty="0" err="1"/>
              <a:t>masterBRDFcode</a:t>
            </a:r>
            <a:r>
              <a:rPr lang="en-US" dirty="0"/>
              <a:t>” (but as “</a:t>
            </a:r>
            <a:r>
              <a:rPr lang="en-US" dirty="0" err="1"/>
              <a:t>masterBRDFcode_copyForTestJPK</a:t>
            </a:r>
            <a:r>
              <a:rPr lang="en-US" dirty="0"/>
              <a:t>” where I just modified the file names….. And note the excel files are like “MagicBlack_v2o0_20250902_onlyAn90” where “onlyAn90” means I manually modified the excel file to only have A = -90)</a:t>
            </a:r>
          </a:p>
          <a:p>
            <a:pPr lvl="1"/>
            <a:r>
              <a:rPr lang="en-US" dirty="0"/>
              <a:t>Then, I run the python script and manually copy the polynomial-fitted TIS values into the </a:t>
            </a:r>
            <a:r>
              <a:rPr lang="en-US" dirty="0" err="1"/>
              <a:t>Zemax</a:t>
            </a:r>
            <a:r>
              <a:rPr lang="en-US" dirty="0"/>
              <a:t> BRDF text file generated by the v4.2b MATLAB script</a:t>
            </a:r>
          </a:p>
          <a:p>
            <a:r>
              <a:rPr lang="en-US" dirty="0"/>
              <a:t>Then, can output </a:t>
            </a:r>
            <a:r>
              <a:rPr lang="en-US" dirty="0" err="1"/>
              <a:t>NiTE</a:t>
            </a:r>
            <a:r>
              <a:rPr lang="en-US" dirty="0"/>
              <a:t> </a:t>
            </a:r>
            <a:r>
              <a:rPr lang="en-US" dirty="0" err="1"/>
              <a:t>steel,invar</a:t>
            </a:r>
            <a:r>
              <a:rPr lang="en-US" dirty="0"/>
              <a:t> to </a:t>
            </a:r>
            <a:r>
              <a:rPr lang="en-US" dirty="0" err="1"/>
              <a:t>Zemax</a:t>
            </a:r>
            <a:endParaRPr lang="en-US" dirty="0"/>
          </a:p>
        </p:txBody>
      </p:sp>
    </p:spTree>
    <p:extLst>
      <p:ext uri="{BB962C8B-B14F-4D97-AF65-F5344CB8AC3E}">
        <p14:creationId xmlns:p14="http://schemas.microsoft.com/office/powerpoint/2010/main" val="2296588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9A90C-5BFF-F304-4059-1F2BF3649C7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0109E92-7077-077A-9D3E-B7BF28759CD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455877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F6F8E-6F2C-214C-2BC1-1D14D8B52C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BA6C06-9E78-9C05-8720-7C32D5FE3CFD}"/>
              </a:ext>
            </a:extLst>
          </p:cNvPr>
          <p:cNvSpPr>
            <a:spLocks noGrp="1"/>
          </p:cNvSpPr>
          <p:nvPr>
            <p:ph type="ctrTitle"/>
          </p:nvPr>
        </p:nvSpPr>
        <p:spPr/>
        <p:txBody>
          <a:bodyPr/>
          <a:lstStyle/>
          <a:p>
            <a:r>
              <a:rPr lang="en-US" sz="3600" dirty="0"/>
              <a:t>Measurement of non-isotropic detector</a:t>
            </a:r>
          </a:p>
        </p:txBody>
      </p:sp>
      <p:sp>
        <p:nvSpPr>
          <p:cNvPr id="5" name="Subtitle 4">
            <a:extLst>
              <a:ext uri="{FF2B5EF4-FFF2-40B4-BE49-F238E27FC236}">
                <a16:creationId xmlns:a16="http://schemas.microsoft.com/office/drawing/2014/main" id="{AE5A5C48-8979-361B-0FD3-93493DBC34D4}"/>
              </a:ext>
            </a:extLst>
          </p:cNvPr>
          <p:cNvSpPr>
            <a:spLocks noGrp="1"/>
          </p:cNvSpPr>
          <p:nvPr>
            <p:ph type="subTitle" idx="1"/>
          </p:nvPr>
        </p:nvSpPr>
        <p:spPr/>
        <p:txBody>
          <a:bodyPr>
            <a:normAutofit fontScale="85000" lnSpcReduction="20000"/>
          </a:bodyPr>
          <a:lstStyle/>
          <a:p>
            <a:r>
              <a:rPr lang="en-US" dirty="0"/>
              <a:t>2025/09/--</a:t>
            </a:r>
          </a:p>
          <a:p>
            <a:endParaRPr lang="en-US" dirty="0"/>
          </a:p>
          <a:p>
            <a:r>
              <a:rPr lang="en-US" dirty="0"/>
              <a:t>Sample(s): detector</a:t>
            </a:r>
          </a:p>
        </p:txBody>
      </p:sp>
    </p:spTree>
    <p:extLst>
      <p:ext uri="{BB962C8B-B14F-4D97-AF65-F5344CB8AC3E}">
        <p14:creationId xmlns:p14="http://schemas.microsoft.com/office/powerpoint/2010/main" val="4433078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ACE50-E4D5-CA80-E0ED-8249C9F6B24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C7997DBC-79D4-A23E-82E5-3E26CF33E98B}"/>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4B819128-AA0E-EA91-AF60-C341DCF57517}"/>
              </a:ext>
            </a:extLst>
          </p:cNvPr>
          <p:cNvPicPr>
            <a:picLocks noChangeAspect="1"/>
          </p:cNvPicPr>
          <p:nvPr/>
        </p:nvPicPr>
        <p:blipFill>
          <a:blip r:embed="rId2"/>
          <a:srcRect/>
          <a:stretch/>
        </p:blipFill>
        <p:spPr>
          <a:xfrm>
            <a:off x="1820333" y="80080"/>
            <a:ext cx="8381999" cy="6565210"/>
          </a:xfrm>
          <a:prstGeom prst="rect">
            <a:avLst/>
          </a:prstGeom>
        </p:spPr>
      </p:pic>
    </p:spTree>
    <p:extLst>
      <p:ext uri="{BB962C8B-B14F-4D97-AF65-F5344CB8AC3E}">
        <p14:creationId xmlns:p14="http://schemas.microsoft.com/office/powerpoint/2010/main" val="34182362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D2606-9075-28B4-947C-A141B208DC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CDF860-CA47-6481-8A7B-9DDFEC6A4011}"/>
              </a:ext>
            </a:extLst>
          </p:cNvPr>
          <p:cNvSpPr>
            <a:spLocks noGrp="1"/>
          </p:cNvSpPr>
          <p:nvPr>
            <p:ph type="ctrTitle"/>
          </p:nvPr>
        </p:nvSpPr>
        <p:spPr/>
        <p:txBody>
          <a:bodyPr/>
          <a:lstStyle/>
          <a:p>
            <a:r>
              <a:rPr lang="en-US" sz="3600" dirty="0"/>
              <a:t>Debugging of isotropic interpolation to (Az, Rz)</a:t>
            </a:r>
          </a:p>
        </p:txBody>
      </p:sp>
      <p:sp>
        <p:nvSpPr>
          <p:cNvPr id="5" name="Subtitle 4">
            <a:extLst>
              <a:ext uri="{FF2B5EF4-FFF2-40B4-BE49-F238E27FC236}">
                <a16:creationId xmlns:a16="http://schemas.microsoft.com/office/drawing/2014/main" id="{B8FFF614-226B-735F-7E9B-0698B204B81B}"/>
              </a:ext>
            </a:extLst>
          </p:cNvPr>
          <p:cNvSpPr>
            <a:spLocks noGrp="1"/>
          </p:cNvSpPr>
          <p:nvPr>
            <p:ph type="subTitle" idx="1"/>
          </p:nvPr>
        </p:nvSpPr>
        <p:spPr/>
        <p:txBody>
          <a:bodyPr>
            <a:normAutofit/>
          </a:bodyPr>
          <a:lstStyle/>
          <a:p>
            <a:r>
              <a:rPr lang="en-US" dirty="0"/>
              <a:t>2025/09/26</a:t>
            </a:r>
          </a:p>
          <a:p>
            <a:r>
              <a:rPr lang="en-US" dirty="0"/>
              <a:t>Presented 09/30</a:t>
            </a:r>
          </a:p>
        </p:txBody>
      </p:sp>
    </p:spTree>
    <p:extLst>
      <p:ext uri="{BB962C8B-B14F-4D97-AF65-F5344CB8AC3E}">
        <p14:creationId xmlns:p14="http://schemas.microsoft.com/office/powerpoint/2010/main" val="6606581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5BEF8-24AF-3A10-2A31-2660ED05C66D}"/>
              </a:ext>
            </a:extLst>
          </p:cNvPr>
          <p:cNvSpPr>
            <a:spLocks noGrp="1"/>
          </p:cNvSpPr>
          <p:nvPr>
            <p:ph type="title"/>
          </p:nvPr>
        </p:nvSpPr>
        <p:spPr/>
        <p:txBody>
          <a:bodyPr/>
          <a:lstStyle/>
          <a:p>
            <a:r>
              <a:rPr lang="en-US" dirty="0"/>
              <a:t>V4.3</a:t>
            </a:r>
          </a:p>
        </p:txBody>
      </p:sp>
      <p:sp>
        <p:nvSpPr>
          <p:cNvPr id="3" name="Text Placeholder 2">
            <a:extLst>
              <a:ext uri="{FF2B5EF4-FFF2-40B4-BE49-F238E27FC236}">
                <a16:creationId xmlns:a16="http://schemas.microsoft.com/office/drawing/2014/main" id="{B3452B40-0116-EAF7-F4CE-9A9333D56B15}"/>
              </a:ext>
            </a:extLst>
          </p:cNvPr>
          <p:cNvSpPr>
            <a:spLocks noGrp="1"/>
          </p:cNvSpPr>
          <p:nvPr>
            <p:ph type="body" idx="1"/>
          </p:nvPr>
        </p:nvSpPr>
        <p:spPr/>
        <p:txBody>
          <a:bodyPr/>
          <a:lstStyle/>
          <a:p>
            <a:r>
              <a:rPr lang="en-US" dirty="0"/>
              <a:t>What is convention of </a:t>
            </a:r>
            <a:r>
              <a:rPr lang="en-US" dirty="0" err="1"/>
              <a:t>IAR_to_AzRz</a:t>
            </a:r>
            <a:r>
              <a:rPr lang="en-US" dirty="0"/>
              <a:t> ?</a:t>
            </a:r>
          </a:p>
          <a:p>
            <a:pPr lvl="1"/>
            <a:r>
              <a:rPr lang="en-US" dirty="0"/>
              <a:t>Outsources to </a:t>
            </a:r>
            <a:r>
              <a:rPr lang="en-US" dirty="0" err="1"/>
              <a:t>ensure_AzRz_domain</a:t>
            </a:r>
            <a:endParaRPr lang="en-US" dirty="0"/>
          </a:p>
          <a:p>
            <a:pPr lvl="2"/>
            <a:r>
              <a:rPr lang="en-US" dirty="0"/>
              <a:t>Was doing plane symmetry, but I changed it back to no exact angle</a:t>
            </a:r>
          </a:p>
          <a:p>
            <a:pPr lvl="1"/>
            <a:r>
              <a:rPr lang="en-US" dirty="0"/>
              <a:t>Now, should be [0, 360), [0, 180]</a:t>
            </a:r>
          </a:p>
          <a:p>
            <a:r>
              <a:rPr lang="en-US" dirty="0"/>
              <a:t>Skipping 2</a:t>
            </a:r>
            <a:r>
              <a:rPr lang="en-US" baseline="30000" dirty="0"/>
              <a:t>nd</a:t>
            </a:r>
            <a:r>
              <a:rPr lang="en-US" dirty="0"/>
              <a:t> correction because thinking first zeroing should satisfy this</a:t>
            </a:r>
          </a:p>
          <a:p>
            <a:pPr lvl="1"/>
            <a:r>
              <a:rPr lang="en-US" dirty="0"/>
              <a:t>Rather, just making negative values into 0</a:t>
            </a:r>
          </a:p>
        </p:txBody>
      </p:sp>
    </p:spTree>
    <p:extLst>
      <p:ext uri="{BB962C8B-B14F-4D97-AF65-F5344CB8AC3E}">
        <p14:creationId xmlns:p14="http://schemas.microsoft.com/office/powerpoint/2010/main" val="13877998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5E28523-F055-7A36-E2EF-96CD4B195EEA}"/>
              </a:ext>
            </a:extLst>
          </p:cNvPr>
          <p:cNvPicPr>
            <a:picLocks noChangeAspect="1"/>
          </p:cNvPicPr>
          <p:nvPr/>
        </p:nvPicPr>
        <p:blipFill>
          <a:blip r:embed="rId2"/>
          <a:stretch>
            <a:fillRect/>
          </a:stretch>
        </p:blipFill>
        <p:spPr>
          <a:xfrm>
            <a:off x="0" y="580751"/>
            <a:ext cx="12192000" cy="6277249"/>
          </a:xfrm>
          <a:prstGeom prst="rect">
            <a:avLst/>
          </a:prstGeom>
        </p:spPr>
      </p:pic>
      <p:sp>
        <p:nvSpPr>
          <p:cNvPr id="6" name="Title 1">
            <a:extLst>
              <a:ext uri="{FF2B5EF4-FFF2-40B4-BE49-F238E27FC236}">
                <a16:creationId xmlns:a16="http://schemas.microsoft.com/office/drawing/2014/main" id="{555F9589-98A7-5DB4-B1BD-17478F82D7F2}"/>
              </a:ext>
            </a:extLst>
          </p:cNvPr>
          <p:cNvSpPr>
            <a:spLocks noGrp="1"/>
          </p:cNvSpPr>
          <p:nvPr>
            <p:ph type="title"/>
          </p:nvPr>
        </p:nvSpPr>
        <p:spPr>
          <a:xfrm>
            <a:off x="609599" y="152718"/>
            <a:ext cx="9011323" cy="381025"/>
          </a:xfrm>
        </p:spPr>
        <p:txBody>
          <a:bodyPr>
            <a:noAutofit/>
          </a:bodyPr>
          <a:lstStyle/>
          <a:p>
            <a:r>
              <a:rPr lang="en-US" sz="2400" dirty="0"/>
              <a:t>Comparison of +/- azimuth measurements – raw </a:t>
            </a:r>
          </a:p>
        </p:txBody>
      </p:sp>
      <p:sp>
        <p:nvSpPr>
          <p:cNvPr id="7" name="Oval 6">
            <a:extLst>
              <a:ext uri="{FF2B5EF4-FFF2-40B4-BE49-F238E27FC236}">
                <a16:creationId xmlns:a16="http://schemas.microsoft.com/office/drawing/2014/main" id="{10B62395-B0C2-B636-3B8E-D860DC8563FF}"/>
              </a:ext>
            </a:extLst>
          </p:cNvPr>
          <p:cNvSpPr/>
          <p:nvPr/>
        </p:nvSpPr>
        <p:spPr>
          <a:xfrm>
            <a:off x="4216399" y="4927600"/>
            <a:ext cx="1422401" cy="1502049"/>
          </a:xfrm>
          <a:prstGeom prst="ellipse">
            <a:avLst/>
          </a:prstGeom>
          <a:noFill/>
          <a:ln w="3810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62ADE7D-2683-0574-03FC-55758960B571}"/>
              </a:ext>
            </a:extLst>
          </p:cNvPr>
          <p:cNvSpPr/>
          <p:nvPr/>
        </p:nvSpPr>
        <p:spPr>
          <a:xfrm>
            <a:off x="609599" y="4563534"/>
            <a:ext cx="1794933" cy="1866116"/>
          </a:xfrm>
          <a:prstGeom prst="ellipse">
            <a:avLst/>
          </a:prstGeom>
          <a:noFill/>
          <a:ln w="3810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EDFD796-DE18-D953-CDC1-1278BEFA602F}"/>
              </a:ext>
            </a:extLst>
          </p:cNvPr>
          <p:cNvSpPr txBox="1"/>
          <p:nvPr/>
        </p:nvSpPr>
        <p:spPr>
          <a:xfrm>
            <a:off x="4588932" y="4089400"/>
            <a:ext cx="2709334" cy="646331"/>
          </a:xfrm>
          <a:prstGeom prst="rect">
            <a:avLst/>
          </a:prstGeom>
          <a:noFill/>
        </p:spPr>
        <p:txBody>
          <a:bodyPr wrap="square" rtlCol="0">
            <a:spAutoFit/>
          </a:bodyPr>
          <a:lstStyle/>
          <a:p>
            <a:r>
              <a:rPr lang="en-US" sz="1800" dirty="0">
                <a:solidFill>
                  <a:srgbClr val="00FF00"/>
                </a:solidFill>
              </a:rPr>
              <a:t>Should be equal and opposite, but is not</a:t>
            </a:r>
          </a:p>
        </p:txBody>
      </p:sp>
      <p:sp>
        <p:nvSpPr>
          <p:cNvPr id="10" name="TextBox 9">
            <a:extLst>
              <a:ext uri="{FF2B5EF4-FFF2-40B4-BE49-F238E27FC236}">
                <a16:creationId xmlns:a16="http://schemas.microsoft.com/office/drawing/2014/main" id="{101B7BC4-6B48-139A-CD50-C10855440257}"/>
              </a:ext>
            </a:extLst>
          </p:cNvPr>
          <p:cNvSpPr txBox="1"/>
          <p:nvPr/>
        </p:nvSpPr>
        <p:spPr>
          <a:xfrm>
            <a:off x="207432" y="741457"/>
            <a:ext cx="2857501" cy="523220"/>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“MagicBlack_v2o0_20250902.xls”</a:t>
            </a:r>
          </a:p>
        </p:txBody>
      </p:sp>
    </p:spTree>
    <p:extLst>
      <p:ext uri="{BB962C8B-B14F-4D97-AF65-F5344CB8AC3E}">
        <p14:creationId xmlns:p14="http://schemas.microsoft.com/office/powerpoint/2010/main" val="37646017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CFF0A69-BDD2-2C17-78A4-25E79CCFC9D0}"/>
              </a:ext>
            </a:extLst>
          </p:cNvPr>
          <p:cNvPicPr>
            <a:picLocks noChangeAspect="1"/>
          </p:cNvPicPr>
          <p:nvPr/>
        </p:nvPicPr>
        <p:blipFill>
          <a:blip r:embed="rId2"/>
          <a:stretch>
            <a:fillRect/>
          </a:stretch>
        </p:blipFill>
        <p:spPr>
          <a:xfrm>
            <a:off x="0" y="533743"/>
            <a:ext cx="12192000" cy="6324257"/>
          </a:xfrm>
          <a:prstGeom prst="rect">
            <a:avLst/>
          </a:prstGeom>
        </p:spPr>
      </p:pic>
      <p:sp>
        <p:nvSpPr>
          <p:cNvPr id="2" name="Title 1">
            <a:extLst>
              <a:ext uri="{FF2B5EF4-FFF2-40B4-BE49-F238E27FC236}">
                <a16:creationId xmlns:a16="http://schemas.microsoft.com/office/drawing/2014/main" id="{776D5851-1B4A-E8C0-06F8-122A33F35ABE}"/>
              </a:ext>
            </a:extLst>
          </p:cNvPr>
          <p:cNvSpPr>
            <a:spLocks noGrp="1"/>
          </p:cNvSpPr>
          <p:nvPr>
            <p:ph type="title"/>
          </p:nvPr>
        </p:nvSpPr>
        <p:spPr>
          <a:xfrm>
            <a:off x="609599" y="152718"/>
            <a:ext cx="9011323" cy="381025"/>
          </a:xfrm>
        </p:spPr>
        <p:txBody>
          <a:bodyPr>
            <a:noAutofit/>
          </a:bodyPr>
          <a:lstStyle/>
          <a:p>
            <a:r>
              <a:rPr lang="en-US" sz="2400" dirty="0"/>
              <a:t>Comparison of +/- azimuth measurements – overlay </a:t>
            </a:r>
          </a:p>
        </p:txBody>
      </p:sp>
      <p:sp>
        <p:nvSpPr>
          <p:cNvPr id="6" name="Oval 5">
            <a:extLst>
              <a:ext uri="{FF2B5EF4-FFF2-40B4-BE49-F238E27FC236}">
                <a16:creationId xmlns:a16="http://schemas.microsoft.com/office/drawing/2014/main" id="{53655FEA-87F6-8B64-6FED-571FB4F32DDC}"/>
              </a:ext>
            </a:extLst>
          </p:cNvPr>
          <p:cNvSpPr/>
          <p:nvPr/>
        </p:nvSpPr>
        <p:spPr>
          <a:xfrm>
            <a:off x="609599" y="4563534"/>
            <a:ext cx="3369734" cy="1625599"/>
          </a:xfrm>
          <a:prstGeom prst="ellipse">
            <a:avLst/>
          </a:prstGeom>
          <a:noFill/>
          <a:ln w="3810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CA86350-61AD-7C25-8DF6-DD29C54BDA33}"/>
              </a:ext>
            </a:extLst>
          </p:cNvPr>
          <p:cNvSpPr txBox="1"/>
          <p:nvPr/>
        </p:nvSpPr>
        <p:spPr>
          <a:xfrm>
            <a:off x="4521200" y="4240368"/>
            <a:ext cx="2709334" cy="646331"/>
          </a:xfrm>
          <a:prstGeom prst="rect">
            <a:avLst/>
          </a:prstGeom>
          <a:noFill/>
        </p:spPr>
        <p:txBody>
          <a:bodyPr wrap="square" rtlCol="0">
            <a:spAutoFit/>
          </a:bodyPr>
          <a:lstStyle/>
          <a:p>
            <a:r>
              <a:rPr lang="en-US" sz="1800" dirty="0">
                <a:solidFill>
                  <a:srgbClr val="00FF00"/>
                </a:solidFill>
              </a:rPr>
              <a:t>Should be equal, </a:t>
            </a:r>
            <a:br>
              <a:rPr lang="en-US" sz="1800" dirty="0">
                <a:solidFill>
                  <a:srgbClr val="00FF00"/>
                </a:solidFill>
              </a:rPr>
            </a:br>
            <a:r>
              <a:rPr lang="en-US" sz="1800" dirty="0">
                <a:solidFill>
                  <a:srgbClr val="00FF00"/>
                </a:solidFill>
              </a:rPr>
              <a:t>but is not</a:t>
            </a:r>
          </a:p>
        </p:txBody>
      </p:sp>
      <p:sp>
        <p:nvSpPr>
          <p:cNvPr id="8" name="TextBox 7">
            <a:extLst>
              <a:ext uri="{FF2B5EF4-FFF2-40B4-BE49-F238E27FC236}">
                <a16:creationId xmlns:a16="http://schemas.microsoft.com/office/drawing/2014/main" id="{D0191624-05B0-8193-924A-1654556182C8}"/>
              </a:ext>
            </a:extLst>
          </p:cNvPr>
          <p:cNvSpPr txBox="1"/>
          <p:nvPr/>
        </p:nvSpPr>
        <p:spPr>
          <a:xfrm>
            <a:off x="207432" y="741457"/>
            <a:ext cx="2857501" cy="523220"/>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“MagicBlack_v2o0_20250902.xls”</a:t>
            </a:r>
          </a:p>
        </p:txBody>
      </p:sp>
    </p:spTree>
    <p:extLst>
      <p:ext uri="{BB962C8B-B14F-4D97-AF65-F5344CB8AC3E}">
        <p14:creationId xmlns:p14="http://schemas.microsoft.com/office/powerpoint/2010/main" val="16198950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9C830B4-6273-D8A7-F237-F61D9B23AAAD}"/>
              </a:ext>
            </a:extLst>
          </p:cNvPr>
          <p:cNvPicPr>
            <a:picLocks noChangeAspect="1"/>
          </p:cNvPicPr>
          <p:nvPr/>
        </p:nvPicPr>
        <p:blipFill>
          <a:blip r:embed="rId2"/>
          <a:stretch>
            <a:fillRect/>
          </a:stretch>
        </p:blipFill>
        <p:spPr>
          <a:xfrm>
            <a:off x="0" y="401988"/>
            <a:ext cx="12192000" cy="6456012"/>
          </a:xfrm>
          <a:prstGeom prst="rect">
            <a:avLst/>
          </a:prstGeom>
        </p:spPr>
      </p:pic>
      <p:sp>
        <p:nvSpPr>
          <p:cNvPr id="6" name="TextBox 5">
            <a:extLst>
              <a:ext uri="{FF2B5EF4-FFF2-40B4-BE49-F238E27FC236}">
                <a16:creationId xmlns:a16="http://schemas.microsoft.com/office/drawing/2014/main" id="{D20530F0-9EB0-0295-4A2F-217064C8F6B4}"/>
              </a:ext>
            </a:extLst>
          </p:cNvPr>
          <p:cNvSpPr txBox="1"/>
          <p:nvPr/>
        </p:nvSpPr>
        <p:spPr>
          <a:xfrm>
            <a:off x="3534830" y="3970867"/>
            <a:ext cx="2709334" cy="646331"/>
          </a:xfrm>
          <a:prstGeom prst="rect">
            <a:avLst/>
          </a:prstGeom>
          <a:noFill/>
        </p:spPr>
        <p:txBody>
          <a:bodyPr wrap="square" rtlCol="0">
            <a:spAutoFit/>
          </a:bodyPr>
          <a:lstStyle/>
          <a:p>
            <a:r>
              <a:rPr lang="en-US" sz="1800" dirty="0">
                <a:solidFill>
                  <a:srgbClr val="00FF00"/>
                </a:solidFill>
              </a:rPr>
              <a:t>Light source misaligned,</a:t>
            </a:r>
            <a:br>
              <a:rPr lang="en-US" sz="1800" dirty="0">
                <a:solidFill>
                  <a:srgbClr val="00FF00"/>
                </a:solidFill>
              </a:rPr>
            </a:br>
            <a:r>
              <a:rPr lang="en-US" sz="1800" dirty="0">
                <a:solidFill>
                  <a:srgbClr val="00FF00"/>
                </a:solidFill>
              </a:rPr>
              <a:t>should be centered here</a:t>
            </a:r>
          </a:p>
        </p:txBody>
      </p:sp>
      <p:cxnSp>
        <p:nvCxnSpPr>
          <p:cNvPr id="7" name="Straight Arrow Connector 6">
            <a:extLst>
              <a:ext uri="{FF2B5EF4-FFF2-40B4-BE49-F238E27FC236}">
                <a16:creationId xmlns:a16="http://schemas.microsoft.com/office/drawing/2014/main" id="{DBAB0E89-0AE8-3D92-1BA7-F7B1B2ECB01E}"/>
              </a:ext>
            </a:extLst>
          </p:cNvPr>
          <p:cNvCxnSpPr>
            <a:cxnSpLocks/>
          </p:cNvCxnSpPr>
          <p:nvPr/>
        </p:nvCxnSpPr>
        <p:spPr>
          <a:xfrm>
            <a:off x="2904066" y="4546599"/>
            <a:ext cx="436032" cy="0"/>
          </a:xfrm>
          <a:prstGeom prst="straightConnector1">
            <a:avLst/>
          </a:prstGeom>
          <a:ln w="5715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A6E8C91F-BD58-0B26-0271-36CCA4D986CC}"/>
              </a:ext>
            </a:extLst>
          </p:cNvPr>
          <p:cNvSpPr/>
          <p:nvPr/>
        </p:nvSpPr>
        <p:spPr>
          <a:xfrm>
            <a:off x="905933" y="3429000"/>
            <a:ext cx="1642534" cy="262467"/>
          </a:xfrm>
          <a:prstGeom prst="rect">
            <a:avLst/>
          </a:prstGeom>
          <a:noFill/>
          <a:ln>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8979860-39AB-77EF-2A78-6D31D6D1D688}"/>
              </a:ext>
            </a:extLst>
          </p:cNvPr>
          <p:cNvSpPr txBox="1"/>
          <p:nvPr/>
        </p:nvSpPr>
        <p:spPr>
          <a:xfrm>
            <a:off x="2548467" y="3450735"/>
            <a:ext cx="3335866" cy="369332"/>
          </a:xfrm>
          <a:prstGeom prst="rect">
            <a:avLst/>
          </a:prstGeom>
          <a:noFill/>
        </p:spPr>
        <p:txBody>
          <a:bodyPr wrap="square" rtlCol="0">
            <a:spAutoFit/>
          </a:bodyPr>
          <a:lstStyle/>
          <a:p>
            <a:r>
              <a:rPr lang="en-US" sz="1800" dirty="0">
                <a:solidFill>
                  <a:srgbClr val="00FF00"/>
                </a:solidFill>
              </a:rPr>
              <a:t>Left/right has systematic error</a:t>
            </a:r>
          </a:p>
        </p:txBody>
      </p:sp>
      <p:cxnSp>
        <p:nvCxnSpPr>
          <p:cNvPr id="12" name="Straight Arrow Connector 11">
            <a:extLst>
              <a:ext uri="{FF2B5EF4-FFF2-40B4-BE49-F238E27FC236}">
                <a16:creationId xmlns:a16="http://schemas.microsoft.com/office/drawing/2014/main" id="{4D24CF30-9986-09EC-20A6-B95CCCDE72B7}"/>
              </a:ext>
            </a:extLst>
          </p:cNvPr>
          <p:cNvCxnSpPr>
            <a:cxnSpLocks/>
          </p:cNvCxnSpPr>
          <p:nvPr/>
        </p:nvCxnSpPr>
        <p:spPr>
          <a:xfrm>
            <a:off x="2904066" y="999066"/>
            <a:ext cx="436032" cy="0"/>
          </a:xfrm>
          <a:prstGeom prst="straightConnector1">
            <a:avLst/>
          </a:prstGeom>
          <a:ln w="57150">
            <a:solidFill>
              <a:srgbClr val="00FF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15CD2EC-5C45-571F-E318-4872F2E78E2B}"/>
              </a:ext>
            </a:extLst>
          </p:cNvPr>
          <p:cNvCxnSpPr>
            <a:cxnSpLocks/>
          </p:cNvCxnSpPr>
          <p:nvPr/>
        </p:nvCxnSpPr>
        <p:spPr>
          <a:xfrm>
            <a:off x="9287933" y="1015999"/>
            <a:ext cx="436032" cy="0"/>
          </a:xfrm>
          <a:prstGeom prst="straightConnector1">
            <a:avLst/>
          </a:prstGeom>
          <a:ln w="5715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1F08E13-A932-74A5-28AE-337DFD99BC15}"/>
              </a:ext>
            </a:extLst>
          </p:cNvPr>
          <p:cNvSpPr txBox="1"/>
          <p:nvPr/>
        </p:nvSpPr>
        <p:spPr>
          <a:xfrm>
            <a:off x="264581" y="594380"/>
            <a:ext cx="2857501" cy="523220"/>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“MagicBlack_v2o0_20250902.xls”</a:t>
            </a:r>
          </a:p>
        </p:txBody>
      </p:sp>
      <p:cxnSp>
        <p:nvCxnSpPr>
          <p:cNvPr id="14" name="Straight Arrow Connector 13">
            <a:extLst>
              <a:ext uri="{FF2B5EF4-FFF2-40B4-BE49-F238E27FC236}">
                <a16:creationId xmlns:a16="http://schemas.microsoft.com/office/drawing/2014/main" id="{A947161F-A47A-9CA5-4684-74A4C7E9AD81}"/>
              </a:ext>
            </a:extLst>
          </p:cNvPr>
          <p:cNvCxnSpPr>
            <a:cxnSpLocks/>
          </p:cNvCxnSpPr>
          <p:nvPr/>
        </p:nvCxnSpPr>
        <p:spPr>
          <a:xfrm>
            <a:off x="9287933" y="4529665"/>
            <a:ext cx="436032" cy="0"/>
          </a:xfrm>
          <a:prstGeom prst="straightConnector1">
            <a:avLst/>
          </a:prstGeom>
          <a:ln w="57150">
            <a:solidFill>
              <a:srgbClr val="00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29598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A6331-7E63-B283-AD7F-7B953DC85C1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8919882-43A0-2619-26E7-415AAC210FF7}"/>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89099E4F-A477-6962-85FE-01A5AF0EEA54}"/>
              </a:ext>
            </a:extLst>
          </p:cNvPr>
          <p:cNvPicPr>
            <a:picLocks noChangeAspect="1"/>
          </p:cNvPicPr>
          <p:nvPr/>
        </p:nvPicPr>
        <p:blipFill>
          <a:blip r:embed="rId2"/>
          <a:stretch>
            <a:fillRect/>
          </a:stretch>
        </p:blipFill>
        <p:spPr>
          <a:xfrm>
            <a:off x="0" y="1800"/>
            <a:ext cx="12192000" cy="6854400"/>
          </a:xfrm>
          <a:prstGeom prst="rect">
            <a:avLst/>
          </a:prstGeom>
        </p:spPr>
      </p:pic>
      <p:sp>
        <p:nvSpPr>
          <p:cNvPr id="7" name="TextBox 6">
            <a:extLst>
              <a:ext uri="{FF2B5EF4-FFF2-40B4-BE49-F238E27FC236}">
                <a16:creationId xmlns:a16="http://schemas.microsoft.com/office/drawing/2014/main" id="{AA8267B9-0566-99D6-C3C2-7CC65030882C}"/>
              </a:ext>
            </a:extLst>
          </p:cNvPr>
          <p:cNvSpPr txBox="1"/>
          <p:nvPr/>
        </p:nvSpPr>
        <p:spPr>
          <a:xfrm>
            <a:off x="2205565" y="4030134"/>
            <a:ext cx="2214035" cy="646331"/>
          </a:xfrm>
          <a:prstGeom prst="rect">
            <a:avLst/>
          </a:prstGeom>
          <a:noFill/>
        </p:spPr>
        <p:txBody>
          <a:bodyPr wrap="square" rtlCol="0">
            <a:spAutoFit/>
          </a:bodyPr>
          <a:lstStyle/>
          <a:p>
            <a:r>
              <a:rPr lang="en-US" sz="1800" dirty="0">
                <a:solidFill>
                  <a:srgbClr val="00FF00"/>
                </a:solidFill>
              </a:rPr>
              <a:t>Ok, expected at steep incidence</a:t>
            </a:r>
          </a:p>
        </p:txBody>
      </p:sp>
      <p:cxnSp>
        <p:nvCxnSpPr>
          <p:cNvPr id="9" name="Straight Arrow Connector 8">
            <a:extLst>
              <a:ext uri="{FF2B5EF4-FFF2-40B4-BE49-F238E27FC236}">
                <a16:creationId xmlns:a16="http://schemas.microsoft.com/office/drawing/2014/main" id="{15BF5F29-D426-5C5D-8A8B-80B7BB748310}"/>
              </a:ext>
            </a:extLst>
          </p:cNvPr>
          <p:cNvCxnSpPr/>
          <p:nvPr/>
        </p:nvCxnSpPr>
        <p:spPr>
          <a:xfrm flipH="1">
            <a:off x="1312333" y="4216400"/>
            <a:ext cx="457200" cy="0"/>
          </a:xfrm>
          <a:prstGeom prst="straightConnector1">
            <a:avLst/>
          </a:prstGeom>
          <a:ln w="5715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4BF0482-1428-F765-2705-0C752CCC8CC6}"/>
              </a:ext>
            </a:extLst>
          </p:cNvPr>
          <p:cNvSpPr/>
          <p:nvPr/>
        </p:nvSpPr>
        <p:spPr>
          <a:xfrm>
            <a:off x="770466" y="3206963"/>
            <a:ext cx="1642534" cy="262467"/>
          </a:xfrm>
          <a:prstGeom prst="rect">
            <a:avLst/>
          </a:prstGeom>
          <a:noFill/>
          <a:ln>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12F8D7F-520D-65B6-B71D-3887A322EBFF}"/>
              </a:ext>
            </a:extLst>
          </p:cNvPr>
          <p:cNvSpPr txBox="1"/>
          <p:nvPr/>
        </p:nvSpPr>
        <p:spPr>
          <a:xfrm>
            <a:off x="162982" y="208616"/>
            <a:ext cx="2857501" cy="523220"/>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“MagicBlack_v2o0_20250902.xls”</a:t>
            </a:r>
          </a:p>
        </p:txBody>
      </p:sp>
      <p:sp>
        <p:nvSpPr>
          <p:cNvPr id="13" name="TextBox 12">
            <a:extLst>
              <a:ext uri="{FF2B5EF4-FFF2-40B4-BE49-F238E27FC236}">
                <a16:creationId xmlns:a16="http://schemas.microsoft.com/office/drawing/2014/main" id="{DCF066EF-86DE-6B66-6754-7230D5FC1630}"/>
              </a:ext>
            </a:extLst>
          </p:cNvPr>
          <p:cNvSpPr txBox="1"/>
          <p:nvPr/>
        </p:nvSpPr>
        <p:spPr>
          <a:xfrm>
            <a:off x="2493428" y="3206963"/>
            <a:ext cx="2053171" cy="369332"/>
          </a:xfrm>
          <a:prstGeom prst="rect">
            <a:avLst/>
          </a:prstGeom>
          <a:noFill/>
        </p:spPr>
        <p:txBody>
          <a:bodyPr wrap="square" rtlCol="0">
            <a:spAutoFit/>
          </a:bodyPr>
          <a:lstStyle/>
          <a:p>
            <a:r>
              <a:rPr lang="en-US" sz="1800" dirty="0">
                <a:solidFill>
                  <a:srgbClr val="00FF00"/>
                </a:solidFill>
              </a:rPr>
              <a:t>Fore/aft</a:t>
            </a:r>
          </a:p>
        </p:txBody>
      </p:sp>
      <p:cxnSp>
        <p:nvCxnSpPr>
          <p:cNvPr id="14" name="Straight Arrow Connector 13">
            <a:extLst>
              <a:ext uri="{FF2B5EF4-FFF2-40B4-BE49-F238E27FC236}">
                <a16:creationId xmlns:a16="http://schemas.microsoft.com/office/drawing/2014/main" id="{0210E803-D6AF-2048-25DE-92180A27B21E}"/>
              </a:ext>
            </a:extLst>
          </p:cNvPr>
          <p:cNvCxnSpPr/>
          <p:nvPr/>
        </p:nvCxnSpPr>
        <p:spPr>
          <a:xfrm flipH="1">
            <a:off x="7857067" y="4140200"/>
            <a:ext cx="457200" cy="0"/>
          </a:xfrm>
          <a:prstGeom prst="straightConnector1">
            <a:avLst/>
          </a:prstGeom>
          <a:ln w="57150">
            <a:solidFill>
              <a:srgbClr val="00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72353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70FF6-F1D7-C75F-7FC0-A9E65FE6F2AC}"/>
              </a:ext>
            </a:extLst>
          </p:cNvPr>
          <p:cNvSpPr>
            <a:spLocks noGrp="1"/>
          </p:cNvSpPr>
          <p:nvPr>
            <p:ph type="title"/>
          </p:nvPr>
        </p:nvSpPr>
        <p:spPr/>
        <p:txBody>
          <a:bodyPr/>
          <a:lstStyle/>
          <a:p>
            <a:r>
              <a:rPr lang="en-US" dirty="0"/>
              <a:t>Comparison of +/- azimuth measurements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BF934ED-471A-2850-1C82-A4C9234F5B27}"/>
                  </a:ext>
                </a:extLst>
              </p:cNvPr>
              <p:cNvSpPr>
                <a:spLocks noGrp="1"/>
              </p:cNvSpPr>
              <p:nvPr>
                <p:ph type="body" idx="1"/>
              </p:nvPr>
            </p:nvSpPr>
            <p:spPr/>
            <p:txBody>
              <a:bodyPr/>
              <a:lstStyle/>
              <a:p>
                <a:r>
                  <a:rPr lang="en-US" dirty="0"/>
                  <a:t>Specular ray agrees</a:t>
                </a:r>
              </a:p>
              <a:p>
                <a:r>
                  <a:rPr lang="en-US" dirty="0"/>
                  <a:t>But, around specular is much hotter signal for A &lt; 0</a:t>
                </a:r>
              </a:p>
              <a:p>
                <a:r>
                  <a:rPr lang="en-US" dirty="0"/>
                  <a:t>Only physical difference is </a:t>
                </a:r>
                <a14:m>
                  <m:oMath xmlns:m="http://schemas.openxmlformats.org/officeDocument/2006/math">
                    <m:r>
                      <a:rPr lang="en-US" b="1" i="1" smtClean="0">
                        <a:latin typeface="Cambria Math" panose="02040503050406030204" pitchFamily="18" charset="0"/>
                      </a:rPr>
                      <m:t>±</m:t>
                    </m:r>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𝒙</m:t>
                        </m:r>
                      </m:e>
                    </m:acc>
                  </m:oMath>
                </a14:m>
                <a:r>
                  <a:rPr lang="en-US" dirty="0"/>
                  <a:t> side of scatter cone</a:t>
                </a:r>
              </a:p>
              <a:p>
                <a:pPr lvl="1"/>
                <a:r>
                  <a:rPr lang="en-US" dirty="0"/>
                  <a:t>Same stage rotation relative to incident light</a:t>
                </a:r>
              </a:p>
            </p:txBody>
          </p:sp>
        </mc:Choice>
        <mc:Fallback xmlns="">
          <p:sp>
            <p:nvSpPr>
              <p:cNvPr id="3" name="Text Placeholder 2">
                <a:extLst>
                  <a:ext uri="{FF2B5EF4-FFF2-40B4-BE49-F238E27FC236}">
                    <a16:creationId xmlns:a16="http://schemas.microsoft.com/office/drawing/2014/main" id="{BBF934ED-471A-2850-1C82-A4C9234F5B27}"/>
                  </a:ext>
                </a:extLst>
              </p:cNvPr>
              <p:cNvSpPr>
                <a:spLocks noGrp="1" noRot="1" noChangeAspect="1" noMove="1" noResize="1" noEditPoints="1" noAdjustHandles="1" noChangeArrowheads="1" noChangeShapeType="1" noTextEdit="1"/>
              </p:cNvSpPr>
              <p:nvPr>
                <p:ph type="body" idx="1"/>
              </p:nvPr>
            </p:nvSpPr>
            <p:spPr>
              <a:blipFill>
                <a:blip r:embed="rId2"/>
                <a:stretch>
                  <a:fillRect l="-600"/>
                </a:stretch>
              </a:blipFill>
            </p:spPr>
            <p:txBody>
              <a:bodyPr/>
              <a:lstStyle/>
              <a:p>
                <a:r>
                  <a:rPr lang="en-US">
                    <a:noFill/>
                  </a:rPr>
                  <a:t> </a:t>
                </a:r>
              </a:p>
            </p:txBody>
          </p:sp>
        </mc:Fallback>
      </mc:AlternateContent>
    </p:spTree>
    <p:extLst>
      <p:ext uri="{BB962C8B-B14F-4D97-AF65-F5344CB8AC3E}">
        <p14:creationId xmlns:p14="http://schemas.microsoft.com/office/powerpoint/2010/main" val="17355668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F3CA5-FEC5-B620-5F0E-0AADAFF6C4C2}"/>
              </a:ext>
            </a:extLst>
          </p:cNvPr>
          <p:cNvSpPr>
            <a:spLocks noGrp="1"/>
          </p:cNvSpPr>
          <p:nvPr>
            <p:ph type="title"/>
          </p:nvPr>
        </p:nvSpPr>
        <p:spPr/>
        <p:txBody>
          <a:bodyPr/>
          <a:lstStyle/>
          <a:p>
            <a:r>
              <a:rPr lang="en-US" dirty="0"/>
              <a:t>BUT WAIT !!!</a:t>
            </a:r>
          </a:p>
        </p:txBody>
      </p:sp>
      <p:sp>
        <p:nvSpPr>
          <p:cNvPr id="3" name="Text Placeholder 2">
            <a:extLst>
              <a:ext uri="{FF2B5EF4-FFF2-40B4-BE49-F238E27FC236}">
                <a16:creationId xmlns:a16="http://schemas.microsoft.com/office/drawing/2014/main" id="{D204E7D1-F70C-D26C-947D-C0B78FB07B05}"/>
              </a:ext>
            </a:extLst>
          </p:cNvPr>
          <p:cNvSpPr>
            <a:spLocks noGrp="1"/>
          </p:cNvSpPr>
          <p:nvPr>
            <p:ph type="body" idx="1"/>
          </p:nvPr>
        </p:nvSpPr>
        <p:spPr/>
        <p:txBody>
          <a:bodyPr/>
          <a:lstStyle/>
          <a:p>
            <a:r>
              <a:rPr lang="en-US" dirty="0"/>
              <a:t>Likely that was due to poorly-aligned light source (since </a:t>
            </a:r>
            <a:r>
              <a:rPr lang="en-US" dirty="0" err="1"/>
              <a:t>MagicBlack</a:t>
            </a:r>
            <a:r>
              <a:rPr lang="en-US" dirty="0"/>
              <a:t> validation measurements taken prior to Joon’s fix to micrometer)</a:t>
            </a:r>
          </a:p>
          <a:p>
            <a:r>
              <a:rPr lang="en-US" dirty="0"/>
              <a:t>Actual measurements (i.e., other samples) had better alignment (perfect to my eye)</a:t>
            </a:r>
          </a:p>
        </p:txBody>
      </p:sp>
    </p:spTree>
    <p:extLst>
      <p:ext uri="{BB962C8B-B14F-4D97-AF65-F5344CB8AC3E}">
        <p14:creationId xmlns:p14="http://schemas.microsoft.com/office/powerpoint/2010/main" val="14017899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834FD-E794-4FF7-E343-EE2DFDC3AB6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56445A7-12AE-6CE9-ABA8-C4A057C069E6}"/>
              </a:ext>
            </a:extLst>
          </p:cNvPr>
          <p:cNvPicPr>
            <a:picLocks noChangeAspect="1"/>
          </p:cNvPicPr>
          <p:nvPr/>
        </p:nvPicPr>
        <p:blipFill>
          <a:blip r:embed="rId2"/>
          <a:srcRect/>
          <a:stretch/>
        </p:blipFill>
        <p:spPr>
          <a:xfrm>
            <a:off x="0" y="533743"/>
            <a:ext cx="12198068" cy="6324257"/>
          </a:xfrm>
          <a:prstGeom prst="rect">
            <a:avLst/>
          </a:prstGeom>
        </p:spPr>
      </p:pic>
      <p:sp>
        <p:nvSpPr>
          <p:cNvPr id="6" name="Title 1">
            <a:extLst>
              <a:ext uri="{FF2B5EF4-FFF2-40B4-BE49-F238E27FC236}">
                <a16:creationId xmlns:a16="http://schemas.microsoft.com/office/drawing/2014/main" id="{6FE2540E-D3CE-DD7F-2B4A-0D51BA501B95}"/>
              </a:ext>
            </a:extLst>
          </p:cNvPr>
          <p:cNvSpPr>
            <a:spLocks noGrp="1"/>
          </p:cNvSpPr>
          <p:nvPr>
            <p:ph type="title"/>
          </p:nvPr>
        </p:nvSpPr>
        <p:spPr>
          <a:xfrm>
            <a:off x="609599" y="152718"/>
            <a:ext cx="9011323" cy="381025"/>
          </a:xfrm>
        </p:spPr>
        <p:txBody>
          <a:bodyPr>
            <a:noAutofit/>
          </a:bodyPr>
          <a:lstStyle/>
          <a:p>
            <a:r>
              <a:rPr lang="en-US" sz="2400" dirty="0"/>
              <a:t>Comparison of +/- azimuth measurements – raw </a:t>
            </a:r>
          </a:p>
        </p:txBody>
      </p:sp>
      <p:sp>
        <p:nvSpPr>
          <p:cNvPr id="7" name="Oval 6">
            <a:extLst>
              <a:ext uri="{FF2B5EF4-FFF2-40B4-BE49-F238E27FC236}">
                <a16:creationId xmlns:a16="http://schemas.microsoft.com/office/drawing/2014/main" id="{5DD83D60-5D73-468D-46E6-1042136104D6}"/>
              </a:ext>
            </a:extLst>
          </p:cNvPr>
          <p:cNvSpPr/>
          <p:nvPr/>
        </p:nvSpPr>
        <p:spPr>
          <a:xfrm>
            <a:off x="3327399" y="4631267"/>
            <a:ext cx="1557868" cy="1645982"/>
          </a:xfrm>
          <a:prstGeom prst="ellipse">
            <a:avLst/>
          </a:prstGeom>
          <a:noFill/>
          <a:ln w="3810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7D0C6C4-9BCE-5DC7-BF59-8CC36E22F7DF}"/>
              </a:ext>
            </a:extLst>
          </p:cNvPr>
          <p:cNvSpPr/>
          <p:nvPr/>
        </p:nvSpPr>
        <p:spPr>
          <a:xfrm>
            <a:off x="609600" y="4735731"/>
            <a:ext cx="1659468" cy="1761652"/>
          </a:xfrm>
          <a:prstGeom prst="ellipse">
            <a:avLst/>
          </a:prstGeom>
          <a:noFill/>
          <a:ln w="3810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0A214D8-31BA-3F58-DF44-54518918176E}"/>
              </a:ext>
            </a:extLst>
          </p:cNvPr>
          <p:cNvSpPr txBox="1"/>
          <p:nvPr/>
        </p:nvSpPr>
        <p:spPr>
          <a:xfrm>
            <a:off x="4588932" y="4089400"/>
            <a:ext cx="2709334" cy="646331"/>
          </a:xfrm>
          <a:prstGeom prst="rect">
            <a:avLst/>
          </a:prstGeom>
          <a:noFill/>
        </p:spPr>
        <p:txBody>
          <a:bodyPr wrap="square" rtlCol="0">
            <a:spAutoFit/>
          </a:bodyPr>
          <a:lstStyle/>
          <a:p>
            <a:r>
              <a:rPr lang="en-US" sz="1800" dirty="0">
                <a:solidFill>
                  <a:srgbClr val="00FF00"/>
                </a:solidFill>
              </a:rPr>
              <a:t>Should be equal and opposite, and they are</a:t>
            </a:r>
          </a:p>
        </p:txBody>
      </p:sp>
      <p:sp>
        <p:nvSpPr>
          <p:cNvPr id="2" name="TextBox 1">
            <a:extLst>
              <a:ext uri="{FF2B5EF4-FFF2-40B4-BE49-F238E27FC236}">
                <a16:creationId xmlns:a16="http://schemas.microsoft.com/office/drawing/2014/main" id="{C15783F9-CF4C-B0C9-8314-048704A9ACA5}"/>
              </a:ext>
            </a:extLst>
          </p:cNvPr>
          <p:cNvSpPr txBox="1"/>
          <p:nvPr/>
        </p:nvSpPr>
        <p:spPr>
          <a:xfrm>
            <a:off x="207432" y="741457"/>
            <a:ext cx="3272368" cy="523220"/>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“NiTE_on_invar_v1o0A_20250915.xls”</a:t>
            </a:r>
          </a:p>
        </p:txBody>
      </p:sp>
    </p:spTree>
    <p:extLst>
      <p:ext uri="{BB962C8B-B14F-4D97-AF65-F5344CB8AC3E}">
        <p14:creationId xmlns:p14="http://schemas.microsoft.com/office/powerpoint/2010/main" val="8947923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7A9D0-64C6-F517-4267-09390ACAB49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25F351D-36E5-85FC-A4F9-0F46E0BC7074}"/>
              </a:ext>
            </a:extLst>
          </p:cNvPr>
          <p:cNvPicPr>
            <a:picLocks noChangeAspect="1"/>
          </p:cNvPicPr>
          <p:nvPr/>
        </p:nvPicPr>
        <p:blipFill>
          <a:blip r:embed="rId2"/>
          <a:srcRect/>
          <a:stretch/>
        </p:blipFill>
        <p:spPr>
          <a:xfrm>
            <a:off x="0" y="822130"/>
            <a:ext cx="12192000" cy="6035870"/>
          </a:xfrm>
          <a:prstGeom prst="rect">
            <a:avLst/>
          </a:prstGeom>
        </p:spPr>
      </p:pic>
      <p:sp>
        <p:nvSpPr>
          <p:cNvPr id="2" name="Title 1">
            <a:extLst>
              <a:ext uri="{FF2B5EF4-FFF2-40B4-BE49-F238E27FC236}">
                <a16:creationId xmlns:a16="http://schemas.microsoft.com/office/drawing/2014/main" id="{0BF0EF12-F1C7-3F54-08BC-17825D19066E}"/>
              </a:ext>
            </a:extLst>
          </p:cNvPr>
          <p:cNvSpPr>
            <a:spLocks noGrp="1"/>
          </p:cNvSpPr>
          <p:nvPr>
            <p:ph type="title"/>
          </p:nvPr>
        </p:nvSpPr>
        <p:spPr>
          <a:xfrm>
            <a:off x="609599" y="152718"/>
            <a:ext cx="9011323" cy="381025"/>
          </a:xfrm>
        </p:spPr>
        <p:txBody>
          <a:bodyPr>
            <a:noAutofit/>
          </a:bodyPr>
          <a:lstStyle/>
          <a:p>
            <a:r>
              <a:rPr lang="en-US" sz="2400" dirty="0"/>
              <a:t>Comparison of +/- azimuth measurements – overlay </a:t>
            </a:r>
          </a:p>
        </p:txBody>
      </p:sp>
      <p:sp>
        <p:nvSpPr>
          <p:cNvPr id="6" name="Oval 5">
            <a:extLst>
              <a:ext uri="{FF2B5EF4-FFF2-40B4-BE49-F238E27FC236}">
                <a16:creationId xmlns:a16="http://schemas.microsoft.com/office/drawing/2014/main" id="{7D5D7D1F-325F-4BD4-C052-A5B8631F3399}"/>
              </a:ext>
            </a:extLst>
          </p:cNvPr>
          <p:cNvSpPr/>
          <p:nvPr/>
        </p:nvSpPr>
        <p:spPr>
          <a:xfrm>
            <a:off x="465665" y="4648200"/>
            <a:ext cx="2878668" cy="2057082"/>
          </a:xfrm>
          <a:prstGeom prst="ellipse">
            <a:avLst/>
          </a:prstGeom>
          <a:noFill/>
          <a:ln w="3810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0150DAB-9D85-B037-ED90-5469344D3808}"/>
              </a:ext>
            </a:extLst>
          </p:cNvPr>
          <p:cNvSpPr txBox="1"/>
          <p:nvPr/>
        </p:nvSpPr>
        <p:spPr>
          <a:xfrm>
            <a:off x="4521200" y="4240368"/>
            <a:ext cx="2709334" cy="646331"/>
          </a:xfrm>
          <a:prstGeom prst="rect">
            <a:avLst/>
          </a:prstGeom>
          <a:noFill/>
        </p:spPr>
        <p:txBody>
          <a:bodyPr wrap="square" rtlCol="0">
            <a:spAutoFit/>
          </a:bodyPr>
          <a:lstStyle/>
          <a:p>
            <a:r>
              <a:rPr lang="en-US" sz="1800" dirty="0">
                <a:solidFill>
                  <a:srgbClr val="00FF00"/>
                </a:solidFill>
              </a:rPr>
              <a:t>Should be equal, </a:t>
            </a:r>
            <a:br>
              <a:rPr lang="en-US" sz="1800" dirty="0">
                <a:solidFill>
                  <a:srgbClr val="00FF00"/>
                </a:solidFill>
              </a:rPr>
            </a:br>
            <a:r>
              <a:rPr lang="en-US" sz="1800" dirty="0">
                <a:solidFill>
                  <a:srgbClr val="00FF00"/>
                </a:solidFill>
              </a:rPr>
              <a:t>and they are</a:t>
            </a:r>
          </a:p>
        </p:txBody>
      </p:sp>
      <p:sp>
        <p:nvSpPr>
          <p:cNvPr id="3" name="TextBox 2">
            <a:extLst>
              <a:ext uri="{FF2B5EF4-FFF2-40B4-BE49-F238E27FC236}">
                <a16:creationId xmlns:a16="http://schemas.microsoft.com/office/drawing/2014/main" id="{5D0F05F0-501A-3838-DB67-49C5357E4730}"/>
              </a:ext>
            </a:extLst>
          </p:cNvPr>
          <p:cNvSpPr txBox="1"/>
          <p:nvPr/>
        </p:nvSpPr>
        <p:spPr>
          <a:xfrm>
            <a:off x="139699" y="970057"/>
            <a:ext cx="3272368" cy="523220"/>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“NiTE_on_invar_v1o0A_20250915.xls”</a:t>
            </a:r>
          </a:p>
        </p:txBody>
      </p:sp>
    </p:spTree>
    <p:extLst>
      <p:ext uri="{BB962C8B-B14F-4D97-AF65-F5344CB8AC3E}">
        <p14:creationId xmlns:p14="http://schemas.microsoft.com/office/powerpoint/2010/main" val="13325649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27D8DE-B9B0-D857-607E-D49520F63030}"/>
              </a:ext>
            </a:extLst>
          </p:cNvPr>
          <p:cNvPicPr>
            <a:picLocks noChangeAspect="1"/>
          </p:cNvPicPr>
          <p:nvPr/>
        </p:nvPicPr>
        <p:blipFill>
          <a:blip r:embed="rId2"/>
          <a:stretch>
            <a:fillRect/>
          </a:stretch>
        </p:blipFill>
        <p:spPr>
          <a:xfrm>
            <a:off x="0" y="286947"/>
            <a:ext cx="12192000" cy="6571053"/>
          </a:xfrm>
          <a:prstGeom prst="rect">
            <a:avLst/>
          </a:prstGeom>
        </p:spPr>
      </p:pic>
      <p:sp>
        <p:nvSpPr>
          <p:cNvPr id="6" name="TextBox 5">
            <a:extLst>
              <a:ext uri="{FF2B5EF4-FFF2-40B4-BE49-F238E27FC236}">
                <a16:creationId xmlns:a16="http://schemas.microsoft.com/office/drawing/2014/main" id="{675146D2-E2C7-699C-081D-A1B647348F62}"/>
              </a:ext>
            </a:extLst>
          </p:cNvPr>
          <p:cNvSpPr txBox="1"/>
          <p:nvPr/>
        </p:nvSpPr>
        <p:spPr>
          <a:xfrm>
            <a:off x="3331629" y="3962401"/>
            <a:ext cx="2053171" cy="646331"/>
          </a:xfrm>
          <a:prstGeom prst="rect">
            <a:avLst/>
          </a:prstGeom>
          <a:noFill/>
        </p:spPr>
        <p:txBody>
          <a:bodyPr wrap="square" rtlCol="0">
            <a:spAutoFit/>
          </a:bodyPr>
          <a:lstStyle/>
          <a:p>
            <a:r>
              <a:rPr lang="en-US" sz="1800" dirty="0">
                <a:solidFill>
                  <a:srgbClr val="00FF00"/>
                </a:solidFill>
              </a:rPr>
              <a:t>Light source nearly centered</a:t>
            </a:r>
          </a:p>
        </p:txBody>
      </p:sp>
      <p:cxnSp>
        <p:nvCxnSpPr>
          <p:cNvPr id="7" name="Straight Arrow Connector 6">
            <a:extLst>
              <a:ext uri="{FF2B5EF4-FFF2-40B4-BE49-F238E27FC236}">
                <a16:creationId xmlns:a16="http://schemas.microsoft.com/office/drawing/2014/main" id="{D977100D-709F-C21E-C4CD-61838F64499D}"/>
              </a:ext>
            </a:extLst>
          </p:cNvPr>
          <p:cNvCxnSpPr>
            <a:cxnSpLocks/>
          </p:cNvCxnSpPr>
          <p:nvPr/>
        </p:nvCxnSpPr>
        <p:spPr>
          <a:xfrm>
            <a:off x="2736850" y="4512732"/>
            <a:ext cx="436032" cy="0"/>
          </a:xfrm>
          <a:prstGeom prst="straightConnector1">
            <a:avLst/>
          </a:prstGeom>
          <a:ln w="5715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F960895F-F868-899A-CDE6-1614DD283CFD}"/>
              </a:ext>
            </a:extLst>
          </p:cNvPr>
          <p:cNvSpPr/>
          <p:nvPr/>
        </p:nvSpPr>
        <p:spPr>
          <a:xfrm>
            <a:off x="2133599" y="3352797"/>
            <a:ext cx="1642534" cy="262467"/>
          </a:xfrm>
          <a:prstGeom prst="rect">
            <a:avLst/>
          </a:prstGeom>
          <a:noFill/>
          <a:ln>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AE1E058-F6B5-876A-65A5-FA9F5746888A}"/>
              </a:ext>
            </a:extLst>
          </p:cNvPr>
          <p:cNvSpPr txBox="1"/>
          <p:nvPr/>
        </p:nvSpPr>
        <p:spPr>
          <a:xfrm>
            <a:off x="156632" y="484310"/>
            <a:ext cx="3272368" cy="523220"/>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“NiTE_on_invar_v1o0A_20250915.xls”</a:t>
            </a:r>
          </a:p>
        </p:txBody>
      </p:sp>
      <p:cxnSp>
        <p:nvCxnSpPr>
          <p:cNvPr id="11" name="Straight Arrow Connector 10">
            <a:extLst>
              <a:ext uri="{FF2B5EF4-FFF2-40B4-BE49-F238E27FC236}">
                <a16:creationId xmlns:a16="http://schemas.microsoft.com/office/drawing/2014/main" id="{B0B31A41-6FD4-0705-EE11-52133C27AF91}"/>
              </a:ext>
            </a:extLst>
          </p:cNvPr>
          <p:cNvCxnSpPr>
            <a:cxnSpLocks/>
          </p:cNvCxnSpPr>
          <p:nvPr/>
        </p:nvCxnSpPr>
        <p:spPr>
          <a:xfrm>
            <a:off x="2736850" y="1168399"/>
            <a:ext cx="436032" cy="0"/>
          </a:xfrm>
          <a:prstGeom prst="straightConnector1">
            <a:avLst/>
          </a:prstGeom>
          <a:ln w="57150">
            <a:solidFill>
              <a:srgbClr val="00FF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5AA8100-CD17-DBFA-AD9B-47C207E4AAFF}"/>
              </a:ext>
            </a:extLst>
          </p:cNvPr>
          <p:cNvCxnSpPr>
            <a:cxnSpLocks/>
          </p:cNvCxnSpPr>
          <p:nvPr/>
        </p:nvCxnSpPr>
        <p:spPr>
          <a:xfrm>
            <a:off x="9203266" y="1007530"/>
            <a:ext cx="436032" cy="0"/>
          </a:xfrm>
          <a:prstGeom prst="straightConnector1">
            <a:avLst/>
          </a:prstGeom>
          <a:ln w="57150">
            <a:solidFill>
              <a:srgbClr val="00FF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910A4C4-6A5D-F491-63AA-D79817BD3EEA}"/>
              </a:ext>
            </a:extLst>
          </p:cNvPr>
          <p:cNvCxnSpPr>
            <a:cxnSpLocks/>
          </p:cNvCxnSpPr>
          <p:nvPr/>
        </p:nvCxnSpPr>
        <p:spPr>
          <a:xfrm>
            <a:off x="9203266" y="4600264"/>
            <a:ext cx="436032" cy="0"/>
          </a:xfrm>
          <a:prstGeom prst="straightConnector1">
            <a:avLst/>
          </a:prstGeom>
          <a:ln w="5715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8793933-698C-2203-FC31-E278EB73C5E9}"/>
              </a:ext>
            </a:extLst>
          </p:cNvPr>
          <p:cNvSpPr txBox="1"/>
          <p:nvPr/>
        </p:nvSpPr>
        <p:spPr>
          <a:xfrm>
            <a:off x="3776133" y="3437467"/>
            <a:ext cx="3335866" cy="369332"/>
          </a:xfrm>
          <a:prstGeom prst="rect">
            <a:avLst/>
          </a:prstGeom>
          <a:noFill/>
        </p:spPr>
        <p:txBody>
          <a:bodyPr wrap="square" rtlCol="0">
            <a:spAutoFit/>
          </a:bodyPr>
          <a:lstStyle/>
          <a:p>
            <a:r>
              <a:rPr lang="en-US" sz="1800" dirty="0">
                <a:solidFill>
                  <a:srgbClr val="00FF00"/>
                </a:solidFill>
              </a:rPr>
              <a:t>Left/right has systematic error</a:t>
            </a:r>
          </a:p>
        </p:txBody>
      </p:sp>
    </p:spTree>
    <p:extLst>
      <p:ext uri="{BB962C8B-B14F-4D97-AF65-F5344CB8AC3E}">
        <p14:creationId xmlns:p14="http://schemas.microsoft.com/office/powerpoint/2010/main" val="23267137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216902-6B0C-D466-14C9-D64B312C6169}"/>
              </a:ext>
            </a:extLst>
          </p:cNvPr>
          <p:cNvPicPr>
            <a:picLocks noChangeAspect="1"/>
          </p:cNvPicPr>
          <p:nvPr/>
        </p:nvPicPr>
        <p:blipFill>
          <a:blip r:embed="rId2"/>
          <a:srcRect/>
          <a:stretch/>
        </p:blipFill>
        <p:spPr>
          <a:xfrm>
            <a:off x="0" y="178306"/>
            <a:ext cx="12192000" cy="6679693"/>
          </a:xfrm>
          <a:prstGeom prst="rect">
            <a:avLst/>
          </a:prstGeom>
        </p:spPr>
      </p:pic>
      <p:sp>
        <p:nvSpPr>
          <p:cNvPr id="6" name="TextBox 5">
            <a:extLst>
              <a:ext uri="{FF2B5EF4-FFF2-40B4-BE49-F238E27FC236}">
                <a16:creationId xmlns:a16="http://schemas.microsoft.com/office/drawing/2014/main" id="{8561F806-77E5-1F14-854C-86FCD6B17BDC}"/>
              </a:ext>
            </a:extLst>
          </p:cNvPr>
          <p:cNvSpPr txBox="1"/>
          <p:nvPr/>
        </p:nvSpPr>
        <p:spPr>
          <a:xfrm>
            <a:off x="2459565" y="4047067"/>
            <a:ext cx="1976968" cy="646331"/>
          </a:xfrm>
          <a:prstGeom prst="rect">
            <a:avLst/>
          </a:prstGeom>
          <a:noFill/>
        </p:spPr>
        <p:txBody>
          <a:bodyPr wrap="square" rtlCol="0">
            <a:spAutoFit/>
          </a:bodyPr>
          <a:lstStyle/>
          <a:p>
            <a:r>
              <a:rPr lang="en-US" sz="1800" dirty="0">
                <a:solidFill>
                  <a:srgbClr val="00FF00"/>
                </a:solidFill>
              </a:rPr>
              <a:t>Ok, expected at steep incidence</a:t>
            </a:r>
          </a:p>
        </p:txBody>
      </p:sp>
      <p:cxnSp>
        <p:nvCxnSpPr>
          <p:cNvPr id="7" name="Straight Arrow Connector 6">
            <a:extLst>
              <a:ext uri="{FF2B5EF4-FFF2-40B4-BE49-F238E27FC236}">
                <a16:creationId xmlns:a16="http://schemas.microsoft.com/office/drawing/2014/main" id="{8F755BC5-45B4-D1B9-4C7D-C9F031BAA433}"/>
              </a:ext>
            </a:extLst>
          </p:cNvPr>
          <p:cNvCxnSpPr/>
          <p:nvPr/>
        </p:nvCxnSpPr>
        <p:spPr>
          <a:xfrm flipH="1">
            <a:off x="1566333" y="4233333"/>
            <a:ext cx="457200" cy="0"/>
          </a:xfrm>
          <a:prstGeom prst="straightConnector1">
            <a:avLst/>
          </a:prstGeom>
          <a:ln w="5715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78EA2FE-686E-4589-43EC-B783B0CD5333}"/>
              </a:ext>
            </a:extLst>
          </p:cNvPr>
          <p:cNvSpPr/>
          <p:nvPr/>
        </p:nvSpPr>
        <p:spPr>
          <a:xfrm>
            <a:off x="-110075" y="3310462"/>
            <a:ext cx="1642534" cy="262467"/>
          </a:xfrm>
          <a:prstGeom prst="rect">
            <a:avLst/>
          </a:prstGeom>
          <a:noFill/>
          <a:ln>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34B8ECF-EE70-374E-913F-F42DD3D91617}"/>
              </a:ext>
            </a:extLst>
          </p:cNvPr>
          <p:cNvSpPr txBox="1"/>
          <p:nvPr/>
        </p:nvSpPr>
        <p:spPr>
          <a:xfrm>
            <a:off x="97366" y="335057"/>
            <a:ext cx="3272368" cy="523220"/>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“NiTE_on_invar_v1o0A_20250915.xls”</a:t>
            </a:r>
          </a:p>
        </p:txBody>
      </p:sp>
      <p:sp>
        <p:nvSpPr>
          <p:cNvPr id="10" name="TextBox 9">
            <a:extLst>
              <a:ext uri="{FF2B5EF4-FFF2-40B4-BE49-F238E27FC236}">
                <a16:creationId xmlns:a16="http://schemas.microsoft.com/office/drawing/2014/main" id="{66600EB1-2D42-21C1-75DD-8585B7435788}"/>
              </a:ext>
            </a:extLst>
          </p:cNvPr>
          <p:cNvSpPr txBox="1"/>
          <p:nvPr/>
        </p:nvSpPr>
        <p:spPr>
          <a:xfrm>
            <a:off x="1532459" y="3329536"/>
            <a:ext cx="2053171" cy="369332"/>
          </a:xfrm>
          <a:prstGeom prst="rect">
            <a:avLst/>
          </a:prstGeom>
          <a:noFill/>
        </p:spPr>
        <p:txBody>
          <a:bodyPr wrap="square" rtlCol="0">
            <a:spAutoFit/>
          </a:bodyPr>
          <a:lstStyle/>
          <a:p>
            <a:r>
              <a:rPr lang="en-US" sz="1800" dirty="0">
                <a:solidFill>
                  <a:srgbClr val="00FF00"/>
                </a:solidFill>
              </a:rPr>
              <a:t>Fore/aft</a:t>
            </a:r>
          </a:p>
        </p:txBody>
      </p:sp>
      <p:cxnSp>
        <p:nvCxnSpPr>
          <p:cNvPr id="11" name="Straight Arrow Connector 10">
            <a:extLst>
              <a:ext uri="{FF2B5EF4-FFF2-40B4-BE49-F238E27FC236}">
                <a16:creationId xmlns:a16="http://schemas.microsoft.com/office/drawing/2014/main" id="{03A7BDC5-B379-0D0F-48F9-49BC736C1918}"/>
              </a:ext>
            </a:extLst>
          </p:cNvPr>
          <p:cNvCxnSpPr/>
          <p:nvPr/>
        </p:nvCxnSpPr>
        <p:spPr>
          <a:xfrm flipH="1">
            <a:off x="7662333" y="4233333"/>
            <a:ext cx="457200" cy="0"/>
          </a:xfrm>
          <a:prstGeom prst="straightConnector1">
            <a:avLst/>
          </a:prstGeom>
          <a:ln w="57150">
            <a:solidFill>
              <a:srgbClr val="00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3777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4D8055A-6368-C2CD-5943-78DA1D8E01A7}"/>
              </a:ext>
            </a:extLst>
          </p:cNvPr>
          <p:cNvPicPr>
            <a:picLocks noChangeAspect="1"/>
          </p:cNvPicPr>
          <p:nvPr/>
        </p:nvPicPr>
        <p:blipFill>
          <a:blip r:embed="rId2"/>
          <a:srcRect t="2340"/>
          <a:stretch>
            <a:fillRect/>
          </a:stretch>
        </p:blipFill>
        <p:spPr>
          <a:xfrm>
            <a:off x="893040" y="2887134"/>
            <a:ext cx="7992358" cy="3970866"/>
          </a:xfrm>
          <a:prstGeom prst="rect">
            <a:avLst/>
          </a:prstGeom>
        </p:spPr>
      </p:pic>
      <p:sp>
        <p:nvSpPr>
          <p:cNvPr id="2" name="Title 1">
            <a:extLst>
              <a:ext uri="{FF2B5EF4-FFF2-40B4-BE49-F238E27FC236}">
                <a16:creationId xmlns:a16="http://schemas.microsoft.com/office/drawing/2014/main" id="{8519EEF3-5881-46DD-8F92-48166D20350C}"/>
              </a:ext>
            </a:extLst>
          </p:cNvPr>
          <p:cNvSpPr>
            <a:spLocks noGrp="1"/>
          </p:cNvSpPr>
          <p:nvPr>
            <p:ph type="title"/>
          </p:nvPr>
        </p:nvSpPr>
        <p:spPr/>
        <p:txBody>
          <a:bodyPr/>
          <a:lstStyle/>
          <a:p>
            <a:r>
              <a:rPr lang="en-US" dirty="0"/>
              <a:t>If misaligned left/right,</a:t>
            </a:r>
          </a:p>
        </p:txBody>
      </p:sp>
      <p:sp>
        <p:nvSpPr>
          <p:cNvPr id="3" name="Text Placeholder 2">
            <a:extLst>
              <a:ext uri="{FF2B5EF4-FFF2-40B4-BE49-F238E27FC236}">
                <a16:creationId xmlns:a16="http://schemas.microsoft.com/office/drawing/2014/main" id="{F359A412-FB96-6E4A-5DC2-DB451A9819CA}"/>
              </a:ext>
            </a:extLst>
          </p:cNvPr>
          <p:cNvSpPr>
            <a:spLocks noGrp="1"/>
          </p:cNvSpPr>
          <p:nvPr>
            <p:ph type="body" idx="1"/>
          </p:nvPr>
        </p:nvSpPr>
        <p:spPr/>
        <p:txBody>
          <a:bodyPr/>
          <a:lstStyle/>
          <a:p>
            <a:r>
              <a:rPr lang="en-US" dirty="0"/>
              <a:t>Cannot simply average to reduce alignment error</a:t>
            </a:r>
          </a:p>
          <a:p>
            <a:pPr lvl="1"/>
            <a:r>
              <a:rPr lang="en-US" dirty="0"/>
              <a:t>Because measured black line becomes like averaged red line</a:t>
            </a:r>
          </a:p>
        </p:txBody>
      </p:sp>
    </p:spTree>
    <p:extLst>
      <p:ext uri="{BB962C8B-B14F-4D97-AF65-F5344CB8AC3E}">
        <p14:creationId xmlns:p14="http://schemas.microsoft.com/office/powerpoint/2010/main" val="23203322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740DB-4048-6360-0A00-1FF329818F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03AB70-C750-3741-9343-67C2E7766D68}"/>
              </a:ext>
            </a:extLst>
          </p:cNvPr>
          <p:cNvSpPr>
            <a:spLocks noGrp="1"/>
          </p:cNvSpPr>
          <p:nvPr>
            <p:ph type="title"/>
          </p:nvPr>
        </p:nvSpPr>
        <p:spPr/>
        <p:txBody>
          <a:bodyPr/>
          <a:lstStyle/>
          <a:p>
            <a:r>
              <a:rPr lang="en-US" dirty="0"/>
              <a:t>If misaligned left/right,</a:t>
            </a:r>
          </a:p>
        </p:txBody>
      </p:sp>
      <p:sp>
        <p:nvSpPr>
          <p:cNvPr id="3" name="Text Placeholder 2">
            <a:extLst>
              <a:ext uri="{FF2B5EF4-FFF2-40B4-BE49-F238E27FC236}">
                <a16:creationId xmlns:a16="http://schemas.microsoft.com/office/drawing/2014/main" id="{E7BAFA25-E9DA-A2A0-B063-21DCC9B93E2D}"/>
              </a:ext>
            </a:extLst>
          </p:cNvPr>
          <p:cNvSpPr>
            <a:spLocks noGrp="1"/>
          </p:cNvSpPr>
          <p:nvPr>
            <p:ph type="body" idx="1"/>
          </p:nvPr>
        </p:nvSpPr>
        <p:spPr/>
        <p:txBody>
          <a:bodyPr/>
          <a:lstStyle/>
          <a:p>
            <a:r>
              <a:rPr lang="en-US" dirty="0"/>
              <a:t>Rather, shift entire dataset by empirical peak RT value</a:t>
            </a:r>
          </a:p>
        </p:txBody>
      </p:sp>
      <p:pic>
        <p:nvPicPr>
          <p:cNvPr id="4" name="Picture 3">
            <a:extLst>
              <a:ext uri="{FF2B5EF4-FFF2-40B4-BE49-F238E27FC236}">
                <a16:creationId xmlns:a16="http://schemas.microsoft.com/office/drawing/2014/main" id="{5C042B97-B61F-271E-BF6B-A922A308B23B}"/>
              </a:ext>
            </a:extLst>
          </p:cNvPr>
          <p:cNvPicPr>
            <a:picLocks noChangeAspect="1"/>
          </p:cNvPicPr>
          <p:nvPr/>
        </p:nvPicPr>
        <p:blipFill>
          <a:blip r:embed="rId2"/>
          <a:srcRect l="595" r="595"/>
          <a:stretch/>
        </p:blipFill>
        <p:spPr>
          <a:xfrm>
            <a:off x="893040" y="2887134"/>
            <a:ext cx="7992358" cy="3970866"/>
          </a:xfrm>
          <a:prstGeom prst="rect">
            <a:avLst/>
          </a:prstGeom>
        </p:spPr>
      </p:pic>
    </p:spTree>
    <p:extLst>
      <p:ext uri="{BB962C8B-B14F-4D97-AF65-F5344CB8AC3E}">
        <p14:creationId xmlns:p14="http://schemas.microsoft.com/office/powerpoint/2010/main" val="30687822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D46DF-BBD4-E633-E008-7F28EF77422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30D85A1-CF2A-4708-1762-D198D3ED0E61}"/>
              </a:ext>
            </a:extLst>
          </p:cNvPr>
          <p:cNvPicPr>
            <a:picLocks noChangeAspect="1"/>
          </p:cNvPicPr>
          <p:nvPr/>
        </p:nvPicPr>
        <p:blipFill>
          <a:blip r:embed="rId2"/>
          <a:stretch>
            <a:fillRect/>
          </a:stretch>
        </p:blipFill>
        <p:spPr>
          <a:xfrm>
            <a:off x="0" y="401988"/>
            <a:ext cx="12192000" cy="6456012"/>
          </a:xfrm>
          <a:prstGeom prst="rect">
            <a:avLst/>
          </a:prstGeom>
        </p:spPr>
      </p:pic>
      <p:sp>
        <p:nvSpPr>
          <p:cNvPr id="6" name="TextBox 5">
            <a:extLst>
              <a:ext uri="{FF2B5EF4-FFF2-40B4-BE49-F238E27FC236}">
                <a16:creationId xmlns:a16="http://schemas.microsoft.com/office/drawing/2014/main" id="{EC5598FB-3FE1-6CEE-FAD5-3D225A68412B}"/>
              </a:ext>
            </a:extLst>
          </p:cNvPr>
          <p:cNvSpPr txBox="1"/>
          <p:nvPr/>
        </p:nvSpPr>
        <p:spPr>
          <a:xfrm>
            <a:off x="3534830" y="3970867"/>
            <a:ext cx="2709334" cy="646331"/>
          </a:xfrm>
          <a:prstGeom prst="rect">
            <a:avLst/>
          </a:prstGeom>
          <a:noFill/>
        </p:spPr>
        <p:txBody>
          <a:bodyPr wrap="square" rtlCol="0">
            <a:spAutoFit/>
          </a:bodyPr>
          <a:lstStyle/>
          <a:p>
            <a:r>
              <a:rPr lang="en-US" sz="1800" dirty="0">
                <a:solidFill>
                  <a:srgbClr val="00FF00"/>
                </a:solidFill>
              </a:rPr>
              <a:t>Light source misaligned,</a:t>
            </a:r>
            <a:br>
              <a:rPr lang="en-US" sz="1800" dirty="0">
                <a:solidFill>
                  <a:srgbClr val="00FF00"/>
                </a:solidFill>
              </a:rPr>
            </a:br>
            <a:r>
              <a:rPr lang="en-US" sz="1800" dirty="0">
                <a:solidFill>
                  <a:srgbClr val="00FF00"/>
                </a:solidFill>
              </a:rPr>
              <a:t>should be centered here</a:t>
            </a:r>
          </a:p>
        </p:txBody>
      </p:sp>
      <p:cxnSp>
        <p:nvCxnSpPr>
          <p:cNvPr id="7" name="Straight Arrow Connector 6">
            <a:extLst>
              <a:ext uri="{FF2B5EF4-FFF2-40B4-BE49-F238E27FC236}">
                <a16:creationId xmlns:a16="http://schemas.microsoft.com/office/drawing/2014/main" id="{0164504A-7125-3072-BBA5-DDBBC745116A}"/>
              </a:ext>
            </a:extLst>
          </p:cNvPr>
          <p:cNvCxnSpPr>
            <a:cxnSpLocks/>
          </p:cNvCxnSpPr>
          <p:nvPr/>
        </p:nvCxnSpPr>
        <p:spPr>
          <a:xfrm>
            <a:off x="2904066" y="4546599"/>
            <a:ext cx="436032" cy="0"/>
          </a:xfrm>
          <a:prstGeom prst="straightConnector1">
            <a:avLst/>
          </a:prstGeom>
          <a:ln w="5715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42505EFD-0413-816D-BFAD-8726E42BE6FE}"/>
              </a:ext>
            </a:extLst>
          </p:cNvPr>
          <p:cNvSpPr/>
          <p:nvPr/>
        </p:nvSpPr>
        <p:spPr>
          <a:xfrm>
            <a:off x="905933" y="3429000"/>
            <a:ext cx="1642534" cy="262467"/>
          </a:xfrm>
          <a:prstGeom prst="rect">
            <a:avLst/>
          </a:prstGeom>
          <a:noFill/>
          <a:ln>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1529987-35FF-5635-688E-BA24F9531F1C}"/>
              </a:ext>
            </a:extLst>
          </p:cNvPr>
          <p:cNvSpPr txBox="1"/>
          <p:nvPr/>
        </p:nvSpPr>
        <p:spPr>
          <a:xfrm>
            <a:off x="2548467" y="3450735"/>
            <a:ext cx="3335866" cy="369332"/>
          </a:xfrm>
          <a:prstGeom prst="rect">
            <a:avLst/>
          </a:prstGeom>
          <a:noFill/>
        </p:spPr>
        <p:txBody>
          <a:bodyPr wrap="square" rtlCol="0">
            <a:spAutoFit/>
          </a:bodyPr>
          <a:lstStyle/>
          <a:p>
            <a:r>
              <a:rPr lang="en-US" sz="1800" dirty="0">
                <a:solidFill>
                  <a:srgbClr val="00FF00"/>
                </a:solidFill>
              </a:rPr>
              <a:t>Left/right has systematic error</a:t>
            </a:r>
          </a:p>
        </p:txBody>
      </p:sp>
      <p:cxnSp>
        <p:nvCxnSpPr>
          <p:cNvPr id="12" name="Straight Arrow Connector 11">
            <a:extLst>
              <a:ext uri="{FF2B5EF4-FFF2-40B4-BE49-F238E27FC236}">
                <a16:creationId xmlns:a16="http://schemas.microsoft.com/office/drawing/2014/main" id="{7B4298D2-83C3-4470-02F0-DD0C0C602484}"/>
              </a:ext>
            </a:extLst>
          </p:cNvPr>
          <p:cNvCxnSpPr>
            <a:cxnSpLocks/>
          </p:cNvCxnSpPr>
          <p:nvPr/>
        </p:nvCxnSpPr>
        <p:spPr>
          <a:xfrm>
            <a:off x="2904066" y="999066"/>
            <a:ext cx="436032" cy="0"/>
          </a:xfrm>
          <a:prstGeom prst="straightConnector1">
            <a:avLst/>
          </a:prstGeom>
          <a:ln w="57150">
            <a:solidFill>
              <a:srgbClr val="00FF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6CA4901-BF27-0C93-9F22-55B14724741A}"/>
              </a:ext>
            </a:extLst>
          </p:cNvPr>
          <p:cNvCxnSpPr>
            <a:cxnSpLocks/>
          </p:cNvCxnSpPr>
          <p:nvPr/>
        </p:nvCxnSpPr>
        <p:spPr>
          <a:xfrm>
            <a:off x="9287933" y="1015999"/>
            <a:ext cx="436032" cy="0"/>
          </a:xfrm>
          <a:prstGeom prst="straightConnector1">
            <a:avLst/>
          </a:prstGeom>
          <a:ln w="5715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F3FD98B-04A7-B54D-0310-A86F0E2DA192}"/>
              </a:ext>
            </a:extLst>
          </p:cNvPr>
          <p:cNvSpPr txBox="1"/>
          <p:nvPr/>
        </p:nvSpPr>
        <p:spPr>
          <a:xfrm>
            <a:off x="264581" y="594380"/>
            <a:ext cx="2857501" cy="523220"/>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“MagicBlack_v2o0_20250902.xls”</a:t>
            </a:r>
          </a:p>
        </p:txBody>
      </p:sp>
      <p:cxnSp>
        <p:nvCxnSpPr>
          <p:cNvPr id="14" name="Straight Arrow Connector 13">
            <a:extLst>
              <a:ext uri="{FF2B5EF4-FFF2-40B4-BE49-F238E27FC236}">
                <a16:creationId xmlns:a16="http://schemas.microsoft.com/office/drawing/2014/main" id="{AB44F4B3-8F7E-E994-6781-1320068A5648}"/>
              </a:ext>
            </a:extLst>
          </p:cNvPr>
          <p:cNvCxnSpPr>
            <a:cxnSpLocks/>
          </p:cNvCxnSpPr>
          <p:nvPr/>
        </p:nvCxnSpPr>
        <p:spPr>
          <a:xfrm>
            <a:off x="9287933" y="4529665"/>
            <a:ext cx="436032" cy="0"/>
          </a:xfrm>
          <a:prstGeom prst="straightConnector1">
            <a:avLst/>
          </a:prstGeom>
          <a:ln w="5715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24BB198-81F2-1511-8386-B51FFA82D37A}"/>
              </a:ext>
            </a:extLst>
          </p:cNvPr>
          <p:cNvSpPr txBox="1"/>
          <p:nvPr/>
        </p:nvSpPr>
        <p:spPr>
          <a:xfrm>
            <a:off x="4550832" y="702101"/>
            <a:ext cx="2857501" cy="830997"/>
          </a:xfrm>
          <a:prstGeom prst="rect">
            <a:avLst/>
          </a:prstGeom>
          <a:solidFill>
            <a:schemeClr val="bg1"/>
          </a:solidFill>
          <a:ln>
            <a:solidFill>
              <a:schemeClr val="bg2"/>
            </a:solidFill>
          </a:ln>
        </p:spPr>
        <p:txBody>
          <a:bodyPr wrap="square" rtlCol="0">
            <a:spAutoFit/>
          </a:bodyPr>
          <a:lstStyle/>
          <a:p>
            <a:r>
              <a:rPr lang="en-US" sz="2400" b="1" dirty="0">
                <a:solidFill>
                  <a:schemeClr val="bg2"/>
                </a:solidFill>
              </a:rPr>
              <a:t>COPIED FROM EARLIER SLIDE</a:t>
            </a:r>
          </a:p>
        </p:txBody>
      </p:sp>
    </p:spTree>
    <p:extLst>
      <p:ext uri="{BB962C8B-B14F-4D97-AF65-F5344CB8AC3E}">
        <p14:creationId xmlns:p14="http://schemas.microsoft.com/office/powerpoint/2010/main" val="38111972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3FB47-4A78-D372-8434-8600D12C468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3619781-7D6B-1949-EB62-BB7FBBAA59BE}"/>
              </a:ext>
            </a:extLst>
          </p:cNvPr>
          <p:cNvPicPr>
            <a:picLocks noChangeAspect="1"/>
          </p:cNvPicPr>
          <p:nvPr/>
        </p:nvPicPr>
        <p:blipFill>
          <a:blip r:embed="rId2"/>
          <a:srcRect/>
          <a:stretch/>
        </p:blipFill>
        <p:spPr>
          <a:xfrm>
            <a:off x="0" y="405013"/>
            <a:ext cx="12192000" cy="6449961"/>
          </a:xfrm>
          <a:prstGeom prst="rect">
            <a:avLst/>
          </a:prstGeom>
        </p:spPr>
      </p:pic>
      <p:sp>
        <p:nvSpPr>
          <p:cNvPr id="10" name="TextBox 9">
            <a:extLst>
              <a:ext uri="{FF2B5EF4-FFF2-40B4-BE49-F238E27FC236}">
                <a16:creationId xmlns:a16="http://schemas.microsoft.com/office/drawing/2014/main" id="{57527245-9896-D4C7-38C4-1A2BE79DD35C}"/>
              </a:ext>
            </a:extLst>
          </p:cNvPr>
          <p:cNvSpPr txBox="1"/>
          <p:nvPr/>
        </p:nvSpPr>
        <p:spPr>
          <a:xfrm>
            <a:off x="264581" y="594380"/>
            <a:ext cx="2857501" cy="523220"/>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“MagicBlack_v2o0_20250902.xls”</a:t>
            </a:r>
          </a:p>
        </p:txBody>
      </p:sp>
      <p:sp>
        <p:nvSpPr>
          <p:cNvPr id="2" name="TextBox 1">
            <a:extLst>
              <a:ext uri="{FF2B5EF4-FFF2-40B4-BE49-F238E27FC236}">
                <a16:creationId xmlns:a16="http://schemas.microsoft.com/office/drawing/2014/main" id="{AB343F60-8189-C963-2EF5-E073CC3DF45C}"/>
              </a:ext>
            </a:extLst>
          </p:cNvPr>
          <p:cNvSpPr txBox="1"/>
          <p:nvPr/>
        </p:nvSpPr>
        <p:spPr>
          <a:xfrm>
            <a:off x="5050027" y="855990"/>
            <a:ext cx="1859112" cy="461665"/>
          </a:xfrm>
          <a:prstGeom prst="rect">
            <a:avLst/>
          </a:prstGeom>
          <a:solidFill>
            <a:schemeClr val="bg1"/>
          </a:solidFill>
          <a:ln>
            <a:solidFill>
              <a:srgbClr val="00B050"/>
            </a:solidFill>
          </a:ln>
        </p:spPr>
        <p:txBody>
          <a:bodyPr wrap="square" rtlCol="0">
            <a:spAutoFit/>
          </a:bodyPr>
          <a:lstStyle/>
          <a:p>
            <a:pPr algn="ctr"/>
            <a:r>
              <a:rPr lang="en-US" sz="2400" b="1" dirty="0">
                <a:solidFill>
                  <a:srgbClr val="00B050"/>
                </a:solidFill>
              </a:rPr>
              <a:t>SHIFTED !</a:t>
            </a:r>
          </a:p>
        </p:txBody>
      </p:sp>
    </p:spTree>
    <p:extLst>
      <p:ext uri="{BB962C8B-B14F-4D97-AF65-F5344CB8AC3E}">
        <p14:creationId xmlns:p14="http://schemas.microsoft.com/office/powerpoint/2010/main" val="41227896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BCF3E-9972-81AD-1214-8AD88F4800C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EE5BC54-E869-1CD6-9D30-99DE2D7E5956}"/>
              </a:ext>
            </a:extLst>
          </p:cNvPr>
          <p:cNvPicPr>
            <a:picLocks noChangeAspect="1"/>
          </p:cNvPicPr>
          <p:nvPr/>
        </p:nvPicPr>
        <p:blipFill>
          <a:blip r:embed="rId2"/>
          <a:srcRect/>
          <a:stretch/>
        </p:blipFill>
        <p:spPr>
          <a:xfrm>
            <a:off x="0" y="290247"/>
            <a:ext cx="12192000" cy="6564452"/>
          </a:xfrm>
          <a:prstGeom prst="rect">
            <a:avLst/>
          </a:prstGeom>
        </p:spPr>
      </p:pic>
      <p:sp>
        <p:nvSpPr>
          <p:cNvPr id="6" name="TextBox 5">
            <a:extLst>
              <a:ext uri="{FF2B5EF4-FFF2-40B4-BE49-F238E27FC236}">
                <a16:creationId xmlns:a16="http://schemas.microsoft.com/office/drawing/2014/main" id="{572582FF-C8C8-6BAF-93C0-B057A7ECEFCC}"/>
              </a:ext>
            </a:extLst>
          </p:cNvPr>
          <p:cNvSpPr txBox="1"/>
          <p:nvPr/>
        </p:nvSpPr>
        <p:spPr>
          <a:xfrm>
            <a:off x="3331629" y="3962401"/>
            <a:ext cx="2053171" cy="646331"/>
          </a:xfrm>
          <a:prstGeom prst="rect">
            <a:avLst/>
          </a:prstGeom>
          <a:noFill/>
        </p:spPr>
        <p:txBody>
          <a:bodyPr wrap="square" rtlCol="0">
            <a:spAutoFit/>
          </a:bodyPr>
          <a:lstStyle/>
          <a:p>
            <a:r>
              <a:rPr lang="en-US" sz="1800" dirty="0">
                <a:solidFill>
                  <a:srgbClr val="00FF00"/>
                </a:solidFill>
              </a:rPr>
              <a:t>Light source nearly centered</a:t>
            </a:r>
          </a:p>
        </p:txBody>
      </p:sp>
      <p:cxnSp>
        <p:nvCxnSpPr>
          <p:cNvPr id="7" name="Straight Arrow Connector 6">
            <a:extLst>
              <a:ext uri="{FF2B5EF4-FFF2-40B4-BE49-F238E27FC236}">
                <a16:creationId xmlns:a16="http://schemas.microsoft.com/office/drawing/2014/main" id="{7F8B6C5E-EFD9-6231-E6FA-407565AE1DFE}"/>
              </a:ext>
            </a:extLst>
          </p:cNvPr>
          <p:cNvCxnSpPr>
            <a:cxnSpLocks/>
          </p:cNvCxnSpPr>
          <p:nvPr/>
        </p:nvCxnSpPr>
        <p:spPr>
          <a:xfrm>
            <a:off x="2736850" y="4512732"/>
            <a:ext cx="436032" cy="0"/>
          </a:xfrm>
          <a:prstGeom prst="straightConnector1">
            <a:avLst/>
          </a:prstGeom>
          <a:ln w="5715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AEF42A03-E4FA-AC3A-0E30-8643BE412C99}"/>
              </a:ext>
            </a:extLst>
          </p:cNvPr>
          <p:cNvSpPr/>
          <p:nvPr/>
        </p:nvSpPr>
        <p:spPr>
          <a:xfrm>
            <a:off x="2133599" y="3352797"/>
            <a:ext cx="1642534" cy="262467"/>
          </a:xfrm>
          <a:prstGeom prst="rect">
            <a:avLst/>
          </a:prstGeom>
          <a:noFill/>
          <a:ln>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FFDDED6-90BD-4D1B-2990-81C3CD194649}"/>
              </a:ext>
            </a:extLst>
          </p:cNvPr>
          <p:cNvSpPr txBox="1"/>
          <p:nvPr/>
        </p:nvSpPr>
        <p:spPr>
          <a:xfrm>
            <a:off x="156632" y="484310"/>
            <a:ext cx="3272368" cy="523220"/>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“NiTE_on_invar_v1o0A_20250915.xls”</a:t>
            </a:r>
          </a:p>
        </p:txBody>
      </p:sp>
      <p:cxnSp>
        <p:nvCxnSpPr>
          <p:cNvPr id="11" name="Straight Arrow Connector 10">
            <a:extLst>
              <a:ext uri="{FF2B5EF4-FFF2-40B4-BE49-F238E27FC236}">
                <a16:creationId xmlns:a16="http://schemas.microsoft.com/office/drawing/2014/main" id="{7A42CE75-A92A-74EB-88E3-C541BCF833BE}"/>
              </a:ext>
            </a:extLst>
          </p:cNvPr>
          <p:cNvCxnSpPr>
            <a:cxnSpLocks/>
          </p:cNvCxnSpPr>
          <p:nvPr/>
        </p:nvCxnSpPr>
        <p:spPr>
          <a:xfrm>
            <a:off x="2736850" y="1168399"/>
            <a:ext cx="436032" cy="0"/>
          </a:xfrm>
          <a:prstGeom prst="straightConnector1">
            <a:avLst/>
          </a:prstGeom>
          <a:ln w="57150">
            <a:solidFill>
              <a:srgbClr val="00FF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821DD49-088B-0EDC-C820-1A4AA23CC569}"/>
              </a:ext>
            </a:extLst>
          </p:cNvPr>
          <p:cNvCxnSpPr>
            <a:cxnSpLocks/>
          </p:cNvCxnSpPr>
          <p:nvPr/>
        </p:nvCxnSpPr>
        <p:spPr>
          <a:xfrm>
            <a:off x="9203266" y="1007530"/>
            <a:ext cx="436032" cy="0"/>
          </a:xfrm>
          <a:prstGeom prst="straightConnector1">
            <a:avLst/>
          </a:prstGeom>
          <a:ln w="57150">
            <a:solidFill>
              <a:srgbClr val="00FF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98243DA-DB20-0A2C-641B-CA3B026884C6}"/>
              </a:ext>
            </a:extLst>
          </p:cNvPr>
          <p:cNvCxnSpPr>
            <a:cxnSpLocks/>
          </p:cNvCxnSpPr>
          <p:nvPr/>
        </p:nvCxnSpPr>
        <p:spPr>
          <a:xfrm>
            <a:off x="9203266" y="4600264"/>
            <a:ext cx="436032" cy="0"/>
          </a:xfrm>
          <a:prstGeom prst="straightConnector1">
            <a:avLst/>
          </a:prstGeom>
          <a:ln w="5715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C15EA0F-BAE7-61E7-31A9-C76799C96195}"/>
              </a:ext>
            </a:extLst>
          </p:cNvPr>
          <p:cNvSpPr txBox="1"/>
          <p:nvPr/>
        </p:nvSpPr>
        <p:spPr>
          <a:xfrm>
            <a:off x="3776133" y="3437467"/>
            <a:ext cx="3335866" cy="369332"/>
          </a:xfrm>
          <a:prstGeom prst="rect">
            <a:avLst/>
          </a:prstGeom>
          <a:noFill/>
        </p:spPr>
        <p:txBody>
          <a:bodyPr wrap="square" rtlCol="0">
            <a:spAutoFit/>
          </a:bodyPr>
          <a:lstStyle/>
          <a:p>
            <a:r>
              <a:rPr lang="en-US" sz="1800" dirty="0">
                <a:solidFill>
                  <a:srgbClr val="00FF00"/>
                </a:solidFill>
              </a:rPr>
              <a:t>Left/right has systematic error</a:t>
            </a:r>
          </a:p>
        </p:txBody>
      </p:sp>
      <p:sp>
        <p:nvSpPr>
          <p:cNvPr id="2" name="TextBox 1">
            <a:extLst>
              <a:ext uri="{FF2B5EF4-FFF2-40B4-BE49-F238E27FC236}">
                <a16:creationId xmlns:a16="http://schemas.microsoft.com/office/drawing/2014/main" id="{B7F3664E-81E9-B4F0-D559-66E31C12A63A}"/>
              </a:ext>
            </a:extLst>
          </p:cNvPr>
          <p:cNvSpPr txBox="1"/>
          <p:nvPr/>
        </p:nvSpPr>
        <p:spPr>
          <a:xfrm>
            <a:off x="4550832" y="702101"/>
            <a:ext cx="2857501" cy="830997"/>
          </a:xfrm>
          <a:prstGeom prst="rect">
            <a:avLst/>
          </a:prstGeom>
          <a:solidFill>
            <a:schemeClr val="bg1"/>
          </a:solidFill>
          <a:ln>
            <a:solidFill>
              <a:schemeClr val="bg2"/>
            </a:solidFill>
          </a:ln>
        </p:spPr>
        <p:txBody>
          <a:bodyPr wrap="square" rtlCol="0">
            <a:spAutoFit/>
          </a:bodyPr>
          <a:lstStyle/>
          <a:p>
            <a:r>
              <a:rPr lang="en-US" sz="2400" b="1" dirty="0">
                <a:solidFill>
                  <a:schemeClr val="bg2"/>
                </a:solidFill>
              </a:rPr>
              <a:t>COPIED FROM EARLIER SLIDE</a:t>
            </a:r>
          </a:p>
        </p:txBody>
      </p:sp>
    </p:spTree>
    <p:extLst>
      <p:ext uri="{BB962C8B-B14F-4D97-AF65-F5344CB8AC3E}">
        <p14:creationId xmlns:p14="http://schemas.microsoft.com/office/powerpoint/2010/main" val="41130329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BBF54-79ED-41AC-5EF1-84C5D50AEBB0}"/>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AAB0F2B3-A7DC-BF24-9930-19D5F8485443}"/>
              </a:ext>
            </a:extLst>
          </p:cNvPr>
          <p:cNvPicPr>
            <a:picLocks noChangeAspect="1"/>
          </p:cNvPicPr>
          <p:nvPr/>
        </p:nvPicPr>
        <p:blipFill>
          <a:blip r:embed="rId2">
            <a:alphaModFix/>
          </a:blip>
          <a:stretch>
            <a:fillRect/>
          </a:stretch>
        </p:blipFill>
        <p:spPr>
          <a:xfrm>
            <a:off x="-347472" y="289631"/>
            <a:ext cx="12530328" cy="6558844"/>
          </a:xfrm>
          <a:prstGeom prst="rect">
            <a:avLst/>
          </a:prstGeom>
        </p:spPr>
      </p:pic>
      <p:sp>
        <p:nvSpPr>
          <p:cNvPr id="9" name="TextBox 8">
            <a:extLst>
              <a:ext uri="{FF2B5EF4-FFF2-40B4-BE49-F238E27FC236}">
                <a16:creationId xmlns:a16="http://schemas.microsoft.com/office/drawing/2014/main" id="{41C5D25A-0CCD-346D-BFA3-B4C6A4F5F0CC}"/>
              </a:ext>
            </a:extLst>
          </p:cNvPr>
          <p:cNvSpPr txBox="1"/>
          <p:nvPr/>
        </p:nvSpPr>
        <p:spPr>
          <a:xfrm>
            <a:off x="156632" y="484310"/>
            <a:ext cx="3272368" cy="523220"/>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“NiTE_on_invar_v1o0A_20250915.xls”</a:t>
            </a:r>
          </a:p>
        </p:txBody>
      </p:sp>
      <p:sp>
        <p:nvSpPr>
          <p:cNvPr id="17" name="TextBox 16">
            <a:extLst>
              <a:ext uri="{FF2B5EF4-FFF2-40B4-BE49-F238E27FC236}">
                <a16:creationId xmlns:a16="http://schemas.microsoft.com/office/drawing/2014/main" id="{55053597-B03A-B04D-5934-9434E761BBFA}"/>
              </a:ext>
            </a:extLst>
          </p:cNvPr>
          <p:cNvSpPr txBox="1"/>
          <p:nvPr/>
        </p:nvSpPr>
        <p:spPr>
          <a:xfrm>
            <a:off x="5050027" y="855990"/>
            <a:ext cx="1859112" cy="461665"/>
          </a:xfrm>
          <a:prstGeom prst="rect">
            <a:avLst/>
          </a:prstGeom>
          <a:solidFill>
            <a:schemeClr val="bg1"/>
          </a:solidFill>
          <a:ln>
            <a:solidFill>
              <a:srgbClr val="00B050"/>
            </a:solidFill>
          </a:ln>
        </p:spPr>
        <p:txBody>
          <a:bodyPr wrap="square" rtlCol="0">
            <a:spAutoFit/>
          </a:bodyPr>
          <a:lstStyle/>
          <a:p>
            <a:pPr algn="ctr"/>
            <a:r>
              <a:rPr lang="en-US" sz="2400" b="1" dirty="0">
                <a:solidFill>
                  <a:srgbClr val="00B050"/>
                </a:solidFill>
              </a:rPr>
              <a:t>SHIFTED !</a:t>
            </a:r>
          </a:p>
        </p:txBody>
      </p:sp>
    </p:spTree>
    <p:extLst>
      <p:ext uri="{BB962C8B-B14F-4D97-AF65-F5344CB8AC3E}">
        <p14:creationId xmlns:p14="http://schemas.microsoft.com/office/powerpoint/2010/main" val="17363999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89720-AA53-F854-3CE1-0E85B591C39F}"/>
              </a:ext>
            </a:extLst>
          </p:cNvPr>
          <p:cNvSpPr>
            <a:spLocks noGrp="1"/>
          </p:cNvSpPr>
          <p:nvPr>
            <p:ph type="title"/>
          </p:nvPr>
        </p:nvSpPr>
        <p:spPr/>
        <p:txBody>
          <a:bodyPr/>
          <a:lstStyle/>
          <a:p>
            <a:r>
              <a:rPr lang="en-US" dirty="0"/>
              <a:t>Note about shifting</a:t>
            </a:r>
          </a:p>
        </p:txBody>
      </p:sp>
      <p:sp>
        <p:nvSpPr>
          <p:cNvPr id="3" name="Text Placeholder 2">
            <a:extLst>
              <a:ext uri="{FF2B5EF4-FFF2-40B4-BE49-F238E27FC236}">
                <a16:creationId xmlns:a16="http://schemas.microsoft.com/office/drawing/2014/main" id="{F0651085-50AB-4BB9-076E-1DA25203A050}"/>
              </a:ext>
            </a:extLst>
          </p:cNvPr>
          <p:cNvSpPr>
            <a:spLocks noGrp="1"/>
          </p:cNvSpPr>
          <p:nvPr>
            <p:ph type="body" idx="1"/>
          </p:nvPr>
        </p:nvSpPr>
        <p:spPr/>
        <p:txBody>
          <a:bodyPr/>
          <a:lstStyle/>
          <a:p>
            <a:r>
              <a:rPr lang="en-US" dirty="0"/>
              <a:t>Should average all measurements made with same light source alignment</a:t>
            </a:r>
          </a:p>
          <a:p>
            <a:pPr lvl="1"/>
            <a:r>
              <a:rPr lang="en-US" dirty="0"/>
              <a:t>x3: </a:t>
            </a:r>
            <a:r>
              <a:rPr lang="en-US" dirty="0" err="1"/>
              <a:t>NiTE_on_invar</a:t>
            </a:r>
            <a:endParaRPr lang="en-US" dirty="0"/>
          </a:p>
          <a:p>
            <a:pPr lvl="1"/>
            <a:r>
              <a:rPr lang="en-US" dirty="0"/>
              <a:t>x3: </a:t>
            </a:r>
            <a:r>
              <a:rPr lang="en-US" dirty="0" err="1"/>
              <a:t>NiTE_on_steel</a:t>
            </a:r>
            <a:endParaRPr lang="en-US" dirty="0"/>
          </a:p>
          <a:p>
            <a:pPr lvl="1"/>
            <a:r>
              <a:rPr lang="en-US" dirty="0"/>
              <a:t>x9: CMOS (but anisotropic might not give clear specular RT max)</a:t>
            </a:r>
          </a:p>
        </p:txBody>
      </p:sp>
    </p:spTree>
    <p:extLst>
      <p:ext uri="{BB962C8B-B14F-4D97-AF65-F5344CB8AC3E}">
        <p14:creationId xmlns:p14="http://schemas.microsoft.com/office/powerpoint/2010/main" val="41112710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4CF5D-13E4-0636-1B70-B1B058EAFF6B}"/>
              </a:ext>
            </a:extLst>
          </p:cNvPr>
          <p:cNvSpPr>
            <a:spLocks noGrp="1"/>
          </p:cNvSpPr>
          <p:nvPr>
            <p:ph type="title"/>
          </p:nvPr>
        </p:nvSpPr>
        <p:spPr/>
        <p:txBody>
          <a:bodyPr/>
          <a:lstStyle/>
          <a:p>
            <a:r>
              <a:rPr lang="en-US" dirty="0"/>
              <a:t>Now, onto interpolation of (</a:t>
            </a:r>
            <a:r>
              <a:rPr lang="en-US" dirty="0" err="1"/>
              <a:t>Az,Rz</a:t>
            </a:r>
            <a:r>
              <a:rPr lang="en-US" dirty="0"/>
              <a:t>)</a:t>
            </a:r>
          </a:p>
        </p:txBody>
      </p:sp>
      <p:sp>
        <p:nvSpPr>
          <p:cNvPr id="3" name="Text Placeholder 2">
            <a:extLst>
              <a:ext uri="{FF2B5EF4-FFF2-40B4-BE49-F238E27FC236}">
                <a16:creationId xmlns:a16="http://schemas.microsoft.com/office/drawing/2014/main" id="{C360F1F1-C9F0-5F6D-80F5-7BE0BCE0F006}"/>
              </a:ext>
            </a:extLst>
          </p:cNvPr>
          <p:cNvSpPr>
            <a:spLocks noGrp="1"/>
          </p:cNvSpPr>
          <p:nvPr>
            <p:ph type="body" idx="1"/>
          </p:nvPr>
        </p:nvSpPr>
        <p:spPr/>
        <p:txBody>
          <a:bodyPr/>
          <a:lstStyle/>
          <a:p>
            <a:endParaRPr lang="en-US" dirty="0"/>
          </a:p>
        </p:txBody>
      </p:sp>
      <p:pic>
        <p:nvPicPr>
          <p:cNvPr id="7" name="Picture 6">
            <a:extLst>
              <a:ext uri="{FF2B5EF4-FFF2-40B4-BE49-F238E27FC236}">
                <a16:creationId xmlns:a16="http://schemas.microsoft.com/office/drawing/2014/main" id="{B122942D-DF12-A757-BE0E-DE0394F66DD5}"/>
              </a:ext>
            </a:extLst>
          </p:cNvPr>
          <p:cNvPicPr>
            <a:picLocks noChangeAspect="1"/>
          </p:cNvPicPr>
          <p:nvPr/>
        </p:nvPicPr>
        <p:blipFill>
          <a:blip r:embed="rId2"/>
          <a:stretch>
            <a:fillRect/>
          </a:stretch>
        </p:blipFill>
        <p:spPr>
          <a:xfrm>
            <a:off x="4310498" y="2217881"/>
            <a:ext cx="7411484" cy="4305901"/>
          </a:xfrm>
          <a:prstGeom prst="rect">
            <a:avLst/>
          </a:prstGeom>
        </p:spPr>
      </p:pic>
      <p:sp>
        <p:nvSpPr>
          <p:cNvPr id="8" name="Oval 7">
            <a:extLst>
              <a:ext uri="{FF2B5EF4-FFF2-40B4-BE49-F238E27FC236}">
                <a16:creationId xmlns:a16="http://schemas.microsoft.com/office/drawing/2014/main" id="{5BA71A99-6BB0-BD56-99D9-C1E517628953}"/>
              </a:ext>
            </a:extLst>
          </p:cNvPr>
          <p:cNvSpPr/>
          <p:nvPr/>
        </p:nvSpPr>
        <p:spPr>
          <a:xfrm rot="656651">
            <a:off x="7001654" y="5111690"/>
            <a:ext cx="1631969" cy="508232"/>
          </a:xfrm>
          <a:prstGeom prst="ellipse">
            <a:avLst/>
          </a:prstGeom>
          <a:noFill/>
          <a:ln w="3810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853B93F-6A2B-CB22-733F-760922425CE8}"/>
              </a:ext>
            </a:extLst>
          </p:cNvPr>
          <p:cNvSpPr txBox="1"/>
          <p:nvPr/>
        </p:nvSpPr>
        <p:spPr>
          <a:xfrm>
            <a:off x="8266255" y="3571877"/>
            <a:ext cx="2709334" cy="923330"/>
          </a:xfrm>
          <a:prstGeom prst="rect">
            <a:avLst/>
          </a:prstGeom>
          <a:noFill/>
        </p:spPr>
        <p:txBody>
          <a:bodyPr wrap="square" rtlCol="0">
            <a:spAutoFit/>
          </a:bodyPr>
          <a:lstStyle/>
          <a:p>
            <a:r>
              <a:rPr lang="en-US" sz="1800" dirty="0">
                <a:solidFill>
                  <a:srgbClr val="00FF00"/>
                </a:solidFill>
              </a:rPr>
              <a:t>These are failing, otherwise looks good by inspection</a:t>
            </a:r>
          </a:p>
        </p:txBody>
      </p:sp>
      <p:pic>
        <p:nvPicPr>
          <p:cNvPr id="11" name="Picture 10">
            <a:extLst>
              <a:ext uri="{FF2B5EF4-FFF2-40B4-BE49-F238E27FC236}">
                <a16:creationId xmlns:a16="http://schemas.microsoft.com/office/drawing/2014/main" id="{1AD1450D-CC03-1BC7-3B7C-A445C672DA25}"/>
              </a:ext>
            </a:extLst>
          </p:cNvPr>
          <p:cNvPicPr>
            <a:picLocks noChangeAspect="1"/>
          </p:cNvPicPr>
          <p:nvPr/>
        </p:nvPicPr>
        <p:blipFill>
          <a:blip r:embed="rId3"/>
          <a:stretch>
            <a:fillRect/>
          </a:stretch>
        </p:blipFill>
        <p:spPr>
          <a:xfrm>
            <a:off x="403611" y="1717144"/>
            <a:ext cx="5285989" cy="1854733"/>
          </a:xfrm>
          <a:prstGeom prst="rect">
            <a:avLst/>
          </a:prstGeom>
        </p:spPr>
      </p:pic>
      <p:sp>
        <p:nvSpPr>
          <p:cNvPr id="12" name="TextBox 11">
            <a:extLst>
              <a:ext uri="{FF2B5EF4-FFF2-40B4-BE49-F238E27FC236}">
                <a16:creationId xmlns:a16="http://schemas.microsoft.com/office/drawing/2014/main" id="{5EAF6A8C-F560-031F-D880-8F1A84367561}"/>
              </a:ext>
            </a:extLst>
          </p:cNvPr>
          <p:cNvSpPr txBox="1"/>
          <p:nvPr/>
        </p:nvSpPr>
        <p:spPr>
          <a:xfrm>
            <a:off x="8166776" y="2878314"/>
            <a:ext cx="3272368" cy="523220"/>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“NiTE_on_invar_v1o0A_20250915.xls”</a:t>
            </a:r>
          </a:p>
        </p:txBody>
      </p:sp>
    </p:spTree>
    <p:extLst>
      <p:ext uri="{BB962C8B-B14F-4D97-AF65-F5344CB8AC3E}">
        <p14:creationId xmlns:p14="http://schemas.microsoft.com/office/powerpoint/2010/main" val="35474155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A7275-14C2-04ED-6127-749958553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FCE17D-6AEC-4934-8937-8D5C0149A916}"/>
              </a:ext>
            </a:extLst>
          </p:cNvPr>
          <p:cNvSpPr>
            <a:spLocks noGrp="1"/>
          </p:cNvSpPr>
          <p:nvPr>
            <p:ph type="ctrTitle"/>
          </p:nvPr>
        </p:nvSpPr>
        <p:spPr/>
        <p:txBody>
          <a:bodyPr/>
          <a:lstStyle/>
          <a:p>
            <a:r>
              <a:rPr lang="en-US" sz="3600" dirty="0"/>
              <a:t>Other</a:t>
            </a:r>
          </a:p>
        </p:txBody>
      </p:sp>
      <p:sp>
        <p:nvSpPr>
          <p:cNvPr id="5" name="Subtitle 4">
            <a:extLst>
              <a:ext uri="{FF2B5EF4-FFF2-40B4-BE49-F238E27FC236}">
                <a16:creationId xmlns:a16="http://schemas.microsoft.com/office/drawing/2014/main" id="{6A6CAED2-4BDA-5B64-6D3D-647F269F28CA}"/>
              </a:ext>
            </a:extLst>
          </p:cNvPr>
          <p:cNvSpPr>
            <a:spLocks noGrp="1"/>
          </p:cNvSpPr>
          <p:nvPr>
            <p:ph type="subTitle" idx="1"/>
          </p:nvPr>
        </p:nvSpPr>
        <p:spPr/>
        <p:txBody>
          <a:bodyPr>
            <a:normAutofit/>
          </a:bodyPr>
          <a:lstStyle/>
          <a:p>
            <a:r>
              <a:rPr lang="en-US" dirty="0"/>
              <a:t>2025/09/26</a:t>
            </a:r>
          </a:p>
        </p:txBody>
      </p:sp>
    </p:spTree>
    <p:extLst>
      <p:ext uri="{BB962C8B-B14F-4D97-AF65-F5344CB8AC3E}">
        <p14:creationId xmlns:p14="http://schemas.microsoft.com/office/powerpoint/2010/main" val="35235639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3EE0D-A353-209A-A21C-E4A8C58AC22D}"/>
              </a:ext>
            </a:extLst>
          </p:cNvPr>
          <p:cNvSpPr>
            <a:spLocks noGrp="1"/>
          </p:cNvSpPr>
          <p:nvPr>
            <p:ph type="title"/>
          </p:nvPr>
        </p:nvSpPr>
        <p:spPr/>
        <p:txBody>
          <a:bodyPr/>
          <a:lstStyle/>
          <a:p>
            <a:r>
              <a:rPr lang="en-US" dirty="0"/>
              <a:t>Note for anisotropic</a:t>
            </a:r>
          </a:p>
        </p:txBody>
      </p:sp>
      <p:sp>
        <p:nvSpPr>
          <p:cNvPr id="3" name="Text Placeholder 2">
            <a:extLst>
              <a:ext uri="{FF2B5EF4-FFF2-40B4-BE49-F238E27FC236}">
                <a16:creationId xmlns:a16="http://schemas.microsoft.com/office/drawing/2014/main" id="{3D680B1E-8FD2-CE29-361D-3712ED45A978}"/>
              </a:ext>
            </a:extLst>
          </p:cNvPr>
          <p:cNvSpPr>
            <a:spLocks noGrp="1"/>
          </p:cNvSpPr>
          <p:nvPr>
            <p:ph type="body" idx="1"/>
          </p:nvPr>
        </p:nvSpPr>
        <p:spPr/>
        <p:txBody>
          <a:bodyPr/>
          <a:lstStyle/>
          <a:p>
            <a:r>
              <a:rPr lang="en-US" dirty="0">
                <a:hlinkClick r:id="rId2"/>
              </a:rPr>
              <a:t>https://optics.ansys.com/hc/en-us/articles/43071089490451-How-to-use-tabular-BSDF-data-to-define-the-surface-scattering-distribution</a:t>
            </a:r>
            <a:endParaRPr lang="en-US" dirty="0"/>
          </a:p>
          <a:p>
            <a:pPr lvl="1"/>
            <a:r>
              <a:rPr lang="en-US" dirty="0"/>
              <a:t>Under “Interpolation”</a:t>
            </a:r>
          </a:p>
        </p:txBody>
      </p:sp>
      <p:pic>
        <p:nvPicPr>
          <p:cNvPr id="5" name="Picture 4">
            <a:extLst>
              <a:ext uri="{FF2B5EF4-FFF2-40B4-BE49-F238E27FC236}">
                <a16:creationId xmlns:a16="http://schemas.microsoft.com/office/drawing/2014/main" id="{5CAD7B42-181C-1DDE-5157-18840A29E797}"/>
              </a:ext>
            </a:extLst>
          </p:cNvPr>
          <p:cNvPicPr>
            <a:picLocks noChangeAspect="1"/>
          </p:cNvPicPr>
          <p:nvPr/>
        </p:nvPicPr>
        <p:blipFill>
          <a:blip r:embed="rId3"/>
          <a:stretch>
            <a:fillRect/>
          </a:stretch>
        </p:blipFill>
        <p:spPr>
          <a:xfrm>
            <a:off x="235755" y="3939382"/>
            <a:ext cx="11212490" cy="2048161"/>
          </a:xfrm>
          <a:prstGeom prst="rect">
            <a:avLst/>
          </a:prstGeom>
        </p:spPr>
      </p:pic>
    </p:spTree>
    <p:extLst>
      <p:ext uri="{BB962C8B-B14F-4D97-AF65-F5344CB8AC3E}">
        <p14:creationId xmlns:p14="http://schemas.microsoft.com/office/powerpoint/2010/main" val="32172173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E8098-5291-7659-0077-4117E1548DB7}"/>
              </a:ext>
            </a:extLst>
          </p:cNvPr>
          <p:cNvSpPr>
            <a:spLocks noGrp="1"/>
          </p:cNvSpPr>
          <p:nvPr>
            <p:ph type="title"/>
          </p:nvPr>
        </p:nvSpPr>
        <p:spPr/>
        <p:txBody>
          <a:bodyPr/>
          <a:lstStyle/>
          <a:p>
            <a:r>
              <a:rPr lang="en-US" dirty="0"/>
              <a:t>Note for TIS</a:t>
            </a:r>
          </a:p>
        </p:txBody>
      </p:sp>
      <p:sp>
        <p:nvSpPr>
          <p:cNvPr id="3" name="Text Placeholder 2">
            <a:extLst>
              <a:ext uri="{FF2B5EF4-FFF2-40B4-BE49-F238E27FC236}">
                <a16:creationId xmlns:a16="http://schemas.microsoft.com/office/drawing/2014/main" id="{9D24638F-2724-1A05-5FB0-F38C095E4D6A}"/>
              </a:ext>
            </a:extLst>
          </p:cNvPr>
          <p:cNvSpPr>
            <a:spLocks noGrp="1"/>
          </p:cNvSpPr>
          <p:nvPr>
            <p:ph type="body" idx="1"/>
          </p:nvPr>
        </p:nvSpPr>
        <p:spPr/>
        <p:txBody>
          <a:bodyPr/>
          <a:lstStyle/>
          <a:p>
            <a:r>
              <a:rPr lang="en-US" dirty="0"/>
              <a:t>optics.ansys.com/</a:t>
            </a:r>
            <a:r>
              <a:rPr lang="en-US" dirty="0" err="1"/>
              <a:t>hc</a:t>
            </a:r>
            <a:r>
              <a:rPr lang="en-US" dirty="0"/>
              <a:t>/</a:t>
            </a:r>
            <a:r>
              <a:rPr lang="en-US" dirty="0" err="1"/>
              <a:t>en</a:t>
            </a:r>
            <a:r>
              <a:rPr lang="en-US" dirty="0"/>
              <a:t>-us/articles/43071132076435-How-to-create-a-user-defined-scattering-function</a:t>
            </a:r>
          </a:p>
          <a:p>
            <a:pPr lvl="1"/>
            <a:r>
              <a:rPr lang="en-US" dirty="0"/>
              <a:t>Says integral for Rz should be 0 to pi/2, not 0 to pi</a:t>
            </a:r>
          </a:p>
        </p:txBody>
      </p:sp>
    </p:spTree>
    <p:extLst>
      <p:ext uri="{BB962C8B-B14F-4D97-AF65-F5344CB8AC3E}">
        <p14:creationId xmlns:p14="http://schemas.microsoft.com/office/powerpoint/2010/main" val="23378018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D427A-46BF-BBD5-8AF9-26830479BC6E}"/>
              </a:ext>
            </a:extLst>
          </p:cNvPr>
          <p:cNvSpPr>
            <a:spLocks noGrp="1"/>
          </p:cNvSpPr>
          <p:nvPr>
            <p:ph type="title"/>
          </p:nvPr>
        </p:nvSpPr>
        <p:spPr/>
        <p:txBody>
          <a:bodyPr/>
          <a:lstStyle/>
          <a:p>
            <a:r>
              <a:rPr lang="en-US" dirty="0"/>
              <a:t>Note about </a:t>
            </a:r>
            <a:r>
              <a:rPr lang="en-US" dirty="0" err="1"/>
              <a:t>Zemax</a:t>
            </a:r>
            <a:r>
              <a:rPr lang="en-US" dirty="0"/>
              <a:t> / </a:t>
            </a:r>
            <a:r>
              <a:rPr lang="en-US" dirty="0" err="1"/>
              <a:t>ScatterData</a:t>
            </a:r>
            <a:endParaRPr lang="en-US" dirty="0"/>
          </a:p>
        </p:txBody>
      </p:sp>
      <p:sp>
        <p:nvSpPr>
          <p:cNvPr id="3" name="Text Placeholder 2">
            <a:extLst>
              <a:ext uri="{FF2B5EF4-FFF2-40B4-BE49-F238E27FC236}">
                <a16:creationId xmlns:a16="http://schemas.microsoft.com/office/drawing/2014/main" id="{41009A22-8B36-D596-AFD3-1AA0BFD31CF4}"/>
              </a:ext>
            </a:extLst>
          </p:cNvPr>
          <p:cNvSpPr>
            <a:spLocks noGrp="1"/>
          </p:cNvSpPr>
          <p:nvPr>
            <p:ph type="body" idx="1"/>
          </p:nvPr>
        </p:nvSpPr>
        <p:spPr/>
        <p:txBody>
          <a:bodyPr/>
          <a:lstStyle/>
          <a:p>
            <a:r>
              <a:rPr lang="en-US" dirty="0"/>
              <a:t>All BSDF files except </a:t>
            </a:r>
            <a:r>
              <a:rPr lang="en-US" dirty="0" err="1"/>
              <a:t>BrownVinyl</a:t>
            </a:r>
            <a:r>
              <a:rPr lang="en-US" dirty="0"/>
              <a:t> were generated by “Chen and Harel”</a:t>
            </a:r>
          </a:p>
          <a:p>
            <a:pPr lvl="1"/>
            <a:r>
              <a:rPr lang="en-US" dirty="0"/>
              <a:t>These all say </a:t>
            </a:r>
            <a:r>
              <a:rPr lang="en-US" dirty="0" err="1"/>
              <a:t>PlaneSymmetric</a:t>
            </a:r>
            <a:r>
              <a:rPr lang="en-US" dirty="0"/>
              <a:t>, yet use [0, 90] U [270, 360) when docs make it clear symmetry should be [0, 180]</a:t>
            </a:r>
          </a:p>
          <a:p>
            <a:r>
              <a:rPr lang="en-US" dirty="0"/>
              <a:t>For </a:t>
            </a:r>
            <a:r>
              <a:rPr lang="en-US" dirty="0" err="1"/>
              <a:t>BrownVinyl</a:t>
            </a:r>
            <a:r>
              <a:rPr lang="en-US" dirty="0"/>
              <a:t>,</a:t>
            </a:r>
          </a:p>
          <a:p>
            <a:pPr lvl="1"/>
            <a:r>
              <a:rPr lang="en-US" dirty="0"/>
              <a:t>BRDF = 0, when receive angle &gt;80 deg</a:t>
            </a:r>
          </a:p>
        </p:txBody>
      </p:sp>
    </p:spTree>
    <p:extLst>
      <p:ext uri="{BB962C8B-B14F-4D97-AF65-F5344CB8AC3E}">
        <p14:creationId xmlns:p14="http://schemas.microsoft.com/office/powerpoint/2010/main" val="21289165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2DF18-36D1-405D-BED7-36406A9E3E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43BD89-0912-A555-297E-025FAAE9F99A}"/>
              </a:ext>
            </a:extLst>
          </p:cNvPr>
          <p:cNvSpPr>
            <a:spLocks noGrp="1"/>
          </p:cNvSpPr>
          <p:nvPr>
            <p:ph type="ctrTitle"/>
          </p:nvPr>
        </p:nvSpPr>
        <p:spPr/>
        <p:txBody>
          <a:bodyPr/>
          <a:lstStyle/>
          <a:p>
            <a:r>
              <a:rPr lang="en-US" sz="3600" dirty="0"/>
              <a:t>Debugging of isotropic interpolation to (Az, Rz)</a:t>
            </a:r>
            <a:br>
              <a:rPr lang="en-US" sz="3600" dirty="0"/>
            </a:br>
            <a:r>
              <a:rPr lang="en-US" sz="2800" dirty="0">
                <a:solidFill>
                  <a:schemeClr val="bg2"/>
                </a:solidFill>
              </a:rPr>
              <a:t>[continued]</a:t>
            </a:r>
            <a:endParaRPr lang="en-US" sz="3600" dirty="0">
              <a:solidFill>
                <a:schemeClr val="bg2"/>
              </a:solidFill>
            </a:endParaRPr>
          </a:p>
        </p:txBody>
      </p:sp>
      <p:sp>
        <p:nvSpPr>
          <p:cNvPr id="5" name="Subtitle 4">
            <a:extLst>
              <a:ext uri="{FF2B5EF4-FFF2-40B4-BE49-F238E27FC236}">
                <a16:creationId xmlns:a16="http://schemas.microsoft.com/office/drawing/2014/main" id="{891A97B3-999E-12D4-F2CF-39E9241499F8}"/>
              </a:ext>
            </a:extLst>
          </p:cNvPr>
          <p:cNvSpPr>
            <a:spLocks noGrp="1"/>
          </p:cNvSpPr>
          <p:nvPr>
            <p:ph type="subTitle" idx="1"/>
          </p:nvPr>
        </p:nvSpPr>
        <p:spPr/>
        <p:txBody>
          <a:bodyPr>
            <a:normAutofit/>
          </a:bodyPr>
          <a:lstStyle/>
          <a:p>
            <a:r>
              <a:rPr lang="en-US" dirty="0"/>
              <a:t>2025/09/30</a:t>
            </a:r>
          </a:p>
        </p:txBody>
      </p:sp>
    </p:spTree>
    <p:extLst>
      <p:ext uri="{BB962C8B-B14F-4D97-AF65-F5344CB8AC3E}">
        <p14:creationId xmlns:p14="http://schemas.microsoft.com/office/powerpoint/2010/main" val="34824463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E8514-D69F-3D7A-F408-ADF46CEF38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752F3D-78BC-8EA1-1C7B-8252C28CCE83}"/>
              </a:ext>
            </a:extLst>
          </p:cNvPr>
          <p:cNvSpPr>
            <a:spLocks noGrp="1"/>
          </p:cNvSpPr>
          <p:nvPr>
            <p:ph type="title"/>
          </p:nvPr>
        </p:nvSpPr>
        <p:spPr/>
        <p:txBody>
          <a:bodyPr/>
          <a:lstStyle/>
          <a:p>
            <a:r>
              <a:rPr lang="en-US" dirty="0"/>
              <a:t>Now, onto interpolation of (</a:t>
            </a:r>
            <a:r>
              <a:rPr lang="en-US" dirty="0" err="1"/>
              <a:t>Az,Rz</a:t>
            </a:r>
            <a:r>
              <a:rPr lang="en-US" dirty="0"/>
              <a:t>)</a:t>
            </a:r>
          </a:p>
        </p:txBody>
      </p:sp>
      <p:sp>
        <p:nvSpPr>
          <p:cNvPr id="3" name="Text Placeholder 2">
            <a:extLst>
              <a:ext uri="{FF2B5EF4-FFF2-40B4-BE49-F238E27FC236}">
                <a16:creationId xmlns:a16="http://schemas.microsoft.com/office/drawing/2014/main" id="{58CF8D6E-BE2A-0B0F-92BE-DAEBA12FE390}"/>
              </a:ext>
            </a:extLst>
          </p:cNvPr>
          <p:cNvSpPr>
            <a:spLocks noGrp="1"/>
          </p:cNvSpPr>
          <p:nvPr>
            <p:ph type="body" idx="1"/>
          </p:nvPr>
        </p:nvSpPr>
        <p:spPr>
          <a:xfrm>
            <a:off x="609600" y="1752601"/>
            <a:ext cx="3750733" cy="4373563"/>
          </a:xfrm>
        </p:spPr>
        <p:txBody>
          <a:bodyPr>
            <a:normAutofit/>
          </a:bodyPr>
          <a:lstStyle/>
          <a:p>
            <a:r>
              <a:rPr lang="en-US" sz="2400" dirty="0"/>
              <a:t>Solved</a:t>
            </a:r>
          </a:p>
          <a:p>
            <a:pPr lvl="1"/>
            <a:r>
              <a:rPr lang="en-US" sz="2000" dirty="0"/>
              <a:t>Bug was RT=nan where obscured, which impacted interpolation</a:t>
            </a:r>
          </a:p>
          <a:p>
            <a:pPr lvl="1"/>
            <a:r>
              <a:rPr lang="en-US" sz="2000" dirty="0"/>
              <a:t>Also needed to reorder quadrants from [I, II, III, IV] to [-IV, I, II, III] to interpolate to [I, II], i.e., Az = [0, 360) to [-90, 270), for interpolation to [0, 180]</a:t>
            </a:r>
          </a:p>
        </p:txBody>
      </p:sp>
      <p:pic>
        <p:nvPicPr>
          <p:cNvPr id="4" name="Picture 3">
            <a:extLst>
              <a:ext uri="{FF2B5EF4-FFF2-40B4-BE49-F238E27FC236}">
                <a16:creationId xmlns:a16="http://schemas.microsoft.com/office/drawing/2014/main" id="{E5E75774-4451-8F61-49E1-CAC6927BB154}"/>
              </a:ext>
            </a:extLst>
          </p:cNvPr>
          <p:cNvPicPr>
            <a:picLocks noChangeAspect="1"/>
          </p:cNvPicPr>
          <p:nvPr/>
        </p:nvPicPr>
        <p:blipFill>
          <a:blip r:embed="rId2"/>
          <a:srcRect/>
          <a:stretch/>
        </p:blipFill>
        <p:spPr>
          <a:xfrm>
            <a:off x="4495800" y="2347693"/>
            <a:ext cx="7226182" cy="4152767"/>
          </a:xfrm>
          <a:prstGeom prst="rect">
            <a:avLst/>
          </a:prstGeom>
        </p:spPr>
      </p:pic>
      <p:sp>
        <p:nvSpPr>
          <p:cNvPr id="10" name="TextBox 9">
            <a:extLst>
              <a:ext uri="{FF2B5EF4-FFF2-40B4-BE49-F238E27FC236}">
                <a16:creationId xmlns:a16="http://schemas.microsoft.com/office/drawing/2014/main" id="{94396361-5B71-8852-8F8D-1BB96DC9300E}"/>
              </a:ext>
            </a:extLst>
          </p:cNvPr>
          <p:cNvSpPr txBox="1"/>
          <p:nvPr/>
        </p:nvSpPr>
        <p:spPr>
          <a:xfrm>
            <a:off x="8166776" y="2878314"/>
            <a:ext cx="3272368" cy="523220"/>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“NiTE_on_invar_v1o0A_20250915.xls”</a:t>
            </a:r>
          </a:p>
        </p:txBody>
      </p:sp>
    </p:spTree>
    <p:extLst>
      <p:ext uri="{BB962C8B-B14F-4D97-AF65-F5344CB8AC3E}">
        <p14:creationId xmlns:p14="http://schemas.microsoft.com/office/powerpoint/2010/main" val="35094857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D268-8AE0-8907-DFB1-54CCF1E6BD05}"/>
              </a:ext>
            </a:extLst>
          </p:cNvPr>
          <p:cNvSpPr>
            <a:spLocks noGrp="1"/>
          </p:cNvSpPr>
          <p:nvPr>
            <p:ph type="title"/>
          </p:nvPr>
        </p:nvSpPr>
        <p:spPr/>
        <p:txBody>
          <a:bodyPr/>
          <a:lstStyle/>
          <a:p>
            <a:r>
              <a:rPr lang="en-US" dirty="0"/>
              <a:t>Manual setting of RT=0</a:t>
            </a:r>
          </a:p>
        </p:txBody>
      </p:sp>
      <p:sp>
        <p:nvSpPr>
          <p:cNvPr id="3" name="Text Placeholder 2">
            <a:extLst>
              <a:ext uri="{FF2B5EF4-FFF2-40B4-BE49-F238E27FC236}">
                <a16:creationId xmlns:a16="http://schemas.microsoft.com/office/drawing/2014/main" id="{6435DD80-9DE6-5D3E-55FF-AE52794E29EA}"/>
              </a:ext>
            </a:extLst>
          </p:cNvPr>
          <p:cNvSpPr>
            <a:spLocks noGrp="1"/>
          </p:cNvSpPr>
          <p:nvPr>
            <p:ph type="body" idx="1"/>
          </p:nvPr>
        </p:nvSpPr>
        <p:spPr/>
        <p:txBody>
          <a:bodyPr/>
          <a:lstStyle/>
          <a:p>
            <a:r>
              <a:rPr lang="en-US" dirty="0"/>
              <a:t>For angles that would be transmission, i.e., below sample, need to manually set to 0</a:t>
            </a:r>
          </a:p>
        </p:txBody>
      </p:sp>
      <p:pic>
        <p:nvPicPr>
          <p:cNvPr id="5" name="Picture 4">
            <a:extLst>
              <a:ext uri="{FF2B5EF4-FFF2-40B4-BE49-F238E27FC236}">
                <a16:creationId xmlns:a16="http://schemas.microsoft.com/office/drawing/2014/main" id="{BB4A1590-8514-2E64-6E63-A09B7C853866}"/>
              </a:ext>
            </a:extLst>
          </p:cNvPr>
          <p:cNvPicPr>
            <a:picLocks noChangeAspect="1"/>
          </p:cNvPicPr>
          <p:nvPr/>
        </p:nvPicPr>
        <p:blipFill>
          <a:blip r:embed="rId2"/>
          <a:stretch>
            <a:fillRect/>
          </a:stretch>
        </p:blipFill>
        <p:spPr>
          <a:xfrm>
            <a:off x="6145686" y="3717934"/>
            <a:ext cx="5700214" cy="2346701"/>
          </a:xfrm>
          <a:prstGeom prst="rect">
            <a:avLst/>
          </a:prstGeom>
        </p:spPr>
      </p:pic>
      <p:pic>
        <p:nvPicPr>
          <p:cNvPr id="7" name="Picture 6">
            <a:extLst>
              <a:ext uri="{FF2B5EF4-FFF2-40B4-BE49-F238E27FC236}">
                <a16:creationId xmlns:a16="http://schemas.microsoft.com/office/drawing/2014/main" id="{93E6EC4C-22C7-BF63-87C6-2031F22E3474}"/>
              </a:ext>
            </a:extLst>
          </p:cNvPr>
          <p:cNvPicPr>
            <a:picLocks noChangeAspect="1"/>
          </p:cNvPicPr>
          <p:nvPr/>
        </p:nvPicPr>
        <p:blipFill>
          <a:blip r:embed="rId3"/>
          <a:stretch>
            <a:fillRect/>
          </a:stretch>
        </p:blipFill>
        <p:spPr>
          <a:xfrm>
            <a:off x="168308" y="3717934"/>
            <a:ext cx="5769939" cy="2346701"/>
          </a:xfrm>
          <a:prstGeom prst="rect">
            <a:avLst/>
          </a:prstGeom>
        </p:spPr>
      </p:pic>
      <p:sp>
        <p:nvSpPr>
          <p:cNvPr id="9" name="TextBox 8">
            <a:extLst>
              <a:ext uri="{FF2B5EF4-FFF2-40B4-BE49-F238E27FC236}">
                <a16:creationId xmlns:a16="http://schemas.microsoft.com/office/drawing/2014/main" id="{D5810111-B381-3EBE-49F1-B0C68E96773C}"/>
              </a:ext>
            </a:extLst>
          </p:cNvPr>
          <p:cNvSpPr txBox="1"/>
          <p:nvPr/>
        </p:nvSpPr>
        <p:spPr>
          <a:xfrm>
            <a:off x="9355788" y="3785930"/>
            <a:ext cx="2483846" cy="830997"/>
          </a:xfrm>
          <a:prstGeom prst="rect">
            <a:avLst/>
          </a:prstGeom>
          <a:noFill/>
        </p:spPr>
        <p:txBody>
          <a:bodyPr wrap="square" rtlCol="0">
            <a:spAutoFit/>
          </a:bodyPr>
          <a:lstStyle/>
          <a:p>
            <a:r>
              <a:rPr lang="en-US" sz="1600" dirty="0">
                <a:solidFill>
                  <a:srgbClr val="00FF00"/>
                </a:solidFill>
              </a:rPr>
              <a:t>Manually set to 0, but I use RT=0 at 90 whereas </a:t>
            </a:r>
            <a:r>
              <a:rPr lang="en-US" sz="1600" dirty="0" err="1">
                <a:solidFill>
                  <a:srgbClr val="00FF00"/>
                </a:solidFill>
              </a:rPr>
              <a:t>BrownVinyl</a:t>
            </a:r>
            <a:r>
              <a:rPr lang="en-US" sz="1600" dirty="0">
                <a:solidFill>
                  <a:srgbClr val="00FF00"/>
                </a:solidFill>
              </a:rPr>
              <a:t> does so at 80</a:t>
            </a:r>
          </a:p>
        </p:txBody>
      </p:sp>
      <p:sp>
        <p:nvSpPr>
          <p:cNvPr id="10" name="Rectangle 9">
            <a:extLst>
              <a:ext uri="{FF2B5EF4-FFF2-40B4-BE49-F238E27FC236}">
                <a16:creationId xmlns:a16="http://schemas.microsoft.com/office/drawing/2014/main" id="{182F335D-D5BD-E34D-4905-5AAD043C46CF}"/>
              </a:ext>
            </a:extLst>
          </p:cNvPr>
          <p:cNvSpPr/>
          <p:nvPr/>
        </p:nvSpPr>
        <p:spPr>
          <a:xfrm>
            <a:off x="474133" y="3876676"/>
            <a:ext cx="2235200" cy="1889123"/>
          </a:xfrm>
          <a:prstGeom prst="rect">
            <a:avLst/>
          </a:prstGeom>
          <a:solidFill>
            <a:srgbClr val="00FF00">
              <a:alpha val="20000"/>
            </a:srgbClr>
          </a:solidFill>
          <a:ln>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6BE4374-CEFF-1186-C035-BAC6EC97A528}"/>
              </a:ext>
            </a:extLst>
          </p:cNvPr>
          <p:cNvSpPr txBox="1"/>
          <p:nvPr/>
        </p:nvSpPr>
        <p:spPr>
          <a:xfrm>
            <a:off x="3436352" y="3717934"/>
            <a:ext cx="2709334" cy="1323439"/>
          </a:xfrm>
          <a:prstGeom prst="rect">
            <a:avLst/>
          </a:prstGeom>
          <a:noFill/>
        </p:spPr>
        <p:txBody>
          <a:bodyPr wrap="square" rtlCol="0">
            <a:spAutoFit/>
          </a:bodyPr>
          <a:lstStyle/>
          <a:p>
            <a:r>
              <a:rPr lang="en-US" sz="1600" dirty="0">
                <a:solidFill>
                  <a:srgbClr val="00FF00"/>
                </a:solidFill>
              </a:rPr>
              <a:t>These angles go into sample, and are nonzero because of extrapolation when interpolating to </a:t>
            </a:r>
            <a:r>
              <a:rPr lang="en-US" sz="1600" dirty="0" err="1">
                <a:solidFill>
                  <a:srgbClr val="00FF00"/>
                </a:solidFill>
              </a:rPr>
              <a:t>Zemax’s</a:t>
            </a:r>
            <a:r>
              <a:rPr lang="en-US" sz="1600" dirty="0">
                <a:solidFill>
                  <a:srgbClr val="00FF00"/>
                </a:solidFill>
              </a:rPr>
              <a:t> (</a:t>
            </a:r>
            <a:r>
              <a:rPr lang="en-US" sz="1600" dirty="0" err="1">
                <a:solidFill>
                  <a:srgbClr val="00FF00"/>
                </a:solidFill>
              </a:rPr>
              <a:t>Az,Rz</a:t>
            </a:r>
            <a:r>
              <a:rPr lang="en-US" sz="1600" dirty="0">
                <a:solidFill>
                  <a:srgbClr val="00FF00"/>
                </a:solidFill>
              </a:rPr>
              <a:t>) grid</a:t>
            </a:r>
          </a:p>
        </p:txBody>
      </p:sp>
      <p:sp>
        <p:nvSpPr>
          <p:cNvPr id="12" name="TextBox 11">
            <a:extLst>
              <a:ext uri="{FF2B5EF4-FFF2-40B4-BE49-F238E27FC236}">
                <a16:creationId xmlns:a16="http://schemas.microsoft.com/office/drawing/2014/main" id="{705880BE-3058-CD08-A8B6-E1918DC1F0C6}"/>
              </a:ext>
            </a:extLst>
          </p:cNvPr>
          <p:cNvSpPr txBox="1"/>
          <p:nvPr/>
        </p:nvSpPr>
        <p:spPr>
          <a:xfrm>
            <a:off x="8166776" y="2878314"/>
            <a:ext cx="3272368" cy="523220"/>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“NiTE_on_invar_v1o0A_20250915.xls”</a:t>
            </a:r>
          </a:p>
        </p:txBody>
      </p:sp>
    </p:spTree>
    <p:extLst>
      <p:ext uri="{BB962C8B-B14F-4D97-AF65-F5344CB8AC3E}">
        <p14:creationId xmlns:p14="http://schemas.microsoft.com/office/powerpoint/2010/main" val="2813338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2F347-D1EB-ADDC-DDB9-07A289D707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B52F5-0A79-03DE-C254-FDBB129F06B4}"/>
              </a:ext>
            </a:extLst>
          </p:cNvPr>
          <p:cNvSpPr>
            <a:spLocks noGrp="1"/>
          </p:cNvSpPr>
          <p:nvPr>
            <p:ph type="ctrTitle"/>
          </p:nvPr>
        </p:nvSpPr>
        <p:spPr/>
        <p:txBody>
          <a:bodyPr/>
          <a:lstStyle/>
          <a:p>
            <a:r>
              <a:rPr lang="en-US" sz="3600" dirty="0"/>
              <a:t>Sanity check of successfully-debugged v4.3</a:t>
            </a:r>
            <a:endParaRPr lang="en-US" sz="3600" dirty="0">
              <a:solidFill>
                <a:schemeClr val="bg2"/>
              </a:solidFill>
            </a:endParaRPr>
          </a:p>
        </p:txBody>
      </p:sp>
      <p:sp>
        <p:nvSpPr>
          <p:cNvPr id="5" name="Subtitle 4">
            <a:extLst>
              <a:ext uri="{FF2B5EF4-FFF2-40B4-BE49-F238E27FC236}">
                <a16:creationId xmlns:a16="http://schemas.microsoft.com/office/drawing/2014/main" id="{39B5BDE9-70FF-92E4-BD45-BF6862E512D3}"/>
              </a:ext>
            </a:extLst>
          </p:cNvPr>
          <p:cNvSpPr>
            <a:spLocks noGrp="1"/>
          </p:cNvSpPr>
          <p:nvPr>
            <p:ph type="subTitle" idx="1"/>
          </p:nvPr>
        </p:nvSpPr>
        <p:spPr/>
        <p:txBody>
          <a:bodyPr>
            <a:normAutofit/>
          </a:bodyPr>
          <a:lstStyle/>
          <a:p>
            <a:r>
              <a:rPr lang="en-US" dirty="0"/>
              <a:t>2025/10/02</a:t>
            </a:r>
          </a:p>
        </p:txBody>
      </p:sp>
    </p:spTree>
    <p:extLst>
      <p:ext uri="{BB962C8B-B14F-4D97-AF65-F5344CB8AC3E}">
        <p14:creationId xmlns:p14="http://schemas.microsoft.com/office/powerpoint/2010/main" val="1100514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2EBC2-C9BB-B543-A10D-EAAC6FC669DC}"/>
              </a:ext>
            </a:extLst>
          </p:cNvPr>
          <p:cNvSpPr>
            <a:spLocks noGrp="1"/>
          </p:cNvSpPr>
          <p:nvPr>
            <p:ph type="title"/>
          </p:nvPr>
        </p:nvSpPr>
        <p:spPr/>
        <p:txBody>
          <a:bodyPr/>
          <a:lstStyle/>
          <a:p>
            <a:r>
              <a:rPr lang="en-US" dirty="0" err="1"/>
              <a:t>Zemax</a:t>
            </a:r>
            <a:r>
              <a:rPr lang="en-US" dirty="0"/>
              <a:t> plots</a:t>
            </a:r>
          </a:p>
        </p:txBody>
      </p:sp>
      <p:sp>
        <p:nvSpPr>
          <p:cNvPr id="3" name="Text Placeholder 2">
            <a:extLst>
              <a:ext uri="{FF2B5EF4-FFF2-40B4-BE49-F238E27FC236}">
                <a16:creationId xmlns:a16="http://schemas.microsoft.com/office/drawing/2014/main" id="{14A30DF7-A00C-6EF9-636E-EAC3ED8D5939}"/>
              </a:ext>
            </a:extLst>
          </p:cNvPr>
          <p:cNvSpPr>
            <a:spLocks noGrp="1"/>
          </p:cNvSpPr>
          <p:nvPr>
            <p:ph type="body" idx="1"/>
          </p:nvPr>
        </p:nvSpPr>
        <p:spPr>
          <a:xfrm>
            <a:off x="609600" y="1752601"/>
            <a:ext cx="5486400" cy="4373563"/>
          </a:xfrm>
        </p:spPr>
        <p:txBody>
          <a:bodyPr/>
          <a:lstStyle/>
          <a:p>
            <a:r>
              <a:rPr lang="en-US" dirty="0"/>
              <a:t>Seems correct</a:t>
            </a:r>
          </a:p>
          <a:p>
            <a:pPr lvl="1"/>
            <a:r>
              <a:rPr lang="en-US" dirty="0"/>
              <a:t>Captures specular behavior toward steeper incident angles</a:t>
            </a:r>
          </a:p>
          <a:p>
            <a:endParaRPr lang="en-US" dirty="0"/>
          </a:p>
        </p:txBody>
      </p:sp>
      <p:pic>
        <p:nvPicPr>
          <p:cNvPr id="7" name="Picture 6">
            <a:extLst>
              <a:ext uri="{FF2B5EF4-FFF2-40B4-BE49-F238E27FC236}">
                <a16:creationId xmlns:a16="http://schemas.microsoft.com/office/drawing/2014/main" id="{D814A3A5-FFC6-423B-6FEB-1FCF6D692D2C}"/>
              </a:ext>
            </a:extLst>
          </p:cNvPr>
          <p:cNvPicPr>
            <a:picLocks noChangeAspect="1"/>
          </p:cNvPicPr>
          <p:nvPr/>
        </p:nvPicPr>
        <p:blipFill>
          <a:blip r:embed="rId2"/>
          <a:srcRect l="65190"/>
          <a:stretch>
            <a:fillRect/>
          </a:stretch>
        </p:blipFill>
        <p:spPr>
          <a:xfrm>
            <a:off x="9262425" y="0"/>
            <a:ext cx="2929575" cy="6858000"/>
          </a:xfrm>
          <a:prstGeom prst="rect">
            <a:avLst/>
          </a:prstGeom>
        </p:spPr>
      </p:pic>
      <p:pic>
        <p:nvPicPr>
          <p:cNvPr id="8" name="Picture 7">
            <a:extLst>
              <a:ext uri="{FF2B5EF4-FFF2-40B4-BE49-F238E27FC236}">
                <a16:creationId xmlns:a16="http://schemas.microsoft.com/office/drawing/2014/main" id="{B1DE6DD3-34EA-63ED-A0CD-4960D418399E}"/>
              </a:ext>
            </a:extLst>
          </p:cNvPr>
          <p:cNvPicPr>
            <a:picLocks noChangeAspect="1"/>
          </p:cNvPicPr>
          <p:nvPr/>
        </p:nvPicPr>
        <p:blipFill>
          <a:blip r:embed="rId2"/>
          <a:srcRect r="65190"/>
          <a:stretch>
            <a:fillRect/>
          </a:stretch>
        </p:blipFill>
        <p:spPr>
          <a:xfrm>
            <a:off x="6332850" y="0"/>
            <a:ext cx="2929575" cy="6858000"/>
          </a:xfrm>
          <a:prstGeom prst="rect">
            <a:avLst/>
          </a:prstGeom>
        </p:spPr>
      </p:pic>
      <p:sp>
        <p:nvSpPr>
          <p:cNvPr id="9" name="TextBox 8">
            <a:extLst>
              <a:ext uri="{FF2B5EF4-FFF2-40B4-BE49-F238E27FC236}">
                <a16:creationId xmlns:a16="http://schemas.microsoft.com/office/drawing/2014/main" id="{F5F0AE23-DD28-B136-D5B2-C081D575FCD0}"/>
              </a:ext>
            </a:extLst>
          </p:cNvPr>
          <p:cNvSpPr txBox="1"/>
          <p:nvPr/>
        </p:nvSpPr>
        <p:spPr>
          <a:xfrm>
            <a:off x="2889086" y="6126164"/>
            <a:ext cx="3272368" cy="523220"/>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“NiTE_on_invar_v1o0A_20250915.xls”</a:t>
            </a:r>
          </a:p>
        </p:txBody>
      </p:sp>
    </p:spTree>
    <p:extLst>
      <p:ext uri="{BB962C8B-B14F-4D97-AF65-F5344CB8AC3E}">
        <p14:creationId xmlns:p14="http://schemas.microsoft.com/office/powerpoint/2010/main" val="12689264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79337-3D5F-3903-44CC-BC18CE440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B8C91-66D8-481C-2591-9B86847FB7BE}"/>
              </a:ext>
            </a:extLst>
          </p:cNvPr>
          <p:cNvSpPr>
            <a:spLocks noGrp="1"/>
          </p:cNvSpPr>
          <p:nvPr>
            <p:ph type="title"/>
          </p:nvPr>
        </p:nvSpPr>
        <p:spPr/>
        <p:txBody>
          <a:bodyPr/>
          <a:lstStyle/>
          <a:p>
            <a:r>
              <a:rPr lang="en-US" dirty="0"/>
              <a:t>But…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56E53BD-E580-5D4B-2CE6-0A2436F3E0A4}"/>
                  </a:ext>
                </a:extLst>
              </p:cNvPr>
              <p:cNvSpPr>
                <a:spLocks noGrp="1"/>
              </p:cNvSpPr>
              <p:nvPr>
                <p:ph type="body" idx="1"/>
              </p:nvPr>
            </p:nvSpPr>
            <p:spPr>
              <a:xfrm>
                <a:off x="609600" y="1752601"/>
                <a:ext cx="5486400" cy="4373563"/>
              </a:xfrm>
            </p:spPr>
            <p:txBody>
              <a:bodyPr>
                <a:normAutofit fontScale="92500"/>
              </a:bodyPr>
              <a:lstStyle/>
              <a:p>
                <a:r>
                  <a:rPr lang="en-US" dirty="0"/>
                  <a:t>May need greater resolution of incident angles</a:t>
                </a:r>
              </a:p>
              <a:p>
                <a:pPr lvl="1"/>
                <a:r>
                  <a:rPr lang="en-US" dirty="0" err="1"/>
                  <a:t>BrownVinyl</a:t>
                </a:r>
                <a:r>
                  <a:rPr lang="en-US" dirty="0"/>
                  <a:t> template has:</a:t>
                </a:r>
              </a:p>
              <a:p>
                <a:pPr lvl="2"/>
                <a14:m>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=[15 :5 :75]</m:t>
                    </m:r>
                  </m:oMath>
                </a14:m>
                <a:endParaRPr lang="en-US" dirty="0"/>
              </a:p>
              <a:p>
                <a:pPr lvl="1"/>
                <a:r>
                  <a:rPr lang="en-US" dirty="0"/>
                  <a:t>Here, we have:</a:t>
                </a:r>
              </a:p>
              <a:p>
                <a:pPr lvl="2"/>
                <a14:m>
                  <m:oMath xmlns:m="http://schemas.openxmlformats.org/officeDocument/2006/math">
                    <m:r>
                      <a:rPr lang="en-US" i="1">
                        <a:latin typeface="Cambria Math" panose="02040503050406030204" pitchFamily="18" charset="0"/>
                      </a:rPr>
                      <m:t>𝐼</m:t>
                    </m:r>
                    <m:r>
                      <a:rPr lang="en-US" i="1">
                        <a:latin typeface="Cambria Math" panose="02040503050406030204" pitchFamily="18" charset="0"/>
                      </a:rPr>
                      <m:t>=[10 :20 :70]</m:t>
                    </m:r>
                  </m:oMath>
                </a14:m>
                <a:endParaRPr lang="en-US" dirty="0"/>
              </a:p>
              <a:p>
                <a:r>
                  <a:rPr lang="en-US" dirty="0"/>
                  <a:t>Note how interpolates to nearest neighbor, which is 30 or 50 in plot… not smooth continuous interpolation</a:t>
                </a:r>
              </a:p>
            </p:txBody>
          </p:sp>
        </mc:Choice>
        <mc:Fallback xmlns="">
          <p:sp>
            <p:nvSpPr>
              <p:cNvPr id="3" name="Text Placeholder 2">
                <a:extLst>
                  <a:ext uri="{FF2B5EF4-FFF2-40B4-BE49-F238E27FC236}">
                    <a16:creationId xmlns:a16="http://schemas.microsoft.com/office/drawing/2014/main" id="{756E53BD-E580-5D4B-2CE6-0A2436F3E0A4}"/>
                  </a:ext>
                </a:extLst>
              </p:cNvPr>
              <p:cNvSpPr>
                <a:spLocks noGrp="1" noRot="1" noChangeAspect="1" noMove="1" noResize="1" noEditPoints="1" noAdjustHandles="1" noChangeArrowheads="1" noChangeShapeType="1" noTextEdit="1"/>
              </p:cNvSpPr>
              <p:nvPr>
                <p:ph type="body" idx="1"/>
              </p:nvPr>
            </p:nvSpPr>
            <p:spPr>
              <a:xfrm>
                <a:off x="609600" y="1752601"/>
                <a:ext cx="5486400" cy="4373563"/>
              </a:xfrm>
              <a:blipFill>
                <a:blip r:embed="rId2"/>
                <a:stretch>
                  <a:fillRect l="-1111" r="-3000"/>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381A9B17-9A9A-3892-983E-19713EA32FC8}"/>
              </a:ext>
            </a:extLst>
          </p:cNvPr>
          <p:cNvPicPr>
            <a:picLocks noChangeAspect="1"/>
          </p:cNvPicPr>
          <p:nvPr/>
        </p:nvPicPr>
        <p:blipFill>
          <a:blip r:embed="rId3"/>
          <a:srcRect l="64910"/>
          <a:stretch>
            <a:fillRect/>
          </a:stretch>
        </p:blipFill>
        <p:spPr>
          <a:xfrm>
            <a:off x="9262425" y="0"/>
            <a:ext cx="2929575" cy="6858000"/>
          </a:xfrm>
          <a:prstGeom prst="rect">
            <a:avLst/>
          </a:prstGeom>
        </p:spPr>
      </p:pic>
      <p:pic>
        <p:nvPicPr>
          <p:cNvPr id="8" name="Picture 7">
            <a:extLst>
              <a:ext uri="{FF2B5EF4-FFF2-40B4-BE49-F238E27FC236}">
                <a16:creationId xmlns:a16="http://schemas.microsoft.com/office/drawing/2014/main" id="{A9F05E93-5687-5EA7-A460-5493C6FCEBC1}"/>
              </a:ext>
            </a:extLst>
          </p:cNvPr>
          <p:cNvPicPr>
            <a:picLocks noChangeAspect="1"/>
          </p:cNvPicPr>
          <p:nvPr/>
        </p:nvPicPr>
        <p:blipFill>
          <a:blip r:embed="rId3"/>
          <a:srcRect l="-184" r="65094"/>
          <a:stretch>
            <a:fillRect/>
          </a:stretch>
        </p:blipFill>
        <p:spPr>
          <a:xfrm>
            <a:off x="6332850" y="0"/>
            <a:ext cx="2929575" cy="68580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7992A26-EDB5-CCC0-D227-C1B52936846A}"/>
                  </a:ext>
                </a:extLst>
              </p:cNvPr>
              <p:cNvSpPr txBox="1"/>
              <p:nvPr/>
            </p:nvSpPr>
            <p:spPr>
              <a:xfrm>
                <a:off x="6409266" y="638463"/>
                <a:ext cx="1049867"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𝟑𝟕</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4" name="TextBox 3">
                <a:extLst>
                  <a:ext uri="{FF2B5EF4-FFF2-40B4-BE49-F238E27FC236}">
                    <a16:creationId xmlns:a16="http://schemas.microsoft.com/office/drawing/2014/main" id="{97992A26-EDB5-CCC0-D227-C1B52936846A}"/>
                  </a:ext>
                </a:extLst>
              </p:cNvPr>
              <p:cNvSpPr txBox="1">
                <a:spLocks noRot="1" noChangeAspect="1" noMove="1" noResize="1" noEditPoints="1" noAdjustHandles="1" noChangeArrowheads="1" noChangeShapeType="1" noTextEdit="1"/>
              </p:cNvSpPr>
              <p:nvPr/>
            </p:nvSpPr>
            <p:spPr>
              <a:xfrm>
                <a:off x="6409266" y="638463"/>
                <a:ext cx="1049867" cy="400110"/>
              </a:xfrm>
              <a:prstGeom prst="rect">
                <a:avLst/>
              </a:prstGeom>
              <a:blipFill>
                <a:blip r:embed="rId4"/>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F21A7D2-2EC2-9E4D-FECB-75F5B87D97A4}"/>
                  </a:ext>
                </a:extLst>
              </p:cNvPr>
              <p:cNvSpPr txBox="1"/>
              <p:nvPr/>
            </p:nvSpPr>
            <p:spPr>
              <a:xfrm>
                <a:off x="9472700" y="638463"/>
                <a:ext cx="1049867" cy="411523"/>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𝟑𝟗</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5" name="TextBox 4">
                <a:extLst>
                  <a:ext uri="{FF2B5EF4-FFF2-40B4-BE49-F238E27FC236}">
                    <a16:creationId xmlns:a16="http://schemas.microsoft.com/office/drawing/2014/main" id="{1F21A7D2-2EC2-9E4D-FECB-75F5B87D97A4}"/>
                  </a:ext>
                </a:extLst>
              </p:cNvPr>
              <p:cNvSpPr txBox="1">
                <a:spLocks noRot="1" noChangeAspect="1" noMove="1" noResize="1" noEditPoints="1" noAdjustHandles="1" noChangeArrowheads="1" noChangeShapeType="1" noTextEdit="1"/>
              </p:cNvSpPr>
              <p:nvPr/>
            </p:nvSpPr>
            <p:spPr>
              <a:xfrm>
                <a:off x="9472700" y="638463"/>
                <a:ext cx="1049867" cy="411523"/>
              </a:xfrm>
              <a:prstGeom prst="rect">
                <a:avLst/>
              </a:prstGeom>
              <a:blipFill>
                <a:blip r:embed="rId5"/>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6047765-890F-1FC1-45FD-5B2EC7B69B5C}"/>
                  </a:ext>
                </a:extLst>
              </p:cNvPr>
              <p:cNvSpPr txBox="1"/>
              <p:nvPr/>
            </p:nvSpPr>
            <p:spPr>
              <a:xfrm>
                <a:off x="6409265" y="4025289"/>
                <a:ext cx="1049867" cy="411523"/>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𝟒𝟏</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6" name="TextBox 5">
                <a:extLst>
                  <a:ext uri="{FF2B5EF4-FFF2-40B4-BE49-F238E27FC236}">
                    <a16:creationId xmlns:a16="http://schemas.microsoft.com/office/drawing/2014/main" id="{26047765-890F-1FC1-45FD-5B2EC7B69B5C}"/>
                  </a:ext>
                </a:extLst>
              </p:cNvPr>
              <p:cNvSpPr txBox="1">
                <a:spLocks noRot="1" noChangeAspect="1" noMove="1" noResize="1" noEditPoints="1" noAdjustHandles="1" noChangeArrowheads="1" noChangeShapeType="1" noTextEdit="1"/>
              </p:cNvSpPr>
              <p:nvPr/>
            </p:nvSpPr>
            <p:spPr>
              <a:xfrm>
                <a:off x="6409265" y="4025289"/>
                <a:ext cx="1049867" cy="411523"/>
              </a:xfrm>
              <a:prstGeom prst="rect">
                <a:avLst/>
              </a:prstGeom>
              <a:blipFill>
                <a:blip r:embed="rId6"/>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6F3DF28-93EB-EC4F-D51B-D699D0DFE0E8}"/>
                  </a:ext>
                </a:extLst>
              </p:cNvPr>
              <p:cNvSpPr txBox="1"/>
              <p:nvPr/>
            </p:nvSpPr>
            <p:spPr>
              <a:xfrm>
                <a:off x="9472698" y="4025289"/>
                <a:ext cx="1049867" cy="411523"/>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𝟒𝟑</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9" name="TextBox 8">
                <a:extLst>
                  <a:ext uri="{FF2B5EF4-FFF2-40B4-BE49-F238E27FC236}">
                    <a16:creationId xmlns:a16="http://schemas.microsoft.com/office/drawing/2014/main" id="{46F3DF28-93EB-EC4F-D51B-D699D0DFE0E8}"/>
                  </a:ext>
                </a:extLst>
              </p:cNvPr>
              <p:cNvSpPr txBox="1">
                <a:spLocks noRot="1" noChangeAspect="1" noMove="1" noResize="1" noEditPoints="1" noAdjustHandles="1" noChangeArrowheads="1" noChangeShapeType="1" noTextEdit="1"/>
              </p:cNvSpPr>
              <p:nvPr/>
            </p:nvSpPr>
            <p:spPr>
              <a:xfrm>
                <a:off x="9472698" y="4025289"/>
                <a:ext cx="1049867" cy="411523"/>
              </a:xfrm>
              <a:prstGeom prst="rect">
                <a:avLst/>
              </a:prstGeom>
              <a:blipFill>
                <a:blip r:embed="rId7"/>
                <a:stretch>
                  <a:fillRect/>
                </a:stretch>
              </a:blipFill>
              <a:ln>
                <a:solidFill>
                  <a:schemeClr val="bg2"/>
                </a:solidFill>
              </a:ln>
            </p:spPr>
            <p:txBody>
              <a:bodyPr/>
              <a:lstStyle/>
              <a:p>
                <a:r>
                  <a:rPr lang="en-US">
                    <a:noFill/>
                  </a:rPr>
                  <a:t> </a:t>
                </a:r>
              </a:p>
            </p:txBody>
          </p:sp>
        </mc:Fallback>
      </mc:AlternateContent>
      <p:sp>
        <p:nvSpPr>
          <p:cNvPr id="11" name="TextBox 10">
            <a:extLst>
              <a:ext uri="{FF2B5EF4-FFF2-40B4-BE49-F238E27FC236}">
                <a16:creationId xmlns:a16="http://schemas.microsoft.com/office/drawing/2014/main" id="{F8B8DC2D-F11F-6E5C-5DE7-9AD5BAA10DB6}"/>
              </a:ext>
            </a:extLst>
          </p:cNvPr>
          <p:cNvSpPr txBox="1"/>
          <p:nvPr/>
        </p:nvSpPr>
        <p:spPr>
          <a:xfrm>
            <a:off x="2889086" y="6126164"/>
            <a:ext cx="3272368" cy="523220"/>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“NiTE_on_invar_v1o0A_20250915.xls”</a:t>
            </a:r>
          </a:p>
        </p:txBody>
      </p:sp>
    </p:spTree>
    <p:extLst>
      <p:ext uri="{BB962C8B-B14F-4D97-AF65-F5344CB8AC3E}">
        <p14:creationId xmlns:p14="http://schemas.microsoft.com/office/powerpoint/2010/main" val="19231182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6F3EC-BF1D-6C81-70BA-7C43998654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2E4B18-66EB-63C6-76F7-54D2842991F3}"/>
              </a:ext>
            </a:extLst>
          </p:cNvPr>
          <p:cNvSpPr>
            <a:spLocks noGrp="1"/>
          </p:cNvSpPr>
          <p:nvPr>
            <p:ph type="title"/>
          </p:nvPr>
        </p:nvSpPr>
        <p:spPr/>
        <p:txBody>
          <a:bodyPr/>
          <a:lstStyle/>
          <a:p>
            <a:r>
              <a:rPr lang="en-US" dirty="0" err="1"/>
              <a:t>BrownVinyl</a:t>
            </a:r>
            <a:r>
              <a:rPr lang="en-US" dirty="0"/>
              <a:t> template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2B22729-A9DA-F06B-C329-404231C49330}"/>
                  </a:ext>
                </a:extLst>
              </p:cNvPr>
              <p:cNvSpPr>
                <a:spLocks noGrp="1"/>
              </p:cNvSpPr>
              <p:nvPr>
                <p:ph type="body" idx="1"/>
              </p:nvPr>
            </p:nvSpPr>
            <p:spPr>
              <a:xfrm>
                <a:off x="609600" y="1752601"/>
                <a:ext cx="5486400" cy="4373563"/>
              </a:xfrm>
            </p:spPr>
            <p:txBody>
              <a:bodyPr>
                <a:normAutofit/>
              </a:bodyPr>
              <a:lstStyle/>
              <a:p>
                <a:r>
                  <a:rPr lang="en-US" dirty="0"/>
                  <a:t>Finer resolution:</a:t>
                </a:r>
              </a:p>
              <a:p>
                <a:pPr lvl="1"/>
                <a14:m>
                  <m:oMath xmlns:m="http://schemas.openxmlformats.org/officeDocument/2006/math">
                    <m:r>
                      <a:rPr lang="en-US" b="1" i="1" smtClean="0">
                        <a:latin typeface="Cambria Math" panose="02040503050406030204" pitchFamily="18" charset="0"/>
                      </a:rPr>
                      <m:t>𝑰</m:t>
                    </m:r>
                    <m:r>
                      <a:rPr lang="en-US" b="1" i="1" smtClean="0">
                        <a:latin typeface="Cambria Math" panose="02040503050406030204" pitchFamily="18" charset="0"/>
                      </a:rPr>
                      <m:t>=</m:t>
                    </m:r>
                    <m:r>
                      <a:rPr lang="en-US" b="1" i="1" smtClean="0">
                        <a:latin typeface="Cambria Math" panose="02040503050406030204" pitchFamily="18" charset="0"/>
                      </a:rPr>
                      <m:t>𝟑𝟕</m:t>
                    </m:r>
                  </m:oMath>
                </a14:m>
                <a:r>
                  <a:rPr lang="en-US" dirty="0"/>
                  <a:t> interpolates to 35,</a:t>
                </a:r>
                <a:br>
                  <a:rPr lang="en-US" dirty="0"/>
                </a:br>
                <a14:m>
                  <m:oMath xmlns:m="http://schemas.openxmlformats.org/officeDocument/2006/math">
                    <m:r>
                      <a:rPr lang="en-US" b="1" i="1" smtClean="0">
                        <a:latin typeface="Cambria Math" panose="02040503050406030204" pitchFamily="18" charset="0"/>
                      </a:rPr>
                      <m:t>𝑰</m:t>
                    </m:r>
                    <m:r>
                      <a:rPr lang="en-US" b="1" i="1" smtClean="0">
                        <a:latin typeface="Cambria Math" panose="02040503050406030204" pitchFamily="18" charset="0"/>
                      </a:rPr>
                      <m:t>=</m:t>
                    </m:r>
                    <m:r>
                      <a:rPr lang="en-US" b="1" i="1" smtClean="0">
                        <a:latin typeface="Cambria Math" panose="02040503050406030204" pitchFamily="18" charset="0"/>
                      </a:rPr>
                      <m:t>𝟑𝟗</m:t>
                    </m:r>
                    <m:r>
                      <a:rPr lang="en-US" b="1" i="1" smtClean="0">
                        <a:latin typeface="Cambria Math" panose="02040503050406030204" pitchFamily="18" charset="0"/>
                      </a:rPr>
                      <m:t>,</m:t>
                    </m:r>
                    <m:r>
                      <a:rPr lang="en-US" b="1" i="1" smtClean="0">
                        <a:latin typeface="Cambria Math" panose="02040503050406030204" pitchFamily="18" charset="0"/>
                      </a:rPr>
                      <m:t>𝟒𝟏</m:t>
                    </m:r>
                  </m:oMath>
                </a14:m>
                <a:r>
                  <a:rPr lang="en-US" dirty="0"/>
                  <a:t> to 40,</a:t>
                </a:r>
                <a:br>
                  <a:rPr lang="en-US" dirty="0"/>
                </a:br>
                <a14:m>
                  <m:oMath xmlns:m="http://schemas.openxmlformats.org/officeDocument/2006/math">
                    <m:r>
                      <a:rPr lang="en-US" b="1" i="1" smtClean="0">
                        <a:latin typeface="Cambria Math" panose="02040503050406030204" pitchFamily="18" charset="0"/>
                      </a:rPr>
                      <m:t>𝑰</m:t>
                    </m:r>
                    <m:r>
                      <a:rPr lang="en-US" b="1" i="1" smtClean="0">
                        <a:latin typeface="Cambria Math" panose="02040503050406030204" pitchFamily="18" charset="0"/>
                      </a:rPr>
                      <m:t>=</m:t>
                    </m:r>
                    <m:r>
                      <a:rPr lang="en-US" b="1" i="1" smtClean="0">
                        <a:latin typeface="Cambria Math" panose="02040503050406030204" pitchFamily="18" charset="0"/>
                      </a:rPr>
                      <m:t>𝟒𝟑</m:t>
                    </m:r>
                  </m:oMath>
                </a14:m>
                <a:r>
                  <a:rPr lang="en-US" dirty="0"/>
                  <a:t> to 45</a:t>
                </a:r>
              </a:p>
              <a:p>
                <a:r>
                  <a:rPr lang="en-US" dirty="0"/>
                  <a:t>Recall, our </a:t>
                </a:r>
                <a:r>
                  <a:rPr lang="en-US" dirty="0" err="1"/>
                  <a:t>NiTE</a:t>
                </a:r>
                <a:r>
                  <a:rPr lang="en-US" dirty="0"/>
                  <a:t> on Invar was:</a:t>
                </a:r>
              </a:p>
              <a:p>
                <a:pPr lvl="1"/>
                <a14:m>
                  <m:oMath xmlns:m="http://schemas.openxmlformats.org/officeDocument/2006/math">
                    <m:r>
                      <a:rPr lang="en-US" b="1" i="1">
                        <a:latin typeface="Cambria Math" panose="02040503050406030204" pitchFamily="18" charset="0"/>
                      </a:rPr>
                      <m:t>𝑰</m:t>
                    </m:r>
                    <m:r>
                      <a:rPr lang="en-US" b="1" i="1">
                        <a:latin typeface="Cambria Math" panose="02040503050406030204" pitchFamily="18" charset="0"/>
                      </a:rPr>
                      <m:t>=</m:t>
                    </m:r>
                    <m:r>
                      <a:rPr lang="en-US" b="1" i="1">
                        <a:latin typeface="Cambria Math" panose="02040503050406030204" pitchFamily="18" charset="0"/>
                      </a:rPr>
                      <m:t>𝟑𝟕</m:t>
                    </m:r>
                    <m:r>
                      <a:rPr lang="en-US" b="1" i="1" smtClean="0">
                        <a:latin typeface="Cambria Math" panose="02040503050406030204" pitchFamily="18" charset="0"/>
                      </a:rPr>
                      <m:t>,</m:t>
                    </m:r>
                    <m:r>
                      <a:rPr lang="en-US" b="1" i="1" smtClean="0">
                        <a:latin typeface="Cambria Math" panose="02040503050406030204" pitchFamily="18" charset="0"/>
                      </a:rPr>
                      <m:t>𝟑𝟗</m:t>
                    </m:r>
                  </m:oMath>
                </a14:m>
                <a:r>
                  <a:rPr lang="en-US" dirty="0"/>
                  <a:t> interpolates to 30,</a:t>
                </a:r>
                <a:br>
                  <a:rPr lang="en-US" dirty="0"/>
                </a:br>
                <a14:m>
                  <m:oMath xmlns:m="http://schemas.openxmlformats.org/officeDocument/2006/math">
                    <m:r>
                      <a:rPr lang="en-US" b="1" i="1">
                        <a:latin typeface="Cambria Math" panose="02040503050406030204" pitchFamily="18" charset="0"/>
                      </a:rPr>
                      <m:t>𝑰</m:t>
                    </m:r>
                    <m:r>
                      <a:rPr lang="en-US" b="1" i="1">
                        <a:latin typeface="Cambria Math" panose="02040503050406030204" pitchFamily="18" charset="0"/>
                      </a:rPr>
                      <m:t>=</m:t>
                    </m:r>
                    <m:r>
                      <a:rPr lang="en-US" b="1" i="1">
                        <a:latin typeface="Cambria Math" panose="02040503050406030204" pitchFamily="18" charset="0"/>
                      </a:rPr>
                      <m:t>𝟑𝟗</m:t>
                    </m:r>
                    <m:r>
                      <a:rPr lang="en-US" b="1" i="1">
                        <a:latin typeface="Cambria Math" panose="02040503050406030204" pitchFamily="18" charset="0"/>
                      </a:rPr>
                      <m:t>,</m:t>
                    </m:r>
                    <m:r>
                      <a:rPr lang="en-US" b="1" i="1">
                        <a:latin typeface="Cambria Math" panose="02040503050406030204" pitchFamily="18" charset="0"/>
                      </a:rPr>
                      <m:t>𝟒𝟏</m:t>
                    </m:r>
                  </m:oMath>
                </a14:m>
                <a:r>
                  <a:rPr lang="en-US" dirty="0"/>
                  <a:t> to 50</a:t>
                </a:r>
              </a:p>
              <a:p>
                <a:endParaRPr lang="en-US" dirty="0"/>
              </a:p>
            </p:txBody>
          </p:sp>
        </mc:Choice>
        <mc:Fallback xmlns="">
          <p:sp>
            <p:nvSpPr>
              <p:cNvPr id="3" name="Text Placeholder 2">
                <a:extLst>
                  <a:ext uri="{FF2B5EF4-FFF2-40B4-BE49-F238E27FC236}">
                    <a16:creationId xmlns:a16="http://schemas.microsoft.com/office/drawing/2014/main" id="{62B22729-A9DA-F06B-C329-404231C49330}"/>
                  </a:ext>
                </a:extLst>
              </p:cNvPr>
              <p:cNvSpPr>
                <a:spLocks noGrp="1" noRot="1" noChangeAspect="1" noMove="1" noResize="1" noEditPoints="1" noAdjustHandles="1" noChangeArrowheads="1" noChangeShapeType="1" noTextEdit="1"/>
              </p:cNvSpPr>
              <p:nvPr>
                <p:ph type="body" idx="1"/>
              </p:nvPr>
            </p:nvSpPr>
            <p:spPr>
              <a:xfrm>
                <a:off x="609600" y="1752601"/>
                <a:ext cx="5486400" cy="4373563"/>
              </a:xfrm>
              <a:blipFill>
                <a:blip r:embed="rId2"/>
                <a:stretch>
                  <a:fillRect l="-1111"/>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C4B6BD1C-E57C-1D30-A3EF-B702AAEEB7D5}"/>
              </a:ext>
            </a:extLst>
          </p:cNvPr>
          <p:cNvPicPr>
            <a:picLocks noChangeAspect="1"/>
          </p:cNvPicPr>
          <p:nvPr/>
        </p:nvPicPr>
        <p:blipFill>
          <a:blip r:embed="rId3"/>
          <a:srcRect l="65060"/>
          <a:stretch>
            <a:fillRect/>
          </a:stretch>
        </p:blipFill>
        <p:spPr>
          <a:xfrm>
            <a:off x="9262425" y="0"/>
            <a:ext cx="2929575" cy="6858000"/>
          </a:xfrm>
          <a:prstGeom prst="rect">
            <a:avLst/>
          </a:prstGeom>
        </p:spPr>
      </p:pic>
      <p:pic>
        <p:nvPicPr>
          <p:cNvPr id="8" name="Picture 7">
            <a:extLst>
              <a:ext uri="{FF2B5EF4-FFF2-40B4-BE49-F238E27FC236}">
                <a16:creationId xmlns:a16="http://schemas.microsoft.com/office/drawing/2014/main" id="{3CA0A854-2272-8BA6-3FDA-006C5BB6A5D2}"/>
              </a:ext>
            </a:extLst>
          </p:cNvPr>
          <p:cNvPicPr>
            <a:picLocks noChangeAspect="1"/>
          </p:cNvPicPr>
          <p:nvPr/>
        </p:nvPicPr>
        <p:blipFill>
          <a:blip r:embed="rId3"/>
          <a:srcRect l="31" r="65029"/>
          <a:stretch>
            <a:fillRect/>
          </a:stretch>
        </p:blipFill>
        <p:spPr>
          <a:xfrm>
            <a:off x="6332850" y="0"/>
            <a:ext cx="2929575" cy="68580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97A3E73-6CAD-CE83-BADA-48241AD15FAF}"/>
                  </a:ext>
                </a:extLst>
              </p:cNvPr>
              <p:cNvSpPr txBox="1"/>
              <p:nvPr/>
            </p:nvSpPr>
            <p:spPr>
              <a:xfrm>
                <a:off x="6409266" y="638463"/>
                <a:ext cx="1049867"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𝟑𝟕</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4" name="TextBox 3">
                <a:extLst>
                  <a:ext uri="{FF2B5EF4-FFF2-40B4-BE49-F238E27FC236}">
                    <a16:creationId xmlns:a16="http://schemas.microsoft.com/office/drawing/2014/main" id="{A97A3E73-6CAD-CE83-BADA-48241AD15FAF}"/>
                  </a:ext>
                </a:extLst>
              </p:cNvPr>
              <p:cNvSpPr txBox="1">
                <a:spLocks noRot="1" noChangeAspect="1" noMove="1" noResize="1" noEditPoints="1" noAdjustHandles="1" noChangeArrowheads="1" noChangeShapeType="1" noTextEdit="1"/>
              </p:cNvSpPr>
              <p:nvPr/>
            </p:nvSpPr>
            <p:spPr>
              <a:xfrm>
                <a:off x="6409266" y="638463"/>
                <a:ext cx="1049867" cy="400110"/>
              </a:xfrm>
              <a:prstGeom prst="rect">
                <a:avLst/>
              </a:prstGeom>
              <a:blipFill>
                <a:blip r:embed="rId4"/>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CD30FBA-EE52-16F9-4F65-88B250EC7D5D}"/>
                  </a:ext>
                </a:extLst>
              </p:cNvPr>
              <p:cNvSpPr txBox="1"/>
              <p:nvPr/>
            </p:nvSpPr>
            <p:spPr>
              <a:xfrm>
                <a:off x="9472700" y="638463"/>
                <a:ext cx="1049867" cy="411523"/>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𝟑𝟗</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5" name="TextBox 4">
                <a:extLst>
                  <a:ext uri="{FF2B5EF4-FFF2-40B4-BE49-F238E27FC236}">
                    <a16:creationId xmlns:a16="http://schemas.microsoft.com/office/drawing/2014/main" id="{ECD30FBA-EE52-16F9-4F65-88B250EC7D5D}"/>
                  </a:ext>
                </a:extLst>
              </p:cNvPr>
              <p:cNvSpPr txBox="1">
                <a:spLocks noRot="1" noChangeAspect="1" noMove="1" noResize="1" noEditPoints="1" noAdjustHandles="1" noChangeArrowheads="1" noChangeShapeType="1" noTextEdit="1"/>
              </p:cNvSpPr>
              <p:nvPr/>
            </p:nvSpPr>
            <p:spPr>
              <a:xfrm>
                <a:off x="9472700" y="638463"/>
                <a:ext cx="1049867" cy="411523"/>
              </a:xfrm>
              <a:prstGeom prst="rect">
                <a:avLst/>
              </a:prstGeom>
              <a:blipFill>
                <a:blip r:embed="rId5"/>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5450AA2-F9CE-C1A2-9467-96FACAAFDCEA}"/>
                  </a:ext>
                </a:extLst>
              </p:cNvPr>
              <p:cNvSpPr txBox="1"/>
              <p:nvPr/>
            </p:nvSpPr>
            <p:spPr>
              <a:xfrm>
                <a:off x="6409265" y="4025289"/>
                <a:ext cx="1049867" cy="411523"/>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𝟒𝟏</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6" name="TextBox 5">
                <a:extLst>
                  <a:ext uri="{FF2B5EF4-FFF2-40B4-BE49-F238E27FC236}">
                    <a16:creationId xmlns:a16="http://schemas.microsoft.com/office/drawing/2014/main" id="{45450AA2-F9CE-C1A2-9467-96FACAAFDCEA}"/>
                  </a:ext>
                </a:extLst>
              </p:cNvPr>
              <p:cNvSpPr txBox="1">
                <a:spLocks noRot="1" noChangeAspect="1" noMove="1" noResize="1" noEditPoints="1" noAdjustHandles="1" noChangeArrowheads="1" noChangeShapeType="1" noTextEdit="1"/>
              </p:cNvSpPr>
              <p:nvPr/>
            </p:nvSpPr>
            <p:spPr>
              <a:xfrm>
                <a:off x="6409265" y="4025289"/>
                <a:ext cx="1049867" cy="411523"/>
              </a:xfrm>
              <a:prstGeom prst="rect">
                <a:avLst/>
              </a:prstGeom>
              <a:blipFill>
                <a:blip r:embed="rId6"/>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F8D0848-F4D3-379F-F507-D99FAFBDF8E5}"/>
                  </a:ext>
                </a:extLst>
              </p:cNvPr>
              <p:cNvSpPr txBox="1"/>
              <p:nvPr/>
            </p:nvSpPr>
            <p:spPr>
              <a:xfrm>
                <a:off x="9472698" y="4025289"/>
                <a:ext cx="1049867" cy="411523"/>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𝟒𝟑</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9" name="TextBox 8">
                <a:extLst>
                  <a:ext uri="{FF2B5EF4-FFF2-40B4-BE49-F238E27FC236}">
                    <a16:creationId xmlns:a16="http://schemas.microsoft.com/office/drawing/2014/main" id="{0F8D0848-F4D3-379F-F507-D99FAFBDF8E5}"/>
                  </a:ext>
                </a:extLst>
              </p:cNvPr>
              <p:cNvSpPr txBox="1">
                <a:spLocks noRot="1" noChangeAspect="1" noMove="1" noResize="1" noEditPoints="1" noAdjustHandles="1" noChangeArrowheads="1" noChangeShapeType="1" noTextEdit="1"/>
              </p:cNvSpPr>
              <p:nvPr/>
            </p:nvSpPr>
            <p:spPr>
              <a:xfrm>
                <a:off x="9472698" y="4025289"/>
                <a:ext cx="1049867" cy="411523"/>
              </a:xfrm>
              <a:prstGeom prst="rect">
                <a:avLst/>
              </a:prstGeom>
              <a:blipFill>
                <a:blip r:embed="rId7"/>
                <a:stretch>
                  <a:fillRect/>
                </a:stretch>
              </a:blipFill>
              <a:ln>
                <a:solidFill>
                  <a:schemeClr val="bg2"/>
                </a:solidFill>
              </a:ln>
            </p:spPr>
            <p:txBody>
              <a:bodyPr/>
              <a:lstStyle/>
              <a:p>
                <a:r>
                  <a:rPr lang="en-US">
                    <a:noFill/>
                  </a:rPr>
                  <a:t> </a:t>
                </a:r>
              </a:p>
            </p:txBody>
          </p:sp>
        </mc:Fallback>
      </mc:AlternateContent>
      <p:sp>
        <p:nvSpPr>
          <p:cNvPr id="11" name="TextBox 10">
            <a:extLst>
              <a:ext uri="{FF2B5EF4-FFF2-40B4-BE49-F238E27FC236}">
                <a16:creationId xmlns:a16="http://schemas.microsoft.com/office/drawing/2014/main" id="{DC8D1C64-FD03-42DB-1633-B591CF8ACF6F}"/>
              </a:ext>
            </a:extLst>
          </p:cNvPr>
          <p:cNvSpPr txBox="1"/>
          <p:nvPr/>
        </p:nvSpPr>
        <p:spPr>
          <a:xfrm>
            <a:off x="2889086" y="6126164"/>
            <a:ext cx="3272368" cy="523220"/>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a:t>
            </a:r>
            <a:r>
              <a:rPr lang="en-US" dirty="0" err="1">
                <a:solidFill>
                  <a:schemeClr val="bg2"/>
                </a:solidFill>
              </a:rPr>
              <a:t>BrownVinyl.bsdf</a:t>
            </a:r>
            <a:r>
              <a:rPr lang="en-US" dirty="0">
                <a:solidFill>
                  <a:schemeClr val="bg2"/>
                </a:solidFill>
              </a:rPr>
              <a:t>”</a:t>
            </a:r>
          </a:p>
        </p:txBody>
      </p:sp>
    </p:spTree>
    <p:extLst>
      <p:ext uri="{BB962C8B-B14F-4D97-AF65-F5344CB8AC3E}">
        <p14:creationId xmlns:p14="http://schemas.microsoft.com/office/powerpoint/2010/main" val="277558902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34B2A-4008-0AA6-654E-6C2EE7A9E1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B3B60F-BE10-FF07-FAF5-6369FD48A63C}"/>
              </a:ext>
            </a:extLst>
          </p:cNvPr>
          <p:cNvSpPr>
            <a:spLocks noGrp="1"/>
          </p:cNvSpPr>
          <p:nvPr>
            <p:ph type="ctrTitle"/>
          </p:nvPr>
        </p:nvSpPr>
        <p:spPr/>
        <p:txBody>
          <a:bodyPr/>
          <a:lstStyle/>
          <a:p>
            <a:r>
              <a:rPr lang="en-US" sz="3600" dirty="0"/>
              <a:t>First official release (v1.0) of library for our </a:t>
            </a:r>
            <a:r>
              <a:rPr lang="en-US" sz="3600" dirty="0" err="1"/>
              <a:t>scatterometer</a:t>
            </a:r>
            <a:br>
              <a:rPr lang="en-US" sz="2800" dirty="0">
                <a:solidFill>
                  <a:schemeClr val="bg2"/>
                </a:solidFill>
              </a:rPr>
            </a:br>
            <a:r>
              <a:rPr lang="en-US" sz="2800" dirty="0">
                <a:solidFill>
                  <a:schemeClr val="bg2"/>
                </a:solidFill>
              </a:rPr>
              <a:t>- Including Max’s whitepaper, Python script for incident plane, etc.</a:t>
            </a:r>
            <a:br>
              <a:rPr lang="en-US" sz="2800" dirty="0">
                <a:solidFill>
                  <a:schemeClr val="bg2"/>
                </a:solidFill>
              </a:rPr>
            </a:br>
            <a:r>
              <a:rPr lang="en-US" sz="2800" dirty="0">
                <a:solidFill>
                  <a:schemeClr val="bg2"/>
                </a:solidFill>
              </a:rPr>
              <a:t>- But now, a ‘process_RT300S_data’ MATLAB script for outputting full scatter cone to </a:t>
            </a:r>
            <a:r>
              <a:rPr lang="en-US" sz="2800" dirty="0" err="1">
                <a:solidFill>
                  <a:schemeClr val="bg2"/>
                </a:solidFill>
              </a:rPr>
              <a:t>Zemax</a:t>
            </a:r>
            <a:r>
              <a:rPr lang="en-US" sz="2800" dirty="0">
                <a:solidFill>
                  <a:schemeClr val="bg2"/>
                </a:solidFill>
              </a:rPr>
              <a:t> format</a:t>
            </a:r>
            <a:endParaRPr lang="en-US" sz="3600" dirty="0">
              <a:solidFill>
                <a:schemeClr val="bg2"/>
              </a:solidFill>
            </a:endParaRPr>
          </a:p>
        </p:txBody>
      </p:sp>
      <p:sp>
        <p:nvSpPr>
          <p:cNvPr id="5" name="Subtitle 4">
            <a:extLst>
              <a:ext uri="{FF2B5EF4-FFF2-40B4-BE49-F238E27FC236}">
                <a16:creationId xmlns:a16="http://schemas.microsoft.com/office/drawing/2014/main" id="{326C44D4-91A0-FC85-0E72-DEFB9B09A17B}"/>
              </a:ext>
            </a:extLst>
          </p:cNvPr>
          <p:cNvSpPr>
            <a:spLocks noGrp="1"/>
          </p:cNvSpPr>
          <p:nvPr>
            <p:ph type="subTitle" idx="1"/>
          </p:nvPr>
        </p:nvSpPr>
        <p:spPr/>
        <p:txBody>
          <a:bodyPr>
            <a:normAutofit/>
          </a:bodyPr>
          <a:lstStyle/>
          <a:p>
            <a:r>
              <a:rPr lang="en-US" dirty="0"/>
              <a:t>Begun 2025/10/01</a:t>
            </a:r>
          </a:p>
        </p:txBody>
      </p:sp>
    </p:spTree>
    <p:extLst>
      <p:ext uri="{BB962C8B-B14F-4D97-AF65-F5344CB8AC3E}">
        <p14:creationId xmlns:p14="http://schemas.microsoft.com/office/powerpoint/2010/main" val="38207485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7CA70-99C9-DFC2-FE16-9864781C8434}"/>
              </a:ext>
            </a:extLst>
          </p:cNvPr>
          <p:cNvSpPr>
            <a:spLocks noGrp="1"/>
          </p:cNvSpPr>
          <p:nvPr>
            <p:ph type="title"/>
          </p:nvPr>
        </p:nvSpPr>
        <p:spPr/>
        <p:txBody>
          <a:bodyPr/>
          <a:lstStyle/>
          <a:p>
            <a:r>
              <a:rPr lang="en-US" dirty="0"/>
              <a:t>process_RT300S_data_v1o0.m</a:t>
            </a:r>
          </a:p>
        </p:txBody>
      </p:sp>
      <p:sp>
        <p:nvSpPr>
          <p:cNvPr id="3" name="Text Placeholder 2">
            <a:extLst>
              <a:ext uri="{FF2B5EF4-FFF2-40B4-BE49-F238E27FC236}">
                <a16:creationId xmlns:a16="http://schemas.microsoft.com/office/drawing/2014/main" id="{6C02687D-7BD9-68EC-B59F-A21A35D60E5B}"/>
              </a:ext>
            </a:extLst>
          </p:cNvPr>
          <p:cNvSpPr>
            <a:spLocks noGrp="1"/>
          </p:cNvSpPr>
          <p:nvPr>
            <p:ph type="body" idx="1"/>
          </p:nvPr>
        </p:nvSpPr>
        <p:spPr/>
        <p:txBody>
          <a:bodyPr/>
          <a:lstStyle/>
          <a:p>
            <a:r>
              <a:rPr lang="en-US" dirty="0"/>
              <a:t>Copied from ‘BSDF_raw_to_processed_v4o3.m’, which successfully output to </a:t>
            </a:r>
            <a:r>
              <a:rPr lang="en-US" dirty="0" err="1"/>
              <a:t>Zemax</a:t>
            </a:r>
            <a:r>
              <a:rPr lang="en-US" dirty="0"/>
              <a:t> (but no automation, no averaging, etc.; just proof of concept)</a:t>
            </a:r>
          </a:p>
          <a:p>
            <a:pPr lvl="1"/>
            <a:r>
              <a:rPr lang="en-US" dirty="0"/>
              <a:t>What process_RT300S adds that v4.3 lacked:</a:t>
            </a:r>
          </a:p>
          <a:p>
            <a:pPr lvl="2"/>
            <a:r>
              <a:rPr lang="en-US" dirty="0"/>
              <a:t>Loading of multiple datasets, to average and return confidence bounds</a:t>
            </a:r>
          </a:p>
          <a:p>
            <a:pPr lvl="2"/>
            <a:r>
              <a:rPr lang="en-US" dirty="0"/>
              <a:t>Cleaner code for user understanding</a:t>
            </a:r>
          </a:p>
          <a:p>
            <a:pPr lvl="3"/>
            <a:r>
              <a:rPr lang="en-US" dirty="0"/>
              <a:t>Clear user-inputs section, the rest is automated</a:t>
            </a:r>
          </a:p>
          <a:p>
            <a:pPr lvl="2"/>
            <a:r>
              <a:rPr lang="en-US" dirty="0"/>
              <a:t>Automation of comments, etc. for BSDF file output</a:t>
            </a:r>
          </a:p>
          <a:p>
            <a:pPr lvl="2"/>
            <a:r>
              <a:rPr lang="en-US" dirty="0"/>
              <a:t>other</a:t>
            </a:r>
          </a:p>
        </p:txBody>
      </p:sp>
    </p:spTree>
    <p:extLst>
      <p:ext uri="{BB962C8B-B14F-4D97-AF65-F5344CB8AC3E}">
        <p14:creationId xmlns:p14="http://schemas.microsoft.com/office/powerpoint/2010/main" val="9176430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3AC790-2DC6-8921-4BD4-72EA46987E80}"/>
              </a:ext>
            </a:extLst>
          </p:cNvPr>
          <p:cNvPicPr>
            <a:picLocks noChangeAspect="1"/>
          </p:cNvPicPr>
          <p:nvPr/>
        </p:nvPicPr>
        <p:blipFill>
          <a:blip r:embed="rId2"/>
          <a:stretch>
            <a:fillRect/>
          </a:stretch>
        </p:blipFill>
        <p:spPr>
          <a:xfrm>
            <a:off x="4047067" y="477433"/>
            <a:ext cx="8144933" cy="6380567"/>
          </a:xfrm>
          <a:prstGeom prst="rect">
            <a:avLst/>
          </a:prstGeom>
        </p:spPr>
      </p:pic>
      <p:sp>
        <p:nvSpPr>
          <p:cNvPr id="2" name="Title 1">
            <a:extLst>
              <a:ext uri="{FF2B5EF4-FFF2-40B4-BE49-F238E27FC236}">
                <a16:creationId xmlns:a16="http://schemas.microsoft.com/office/drawing/2014/main" id="{40224840-0FBD-6B5C-69D8-3F6FADD4A092}"/>
              </a:ext>
            </a:extLst>
          </p:cNvPr>
          <p:cNvSpPr>
            <a:spLocks noGrp="1"/>
          </p:cNvSpPr>
          <p:nvPr>
            <p:ph type="title"/>
          </p:nvPr>
        </p:nvSpPr>
        <p:spPr/>
        <p:txBody>
          <a:bodyPr/>
          <a:lstStyle/>
          <a:p>
            <a:r>
              <a:rPr lang="en-US" dirty="0"/>
              <a:t>Averaging</a:t>
            </a:r>
          </a:p>
        </p:txBody>
      </p:sp>
      <p:sp>
        <p:nvSpPr>
          <p:cNvPr id="3" name="Text Placeholder 2">
            <a:extLst>
              <a:ext uri="{FF2B5EF4-FFF2-40B4-BE49-F238E27FC236}">
                <a16:creationId xmlns:a16="http://schemas.microsoft.com/office/drawing/2014/main" id="{4AFD1A47-939E-F61C-9607-5A0E90B989B0}"/>
              </a:ext>
            </a:extLst>
          </p:cNvPr>
          <p:cNvSpPr>
            <a:spLocks noGrp="1"/>
          </p:cNvSpPr>
          <p:nvPr>
            <p:ph type="body" idx="1"/>
          </p:nvPr>
        </p:nvSpPr>
        <p:spPr>
          <a:xfrm>
            <a:off x="609600" y="1752601"/>
            <a:ext cx="3437468" cy="4373563"/>
          </a:xfrm>
        </p:spPr>
        <p:txBody>
          <a:bodyPr>
            <a:normAutofit/>
          </a:bodyPr>
          <a:lstStyle/>
          <a:p>
            <a:r>
              <a:rPr lang="en-US" sz="2400" b="0" dirty="0"/>
              <a:t>Plane symmetry for isotropic treated as unique datasets</a:t>
            </a:r>
          </a:p>
          <a:p>
            <a:pPr lvl="1"/>
            <a:r>
              <a:rPr lang="en-US" sz="2000" dirty="0"/>
              <a:t>-(A,R) = (A,R), </a:t>
            </a:r>
            <a:br>
              <a:rPr lang="en-US" sz="2000" dirty="0"/>
            </a:br>
            <a:r>
              <a:rPr lang="en-US" sz="2000" dirty="0"/>
              <a:t>just flipped about incident plane</a:t>
            </a:r>
            <a:endParaRPr lang="en-US" sz="2000" b="0" dirty="0"/>
          </a:p>
          <a:p>
            <a:r>
              <a:rPr lang="en-US" sz="2400" b="0" dirty="0"/>
              <a:t>Agrees well</a:t>
            </a:r>
          </a:p>
          <a:p>
            <a:r>
              <a:rPr lang="en-US" sz="2400" b="0" dirty="0"/>
              <a:t>Using average</a:t>
            </a:r>
          </a:p>
        </p:txBody>
      </p:sp>
      <p:sp>
        <p:nvSpPr>
          <p:cNvPr id="6" name="TextBox 5">
            <a:extLst>
              <a:ext uri="{FF2B5EF4-FFF2-40B4-BE49-F238E27FC236}">
                <a16:creationId xmlns:a16="http://schemas.microsoft.com/office/drawing/2014/main" id="{102B1B6C-CEB3-20A2-B400-7B0A9A9CB2EC}"/>
              </a:ext>
            </a:extLst>
          </p:cNvPr>
          <p:cNvSpPr txBox="1"/>
          <p:nvPr/>
        </p:nvSpPr>
        <p:spPr>
          <a:xfrm>
            <a:off x="493019" y="5563375"/>
            <a:ext cx="3350848" cy="954107"/>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“NiTE_on_invar_v1o0A_20250915.xls”,</a:t>
            </a:r>
            <a:br>
              <a:rPr lang="en-US" dirty="0">
                <a:solidFill>
                  <a:schemeClr val="bg2"/>
                </a:solidFill>
              </a:rPr>
            </a:br>
            <a:r>
              <a:rPr lang="en-US" dirty="0">
                <a:solidFill>
                  <a:schemeClr val="bg2"/>
                </a:solidFill>
              </a:rPr>
              <a:t>“NiTE_on_invar_v1o0B_20250916.xls”,</a:t>
            </a:r>
            <a:br>
              <a:rPr lang="en-US" dirty="0">
                <a:solidFill>
                  <a:schemeClr val="bg2"/>
                </a:solidFill>
              </a:rPr>
            </a:br>
            <a:r>
              <a:rPr lang="en-US" dirty="0">
                <a:solidFill>
                  <a:schemeClr val="bg2"/>
                </a:solidFill>
              </a:rPr>
              <a:t>“NiTE_on_invar_v1o0C_20250916.xls”</a:t>
            </a:r>
          </a:p>
        </p:txBody>
      </p:sp>
    </p:spTree>
    <p:extLst>
      <p:ext uri="{BB962C8B-B14F-4D97-AF65-F5344CB8AC3E}">
        <p14:creationId xmlns:p14="http://schemas.microsoft.com/office/powerpoint/2010/main" val="329782563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4C050-2DC0-F895-14C7-1E70ECF82E35}"/>
              </a:ext>
            </a:extLst>
          </p:cNvPr>
          <p:cNvSpPr>
            <a:spLocks noGrp="1"/>
          </p:cNvSpPr>
          <p:nvPr>
            <p:ph type="title"/>
          </p:nvPr>
        </p:nvSpPr>
        <p:spPr/>
        <p:txBody>
          <a:bodyPr/>
          <a:lstStyle/>
          <a:p>
            <a:r>
              <a:rPr lang="en-US" dirty="0"/>
              <a:t>Deciding R cutoff</a:t>
            </a:r>
          </a:p>
        </p:txBody>
      </p:sp>
      <p:sp>
        <p:nvSpPr>
          <p:cNvPr id="3" name="Text Placeholder 2">
            <a:extLst>
              <a:ext uri="{FF2B5EF4-FFF2-40B4-BE49-F238E27FC236}">
                <a16:creationId xmlns:a16="http://schemas.microsoft.com/office/drawing/2014/main" id="{A0AD7C2E-5E58-6647-938C-9C6675FFEA2F}"/>
              </a:ext>
            </a:extLst>
          </p:cNvPr>
          <p:cNvSpPr>
            <a:spLocks noGrp="1"/>
          </p:cNvSpPr>
          <p:nvPr>
            <p:ph type="body" idx="1"/>
          </p:nvPr>
        </p:nvSpPr>
        <p:spPr/>
        <p:txBody>
          <a:bodyPr/>
          <a:lstStyle/>
          <a:p>
            <a:r>
              <a:rPr lang="en-US" sz="2400" b="0" dirty="0" err="1"/>
              <a:t>BrownVinyl</a:t>
            </a:r>
            <a:r>
              <a:rPr lang="en-US" sz="2400" b="0" dirty="0"/>
              <a:t> sets BRDF=0 at |R| &gt;= 80deg</a:t>
            </a:r>
          </a:p>
          <a:p>
            <a:r>
              <a:rPr lang="en-US" sz="2400" b="0" dirty="0"/>
              <a:t>Results a few slides ago was me doing |R| &gt; 80</a:t>
            </a:r>
          </a:p>
          <a:p>
            <a:r>
              <a:rPr lang="en-US" sz="2400" b="0" dirty="0"/>
              <a:t>However, I suspected a bug since I expected a plane asymptote parallel to the scatter cone’s </a:t>
            </a:r>
            <a:r>
              <a:rPr lang="en-US" sz="2400" b="0" dirty="0" err="1"/>
              <a:t>zx</a:t>
            </a:r>
            <a:r>
              <a:rPr lang="en-US" sz="2400" b="0" dirty="0"/>
              <a:t> plane</a:t>
            </a:r>
          </a:p>
          <a:p>
            <a:pPr lvl="1"/>
            <a:r>
              <a:rPr lang="en-US" dirty="0"/>
              <a:t>Rather, the asymptote was perpendicular to the radial direction at a consistent offset</a:t>
            </a:r>
          </a:p>
        </p:txBody>
      </p:sp>
    </p:spTree>
    <p:extLst>
      <p:ext uri="{BB962C8B-B14F-4D97-AF65-F5344CB8AC3E}">
        <p14:creationId xmlns:p14="http://schemas.microsoft.com/office/powerpoint/2010/main" val="125889717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567EA-217C-2F71-35E6-99CC1796789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8A4594E-6F90-8293-1468-A8796734D6B0}"/>
              </a:ext>
            </a:extLst>
          </p:cNvPr>
          <p:cNvPicPr>
            <a:picLocks noChangeAspect="1"/>
          </p:cNvPicPr>
          <p:nvPr/>
        </p:nvPicPr>
        <p:blipFill>
          <a:blip r:embed="rId2"/>
          <a:stretch>
            <a:fillRect/>
          </a:stretch>
        </p:blipFill>
        <p:spPr>
          <a:xfrm>
            <a:off x="5765850" y="1923479"/>
            <a:ext cx="6002817" cy="4617551"/>
          </a:xfrm>
          <a:prstGeom prst="rect">
            <a:avLst/>
          </a:prstGeom>
        </p:spPr>
      </p:pic>
      <p:sp>
        <p:nvSpPr>
          <p:cNvPr id="2" name="Title 1">
            <a:extLst>
              <a:ext uri="{FF2B5EF4-FFF2-40B4-BE49-F238E27FC236}">
                <a16:creationId xmlns:a16="http://schemas.microsoft.com/office/drawing/2014/main" id="{14908F2F-68B5-44C5-DCC8-908F20C25F46}"/>
              </a:ext>
            </a:extLst>
          </p:cNvPr>
          <p:cNvSpPr>
            <a:spLocks noGrp="1"/>
          </p:cNvSpPr>
          <p:nvPr>
            <p:ph type="title"/>
          </p:nvPr>
        </p:nvSpPr>
        <p:spPr/>
        <p:txBody>
          <a:bodyPr/>
          <a:lstStyle/>
          <a:p>
            <a:r>
              <a:rPr lang="en-US" dirty="0"/>
              <a:t>Deciding R cutoff</a:t>
            </a:r>
          </a:p>
        </p:txBody>
      </p:sp>
      <p:sp>
        <p:nvSpPr>
          <p:cNvPr id="3" name="Text Placeholder 2">
            <a:extLst>
              <a:ext uri="{FF2B5EF4-FFF2-40B4-BE49-F238E27FC236}">
                <a16:creationId xmlns:a16="http://schemas.microsoft.com/office/drawing/2014/main" id="{2184D9B6-021D-3797-107D-700D5E027F0E}"/>
              </a:ext>
            </a:extLst>
          </p:cNvPr>
          <p:cNvSpPr>
            <a:spLocks noGrp="1"/>
          </p:cNvSpPr>
          <p:nvPr>
            <p:ph type="body" idx="1"/>
          </p:nvPr>
        </p:nvSpPr>
        <p:spPr>
          <a:xfrm>
            <a:off x="609600" y="1752601"/>
            <a:ext cx="5028880" cy="4373563"/>
          </a:xfrm>
        </p:spPr>
        <p:txBody>
          <a:bodyPr>
            <a:normAutofit/>
          </a:bodyPr>
          <a:lstStyle/>
          <a:p>
            <a:r>
              <a:rPr lang="en-US" sz="2400" b="0" dirty="0"/>
              <a:t>Note R is conical about specular</a:t>
            </a:r>
          </a:p>
          <a:p>
            <a:pPr lvl="1"/>
            <a:r>
              <a:rPr lang="en-US" sz="2000" dirty="0"/>
              <a:t>I expected something closer to </a:t>
            </a:r>
            <a:r>
              <a:rPr lang="en-US" sz="2000" dirty="0" err="1"/>
              <a:t>xy</a:t>
            </a:r>
            <a:r>
              <a:rPr lang="en-US" sz="2000" dirty="0"/>
              <a:t> plane tilted about sagittal axis</a:t>
            </a:r>
            <a:endParaRPr lang="en-US" sz="2000" b="0" dirty="0"/>
          </a:p>
        </p:txBody>
      </p:sp>
      <p:sp>
        <p:nvSpPr>
          <p:cNvPr id="6" name="TextBox 5">
            <a:extLst>
              <a:ext uri="{FF2B5EF4-FFF2-40B4-BE49-F238E27FC236}">
                <a16:creationId xmlns:a16="http://schemas.microsoft.com/office/drawing/2014/main" id="{86EEF835-0139-D47D-88D0-BEF37779F8EB}"/>
              </a:ext>
            </a:extLst>
          </p:cNvPr>
          <p:cNvSpPr txBox="1"/>
          <p:nvPr/>
        </p:nvSpPr>
        <p:spPr>
          <a:xfrm rot="16200000">
            <a:off x="4149203" y="3970644"/>
            <a:ext cx="2455334" cy="523220"/>
          </a:xfrm>
          <a:prstGeom prst="rect">
            <a:avLst/>
          </a:prstGeom>
          <a:solidFill>
            <a:schemeClr val="bg1"/>
          </a:solidFill>
          <a:ln>
            <a:solidFill>
              <a:schemeClr val="bg2"/>
            </a:solidFill>
          </a:ln>
        </p:spPr>
        <p:txBody>
          <a:bodyPr wrap="square" rtlCol="0">
            <a:spAutoFit/>
          </a:bodyPr>
          <a:lstStyle/>
          <a:p>
            <a:r>
              <a:rPr lang="en-US" dirty="0">
                <a:solidFill>
                  <a:schemeClr val="bg2"/>
                </a:solidFill>
              </a:rPr>
              <a:t>Receive angle R calculated from (I, Az, Rz)</a:t>
            </a:r>
          </a:p>
        </p:txBody>
      </p:sp>
      <p:sp>
        <p:nvSpPr>
          <p:cNvPr id="7" name="TextBox 6">
            <a:extLst>
              <a:ext uri="{FF2B5EF4-FFF2-40B4-BE49-F238E27FC236}">
                <a16:creationId xmlns:a16="http://schemas.microsoft.com/office/drawing/2014/main" id="{59B0C1A6-9B1F-CD86-6251-087CD8A7D0F9}"/>
              </a:ext>
            </a:extLst>
          </p:cNvPr>
          <p:cNvSpPr txBox="1"/>
          <p:nvPr/>
        </p:nvSpPr>
        <p:spPr>
          <a:xfrm>
            <a:off x="493019" y="5563375"/>
            <a:ext cx="3350848" cy="954107"/>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“NiTE_on_invar_v1o0A_20250915.xls”,</a:t>
            </a:r>
            <a:br>
              <a:rPr lang="en-US" dirty="0">
                <a:solidFill>
                  <a:schemeClr val="bg2"/>
                </a:solidFill>
              </a:rPr>
            </a:br>
            <a:r>
              <a:rPr lang="en-US" dirty="0">
                <a:solidFill>
                  <a:schemeClr val="bg2"/>
                </a:solidFill>
              </a:rPr>
              <a:t>“NiTE_on_invar_v1o0B_20250916.xls”,</a:t>
            </a:r>
            <a:br>
              <a:rPr lang="en-US" dirty="0">
                <a:solidFill>
                  <a:schemeClr val="bg2"/>
                </a:solidFill>
              </a:rPr>
            </a:br>
            <a:r>
              <a:rPr lang="en-US" dirty="0">
                <a:solidFill>
                  <a:schemeClr val="bg2"/>
                </a:solidFill>
              </a:rPr>
              <a:t>“NiTE_on_invar_v1o0C_20250916.xls”</a:t>
            </a:r>
          </a:p>
        </p:txBody>
      </p:sp>
    </p:spTree>
    <p:extLst>
      <p:ext uri="{BB962C8B-B14F-4D97-AF65-F5344CB8AC3E}">
        <p14:creationId xmlns:p14="http://schemas.microsoft.com/office/powerpoint/2010/main" val="391082037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D2946-68F0-0225-913A-9C2B9FAB1FE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EE41FAC-92AC-33C1-3B53-C41D7F1660E3}"/>
              </a:ext>
            </a:extLst>
          </p:cNvPr>
          <p:cNvPicPr>
            <a:picLocks noChangeAspect="1"/>
          </p:cNvPicPr>
          <p:nvPr/>
        </p:nvPicPr>
        <p:blipFill>
          <a:blip r:embed="rId2"/>
          <a:srcRect/>
          <a:stretch/>
        </p:blipFill>
        <p:spPr>
          <a:xfrm>
            <a:off x="6095758" y="1923479"/>
            <a:ext cx="5343001" cy="4617551"/>
          </a:xfrm>
          <a:prstGeom prst="rect">
            <a:avLst/>
          </a:prstGeom>
        </p:spPr>
      </p:pic>
      <p:sp>
        <p:nvSpPr>
          <p:cNvPr id="2" name="Title 1">
            <a:extLst>
              <a:ext uri="{FF2B5EF4-FFF2-40B4-BE49-F238E27FC236}">
                <a16:creationId xmlns:a16="http://schemas.microsoft.com/office/drawing/2014/main" id="{7DDF628C-A0FA-F7AC-FA2C-9213DDE00CDF}"/>
              </a:ext>
            </a:extLst>
          </p:cNvPr>
          <p:cNvSpPr>
            <a:spLocks noGrp="1"/>
          </p:cNvSpPr>
          <p:nvPr>
            <p:ph type="title"/>
          </p:nvPr>
        </p:nvSpPr>
        <p:spPr/>
        <p:txBody>
          <a:bodyPr/>
          <a:lstStyle/>
          <a:p>
            <a:r>
              <a:rPr lang="en-US" dirty="0"/>
              <a:t>Deciding R cutoff</a:t>
            </a:r>
          </a:p>
        </p:txBody>
      </p:sp>
      <p:sp>
        <p:nvSpPr>
          <p:cNvPr id="3" name="Text Placeholder 2">
            <a:extLst>
              <a:ext uri="{FF2B5EF4-FFF2-40B4-BE49-F238E27FC236}">
                <a16:creationId xmlns:a16="http://schemas.microsoft.com/office/drawing/2014/main" id="{4C8C6430-E4A0-C785-5FBD-7E3A9B5B8E84}"/>
              </a:ext>
            </a:extLst>
          </p:cNvPr>
          <p:cNvSpPr>
            <a:spLocks noGrp="1"/>
          </p:cNvSpPr>
          <p:nvPr>
            <p:ph type="body" idx="1"/>
          </p:nvPr>
        </p:nvSpPr>
        <p:spPr>
          <a:xfrm>
            <a:off x="609600" y="1752601"/>
            <a:ext cx="5028880" cy="4373563"/>
          </a:xfrm>
        </p:spPr>
        <p:txBody>
          <a:bodyPr>
            <a:normAutofit/>
          </a:bodyPr>
          <a:lstStyle/>
          <a:p>
            <a:r>
              <a:rPr lang="en-US" sz="2400" b="0" dirty="0"/>
              <a:t>The R value declining conically causes </a:t>
            </a:r>
            <a:r>
              <a:rPr lang="en-US" sz="2400" b="0" dirty="0">
                <a:solidFill>
                  <a:srgbClr val="00FF00"/>
                </a:solidFill>
              </a:rPr>
              <a:t>artifacts in BRDF values </a:t>
            </a:r>
            <a:r>
              <a:rPr lang="en-US" sz="2400" b="0" dirty="0"/>
              <a:t>because cos(R)</a:t>
            </a:r>
            <a:r>
              <a:rPr lang="en-US" sz="2400" b="0" dirty="0">
                <a:sym typeface="Wingdings" panose="05000000000000000000" pitchFamily="2" charset="2"/>
              </a:rPr>
              <a:t>0</a:t>
            </a:r>
            <a:endParaRPr lang="en-US" sz="2400" b="0" dirty="0"/>
          </a:p>
          <a:p>
            <a:pPr lvl="1"/>
            <a:r>
              <a:rPr lang="en-US" sz="1600" dirty="0"/>
              <a:t>BRDF = RT / (pi * cos(R))</a:t>
            </a:r>
          </a:p>
        </p:txBody>
      </p:sp>
      <p:sp>
        <p:nvSpPr>
          <p:cNvPr id="4" name="Oval 3">
            <a:extLst>
              <a:ext uri="{FF2B5EF4-FFF2-40B4-BE49-F238E27FC236}">
                <a16:creationId xmlns:a16="http://schemas.microsoft.com/office/drawing/2014/main" id="{B54EFB88-AD64-06A2-57E5-C7F4EF538845}"/>
              </a:ext>
            </a:extLst>
          </p:cNvPr>
          <p:cNvSpPr/>
          <p:nvPr/>
        </p:nvSpPr>
        <p:spPr>
          <a:xfrm>
            <a:off x="7433733" y="3852333"/>
            <a:ext cx="626534" cy="914400"/>
          </a:xfrm>
          <a:prstGeom prst="ellipse">
            <a:avLst/>
          </a:prstGeom>
          <a:noFill/>
          <a:ln w="3810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9C5CFD3-AF48-7919-7865-57F4875BA64F}"/>
              </a:ext>
            </a:extLst>
          </p:cNvPr>
          <p:cNvSpPr txBox="1"/>
          <p:nvPr/>
        </p:nvSpPr>
        <p:spPr>
          <a:xfrm>
            <a:off x="493019" y="5563375"/>
            <a:ext cx="3350848" cy="954107"/>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“NiTE_on_invar_v1o0A_20250915.xls”,</a:t>
            </a:r>
            <a:br>
              <a:rPr lang="en-US" dirty="0">
                <a:solidFill>
                  <a:schemeClr val="bg2"/>
                </a:solidFill>
              </a:rPr>
            </a:br>
            <a:r>
              <a:rPr lang="en-US" dirty="0">
                <a:solidFill>
                  <a:schemeClr val="bg2"/>
                </a:solidFill>
              </a:rPr>
              <a:t>“NiTE_on_invar_v1o0B_20250916.xls”,</a:t>
            </a:r>
            <a:br>
              <a:rPr lang="en-US" dirty="0">
                <a:solidFill>
                  <a:schemeClr val="bg2"/>
                </a:solidFill>
              </a:rPr>
            </a:br>
            <a:r>
              <a:rPr lang="en-US" dirty="0">
                <a:solidFill>
                  <a:schemeClr val="bg2"/>
                </a:solidFill>
              </a:rPr>
              <a:t>“NiTE_on_invar_v1o0C_20250916.xls”</a:t>
            </a:r>
          </a:p>
        </p:txBody>
      </p:sp>
    </p:spTree>
    <p:extLst>
      <p:ext uri="{BB962C8B-B14F-4D97-AF65-F5344CB8AC3E}">
        <p14:creationId xmlns:p14="http://schemas.microsoft.com/office/powerpoint/2010/main" val="336026571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8753E-AFEA-DD72-6133-E02B38C3010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EBE9626-27BB-DFCC-3BB2-18C312B5D4BE}"/>
              </a:ext>
            </a:extLst>
          </p:cNvPr>
          <p:cNvPicPr>
            <a:picLocks noChangeAspect="1"/>
          </p:cNvPicPr>
          <p:nvPr/>
        </p:nvPicPr>
        <p:blipFill>
          <a:blip r:embed="rId2"/>
          <a:srcRect/>
          <a:stretch/>
        </p:blipFill>
        <p:spPr>
          <a:xfrm>
            <a:off x="6373199" y="1923479"/>
            <a:ext cx="4788119" cy="4617551"/>
          </a:xfrm>
          <a:prstGeom prst="rect">
            <a:avLst/>
          </a:prstGeom>
        </p:spPr>
      </p:pic>
      <p:sp>
        <p:nvSpPr>
          <p:cNvPr id="2" name="Title 1">
            <a:extLst>
              <a:ext uri="{FF2B5EF4-FFF2-40B4-BE49-F238E27FC236}">
                <a16:creationId xmlns:a16="http://schemas.microsoft.com/office/drawing/2014/main" id="{C25F79B0-3016-43FC-945F-2D32E498A8A3}"/>
              </a:ext>
            </a:extLst>
          </p:cNvPr>
          <p:cNvSpPr>
            <a:spLocks noGrp="1"/>
          </p:cNvSpPr>
          <p:nvPr>
            <p:ph type="title"/>
          </p:nvPr>
        </p:nvSpPr>
        <p:spPr/>
        <p:txBody>
          <a:bodyPr/>
          <a:lstStyle/>
          <a:p>
            <a:r>
              <a:rPr lang="en-US" dirty="0"/>
              <a:t>Deciding R cutoff</a:t>
            </a:r>
          </a:p>
        </p:txBody>
      </p:sp>
      <p:sp>
        <p:nvSpPr>
          <p:cNvPr id="3" name="Text Placeholder 2">
            <a:extLst>
              <a:ext uri="{FF2B5EF4-FFF2-40B4-BE49-F238E27FC236}">
                <a16:creationId xmlns:a16="http://schemas.microsoft.com/office/drawing/2014/main" id="{CEDF7EFE-216E-8A6E-C7B5-3F27F58F4926}"/>
              </a:ext>
            </a:extLst>
          </p:cNvPr>
          <p:cNvSpPr>
            <a:spLocks noGrp="1"/>
          </p:cNvSpPr>
          <p:nvPr>
            <p:ph type="body" idx="1"/>
          </p:nvPr>
        </p:nvSpPr>
        <p:spPr>
          <a:xfrm>
            <a:off x="609600" y="1752601"/>
            <a:ext cx="5028880" cy="4373563"/>
          </a:xfrm>
        </p:spPr>
        <p:txBody>
          <a:bodyPr>
            <a:normAutofit/>
          </a:bodyPr>
          <a:lstStyle/>
          <a:p>
            <a:r>
              <a:rPr lang="en-US" sz="2400" b="0" dirty="0"/>
              <a:t>Cutting off at R&gt;80,</a:t>
            </a:r>
          </a:p>
          <a:p>
            <a:pPr lvl="1"/>
            <a:r>
              <a:rPr lang="en-US" dirty="0"/>
              <a:t>Based on R conical shape this makes sense, but physically </a:t>
            </a:r>
            <a:r>
              <a:rPr lang="en-US" dirty="0">
                <a:solidFill>
                  <a:srgbClr val="00FF00"/>
                </a:solidFill>
              </a:rPr>
              <a:t>n</a:t>
            </a:r>
            <a:r>
              <a:rPr lang="en-US" b="0" dirty="0">
                <a:solidFill>
                  <a:srgbClr val="00FF00"/>
                </a:solidFill>
              </a:rPr>
              <a:t>ot sure why green circle</a:t>
            </a:r>
            <a:r>
              <a:rPr lang="en-US" dirty="0">
                <a:solidFill>
                  <a:srgbClr val="00FF00"/>
                </a:solidFill>
              </a:rPr>
              <a:t>d would be 0</a:t>
            </a:r>
          </a:p>
          <a:p>
            <a:pPr lvl="2"/>
            <a:r>
              <a:rPr lang="en-US" b="0" dirty="0">
                <a:solidFill>
                  <a:schemeClr val="accent3"/>
                </a:solidFill>
              </a:rPr>
              <a:t>I’d expect blue line </a:t>
            </a:r>
            <a:r>
              <a:rPr lang="en-US" dirty="0">
                <a:solidFill>
                  <a:schemeClr val="accent3"/>
                </a:solidFill>
              </a:rPr>
              <a:t>is like </a:t>
            </a:r>
            <a:r>
              <a:rPr lang="en-US" dirty="0" err="1">
                <a:solidFill>
                  <a:schemeClr val="accent3"/>
                </a:solidFill>
              </a:rPr>
              <a:t>xy</a:t>
            </a:r>
            <a:r>
              <a:rPr lang="en-US" dirty="0">
                <a:solidFill>
                  <a:schemeClr val="accent3"/>
                </a:solidFill>
              </a:rPr>
              <a:t> plane (sample surface) and so scatter would occur above it</a:t>
            </a:r>
            <a:endParaRPr lang="en-US" b="0" dirty="0">
              <a:solidFill>
                <a:schemeClr val="accent3"/>
              </a:solidFill>
            </a:endParaRPr>
          </a:p>
        </p:txBody>
      </p:sp>
      <p:sp>
        <p:nvSpPr>
          <p:cNvPr id="4" name="Oval 3">
            <a:extLst>
              <a:ext uri="{FF2B5EF4-FFF2-40B4-BE49-F238E27FC236}">
                <a16:creationId xmlns:a16="http://schemas.microsoft.com/office/drawing/2014/main" id="{5C38F37C-D2DB-DF79-D1CF-FD42858C22AA}"/>
              </a:ext>
            </a:extLst>
          </p:cNvPr>
          <p:cNvSpPr/>
          <p:nvPr/>
        </p:nvSpPr>
        <p:spPr>
          <a:xfrm rot="17159452">
            <a:off x="7804313" y="4296232"/>
            <a:ext cx="288384" cy="1100145"/>
          </a:xfrm>
          <a:prstGeom prst="ellipse">
            <a:avLst/>
          </a:prstGeom>
          <a:noFill/>
          <a:ln w="3810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9A32A68-3462-D9FC-AB1D-4C312A9E8F06}"/>
              </a:ext>
            </a:extLst>
          </p:cNvPr>
          <p:cNvCxnSpPr>
            <a:cxnSpLocks/>
          </p:cNvCxnSpPr>
          <p:nvPr/>
        </p:nvCxnSpPr>
        <p:spPr>
          <a:xfrm flipH="1" flipV="1">
            <a:off x="7112000" y="4961467"/>
            <a:ext cx="3666067" cy="414866"/>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49B6C04-0EDA-CBED-7FB8-EDDAF3CC5D95}"/>
              </a:ext>
            </a:extLst>
          </p:cNvPr>
          <p:cNvSpPr txBox="1"/>
          <p:nvPr/>
        </p:nvSpPr>
        <p:spPr>
          <a:xfrm>
            <a:off x="493019" y="5563375"/>
            <a:ext cx="3350848" cy="954107"/>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“NiTE_on_invar_v1o0A_20250915.xls”,</a:t>
            </a:r>
            <a:br>
              <a:rPr lang="en-US" dirty="0">
                <a:solidFill>
                  <a:schemeClr val="bg2"/>
                </a:solidFill>
              </a:rPr>
            </a:br>
            <a:r>
              <a:rPr lang="en-US" dirty="0">
                <a:solidFill>
                  <a:schemeClr val="bg2"/>
                </a:solidFill>
              </a:rPr>
              <a:t>“NiTE_on_invar_v1o0B_20250916.xls”,</a:t>
            </a:r>
            <a:br>
              <a:rPr lang="en-US" dirty="0">
                <a:solidFill>
                  <a:schemeClr val="bg2"/>
                </a:solidFill>
              </a:rPr>
            </a:br>
            <a:r>
              <a:rPr lang="en-US" dirty="0">
                <a:solidFill>
                  <a:schemeClr val="bg2"/>
                </a:solidFill>
              </a:rPr>
              <a:t>“NiTE_on_invar_v1o0C_20250916.xls”</a:t>
            </a:r>
          </a:p>
        </p:txBody>
      </p:sp>
    </p:spTree>
    <p:extLst>
      <p:ext uri="{BB962C8B-B14F-4D97-AF65-F5344CB8AC3E}">
        <p14:creationId xmlns:p14="http://schemas.microsoft.com/office/powerpoint/2010/main" val="337702716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2BA64-0DA9-F57E-BAC8-1FF42148FDCB}"/>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8F4C1C83-0D2E-49F4-6A75-C6F54D0B8B72}"/>
              </a:ext>
            </a:extLst>
          </p:cNvPr>
          <p:cNvPicPr>
            <a:picLocks noChangeAspect="1"/>
          </p:cNvPicPr>
          <p:nvPr/>
        </p:nvPicPr>
        <p:blipFill>
          <a:blip r:embed="rId2"/>
          <a:stretch>
            <a:fillRect/>
          </a:stretch>
        </p:blipFill>
        <p:spPr>
          <a:xfrm>
            <a:off x="5058690" y="753533"/>
            <a:ext cx="7133310" cy="6104467"/>
          </a:xfrm>
          <a:prstGeom prst="rect">
            <a:avLst/>
          </a:prstGeom>
        </p:spPr>
      </p:pic>
      <p:sp>
        <p:nvSpPr>
          <p:cNvPr id="2" name="Title 1">
            <a:extLst>
              <a:ext uri="{FF2B5EF4-FFF2-40B4-BE49-F238E27FC236}">
                <a16:creationId xmlns:a16="http://schemas.microsoft.com/office/drawing/2014/main" id="{F988F341-C356-6BEC-6A21-CA62F8283D8F}"/>
              </a:ext>
            </a:extLst>
          </p:cNvPr>
          <p:cNvSpPr>
            <a:spLocks noGrp="1"/>
          </p:cNvSpPr>
          <p:nvPr>
            <p:ph type="title"/>
          </p:nvPr>
        </p:nvSpPr>
        <p:spPr/>
        <p:txBody>
          <a:bodyPr/>
          <a:lstStyle/>
          <a:p>
            <a:r>
              <a:rPr lang="en-US" dirty="0"/>
              <a:t>Deciding R cutoff</a:t>
            </a:r>
          </a:p>
        </p:txBody>
      </p:sp>
      <p:sp>
        <p:nvSpPr>
          <p:cNvPr id="3" name="Text Placeholder 2">
            <a:extLst>
              <a:ext uri="{FF2B5EF4-FFF2-40B4-BE49-F238E27FC236}">
                <a16:creationId xmlns:a16="http://schemas.microsoft.com/office/drawing/2014/main" id="{1CEDAE8F-2C45-37EC-ABB0-6162262AEEA9}"/>
              </a:ext>
            </a:extLst>
          </p:cNvPr>
          <p:cNvSpPr>
            <a:spLocks noGrp="1"/>
          </p:cNvSpPr>
          <p:nvPr>
            <p:ph type="body" idx="1"/>
          </p:nvPr>
        </p:nvSpPr>
        <p:spPr>
          <a:xfrm>
            <a:off x="609600" y="1752601"/>
            <a:ext cx="4394200" cy="4373563"/>
          </a:xfrm>
        </p:spPr>
        <p:txBody>
          <a:bodyPr>
            <a:normAutofit/>
          </a:bodyPr>
          <a:lstStyle/>
          <a:p>
            <a:r>
              <a:rPr lang="en-US" sz="2400" b="0" dirty="0">
                <a:solidFill>
                  <a:schemeClr val="tx1"/>
                </a:solidFill>
              </a:rPr>
              <a:t>Nonetheless, </a:t>
            </a:r>
          </a:p>
          <a:p>
            <a:pPr lvl="1"/>
            <a:r>
              <a:rPr lang="en-US" sz="2000" b="0" dirty="0">
                <a:solidFill>
                  <a:schemeClr val="tx1"/>
                </a:solidFill>
              </a:rPr>
              <a:t>trusting my (I, Az, Rz) to (A, R) coordinate transformation</a:t>
            </a:r>
          </a:p>
          <a:p>
            <a:pPr lvl="1"/>
            <a:r>
              <a:rPr lang="en-US" sz="2000" dirty="0">
                <a:solidFill>
                  <a:schemeClr val="tx1"/>
                </a:solidFill>
              </a:rPr>
              <a:t>Knowing scatter at |R| &gt; 90 is physically impossible</a:t>
            </a:r>
          </a:p>
          <a:p>
            <a:pPr lvl="1"/>
            <a:r>
              <a:rPr lang="en-US" sz="2000" dirty="0" err="1">
                <a:solidFill>
                  <a:schemeClr val="tx1"/>
                </a:solidFill>
              </a:rPr>
              <a:t>BrownVinyl</a:t>
            </a:r>
            <a:r>
              <a:rPr lang="en-US" sz="2000" dirty="0">
                <a:solidFill>
                  <a:schemeClr val="tx1"/>
                </a:solidFill>
              </a:rPr>
              <a:t> uses &gt;=80 as cutoff</a:t>
            </a:r>
          </a:p>
          <a:p>
            <a:r>
              <a:rPr lang="en-US" sz="2400" b="0" dirty="0">
                <a:solidFill>
                  <a:schemeClr val="tx1"/>
                </a:solidFill>
                <a:highlight>
                  <a:srgbClr val="FFFF00"/>
                </a:highlight>
              </a:rPr>
              <a:t>Therefore in my opinion we are justified to proceed with |R| &gt; 80 as cutoff, with R from transformation</a:t>
            </a:r>
            <a:endParaRPr lang="en-US" b="0" dirty="0">
              <a:solidFill>
                <a:schemeClr val="tx1"/>
              </a:solidFill>
              <a:highlight>
                <a:srgbClr val="FFFF00"/>
              </a:highlight>
            </a:endParaRPr>
          </a:p>
        </p:txBody>
      </p:sp>
      <p:sp>
        <p:nvSpPr>
          <p:cNvPr id="9" name="TextBox 8">
            <a:extLst>
              <a:ext uri="{FF2B5EF4-FFF2-40B4-BE49-F238E27FC236}">
                <a16:creationId xmlns:a16="http://schemas.microsoft.com/office/drawing/2014/main" id="{F928900B-B342-8F1B-8352-4F48CAA989D3}"/>
              </a:ext>
            </a:extLst>
          </p:cNvPr>
          <p:cNvSpPr txBox="1"/>
          <p:nvPr/>
        </p:nvSpPr>
        <p:spPr>
          <a:xfrm>
            <a:off x="120486" y="5877393"/>
            <a:ext cx="3350848" cy="954107"/>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“NiTE_on_invar_v1o0A_20250915.xls”,</a:t>
            </a:r>
            <a:br>
              <a:rPr lang="en-US" dirty="0">
                <a:solidFill>
                  <a:schemeClr val="bg2"/>
                </a:solidFill>
              </a:rPr>
            </a:br>
            <a:r>
              <a:rPr lang="en-US" dirty="0">
                <a:solidFill>
                  <a:schemeClr val="bg2"/>
                </a:solidFill>
              </a:rPr>
              <a:t>“NiTE_on_invar_v1o0B_20250916.xls”,</a:t>
            </a:r>
            <a:br>
              <a:rPr lang="en-US" dirty="0">
                <a:solidFill>
                  <a:schemeClr val="bg2"/>
                </a:solidFill>
              </a:rPr>
            </a:br>
            <a:r>
              <a:rPr lang="en-US" dirty="0">
                <a:solidFill>
                  <a:schemeClr val="bg2"/>
                </a:solidFill>
              </a:rPr>
              <a:t>“NiTE_on_invar_v1o0C_20250916.xls”</a:t>
            </a:r>
          </a:p>
        </p:txBody>
      </p:sp>
    </p:spTree>
    <p:extLst>
      <p:ext uri="{BB962C8B-B14F-4D97-AF65-F5344CB8AC3E}">
        <p14:creationId xmlns:p14="http://schemas.microsoft.com/office/powerpoint/2010/main" val="388795493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BBC2D-EEEF-5133-68D3-791304216564}"/>
              </a:ext>
            </a:extLst>
          </p:cNvPr>
          <p:cNvSpPr>
            <a:spLocks noGrp="1"/>
          </p:cNvSpPr>
          <p:nvPr>
            <p:ph type="title"/>
          </p:nvPr>
        </p:nvSpPr>
        <p:spPr/>
        <p:txBody>
          <a:bodyPr/>
          <a:lstStyle/>
          <a:p>
            <a:r>
              <a:rPr lang="en-US" dirty="0"/>
              <a:t>Results</a:t>
            </a:r>
          </a:p>
        </p:txBody>
      </p:sp>
      <p:sp>
        <p:nvSpPr>
          <p:cNvPr id="3" name="Text Placeholder 2">
            <a:extLst>
              <a:ext uri="{FF2B5EF4-FFF2-40B4-BE49-F238E27FC236}">
                <a16:creationId xmlns:a16="http://schemas.microsoft.com/office/drawing/2014/main" id="{19985FD5-E30F-072A-7EA0-E52438D2BDF8}"/>
              </a:ext>
            </a:extLst>
          </p:cNvPr>
          <p:cNvSpPr>
            <a:spLocks noGrp="1"/>
          </p:cNvSpPr>
          <p:nvPr>
            <p:ph type="body" idx="1"/>
          </p:nvPr>
        </p:nvSpPr>
        <p:spPr/>
        <p:txBody>
          <a:bodyPr/>
          <a:lstStyle/>
          <a:p>
            <a:r>
              <a:rPr lang="en-US" dirty="0"/>
              <a:t>Global scale</a:t>
            </a:r>
          </a:p>
        </p:txBody>
      </p:sp>
      <p:pic>
        <p:nvPicPr>
          <p:cNvPr id="5" name="Picture 4">
            <a:extLst>
              <a:ext uri="{FF2B5EF4-FFF2-40B4-BE49-F238E27FC236}">
                <a16:creationId xmlns:a16="http://schemas.microsoft.com/office/drawing/2014/main" id="{1D209136-B244-5ED2-8748-9B6DB9CA613C}"/>
              </a:ext>
            </a:extLst>
          </p:cNvPr>
          <p:cNvPicPr>
            <a:picLocks noChangeAspect="1"/>
          </p:cNvPicPr>
          <p:nvPr/>
        </p:nvPicPr>
        <p:blipFill>
          <a:blip r:embed="rId2"/>
          <a:srcRect l="1709" t="11975" r="14009" b="7778"/>
          <a:stretch>
            <a:fillRect/>
          </a:stretch>
        </p:blipFill>
        <p:spPr>
          <a:xfrm>
            <a:off x="4385733" y="1144"/>
            <a:ext cx="7806267" cy="6856856"/>
          </a:xfrm>
          <a:prstGeom prst="rect">
            <a:avLst/>
          </a:prstGeom>
        </p:spPr>
      </p:pic>
      <p:sp>
        <p:nvSpPr>
          <p:cNvPr id="6" name="TextBox 5">
            <a:extLst>
              <a:ext uri="{FF2B5EF4-FFF2-40B4-BE49-F238E27FC236}">
                <a16:creationId xmlns:a16="http://schemas.microsoft.com/office/drawing/2014/main" id="{A167E1E1-E28F-BD87-5889-B57E540151E3}"/>
              </a:ext>
            </a:extLst>
          </p:cNvPr>
          <p:cNvSpPr txBox="1"/>
          <p:nvPr/>
        </p:nvSpPr>
        <p:spPr>
          <a:xfrm>
            <a:off x="467620" y="5751175"/>
            <a:ext cx="3350848" cy="954107"/>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“NiTE_on_invar_v1o0A_20250915.xls”,</a:t>
            </a:r>
            <a:br>
              <a:rPr lang="en-US" dirty="0">
                <a:solidFill>
                  <a:schemeClr val="bg2"/>
                </a:solidFill>
              </a:rPr>
            </a:br>
            <a:r>
              <a:rPr lang="en-US" dirty="0">
                <a:solidFill>
                  <a:schemeClr val="bg2"/>
                </a:solidFill>
              </a:rPr>
              <a:t>“NiTE_on_invar_v1o0B_20250916.xls”,</a:t>
            </a:r>
            <a:br>
              <a:rPr lang="en-US" dirty="0">
                <a:solidFill>
                  <a:schemeClr val="bg2"/>
                </a:solidFill>
              </a:rPr>
            </a:br>
            <a:r>
              <a:rPr lang="en-US" dirty="0">
                <a:solidFill>
                  <a:schemeClr val="bg2"/>
                </a:solidFill>
              </a:rPr>
              <a:t>“NiTE_on_invar_v1o0C_20250916.xls”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B9125E9-22DA-1307-BA90-CC23600C55E6}"/>
                  </a:ext>
                </a:extLst>
              </p:cNvPr>
              <p:cNvSpPr txBox="1"/>
              <p:nvPr/>
            </p:nvSpPr>
            <p:spPr>
              <a:xfrm>
                <a:off x="6934198" y="2026878"/>
                <a:ext cx="1049867" cy="411523"/>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𝟏𝟎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7" name="TextBox 6">
                <a:extLst>
                  <a:ext uri="{FF2B5EF4-FFF2-40B4-BE49-F238E27FC236}">
                    <a16:creationId xmlns:a16="http://schemas.microsoft.com/office/drawing/2014/main" id="{5B9125E9-22DA-1307-BA90-CC23600C55E6}"/>
                  </a:ext>
                </a:extLst>
              </p:cNvPr>
              <p:cNvSpPr txBox="1">
                <a:spLocks noRot="1" noChangeAspect="1" noMove="1" noResize="1" noEditPoints="1" noAdjustHandles="1" noChangeArrowheads="1" noChangeShapeType="1" noTextEdit="1"/>
              </p:cNvSpPr>
              <p:nvPr/>
            </p:nvSpPr>
            <p:spPr>
              <a:xfrm>
                <a:off x="6934198" y="2026878"/>
                <a:ext cx="1049867" cy="411523"/>
              </a:xfrm>
              <a:prstGeom prst="rect">
                <a:avLst/>
              </a:prstGeom>
              <a:blipFill>
                <a:blip r:embed="rId3"/>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272F618-4C2E-D5E2-56FD-B5036E53F42E}"/>
                  </a:ext>
                </a:extLst>
              </p:cNvPr>
              <p:cNvSpPr txBox="1"/>
              <p:nvPr/>
            </p:nvSpPr>
            <p:spPr>
              <a:xfrm>
                <a:off x="8211165" y="2026877"/>
                <a:ext cx="1049867" cy="411523"/>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𝟑𝟎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8" name="TextBox 7">
                <a:extLst>
                  <a:ext uri="{FF2B5EF4-FFF2-40B4-BE49-F238E27FC236}">
                    <a16:creationId xmlns:a16="http://schemas.microsoft.com/office/drawing/2014/main" id="{4272F618-4C2E-D5E2-56FD-B5036E53F42E}"/>
                  </a:ext>
                </a:extLst>
              </p:cNvPr>
              <p:cNvSpPr txBox="1">
                <a:spLocks noRot="1" noChangeAspect="1" noMove="1" noResize="1" noEditPoints="1" noAdjustHandles="1" noChangeArrowheads="1" noChangeShapeType="1" noTextEdit="1"/>
              </p:cNvSpPr>
              <p:nvPr/>
            </p:nvSpPr>
            <p:spPr>
              <a:xfrm>
                <a:off x="8211165" y="2026877"/>
                <a:ext cx="1049867" cy="411523"/>
              </a:xfrm>
              <a:prstGeom prst="rect">
                <a:avLst/>
              </a:prstGeom>
              <a:blipFill>
                <a:blip r:embed="rId4"/>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F349F8A-CAD7-C6F7-31DA-6D749BA647AD}"/>
                  </a:ext>
                </a:extLst>
              </p:cNvPr>
              <p:cNvSpPr txBox="1"/>
              <p:nvPr/>
            </p:nvSpPr>
            <p:spPr>
              <a:xfrm>
                <a:off x="6934198" y="6197984"/>
                <a:ext cx="1049867"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𝟓𝟎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9" name="TextBox 8">
                <a:extLst>
                  <a:ext uri="{FF2B5EF4-FFF2-40B4-BE49-F238E27FC236}">
                    <a16:creationId xmlns:a16="http://schemas.microsoft.com/office/drawing/2014/main" id="{AF349F8A-CAD7-C6F7-31DA-6D749BA647AD}"/>
                  </a:ext>
                </a:extLst>
              </p:cNvPr>
              <p:cNvSpPr txBox="1">
                <a:spLocks noRot="1" noChangeAspect="1" noMove="1" noResize="1" noEditPoints="1" noAdjustHandles="1" noChangeArrowheads="1" noChangeShapeType="1" noTextEdit="1"/>
              </p:cNvSpPr>
              <p:nvPr/>
            </p:nvSpPr>
            <p:spPr>
              <a:xfrm>
                <a:off x="6934198" y="6197984"/>
                <a:ext cx="1049867" cy="400110"/>
              </a:xfrm>
              <a:prstGeom prst="rect">
                <a:avLst/>
              </a:prstGeom>
              <a:blipFill>
                <a:blip r:embed="rId5"/>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51262B4-E373-6611-8FA4-578985CC6A93}"/>
                  </a:ext>
                </a:extLst>
              </p:cNvPr>
              <p:cNvSpPr txBox="1"/>
              <p:nvPr/>
            </p:nvSpPr>
            <p:spPr>
              <a:xfrm>
                <a:off x="8211165" y="6192277"/>
                <a:ext cx="1049867" cy="411523"/>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𝟕𝟎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10" name="TextBox 9">
                <a:extLst>
                  <a:ext uri="{FF2B5EF4-FFF2-40B4-BE49-F238E27FC236}">
                    <a16:creationId xmlns:a16="http://schemas.microsoft.com/office/drawing/2014/main" id="{751262B4-E373-6611-8FA4-578985CC6A93}"/>
                  </a:ext>
                </a:extLst>
              </p:cNvPr>
              <p:cNvSpPr txBox="1">
                <a:spLocks noRot="1" noChangeAspect="1" noMove="1" noResize="1" noEditPoints="1" noAdjustHandles="1" noChangeArrowheads="1" noChangeShapeType="1" noTextEdit="1"/>
              </p:cNvSpPr>
              <p:nvPr/>
            </p:nvSpPr>
            <p:spPr>
              <a:xfrm>
                <a:off x="8211165" y="6192277"/>
                <a:ext cx="1049867" cy="411523"/>
              </a:xfrm>
              <a:prstGeom prst="rect">
                <a:avLst/>
              </a:prstGeom>
              <a:blipFill>
                <a:blip r:embed="rId6"/>
                <a:stretch>
                  <a:fillRect/>
                </a:stretch>
              </a:blipFill>
              <a:ln>
                <a:solidFill>
                  <a:schemeClr val="bg2"/>
                </a:solidFill>
              </a:ln>
            </p:spPr>
            <p:txBody>
              <a:bodyPr/>
              <a:lstStyle/>
              <a:p>
                <a:r>
                  <a:rPr lang="en-US">
                    <a:noFill/>
                  </a:rPr>
                  <a:t> </a:t>
                </a:r>
              </a:p>
            </p:txBody>
          </p:sp>
        </mc:Fallback>
      </mc:AlternateContent>
    </p:spTree>
    <p:extLst>
      <p:ext uri="{BB962C8B-B14F-4D97-AF65-F5344CB8AC3E}">
        <p14:creationId xmlns:p14="http://schemas.microsoft.com/office/powerpoint/2010/main" val="122978953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E98D5-F0BA-F213-1AFA-F97131782C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1C5E35-A2C6-8E65-D6EB-C123ACD5AF37}"/>
              </a:ext>
            </a:extLst>
          </p:cNvPr>
          <p:cNvSpPr>
            <a:spLocks noGrp="1"/>
          </p:cNvSpPr>
          <p:nvPr>
            <p:ph type="title"/>
          </p:nvPr>
        </p:nvSpPr>
        <p:spPr/>
        <p:txBody>
          <a:bodyPr/>
          <a:lstStyle/>
          <a:p>
            <a:r>
              <a:rPr lang="en-US" dirty="0"/>
              <a:t>Results</a:t>
            </a:r>
          </a:p>
        </p:txBody>
      </p:sp>
      <p:sp>
        <p:nvSpPr>
          <p:cNvPr id="3" name="Text Placeholder 2">
            <a:extLst>
              <a:ext uri="{FF2B5EF4-FFF2-40B4-BE49-F238E27FC236}">
                <a16:creationId xmlns:a16="http://schemas.microsoft.com/office/drawing/2014/main" id="{AE31F42B-7B55-C154-A2C9-AE95AAD675A8}"/>
              </a:ext>
            </a:extLst>
          </p:cNvPr>
          <p:cNvSpPr>
            <a:spLocks noGrp="1"/>
          </p:cNvSpPr>
          <p:nvPr>
            <p:ph type="body" idx="1"/>
          </p:nvPr>
        </p:nvSpPr>
        <p:spPr/>
        <p:txBody>
          <a:bodyPr/>
          <a:lstStyle/>
          <a:p>
            <a:r>
              <a:rPr lang="en-US" dirty="0"/>
              <a:t>Local scale</a:t>
            </a:r>
          </a:p>
        </p:txBody>
      </p:sp>
      <p:pic>
        <p:nvPicPr>
          <p:cNvPr id="5" name="Picture 4">
            <a:extLst>
              <a:ext uri="{FF2B5EF4-FFF2-40B4-BE49-F238E27FC236}">
                <a16:creationId xmlns:a16="http://schemas.microsoft.com/office/drawing/2014/main" id="{C82D7E8D-285A-A8DD-7CE2-1A29D4DE3DD5}"/>
              </a:ext>
            </a:extLst>
          </p:cNvPr>
          <p:cNvPicPr>
            <a:picLocks noChangeAspect="1"/>
          </p:cNvPicPr>
          <p:nvPr/>
        </p:nvPicPr>
        <p:blipFill>
          <a:blip r:embed="rId2"/>
          <a:srcRect t="591" b="591"/>
          <a:stretch/>
        </p:blipFill>
        <p:spPr>
          <a:xfrm>
            <a:off x="4385733" y="1144"/>
            <a:ext cx="7806267" cy="6856856"/>
          </a:xfrm>
          <a:prstGeom prst="rect">
            <a:avLst/>
          </a:prstGeom>
        </p:spPr>
      </p:pic>
      <p:sp>
        <p:nvSpPr>
          <p:cNvPr id="6" name="TextBox 5">
            <a:extLst>
              <a:ext uri="{FF2B5EF4-FFF2-40B4-BE49-F238E27FC236}">
                <a16:creationId xmlns:a16="http://schemas.microsoft.com/office/drawing/2014/main" id="{6A15C3D3-2BE9-2815-3408-E53557945440}"/>
              </a:ext>
            </a:extLst>
          </p:cNvPr>
          <p:cNvSpPr txBox="1"/>
          <p:nvPr/>
        </p:nvSpPr>
        <p:spPr>
          <a:xfrm>
            <a:off x="467620" y="5751175"/>
            <a:ext cx="3350848" cy="954107"/>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“NiTE_on_invar_v1o0A_20250915.xls”,</a:t>
            </a:r>
            <a:br>
              <a:rPr lang="en-US" dirty="0">
                <a:solidFill>
                  <a:schemeClr val="bg2"/>
                </a:solidFill>
              </a:rPr>
            </a:br>
            <a:r>
              <a:rPr lang="en-US" dirty="0">
                <a:solidFill>
                  <a:schemeClr val="bg2"/>
                </a:solidFill>
              </a:rPr>
              <a:t>“NiTE_on_invar_v1o0B_20250916.xls”,</a:t>
            </a:r>
            <a:br>
              <a:rPr lang="en-US" dirty="0">
                <a:solidFill>
                  <a:schemeClr val="bg2"/>
                </a:solidFill>
              </a:rPr>
            </a:br>
            <a:r>
              <a:rPr lang="en-US" dirty="0">
                <a:solidFill>
                  <a:schemeClr val="bg2"/>
                </a:solidFill>
              </a:rPr>
              <a:t>“NiTE_on_invar_v1o0C_20250916.xls”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B20D3EC-960D-E25F-9640-BB459EF2E84E}"/>
                  </a:ext>
                </a:extLst>
              </p:cNvPr>
              <p:cNvSpPr txBox="1"/>
              <p:nvPr/>
            </p:nvSpPr>
            <p:spPr>
              <a:xfrm>
                <a:off x="6934198" y="2026878"/>
                <a:ext cx="1049867" cy="411523"/>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𝟏𝟎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4" name="TextBox 3">
                <a:extLst>
                  <a:ext uri="{FF2B5EF4-FFF2-40B4-BE49-F238E27FC236}">
                    <a16:creationId xmlns:a16="http://schemas.microsoft.com/office/drawing/2014/main" id="{DB20D3EC-960D-E25F-9640-BB459EF2E84E}"/>
                  </a:ext>
                </a:extLst>
              </p:cNvPr>
              <p:cNvSpPr txBox="1">
                <a:spLocks noRot="1" noChangeAspect="1" noMove="1" noResize="1" noEditPoints="1" noAdjustHandles="1" noChangeArrowheads="1" noChangeShapeType="1" noTextEdit="1"/>
              </p:cNvSpPr>
              <p:nvPr/>
            </p:nvSpPr>
            <p:spPr>
              <a:xfrm>
                <a:off x="6934198" y="2026878"/>
                <a:ext cx="1049867" cy="411523"/>
              </a:xfrm>
              <a:prstGeom prst="rect">
                <a:avLst/>
              </a:prstGeom>
              <a:blipFill>
                <a:blip r:embed="rId3"/>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7EDFDC1-E634-DD0A-8407-DFDBE5A53089}"/>
                  </a:ext>
                </a:extLst>
              </p:cNvPr>
              <p:cNvSpPr txBox="1"/>
              <p:nvPr/>
            </p:nvSpPr>
            <p:spPr>
              <a:xfrm>
                <a:off x="8211165" y="2026877"/>
                <a:ext cx="1049867" cy="411523"/>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𝟑𝟎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7" name="TextBox 6">
                <a:extLst>
                  <a:ext uri="{FF2B5EF4-FFF2-40B4-BE49-F238E27FC236}">
                    <a16:creationId xmlns:a16="http://schemas.microsoft.com/office/drawing/2014/main" id="{E7EDFDC1-E634-DD0A-8407-DFDBE5A53089}"/>
                  </a:ext>
                </a:extLst>
              </p:cNvPr>
              <p:cNvSpPr txBox="1">
                <a:spLocks noRot="1" noChangeAspect="1" noMove="1" noResize="1" noEditPoints="1" noAdjustHandles="1" noChangeArrowheads="1" noChangeShapeType="1" noTextEdit="1"/>
              </p:cNvSpPr>
              <p:nvPr/>
            </p:nvSpPr>
            <p:spPr>
              <a:xfrm>
                <a:off x="8211165" y="2026877"/>
                <a:ext cx="1049867" cy="411523"/>
              </a:xfrm>
              <a:prstGeom prst="rect">
                <a:avLst/>
              </a:prstGeom>
              <a:blipFill>
                <a:blip r:embed="rId4"/>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6FAAC58-48C2-092A-586A-D69013B5C005}"/>
                  </a:ext>
                </a:extLst>
              </p:cNvPr>
              <p:cNvSpPr txBox="1"/>
              <p:nvPr/>
            </p:nvSpPr>
            <p:spPr>
              <a:xfrm>
                <a:off x="6934198" y="6197984"/>
                <a:ext cx="1049867"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𝟓𝟎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8" name="TextBox 7">
                <a:extLst>
                  <a:ext uri="{FF2B5EF4-FFF2-40B4-BE49-F238E27FC236}">
                    <a16:creationId xmlns:a16="http://schemas.microsoft.com/office/drawing/2014/main" id="{36FAAC58-48C2-092A-586A-D69013B5C005}"/>
                  </a:ext>
                </a:extLst>
              </p:cNvPr>
              <p:cNvSpPr txBox="1">
                <a:spLocks noRot="1" noChangeAspect="1" noMove="1" noResize="1" noEditPoints="1" noAdjustHandles="1" noChangeArrowheads="1" noChangeShapeType="1" noTextEdit="1"/>
              </p:cNvSpPr>
              <p:nvPr/>
            </p:nvSpPr>
            <p:spPr>
              <a:xfrm>
                <a:off x="6934198" y="6197984"/>
                <a:ext cx="1049867" cy="400110"/>
              </a:xfrm>
              <a:prstGeom prst="rect">
                <a:avLst/>
              </a:prstGeom>
              <a:blipFill>
                <a:blip r:embed="rId5"/>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67CB801-4E51-1B38-C011-DD8D04ADD8D5}"/>
                  </a:ext>
                </a:extLst>
              </p:cNvPr>
              <p:cNvSpPr txBox="1"/>
              <p:nvPr/>
            </p:nvSpPr>
            <p:spPr>
              <a:xfrm>
                <a:off x="8211165" y="6192277"/>
                <a:ext cx="1049867" cy="411523"/>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𝟕𝟎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9" name="TextBox 8">
                <a:extLst>
                  <a:ext uri="{FF2B5EF4-FFF2-40B4-BE49-F238E27FC236}">
                    <a16:creationId xmlns:a16="http://schemas.microsoft.com/office/drawing/2014/main" id="{067CB801-4E51-1B38-C011-DD8D04ADD8D5}"/>
                  </a:ext>
                </a:extLst>
              </p:cNvPr>
              <p:cNvSpPr txBox="1">
                <a:spLocks noRot="1" noChangeAspect="1" noMove="1" noResize="1" noEditPoints="1" noAdjustHandles="1" noChangeArrowheads="1" noChangeShapeType="1" noTextEdit="1"/>
              </p:cNvSpPr>
              <p:nvPr/>
            </p:nvSpPr>
            <p:spPr>
              <a:xfrm>
                <a:off x="8211165" y="6192277"/>
                <a:ext cx="1049867" cy="411523"/>
              </a:xfrm>
              <a:prstGeom prst="rect">
                <a:avLst/>
              </a:prstGeom>
              <a:blipFill>
                <a:blip r:embed="rId6"/>
                <a:stretch>
                  <a:fillRect/>
                </a:stretch>
              </a:blipFill>
              <a:ln>
                <a:solidFill>
                  <a:schemeClr val="bg2"/>
                </a:solidFill>
              </a:ln>
            </p:spPr>
            <p:txBody>
              <a:bodyPr/>
              <a:lstStyle/>
              <a:p>
                <a:r>
                  <a:rPr lang="en-US">
                    <a:noFill/>
                  </a:rPr>
                  <a:t> </a:t>
                </a:r>
              </a:p>
            </p:txBody>
          </p:sp>
        </mc:Fallback>
      </mc:AlternateContent>
    </p:spTree>
    <p:extLst>
      <p:ext uri="{BB962C8B-B14F-4D97-AF65-F5344CB8AC3E}">
        <p14:creationId xmlns:p14="http://schemas.microsoft.com/office/powerpoint/2010/main" val="199994509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1E28F-AEB1-FEE3-24B7-169BB6D35E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6B7067-0E07-4B6C-5F87-828E9E8FBBB4}"/>
              </a:ext>
            </a:extLst>
          </p:cNvPr>
          <p:cNvSpPr>
            <a:spLocks noGrp="1"/>
          </p:cNvSpPr>
          <p:nvPr>
            <p:ph type="title"/>
          </p:nvPr>
        </p:nvSpPr>
        <p:spPr/>
        <p:txBody>
          <a:bodyPr/>
          <a:lstStyle/>
          <a:p>
            <a:r>
              <a:rPr lang="en-US" dirty="0"/>
              <a:t>Results</a:t>
            </a:r>
          </a:p>
        </p:txBody>
      </p:sp>
      <p:sp>
        <p:nvSpPr>
          <p:cNvPr id="3" name="Text Placeholder 2">
            <a:extLst>
              <a:ext uri="{FF2B5EF4-FFF2-40B4-BE49-F238E27FC236}">
                <a16:creationId xmlns:a16="http://schemas.microsoft.com/office/drawing/2014/main" id="{AC73F338-456C-DA77-8B3B-594AE81A6F82}"/>
              </a:ext>
            </a:extLst>
          </p:cNvPr>
          <p:cNvSpPr>
            <a:spLocks noGrp="1"/>
          </p:cNvSpPr>
          <p:nvPr>
            <p:ph type="body" idx="1"/>
          </p:nvPr>
        </p:nvSpPr>
        <p:spPr/>
        <p:txBody>
          <a:bodyPr/>
          <a:lstStyle/>
          <a:p>
            <a:r>
              <a:rPr lang="en-US" dirty="0"/>
              <a:t>Global scale</a:t>
            </a:r>
          </a:p>
        </p:txBody>
      </p:sp>
      <p:pic>
        <p:nvPicPr>
          <p:cNvPr id="5" name="Picture 4">
            <a:extLst>
              <a:ext uri="{FF2B5EF4-FFF2-40B4-BE49-F238E27FC236}">
                <a16:creationId xmlns:a16="http://schemas.microsoft.com/office/drawing/2014/main" id="{27E7C248-4BF0-6183-F624-FA1B5F8A7C55}"/>
              </a:ext>
            </a:extLst>
          </p:cNvPr>
          <p:cNvPicPr>
            <a:picLocks noChangeAspect="1"/>
          </p:cNvPicPr>
          <p:nvPr/>
        </p:nvPicPr>
        <p:blipFill>
          <a:blip r:embed="rId2"/>
          <a:srcRect l="315" r="315"/>
          <a:stretch/>
        </p:blipFill>
        <p:spPr>
          <a:xfrm>
            <a:off x="4385733" y="1144"/>
            <a:ext cx="7806267" cy="6856856"/>
          </a:xfrm>
          <a:prstGeom prst="rect">
            <a:avLst/>
          </a:prstGeom>
        </p:spPr>
      </p:pic>
      <p:sp>
        <p:nvSpPr>
          <p:cNvPr id="6" name="TextBox 5">
            <a:extLst>
              <a:ext uri="{FF2B5EF4-FFF2-40B4-BE49-F238E27FC236}">
                <a16:creationId xmlns:a16="http://schemas.microsoft.com/office/drawing/2014/main" id="{03394DC6-616A-3B7B-C4D2-A897B8FB82BC}"/>
              </a:ext>
            </a:extLst>
          </p:cNvPr>
          <p:cNvSpPr txBox="1"/>
          <p:nvPr/>
        </p:nvSpPr>
        <p:spPr>
          <a:xfrm>
            <a:off x="467620" y="5751175"/>
            <a:ext cx="3350848" cy="954107"/>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“NiTE_on_steel_v1o0A_20250915.xls”,</a:t>
            </a:r>
            <a:br>
              <a:rPr lang="en-US" dirty="0">
                <a:solidFill>
                  <a:schemeClr val="bg2"/>
                </a:solidFill>
              </a:rPr>
            </a:br>
            <a:r>
              <a:rPr lang="en-US" dirty="0">
                <a:solidFill>
                  <a:schemeClr val="bg2"/>
                </a:solidFill>
              </a:rPr>
              <a:t>“NiTE_on_steel_v1o0B_20250916.xls”,</a:t>
            </a:r>
            <a:br>
              <a:rPr lang="en-US" dirty="0">
                <a:solidFill>
                  <a:schemeClr val="bg2"/>
                </a:solidFill>
              </a:rPr>
            </a:br>
            <a:r>
              <a:rPr lang="en-US" dirty="0">
                <a:solidFill>
                  <a:schemeClr val="bg2"/>
                </a:solidFill>
              </a:rPr>
              <a:t>“NiTE_on_steel_v1o0C_20250916.xls”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29538-2453-3C4A-CC51-A4AA7756A6DD}"/>
                  </a:ext>
                </a:extLst>
              </p:cNvPr>
              <p:cNvSpPr txBox="1"/>
              <p:nvPr/>
            </p:nvSpPr>
            <p:spPr>
              <a:xfrm>
                <a:off x="6934198" y="2026878"/>
                <a:ext cx="1049867" cy="411523"/>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𝟏𝟎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4" name="TextBox 3">
                <a:extLst>
                  <a:ext uri="{FF2B5EF4-FFF2-40B4-BE49-F238E27FC236}">
                    <a16:creationId xmlns:a16="http://schemas.microsoft.com/office/drawing/2014/main" id="{08729538-2453-3C4A-CC51-A4AA7756A6DD}"/>
                  </a:ext>
                </a:extLst>
              </p:cNvPr>
              <p:cNvSpPr txBox="1">
                <a:spLocks noRot="1" noChangeAspect="1" noMove="1" noResize="1" noEditPoints="1" noAdjustHandles="1" noChangeArrowheads="1" noChangeShapeType="1" noTextEdit="1"/>
              </p:cNvSpPr>
              <p:nvPr/>
            </p:nvSpPr>
            <p:spPr>
              <a:xfrm>
                <a:off x="6934198" y="2026878"/>
                <a:ext cx="1049867" cy="411523"/>
              </a:xfrm>
              <a:prstGeom prst="rect">
                <a:avLst/>
              </a:prstGeom>
              <a:blipFill>
                <a:blip r:embed="rId3"/>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468FAE5-B0E7-6D4D-0E9D-110C22EF7A42}"/>
                  </a:ext>
                </a:extLst>
              </p:cNvPr>
              <p:cNvSpPr txBox="1"/>
              <p:nvPr/>
            </p:nvSpPr>
            <p:spPr>
              <a:xfrm>
                <a:off x="8211165" y="2026877"/>
                <a:ext cx="1049867" cy="411523"/>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𝟑𝟎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7" name="TextBox 6">
                <a:extLst>
                  <a:ext uri="{FF2B5EF4-FFF2-40B4-BE49-F238E27FC236}">
                    <a16:creationId xmlns:a16="http://schemas.microsoft.com/office/drawing/2014/main" id="{D468FAE5-B0E7-6D4D-0E9D-110C22EF7A42}"/>
                  </a:ext>
                </a:extLst>
              </p:cNvPr>
              <p:cNvSpPr txBox="1">
                <a:spLocks noRot="1" noChangeAspect="1" noMove="1" noResize="1" noEditPoints="1" noAdjustHandles="1" noChangeArrowheads="1" noChangeShapeType="1" noTextEdit="1"/>
              </p:cNvSpPr>
              <p:nvPr/>
            </p:nvSpPr>
            <p:spPr>
              <a:xfrm>
                <a:off x="8211165" y="2026877"/>
                <a:ext cx="1049867" cy="411523"/>
              </a:xfrm>
              <a:prstGeom prst="rect">
                <a:avLst/>
              </a:prstGeom>
              <a:blipFill>
                <a:blip r:embed="rId4"/>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2666646-75CA-AE89-4F71-4E33A2D98EDF}"/>
                  </a:ext>
                </a:extLst>
              </p:cNvPr>
              <p:cNvSpPr txBox="1"/>
              <p:nvPr/>
            </p:nvSpPr>
            <p:spPr>
              <a:xfrm>
                <a:off x="6934198" y="6197984"/>
                <a:ext cx="1049867"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𝟓𝟎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8" name="TextBox 7">
                <a:extLst>
                  <a:ext uri="{FF2B5EF4-FFF2-40B4-BE49-F238E27FC236}">
                    <a16:creationId xmlns:a16="http://schemas.microsoft.com/office/drawing/2014/main" id="{B2666646-75CA-AE89-4F71-4E33A2D98EDF}"/>
                  </a:ext>
                </a:extLst>
              </p:cNvPr>
              <p:cNvSpPr txBox="1">
                <a:spLocks noRot="1" noChangeAspect="1" noMove="1" noResize="1" noEditPoints="1" noAdjustHandles="1" noChangeArrowheads="1" noChangeShapeType="1" noTextEdit="1"/>
              </p:cNvSpPr>
              <p:nvPr/>
            </p:nvSpPr>
            <p:spPr>
              <a:xfrm>
                <a:off x="6934198" y="6197984"/>
                <a:ext cx="1049867" cy="400110"/>
              </a:xfrm>
              <a:prstGeom prst="rect">
                <a:avLst/>
              </a:prstGeom>
              <a:blipFill>
                <a:blip r:embed="rId5"/>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78BA1A6-C3E5-6167-6EF3-B9460AD3564C}"/>
                  </a:ext>
                </a:extLst>
              </p:cNvPr>
              <p:cNvSpPr txBox="1"/>
              <p:nvPr/>
            </p:nvSpPr>
            <p:spPr>
              <a:xfrm>
                <a:off x="8211165" y="6192277"/>
                <a:ext cx="1049867" cy="411523"/>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𝟕𝟎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9" name="TextBox 8">
                <a:extLst>
                  <a:ext uri="{FF2B5EF4-FFF2-40B4-BE49-F238E27FC236}">
                    <a16:creationId xmlns:a16="http://schemas.microsoft.com/office/drawing/2014/main" id="{478BA1A6-C3E5-6167-6EF3-B9460AD3564C}"/>
                  </a:ext>
                </a:extLst>
              </p:cNvPr>
              <p:cNvSpPr txBox="1">
                <a:spLocks noRot="1" noChangeAspect="1" noMove="1" noResize="1" noEditPoints="1" noAdjustHandles="1" noChangeArrowheads="1" noChangeShapeType="1" noTextEdit="1"/>
              </p:cNvSpPr>
              <p:nvPr/>
            </p:nvSpPr>
            <p:spPr>
              <a:xfrm>
                <a:off x="8211165" y="6192277"/>
                <a:ext cx="1049867" cy="411523"/>
              </a:xfrm>
              <a:prstGeom prst="rect">
                <a:avLst/>
              </a:prstGeom>
              <a:blipFill>
                <a:blip r:embed="rId6"/>
                <a:stretch>
                  <a:fillRect/>
                </a:stretch>
              </a:blipFill>
              <a:ln>
                <a:solidFill>
                  <a:schemeClr val="bg2"/>
                </a:solidFill>
              </a:ln>
            </p:spPr>
            <p:txBody>
              <a:bodyPr/>
              <a:lstStyle/>
              <a:p>
                <a:r>
                  <a:rPr lang="en-US">
                    <a:noFill/>
                  </a:rPr>
                  <a:t> </a:t>
                </a:r>
              </a:p>
            </p:txBody>
          </p:sp>
        </mc:Fallback>
      </mc:AlternateContent>
    </p:spTree>
    <p:extLst>
      <p:ext uri="{BB962C8B-B14F-4D97-AF65-F5344CB8AC3E}">
        <p14:creationId xmlns:p14="http://schemas.microsoft.com/office/powerpoint/2010/main" val="168997456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2F464-1116-FE7B-9481-5987B03623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08E790-0200-971F-6A10-C1D33E3BED2F}"/>
              </a:ext>
            </a:extLst>
          </p:cNvPr>
          <p:cNvSpPr>
            <a:spLocks noGrp="1"/>
          </p:cNvSpPr>
          <p:nvPr>
            <p:ph type="title"/>
          </p:nvPr>
        </p:nvSpPr>
        <p:spPr/>
        <p:txBody>
          <a:bodyPr/>
          <a:lstStyle/>
          <a:p>
            <a:r>
              <a:rPr lang="en-US" dirty="0"/>
              <a:t>Results</a:t>
            </a:r>
          </a:p>
        </p:txBody>
      </p:sp>
      <p:sp>
        <p:nvSpPr>
          <p:cNvPr id="3" name="Text Placeholder 2">
            <a:extLst>
              <a:ext uri="{FF2B5EF4-FFF2-40B4-BE49-F238E27FC236}">
                <a16:creationId xmlns:a16="http://schemas.microsoft.com/office/drawing/2014/main" id="{8D3140D5-07EA-73CA-A720-917E1E0B4EBE}"/>
              </a:ext>
            </a:extLst>
          </p:cNvPr>
          <p:cNvSpPr>
            <a:spLocks noGrp="1"/>
          </p:cNvSpPr>
          <p:nvPr>
            <p:ph type="body" idx="1"/>
          </p:nvPr>
        </p:nvSpPr>
        <p:spPr/>
        <p:txBody>
          <a:bodyPr/>
          <a:lstStyle/>
          <a:p>
            <a:r>
              <a:rPr lang="en-US" dirty="0"/>
              <a:t>Local scale</a:t>
            </a:r>
          </a:p>
        </p:txBody>
      </p:sp>
      <p:pic>
        <p:nvPicPr>
          <p:cNvPr id="5" name="Picture 4">
            <a:extLst>
              <a:ext uri="{FF2B5EF4-FFF2-40B4-BE49-F238E27FC236}">
                <a16:creationId xmlns:a16="http://schemas.microsoft.com/office/drawing/2014/main" id="{65F372F6-5B1E-8595-8B04-EE3071CEE545}"/>
              </a:ext>
            </a:extLst>
          </p:cNvPr>
          <p:cNvPicPr>
            <a:picLocks noChangeAspect="1"/>
          </p:cNvPicPr>
          <p:nvPr/>
        </p:nvPicPr>
        <p:blipFill>
          <a:blip r:embed="rId2"/>
          <a:srcRect l="242" r="242"/>
          <a:stretch/>
        </p:blipFill>
        <p:spPr>
          <a:xfrm>
            <a:off x="4385733" y="1144"/>
            <a:ext cx="7806267" cy="6856856"/>
          </a:xfrm>
          <a:prstGeom prst="rect">
            <a:avLst/>
          </a:prstGeom>
        </p:spPr>
      </p:pic>
      <p:sp>
        <p:nvSpPr>
          <p:cNvPr id="4" name="TextBox 3">
            <a:extLst>
              <a:ext uri="{FF2B5EF4-FFF2-40B4-BE49-F238E27FC236}">
                <a16:creationId xmlns:a16="http://schemas.microsoft.com/office/drawing/2014/main" id="{247CFFE4-8401-2177-B2BD-424ACEE85438}"/>
              </a:ext>
            </a:extLst>
          </p:cNvPr>
          <p:cNvSpPr txBox="1"/>
          <p:nvPr/>
        </p:nvSpPr>
        <p:spPr>
          <a:xfrm>
            <a:off x="467620" y="5751175"/>
            <a:ext cx="3350848" cy="954107"/>
          </a:xfrm>
          <a:prstGeom prst="rect">
            <a:avLst/>
          </a:prstGeom>
          <a:solidFill>
            <a:schemeClr val="bg1"/>
          </a:solidFill>
          <a:ln>
            <a:solidFill>
              <a:schemeClr val="bg2"/>
            </a:solidFill>
          </a:ln>
        </p:spPr>
        <p:txBody>
          <a:bodyPr wrap="square" rtlCol="0">
            <a:spAutoFit/>
          </a:bodyPr>
          <a:lstStyle/>
          <a:p>
            <a:r>
              <a:rPr lang="en-US" dirty="0">
                <a:solidFill>
                  <a:schemeClr val="bg2"/>
                </a:solidFill>
              </a:rPr>
              <a:t>DATA FROM:</a:t>
            </a:r>
          </a:p>
          <a:p>
            <a:r>
              <a:rPr lang="en-US" dirty="0">
                <a:solidFill>
                  <a:schemeClr val="bg2"/>
                </a:solidFill>
              </a:rPr>
              <a:t>“NiTE_on_steel_v1o0A_20250915.xls”,</a:t>
            </a:r>
            <a:br>
              <a:rPr lang="en-US" dirty="0">
                <a:solidFill>
                  <a:schemeClr val="bg2"/>
                </a:solidFill>
              </a:rPr>
            </a:br>
            <a:r>
              <a:rPr lang="en-US" dirty="0">
                <a:solidFill>
                  <a:schemeClr val="bg2"/>
                </a:solidFill>
              </a:rPr>
              <a:t>“NiTE_on_steel_v1o0B_20250916.xls”,</a:t>
            </a:r>
            <a:br>
              <a:rPr lang="en-US" dirty="0">
                <a:solidFill>
                  <a:schemeClr val="bg2"/>
                </a:solidFill>
              </a:rPr>
            </a:br>
            <a:r>
              <a:rPr lang="en-US" dirty="0">
                <a:solidFill>
                  <a:schemeClr val="bg2"/>
                </a:solidFill>
              </a:rPr>
              <a:t>“NiTE_on_steel_v1o0C_20250916.xls”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D3C96A0-DA95-8C43-9116-D46869ADDF98}"/>
                  </a:ext>
                </a:extLst>
              </p:cNvPr>
              <p:cNvSpPr txBox="1"/>
              <p:nvPr/>
            </p:nvSpPr>
            <p:spPr>
              <a:xfrm>
                <a:off x="6934198" y="2026878"/>
                <a:ext cx="1049867" cy="411523"/>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𝟏𝟎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7" name="TextBox 6">
                <a:extLst>
                  <a:ext uri="{FF2B5EF4-FFF2-40B4-BE49-F238E27FC236}">
                    <a16:creationId xmlns:a16="http://schemas.microsoft.com/office/drawing/2014/main" id="{6D3C96A0-DA95-8C43-9116-D46869ADDF98}"/>
                  </a:ext>
                </a:extLst>
              </p:cNvPr>
              <p:cNvSpPr txBox="1">
                <a:spLocks noRot="1" noChangeAspect="1" noMove="1" noResize="1" noEditPoints="1" noAdjustHandles="1" noChangeArrowheads="1" noChangeShapeType="1" noTextEdit="1"/>
              </p:cNvSpPr>
              <p:nvPr/>
            </p:nvSpPr>
            <p:spPr>
              <a:xfrm>
                <a:off x="6934198" y="2026878"/>
                <a:ext cx="1049867" cy="411523"/>
              </a:xfrm>
              <a:prstGeom prst="rect">
                <a:avLst/>
              </a:prstGeom>
              <a:blipFill>
                <a:blip r:embed="rId3"/>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BE93333-60FE-9363-464C-B46FD1E02A46}"/>
                  </a:ext>
                </a:extLst>
              </p:cNvPr>
              <p:cNvSpPr txBox="1"/>
              <p:nvPr/>
            </p:nvSpPr>
            <p:spPr>
              <a:xfrm>
                <a:off x="8211165" y="2026877"/>
                <a:ext cx="1049867" cy="411523"/>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𝟑𝟎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8" name="TextBox 7">
                <a:extLst>
                  <a:ext uri="{FF2B5EF4-FFF2-40B4-BE49-F238E27FC236}">
                    <a16:creationId xmlns:a16="http://schemas.microsoft.com/office/drawing/2014/main" id="{4BE93333-60FE-9363-464C-B46FD1E02A46}"/>
                  </a:ext>
                </a:extLst>
              </p:cNvPr>
              <p:cNvSpPr txBox="1">
                <a:spLocks noRot="1" noChangeAspect="1" noMove="1" noResize="1" noEditPoints="1" noAdjustHandles="1" noChangeArrowheads="1" noChangeShapeType="1" noTextEdit="1"/>
              </p:cNvSpPr>
              <p:nvPr/>
            </p:nvSpPr>
            <p:spPr>
              <a:xfrm>
                <a:off x="8211165" y="2026877"/>
                <a:ext cx="1049867" cy="411523"/>
              </a:xfrm>
              <a:prstGeom prst="rect">
                <a:avLst/>
              </a:prstGeom>
              <a:blipFill>
                <a:blip r:embed="rId4"/>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EEA66BF-75F5-D439-16C4-396A03A0A22F}"/>
                  </a:ext>
                </a:extLst>
              </p:cNvPr>
              <p:cNvSpPr txBox="1"/>
              <p:nvPr/>
            </p:nvSpPr>
            <p:spPr>
              <a:xfrm>
                <a:off x="6934198" y="6197984"/>
                <a:ext cx="1049867"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𝟓𝟎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9" name="TextBox 8">
                <a:extLst>
                  <a:ext uri="{FF2B5EF4-FFF2-40B4-BE49-F238E27FC236}">
                    <a16:creationId xmlns:a16="http://schemas.microsoft.com/office/drawing/2014/main" id="{DEEA66BF-75F5-D439-16C4-396A03A0A22F}"/>
                  </a:ext>
                </a:extLst>
              </p:cNvPr>
              <p:cNvSpPr txBox="1">
                <a:spLocks noRot="1" noChangeAspect="1" noMove="1" noResize="1" noEditPoints="1" noAdjustHandles="1" noChangeArrowheads="1" noChangeShapeType="1" noTextEdit="1"/>
              </p:cNvSpPr>
              <p:nvPr/>
            </p:nvSpPr>
            <p:spPr>
              <a:xfrm>
                <a:off x="6934198" y="6197984"/>
                <a:ext cx="1049867" cy="400110"/>
              </a:xfrm>
              <a:prstGeom prst="rect">
                <a:avLst/>
              </a:prstGeom>
              <a:blipFill>
                <a:blip r:embed="rId5"/>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0543B1F-6574-2ADB-8641-D40CFA7F5B89}"/>
                  </a:ext>
                </a:extLst>
              </p:cNvPr>
              <p:cNvSpPr txBox="1"/>
              <p:nvPr/>
            </p:nvSpPr>
            <p:spPr>
              <a:xfrm>
                <a:off x="8211165" y="6192277"/>
                <a:ext cx="1049867" cy="411523"/>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𝟕𝟎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10" name="TextBox 9">
                <a:extLst>
                  <a:ext uri="{FF2B5EF4-FFF2-40B4-BE49-F238E27FC236}">
                    <a16:creationId xmlns:a16="http://schemas.microsoft.com/office/drawing/2014/main" id="{30543B1F-6574-2ADB-8641-D40CFA7F5B89}"/>
                  </a:ext>
                </a:extLst>
              </p:cNvPr>
              <p:cNvSpPr txBox="1">
                <a:spLocks noRot="1" noChangeAspect="1" noMove="1" noResize="1" noEditPoints="1" noAdjustHandles="1" noChangeArrowheads="1" noChangeShapeType="1" noTextEdit="1"/>
              </p:cNvSpPr>
              <p:nvPr/>
            </p:nvSpPr>
            <p:spPr>
              <a:xfrm>
                <a:off x="8211165" y="6192277"/>
                <a:ext cx="1049867" cy="411523"/>
              </a:xfrm>
              <a:prstGeom prst="rect">
                <a:avLst/>
              </a:prstGeom>
              <a:blipFill>
                <a:blip r:embed="rId6"/>
                <a:stretch>
                  <a:fillRect/>
                </a:stretch>
              </a:blipFill>
              <a:ln>
                <a:solidFill>
                  <a:schemeClr val="bg2"/>
                </a:solidFill>
              </a:ln>
            </p:spPr>
            <p:txBody>
              <a:bodyPr/>
              <a:lstStyle/>
              <a:p>
                <a:r>
                  <a:rPr lang="en-US">
                    <a:noFill/>
                  </a:rPr>
                  <a:t> </a:t>
                </a:r>
              </a:p>
            </p:txBody>
          </p:sp>
        </mc:Fallback>
      </mc:AlternateContent>
    </p:spTree>
    <p:extLst>
      <p:ext uri="{BB962C8B-B14F-4D97-AF65-F5344CB8AC3E}">
        <p14:creationId xmlns:p14="http://schemas.microsoft.com/office/powerpoint/2010/main" val="135715435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67D13-87CA-922F-1310-923DDF3E902E}"/>
              </a:ext>
            </a:extLst>
          </p:cNvPr>
          <p:cNvSpPr>
            <a:spLocks noGrp="1"/>
          </p:cNvSpPr>
          <p:nvPr>
            <p:ph type="title"/>
          </p:nvPr>
        </p:nvSpPr>
        <p:spPr/>
        <p:txBody>
          <a:bodyPr/>
          <a:lstStyle/>
          <a:p>
            <a:r>
              <a:rPr lang="en-US" dirty="0"/>
              <a:t>TIS</a:t>
            </a:r>
          </a:p>
        </p:txBody>
      </p:sp>
      <p:sp>
        <p:nvSpPr>
          <p:cNvPr id="3" name="Text Placeholder 2">
            <a:extLst>
              <a:ext uri="{FF2B5EF4-FFF2-40B4-BE49-F238E27FC236}">
                <a16:creationId xmlns:a16="http://schemas.microsoft.com/office/drawing/2014/main" id="{C9741811-6590-996E-EFC0-5317C4D91E74}"/>
              </a:ext>
            </a:extLst>
          </p:cNvPr>
          <p:cNvSpPr>
            <a:spLocks noGrp="1"/>
          </p:cNvSpPr>
          <p:nvPr>
            <p:ph type="body" idx="1"/>
          </p:nvPr>
        </p:nvSpPr>
        <p:spPr/>
        <p:txBody>
          <a:bodyPr/>
          <a:lstStyle/>
          <a:p>
            <a:r>
              <a:rPr lang="en-US" dirty="0"/>
              <a:t>Motivation:</a:t>
            </a:r>
          </a:p>
          <a:p>
            <a:pPr lvl="1"/>
            <a:r>
              <a:rPr lang="en-US" dirty="0" err="1"/>
              <a:t>Zemax</a:t>
            </a:r>
            <a:r>
              <a:rPr lang="en-US" dirty="0"/>
              <a:t> uses tabulated TIS values in ScatterPolar plot, i.e., it does not do its own calculation, so need data processing to be accurate</a:t>
            </a:r>
          </a:p>
        </p:txBody>
      </p:sp>
    </p:spTree>
    <p:extLst>
      <p:ext uri="{BB962C8B-B14F-4D97-AF65-F5344CB8AC3E}">
        <p14:creationId xmlns:p14="http://schemas.microsoft.com/office/powerpoint/2010/main" val="205125017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3A64046-36E7-696E-A9B3-CACEC6A3E81F}"/>
              </a:ext>
            </a:extLst>
          </p:cNvPr>
          <p:cNvPicPr>
            <a:picLocks noChangeAspect="1"/>
          </p:cNvPicPr>
          <p:nvPr/>
        </p:nvPicPr>
        <p:blipFill>
          <a:blip r:embed="rId2"/>
          <a:stretch>
            <a:fillRect/>
          </a:stretch>
        </p:blipFill>
        <p:spPr>
          <a:xfrm>
            <a:off x="0" y="1415735"/>
            <a:ext cx="12192000" cy="5442265"/>
          </a:xfrm>
          <a:prstGeom prst="rect">
            <a:avLst/>
          </a:prstGeom>
        </p:spPr>
      </p:pic>
      <p:sp>
        <p:nvSpPr>
          <p:cNvPr id="2" name="Title 1">
            <a:extLst>
              <a:ext uri="{FF2B5EF4-FFF2-40B4-BE49-F238E27FC236}">
                <a16:creationId xmlns:a16="http://schemas.microsoft.com/office/drawing/2014/main" id="{F235AEC7-1C8D-EE1A-321E-A7F1DE489365}"/>
              </a:ext>
            </a:extLst>
          </p:cNvPr>
          <p:cNvSpPr>
            <a:spLocks noGrp="1"/>
          </p:cNvSpPr>
          <p:nvPr>
            <p:ph type="title"/>
          </p:nvPr>
        </p:nvSpPr>
        <p:spPr/>
        <p:txBody>
          <a:bodyPr/>
          <a:lstStyle/>
          <a:p>
            <a:r>
              <a:rPr lang="en-US" dirty="0"/>
              <a:t>TIS </a:t>
            </a:r>
            <a:br>
              <a:rPr lang="en-US" dirty="0"/>
            </a:br>
            <a:r>
              <a:rPr lang="en-US" sz="2000" dirty="0"/>
              <a:t>(this section is deriving for integration over more than just the incident plane)</a:t>
            </a:r>
            <a:endParaRPr lang="en-US" dirty="0"/>
          </a:p>
        </p:txBody>
      </p:sp>
    </p:spTree>
    <p:extLst>
      <p:ext uri="{BB962C8B-B14F-4D97-AF65-F5344CB8AC3E}">
        <p14:creationId xmlns:p14="http://schemas.microsoft.com/office/powerpoint/2010/main" val="205838707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3BEDC0-6BAD-D144-A4FB-59F2457B23C0}"/>
              </a:ext>
            </a:extLst>
          </p:cNvPr>
          <p:cNvPicPr>
            <a:picLocks noChangeAspect="1"/>
          </p:cNvPicPr>
          <p:nvPr/>
        </p:nvPicPr>
        <p:blipFill>
          <a:blip r:embed="rId2"/>
          <a:stretch>
            <a:fillRect/>
          </a:stretch>
        </p:blipFill>
        <p:spPr>
          <a:xfrm>
            <a:off x="3683000" y="1151467"/>
            <a:ext cx="8331603" cy="5265949"/>
          </a:xfrm>
          <a:prstGeom prst="rect">
            <a:avLst/>
          </a:prstGeom>
        </p:spPr>
      </p:pic>
      <p:sp>
        <p:nvSpPr>
          <p:cNvPr id="2" name="Title 1">
            <a:extLst>
              <a:ext uri="{FF2B5EF4-FFF2-40B4-BE49-F238E27FC236}">
                <a16:creationId xmlns:a16="http://schemas.microsoft.com/office/drawing/2014/main" id="{979A3AC6-EE94-2E40-88D3-79D6A1EF16E1}"/>
              </a:ext>
            </a:extLst>
          </p:cNvPr>
          <p:cNvSpPr>
            <a:spLocks noGrp="1"/>
          </p:cNvSpPr>
          <p:nvPr>
            <p:ph type="title"/>
          </p:nvPr>
        </p:nvSpPr>
        <p:spPr/>
        <p:txBody>
          <a:bodyPr>
            <a:normAutofit/>
          </a:bodyPr>
          <a:lstStyle/>
          <a:p>
            <a:r>
              <a:rPr lang="en-US" dirty="0"/>
              <a:t>TIS</a:t>
            </a:r>
            <a:br>
              <a:rPr lang="en-US" dirty="0"/>
            </a:br>
            <a:r>
              <a:rPr lang="en-US" sz="2000" dirty="0"/>
              <a:t>as </a:t>
            </a:r>
            <a:r>
              <a:rPr lang="en-US" sz="2000" dirty="0">
                <a:highlight>
                  <a:srgbClr val="FFFF00"/>
                </a:highlight>
              </a:rPr>
              <a:t>full</a:t>
            </a:r>
            <a:r>
              <a:rPr lang="en-US" sz="2000" dirty="0"/>
              <a:t> scatter cone</a:t>
            </a:r>
            <a:endParaRPr lang="en-US" dirty="0"/>
          </a:p>
        </p:txBody>
      </p:sp>
      <p:sp>
        <p:nvSpPr>
          <p:cNvPr id="3" name="Text Placeholder 2">
            <a:extLst>
              <a:ext uri="{FF2B5EF4-FFF2-40B4-BE49-F238E27FC236}">
                <a16:creationId xmlns:a16="http://schemas.microsoft.com/office/drawing/2014/main" id="{ECE56654-5923-EA3A-CCA5-B9BF2B7198CF}"/>
              </a:ext>
            </a:extLst>
          </p:cNvPr>
          <p:cNvSpPr>
            <a:spLocks noGrp="1"/>
          </p:cNvSpPr>
          <p:nvPr>
            <p:ph type="body" idx="1"/>
          </p:nvPr>
        </p:nvSpPr>
        <p:spPr>
          <a:xfrm>
            <a:off x="609600" y="1752601"/>
            <a:ext cx="2125133" cy="4373563"/>
          </a:xfrm>
        </p:spPr>
        <p:txBody>
          <a:bodyPr>
            <a:normAutofit/>
          </a:bodyPr>
          <a:lstStyle/>
          <a:p>
            <a:r>
              <a:rPr lang="en-US" sz="1200" b="0" dirty="0"/>
              <a:t>From before: https://www.synopsys.com/glossary/what-is-total-integrated-scattering.html</a:t>
            </a:r>
          </a:p>
        </p:txBody>
      </p:sp>
      <p:cxnSp>
        <p:nvCxnSpPr>
          <p:cNvPr id="7" name="Straight Arrow Connector 6">
            <a:extLst>
              <a:ext uri="{FF2B5EF4-FFF2-40B4-BE49-F238E27FC236}">
                <a16:creationId xmlns:a16="http://schemas.microsoft.com/office/drawing/2014/main" id="{B33C1965-8987-9F05-ACA6-EEFC78F27BB4}"/>
              </a:ext>
            </a:extLst>
          </p:cNvPr>
          <p:cNvCxnSpPr>
            <a:cxnSpLocks/>
          </p:cNvCxnSpPr>
          <p:nvPr/>
        </p:nvCxnSpPr>
        <p:spPr>
          <a:xfrm flipV="1">
            <a:off x="2531533" y="3784441"/>
            <a:ext cx="3928534" cy="2214479"/>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449C27E-A123-0335-37EA-AAECD3206CC6}"/>
              </a:ext>
            </a:extLst>
          </p:cNvPr>
          <p:cNvSpPr txBox="1"/>
          <p:nvPr/>
        </p:nvSpPr>
        <p:spPr>
          <a:xfrm>
            <a:off x="285750" y="5642178"/>
            <a:ext cx="2569634" cy="1077218"/>
          </a:xfrm>
          <a:prstGeom prst="rect">
            <a:avLst/>
          </a:prstGeom>
          <a:noFill/>
        </p:spPr>
        <p:txBody>
          <a:bodyPr wrap="square" rtlCol="0">
            <a:spAutoFit/>
          </a:bodyPr>
          <a:lstStyle/>
          <a:p>
            <a:r>
              <a:rPr lang="en-US" sz="1600" dirty="0">
                <a:solidFill>
                  <a:schemeClr val="bg2"/>
                </a:solidFill>
              </a:rPr>
              <a:t>Black circle is scatter cone given by </a:t>
            </a:r>
            <a:r>
              <a:rPr lang="en-US" sz="1600" dirty="0" err="1">
                <a:solidFill>
                  <a:schemeClr val="bg2"/>
                </a:solidFill>
              </a:rPr>
              <a:t>Zemax</a:t>
            </a:r>
            <a:r>
              <a:rPr lang="en-US" sz="1600" dirty="0">
                <a:solidFill>
                  <a:schemeClr val="bg2"/>
                </a:solidFill>
              </a:rPr>
              <a:t> BSDF file grid (Rz goes up to 90)</a:t>
            </a:r>
          </a:p>
        </p:txBody>
      </p:sp>
      <p:cxnSp>
        <p:nvCxnSpPr>
          <p:cNvPr id="11" name="Straight Arrow Connector 10">
            <a:extLst>
              <a:ext uri="{FF2B5EF4-FFF2-40B4-BE49-F238E27FC236}">
                <a16:creationId xmlns:a16="http://schemas.microsoft.com/office/drawing/2014/main" id="{2448DA96-4D36-3BA2-58A3-29A1018AF464}"/>
              </a:ext>
            </a:extLst>
          </p:cNvPr>
          <p:cNvCxnSpPr>
            <a:cxnSpLocks/>
          </p:cNvCxnSpPr>
          <p:nvPr/>
        </p:nvCxnSpPr>
        <p:spPr>
          <a:xfrm flipV="1">
            <a:off x="2243667" y="2740824"/>
            <a:ext cx="3115733" cy="1403199"/>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0C49E63-41B6-A292-453B-5F29D1F78B64}"/>
              </a:ext>
            </a:extLst>
          </p:cNvPr>
          <p:cNvSpPr txBox="1"/>
          <p:nvPr/>
        </p:nvSpPr>
        <p:spPr>
          <a:xfrm>
            <a:off x="177397" y="4198646"/>
            <a:ext cx="2891767" cy="1077218"/>
          </a:xfrm>
          <a:prstGeom prst="rect">
            <a:avLst/>
          </a:prstGeom>
          <a:noFill/>
        </p:spPr>
        <p:txBody>
          <a:bodyPr wrap="square" rtlCol="0">
            <a:spAutoFit/>
          </a:bodyPr>
          <a:lstStyle/>
          <a:p>
            <a:r>
              <a:rPr lang="en-US" sz="1600" dirty="0">
                <a:solidFill>
                  <a:srgbClr val="00B050"/>
                </a:solidFill>
              </a:rPr>
              <a:t>Green extended circle is </a:t>
            </a:r>
            <a:r>
              <a:rPr lang="en-US" sz="1600" dirty="0">
                <a:solidFill>
                  <a:srgbClr val="00B050"/>
                </a:solidFill>
                <a:highlight>
                  <a:srgbClr val="FFFF00"/>
                </a:highlight>
              </a:rPr>
              <a:t>full</a:t>
            </a:r>
            <a:r>
              <a:rPr lang="en-US" sz="1600" dirty="0">
                <a:solidFill>
                  <a:srgbClr val="00B050"/>
                </a:solidFill>
              </a:rPr>
              <a:t> scatter cone that is physically possible (</a:t>
            </a:r>
            <a:r>
              <a:rPr lang="en-US" sz="1600" dirty="0">
                <a:solidFill>
                  <a:srgbClr val="00B050"/>
                </a:solidFill>
                <a:highlight>
                  <a:srgbClr val="FFFF00"/>
                </a:highlight>
              </a:rPr>
              <a:t>Rz goes up to 180 </a:t>
            </a:r>
            <a:r>
              <a:rPr lang="en-US" sz="1600" dirty="0">
                <a:solidFill>
                  <a:srgbClr val="00B050"/>
                </a:solidFill>
              </a:rPr>
              <a:t>rather than 90)</a:t>
            </a:r>
          </a:p>
        </p:txBody>
      </p:sp>
    </p:spTree>
    <p:extLst>
      <p:ext uri="{BB962C8B-B14F-4D97-AF65-F5344CB8AC3E}">
        <p14:creationId xmlns:p14="http://schemas.microsoft.com/office/powerpoint/2010/main" val="414981187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5850362-24A4-5336-7F9C-076D3531030A}"/>
              </a:ext>
            </a:extLst>
          </p:cNvPr>
          <p:cNvPicPr>
            <a:picLocks noChangeAspect="1"/>
          </p:cNvPicPr>
          <p:nvPr/>
        </p:nvPicPr>
        <p:blipFill>
          <a:blip r:embed="rId2"/>
          <a:srcRect r="26088"/>
          <a:stretch>
            <a:fillRect/>
          </a:stretch>
        </p:blipFill>
        <p:spPr>
          <a:xfrm>
            <a:off x="2429692" y="731836"/>
            <a:ext cx="9011323" cy="6107423"/>
          </a:xfrm>
          <a:prstGeom prst="rect">
            <a:avLst/>
          </a:prstGeom>
        </p:spPr>
      </p:pic>
      <p:sp>
        <p:nvSpPr>
          <p:cNvPr id="2" name="Title 1">
            <a:extLst>
              <a:ext uri="{FF2B5EF4-FFF2-40B4-BE49-F238E27FC236}">
                <a16:creationId xmlns:a16="http://schemas.microsoft.com/office/drawing/2014/main" id="{AD1B9125-98BD-9609-7B13-F379B0FFAA71}"/>
              </a:ext>
            </a:extLst>
          </p:cNvPr>
          <p:cNvSpPr>
            <a:spLocks noGrp="1"/>
          </p:cNvSpPr>
          <p:nvPr>
            <p:ph type="title"/>
          </p:nvPr>
        </p:nvSpPr>
        <p:spPr/>
        <p:txBody>
          <a:bodyPr/>
          <a:lstStyle/>
          <a:p>
            <a:r>
              <a:rPr lang="en-US" dirty="0"/>
              <a:t>TIS</a:t>
            </a:r>
            <a:br>
              <a:rPr lang="en-US" dirty="0"/>
            </a:br>
            <a:r>
              <a:rPr lang="en-US" sz="2000" dirty="0"/>
              <a:t>as </a:t>
            </a:r>
            <a:r>
              <a:rPr lang="en-US" sz="2000" dirty="0" err="1">
                <a:highlight>
                  <a:srgbClr val="FFFF00"/>
                </a:highlight>
              </a:rPr>
              <a:t>Zemax</a:t>
            </a:r>
            <a:r>
              <a:rPr lang="en-US" sz="2000" dirty="0"/>
              <a:t> scatter cone</a:t>
            </a:r>
            <a:endParaRPr lang="en-US" dirty="0"/>
          </a:p>
        </p:txBody>
      </p:sp>
      <mc:AlternateContent xmlns:mc="http://schemas.openxmlformats.org/markup-compatibility/2006" xmlns:a14="http://schemas.microsoft.com/office/drawing/2010/main">
        <mc:Choice Requires="a14">
          <p:sp>
            <p:nvSpPr>
              <p:cNvPr id="6" name="Text Placeholder 2">
                <a:extLst>
                  <a:ext uri="{FF2B5EF4-FFF2-40B4-BE49-F238E27FC236}">
                    <a16:creationId xmlns:a16="http://schemas.microsoft.com/office/drawing/2014/main" id="{E2F33B9A-E964-0D89-966B-14E58653B104}"/>
                  </a:ext>
                </a:extLst>
              </p:cNvPr>
              <p:cNvSpPr>
                <a:spLocks noGrp="1"/>
              </p:cNvSpPr>
              <p:nvPr>
                <p:ph type="body" idx="1"/>
              </p:nvPr>
            </p:nvSpPr>
            <p:spPr>
              <a:xfrm>
                <a:off x="609600" y="1752601"/>
                <a:ext cx="4106333" cy="4373563"/>
              </a:xfrm>
            </p:spPr>
            <p:txBody>
              <a:bodyPr>
                <a:normAutofit/>
              </a:bodyPr>
              <a:lstStyle/>
              <a:p>
                <a:r>
                  <a:rPr lang="en-US" sz="2000" b="0" dirty="0"/>
                  <a:t>Redrawn to better visualize the </a:t>
                </a:r>
                <a:r>
                  <a:rPr lang="en-US" sz="2000" b="0" dirty="0">
                    <a:solidFill>
                      <a:srgbClr val="FF944A"/>
                    </a:solidFill>
                  </a:rPr>
                  <a:t>differential area</a:t>
                </a:r>
                <a:r>
                  <a:rPr lang="en-US" sz="2000" b="0" dirty="0"/>
                  <a:t> used for integration</a:t>
                </a:r>
              </a:p>
              <a:p>
                <a:pPr lvl="1"/>
                <a14:m>
                  <m:oMath xmlns:m="http://schemas.openxmlformats.org/officeDocument/2006/math">
                    <m:r>
                      <a:rPr lang="en-US" sz="1400" b="0" i="1" smtClean="0">
                        <a:latin typeface="Cambria Math" panose="02040503050406030204" pitchFamily="18" charset="0"/>
                      </a:rPr>
                      <m:t>𝑑</m:t>
                    </m:r>
                    <m:r>
                      <a:rPr lang="en-US" sz="1400" b="0" i="1" smtClean="0">
                        <a:latin typeface="Cambria Math" panose="02040503050406030204" pitchFamily="18" charset="0"/>
                      </a:rPr>
                      <m:t>𝜔</m:t>
                    </m:r>
                    <m:r>
                      <a:rPr lang="en-US" sz="1400" b="0" i="1" smtClean="0">
                        <a:latin typeface="Cambria Math" panose="02040503050406030204" pitchFamily="18" charset="0"/>
                      </a:rPr>
                      <m:t>=</m:t>
                    </m:r>
                    <m:func>
                      <m:funcPr>
                        <m:ctrlPr>
                          <a:rPr lang="en-US" sz="1400" b="0" i="0" smtClean="0">
                            <a:latin typeface="Cambria Math" panose="02040503050406030204" pitchFamily="18" charset="0"/>
                          </a:rPr>
                        </m:ctrlPr>
                      </m:funcPr>
                      <m:fName>
                        <m:r>
                          <m:rPr>
                            <m:sty m:val="p"/>
                          </m:rPr>
                          <a:rPr lang="en-US" sz="1400" b="0" i="0" smtClean="0">
                            <a:latin typeface="Cambria Math" panose="02040503050406030204" pitchFamily="18" charset="0"/>
                          </a:rPr>
                          <m:t>sin</m:t>
                        </m:r>
                      </m:fName>
                      <m:e>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𝑅</m:t>
                                </m:r>
                              </m:e>
                              <m:sub>
                                <m:r>
                                  <a:rPr lang="en-US" sz="1400" b="0" i="1" smtClean="0">
                                    <a:latin typeface="Cambria Math" panose="02040503050406030204" pitchFamily="18" charset="0"/>
                                  </a:rPr>
                                  <m:t>𝑍</m:t>
                                </m:r>
                              </m:sub>
                            </m:sSub>
                          </m:e>
                        </m:d>
                      </m:e>
                    </m:func>
                    <m:r>
                      <a:rPr lang="en-US" sz="1400" b="0" i="1" smtClean="0">
                        <a:latin typeface="Cambria Math" panose="02040503050406030204" pitchFamily="18" charset="0"/>
                      </a:rPr>
                      <m:t>𝑑</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𝑅</m:t>
                        </m:r>
                      </m:e>
                      <m:sub>
                        <m:r>
                          <a:rPr lang="en-US" sz="1400" b="0" i="1" smtClean="0">
                            <a:latin typeface="Cambria Math" panose="02040503050406030204" pitchFamily="18" charset="0"/>
                          </a:rPr>
                          <m:t>𝑍</m:t>
                        </m:r>
                      </m:sub>
                    </m:sSub>
                    <m:r>
                      <a:rPr lang="en-US" sz="1400" b="0" i="1" smtClean="0">
                        <a:latin typeface="Cambria Math" panose="02040503050406030204" pitchFamily="18" charset="0"/>
                      </a:rPr>
                      <m:t>𝑑</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𝐴</m:t>
                        </m:r>
                      </m:e>
                      <m:sub>
                        <m:r>
                          <a:rPr lang="en-US" sz="1400" b="0" i="1" smtClean="0">
                            <a:latin typeface="Cambria Math" panose="02040503050406030204" pitchFamily="18" charset="0"/>
                          </a:rPr>
                          <m:t>𝑍</m:t>
                        </m:r>
                      </m:sub>
                    </m:sSub>
                  </m:oMath>
                </a14:m>
                <a:endParaRPr lang="en-US" sz="1400" b="0" dirty="0"/>
              </a:p>
              <a:p>
                <a:pPr lvl="1"/>
                <a14:m>
                  <m:oMath xmlns:m="http://schemas.openxmlformats.org/officeDocument/2006/math">
                    <m:nary>
                      <m:naryPr>
                        <m:ctrlPr>
                          <a:rPr lang="en-US" sz="1400" b="0" i="1" smtClean="0">
                            <a:latin typeface="Cambria Math" panose="02040503050406030204" pitchFamily="18" charset="0"/>
                          </a:rPr>
                        </m:ctrlPr>
                      </m:naryPr>
                      <m:sub>
                        <m:sSub>
                          <m:sSubPr>
                            <m:ctrlPr>
                              <a:rPr lang="en-US" sz="1400" b="0" i="1" smtClean="0">
                                <a:latin typeface="Cambria Math" panose="02040503050406030204" pitchFamily="18" charset="0"/>
                              </a:rPr>
                            </m:ctrlPr>
                          </m:sSubPr>
                          <m:e>
                            <m:r>
                              <m:rPr>
                                <m:brk m:alnAt="23"/>
                              </m:rPr>
                              <a:rPr lang="en-US" sz="1400" b="0" i="1" smtClean="0">
                                <a:latin typeface="Cambria Math" panose="02040503050406030204" pitchFamily="18" charset="0"/>
                              </a:rPr>
                              <m:t>𝐴</m:t>
                            </m:r>
                          </m:e>
                          <m:sub>
                            <m:r>
                              <m:rPr>
                                <m:brk m:alnAt="23"/>
                              </m:rPr>
                              <a:rPr lang="en-US" sz="1400" b="0" i="1" smtClean="0">
                                <a:latin typeface="Cambria Math" panose="02040503050406030204" pitchFamily="18" charset="0"/>
                              </a:rPr>
                              <m:t>𝑍</m:t>
                            </m:r>
                          </m:sub>
                        </m:sSub>
                        <m:r>
                          <m:rPr>
                            <m:brk m:alnAt="23"/>
                          </m:rPr>
                          <a:rPr lang="en-US" sz="1400" b="0" i="1" smtClean="0">
                            <a:latin typeface="Cambria Math" panose="02040503050406030204" pitchFamily="18" charset="0"/>
                          </a:rPr>
                          <m:t>=</m:t>
                        </m:r>
                        <m:r>
                          <a:rPr lang="en-US" sz="1400" b="0" i="1" smtClean="0">
                            <a:latin typeface="Cambria Math" panose="02040503050406030204" pitchFamily="18" charset="0"/>
                          </a:rPr>
                          <m:t>0</m:t>
                        </m:r>
                      </m:sub>
                      <m:sup>
                        <m:r>
                          <a:rPr lang="en-US" sz="1400" b="0" i="1" smtClean="0">
                            <a:latin typeface="Cambria Math" panose="02040503050406030204" pitchFamily="18" charset="0"/>
                          </a:rPr>
                          <m:t>2</m:t>
                        </m:r>
                        <m:r>
                          <a:rPr lang="en-US" sz="1400" b="0" i="1" smtClean="0">
                            <a:latin typeface="Cambria Math" panose="02040503050406030204" pitchFamily="18" charset="0"/>
                          </a:rPr>
                          <m:t>𝜋</m:t>
                        </m:r>
                      </m:sup>
                      <m:e>
                        <m:nary>
                          <m:naryPr>
                            <m:ctrlPr>
                              <a:rPr lang="en-US" sz="1400" b="0" i="1" smtClean="0">
                                <a:latin typeface="Cambria Math" panose="02040503050406030204" pitchFamily="18" charset="0"/>
                              </a:rPr>
                            </m:ctrlPr>
                          </m:naryPr>
                          <m:sub>
                            <m:sSub>
                              <m:sSubPr>
                                <m:ctrlPr>
                                  <a:rPr lang="en-US" sz="1400" b="0" i="1" smtClean="0">
                                    <a:latin typeface="Cambria Math" panose="02040503050406030204" pitchFamily="18" charset="0"/>
                                  </a:rPr>
                                </m:ctrlPr>
                              </m:sSubPr>
                              <m:e>
                                <m:r>
                                  <m:rPr>
                                    <m:brk m:alnAt="23"/>
                                  </m:rPr>
                                  <a:rPr lang="en-US" sz="1400" b="0" i="1" smtClean="0">
                                    <a:latin typeface="Cambria Math" panose="02040503050406030204" pitchFamily="18" charset="0"/>
                                  </a:rPr>
                                  <m:t>𝑅</m:t>
                                </m:r>
                              </m:e>
                              <m:sub>
                                <m:r>
                                  <m:rPr>
                                    <m:brk m:alnAt="23"/>
                                  </m:rPr>
                                  <a:rPr lang="en-US" sz="1400" b="0" i="1" smtClean="0">
                                    <a:latin typeface="Cambria Math" panose="02040503050406030204" pitchFamily="18" charset="0"/>
                                  </a:rPr>
                                  <m:t>𝑍</m:t>
                                </m:r>
                              </m:sub>
                            </m:sSub>
                            <m:r>
                              <m:rPr>
                                <m:brk m:alnAt="23"/>
                              </m:rPr>
                              <a:rPr lang="en-US" sz="1400" b="0" i="1" smtClean="0">
                                <a:latin typeface="Cambria Math" panose="02040503050406030204" pitchFamily="18" charset="0"/>
                              </a:rPr>
                              <m:t>=</m:t>
                            </m:r>
                            <m:r>
                              <a:rPr lang="en-US" sz="1400" b="0" i="1" smtClean="0">
                                <a:latin typeface="Cambria Math" panose="02040503050406030204" pitchFamily="18" charset="0"/>
                              </a:rPr>
                              <m:t>0</m:t>
                            </m:r>
                          </m:sub>
                          <m:sup>
                            <m:r>
                              <a:rPr lang="en-US" sz="1400" b="0" i="1" smtClean="0">
                                <a:latin typeface="Cambria Math" panose="02040503050406030204" pitchFamily="18" charset="0"/>
                              </a:rPr>
                              <m:t>𝜋</m:t>
                            </m:r>
                          </m:sup>
                          <m:e>
                            <m:r>
                              <a:rPr lang="en-US" sz="1400" b="0" i="1" smtClean="0">
                                <a:latin typeface="Cambria Math" panose="02040503050406030204" pitchFamily="18" charset="0"/>
                              </a:rPr>
                              <m:t>𝐵𝑅𝐷𝐹</m:t>
                            </m:r>
                            <m:r>
                              <a:rPr lang="en-US" sz="1400" b="0" i="1" smtClean="0">
                                <a:latin typeface="Cambria Math" panose="02040503050406030204" pitchFamily="18" charset="0"/>
                              </a:rPr>
                              <m:t>⋅</m:t>
                            </m:r>
                            <m:r>
                              <a:rPr lang="en-US" sz="1400" b="0" i="1" smtClean="0">
                                <a:latin typeface="Cambria Math" panose="02040503050406030204" pitchFamily="18" charset="0"/>
                              </a:rPr>
                              <m:t>𝑑</m:t>
                            </m:r>
                            <m:r>
                              <a:rPr lang="en-US" sz="1400" b="0" i="1" smtClean="0">
                                <a:latin typeface="Cambria Math" panose="02040503050406030204" pitchFamily="18" charset="0"/>
                              </a:rPr>
                              <m:t>𝜔</m:t>
                            </m:r>
                          </m:e>
                        </m:nary>
                      </m:e>
                    </m:nary>
                  </m:oMath>
                </a14:m>
                <a:endParaRPr lang="en-US" sz="1400" b="0" dirty="0"/>
              </a:p>
              <a:p>
                <a:r>
                  <a:rPr lang="en-US" sz="1800" b="0" dirty="0"/>
                  <a:t>Since using </a:t>
                </a:r>
                <a:r>
                  <a:rPr lang="en-US" sz="1800" b="0" dirty="0" err="1"/>
                  <a:t>Zemax</a:t>
                </a:r>
                <a:r>
                  <a:rPr lang="en-US" sz="1800" b="0" dirty="0"/>
                  <a:t> grid,</a:t>
                </a:r>
              </a:p>
              <a:p>
                <a:pPr lvl="1"/>
                <a:r>
                  <a:rPr lang="en-US" sz="1400" dirty="0"/>
                  <a:t>Assume: </a:t>
                </a:r>
                <a:br>
                  <a:rPr lang="en-US" sz="1400" dirty="0"/>
                </a:br>
                <a14:m>
                  <m:oMath xmlns:m="http://schemas.openxmlformats.org/officeDocument/2006/math">
                    <m:nary>
                      <m:naryPr>
                        <m:ctrlPr>
                          <a:rPr lang="en-US" sz="1400" b="0" i="1" smtClean="0">
                            <a:latin typeface="Cambria Math" panose="02040503050406030204" pitchFamily="18" charset="0"/>
                          </a:rPr>
                        </m:ctrlPr>
                      </m:naryPr>
                      <m:sub>
                        <m:sSub>
                          <m:sSubPr>
                            <m:ctrlPr>
                              <a:rPr lang="en-US" sz="1400" b="0" i="1" smtClean="0">
                                <a:latin typeface="Cambria Math" panose="02040503050406030204" pitchFamily="18" charset="0"/>
                              </a:rPr>
                            </m:ctrlPr>
                          </m:sSubPr>
                          <m:e>
                            <m:r>
                              <m:rPr>
                                <m:brk m:alnAt="23"/>
                              </m:rPr>
                              <a:rPr lang="en-US" sz="1400" b="0" i="1" smtClean="0">
                                <a:latin typeface="Cambria Math" panose="02040503050406030204" pitchFamily="18" charset="0"/>
                              </a:rPr>
                              <m:t>𝑅</m:t>
                            </m:r>
                          </m:e>
                          <m:sub>
                            <m:r>
                              <m:rPr>
                                <m:brk m:alnAt="23"/>
                              </m:rPr>
                              <a:rPr lang="en-US" sz="1400" b="0" i="1" smtClean="0">
                                <a:latin typeface="Cambria Math" panose="02040503050406030204" pitchFamily="18" charset="0"/>
                              </a:rPr>
                              <m:t>𝑍</m:t>
                            </m:r>
                          </m:sub>
                        </m:sSub>
                        <m:r>
                          <m:rPr>
                            <m:brk m:alnAt="23"/>
                          </m:rPr>
                          <a:rPr lang="en-US" sz="1400" b="0" i="1" smtClean="0">
                            <a:latin typeface="Cambria Math" panose="02040503050406030204" pitchFamily="18" charset="0"/>
                          </a:rPr>
                          <m:t>=</m:t>
                        </m:r>
                        <m:r>
                          <a:rPr lang="en-US" sz="1400" b="0" i="1" smtClean="0">
                            <a:latin typeface="Cambria Math" panose="02040503050406030204" pitchFamily="18" charset="0"/>
                          </a:rPr>
                          <m:t>𝜋</m:t>
                        </m:r>
                        <m:r>
                          <a:rPr lang="en-US" sz="1400" b="0" i="1" smtClean="0">
                            <a:latin typeface="Cambria Math" panose="02040503050406030204" pitchFamily="18" charset="0"/>
                          </a:rPr>
                          <m:t>/2</m:t>
                        </m:r>
                      </m:sub>
                      <m:sup>
                        <m:r>
                          <a:rPr lang="en-US" sz="1400" b="0" i="1" smtClean="0">
                            <a:latin typeface="Cambria Math" panose="02040503050406030204" pitchFamily="18" charset="0"/>
                          </a:rPr>
                          <m:t>𝜋</m:t>
                        </m:r>
                      </m:sup>
                      <m:e>
                        <m:r>
                          <a:rPr lang="en-US" sz="1400" b="0" i="1" smtClean="0">
                            <a:latin typeface="Cambria Math" panose="02040503050406030204" pitchFamily="18" charset="0"/>
                          </a:rPr>
                          <m:t>𝐵𝑅𝐷𝐹</m:t>
                        </m:r>
                        <m:r>
                          <a:rPr lang="en-US" sz="1400" b="0" i="1" smtClean="0">
                            <a:latin typeface="Cambria Math" panose="02040503050406030204" pitchFamily="18" charset="0"/>
                          </a:rPr>
                          <m:t>⋅</m:t>
                        </m:r>
                        <m:r>
                          <a:rPr lang="en-US" sz="1400" b="0" i="1" smtClean="0">
                            <a:latin typeface="Cambria Math" panose="02040503050406030204" pitchFamily="18" charset="0"/>
                          </a:rPr>
                          <m:t>𝑑</m:t>
                        </m:r>
                        <m:r>
                          <a:rPr lang="en-US" sz="1400" b="0" i="1" smtClean="0">
                            <a:latin typeface="Cambria Math" panose="02040503050406030204" pitchFamily="18" charset="0"/>
                          </a:rPr>
                          <m:t>𝜔</m:t>
                        </m:r>
                        <m:r>
                          <a:rPr lang="en-US" sz="1400" b="0" i="1" smtClean="0">
                            <a:latin typeface="Cambria Math" panose="02040503050406030204" pitchFamily="18" charset="0"/>
                          </a:rPr>
                          <m:t>=0</m:t>
                        </m:r>
                      </m:e>
                    </m:nary>
                  </m:oMath>
                </a14:m>
                <a:endParaRPr lang="en-US" sz="1400" b="0" dirty="0"/>
              </a:p>
              <a:p>
                <a:pPr lvl="1"/>
                <a:r>
                  <a:rPr lang="en-US" sz="1400" dirty="0"/>
                  <a:t>Full cone would not make </a:t>
                </a:r>
                <a:br>
                  <a:rPr lang="en-US" sz="1400" dirty="0"/>
                </a:br>
                <a:r>
                  <a:rPr lang="en-US" sz="1400" dirty="0"/>
                  <a:t>this assumption</a:t>
                </a:r>
                <a:endParaRPr lang="en-US" sz="1400" b="0" dirty="0"/>
              </a:p>
            </p:txBody>
          </p:sp>
        </mc:Choice>
        <mc:Fallback xmlns="">
          <p:sp>
            <p:nvSpPr>
              <p:cNvPr id="6" name="Text Placeholder 2">
                <a:extLst>
                  <a:ext uri="{FF2B5EF4-FFF2-40B4-BE49-F238E27FC236}">
                    <a16:creationId xmlns:a16="http://schemas.microsoft.com/office/drawing/2014/main" id="{E2F33B9A-E964-0D89-966B-14E58653B104}"/>
                  </a:ext>
                </a:extLst>
              </p:cNvPr>
              <p:cNvSpPr>
                <a:spLocks noGrp="1" noRot="1" noChangeAspect="1" noMove="1" noResize="1" noEditPoints="1" noAdjustHandles="1" noChangeArrowheads="1" noChangeShapeType="1" noTextEdit="1"/>
              </p:cNvSpPr>
              <p:nvPr>
                <p:ph type="body" idx="1"/>
              </p:nvPr>
            </p:nvSpPr>
            <p:spPr>
              <a:xfrm>
                <a:off x="609600" y="1752601"/>
                <a:ext cx="4106333" cy="4373563"/>
              </a:xfrm>
              <a:blipFill>
                <a:blip r:embed="rId3"/>
                <a:stretch>
                  <a:fillRect l="-1484" t="-1395"/>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F9E36A99-14D9-26AB-6E22-92A08101729A}"/>
              </a:ext>
            </a:extLst>
          </p:cNvPr>
          <p:cNvPicPr>
            <a:picLocks noChangeAspect="1"/>
          </p:cNvPicPr>
          <p:nvPr/>
        </p:nvPicPr>
        <p:blipFill>
          <a:blip r:embed="rId2"/>
          <a:srcRect l="67036" b="75929"/>
          <a:stretch>
            <a:fillRect/>
          </a:stretch>
        </p:blipFill>
        <p:spPr>
          <a:xfrm>
            <a:off x="4338476" y="152718"/>
            <a:ext cx="2710959" cy="991640"/>
          </a:xfrm>
          <a:prstGeom prst="rect">
            <a:avLst/>
          </a:prstGeom>
        </p:spPr>
      </p:pic>
      <p:sp>
        <p:nvSpPr>
          <p:cNvPr id="8" name="Rectangle 7">
            <a:extLst>
              <a:ext uri="{FF2B5EF4-FFF2-40B4-BE49-F238E27FC236}">
                <a16:creationId xmlns:a16="http://schemas.microsoft.com/office/drawing/2014/main" id="{D10B0ACF-F6C8-9257-781B-6B6687FAEECF}"/>
              </a:ext>
            </a:extLst>
          </p:cNvPr>
          <p:cNvSpPr/>
          <p:nvPr/>
        </p:nvSpPr>
        <p:spPr>
          <a:xfrm>
            <a:off x="10405533" y="731836"/>
            <a:ext cx="1322321" cy="7924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7804F19-A290-4C61-0602-5F96F498F4BF}"/>
              </a:ext>
            </a:extLst>
          </p:cNvPr>
          <p:cNvSpPr/>
          <p:nvPr/>
        </p:nvSpPr>
        <p:spPr>
          <a:xfrm>
            <a:off x="3918175" y="863251"/>
            <a:ext cx="840602" cy="4612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126116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B9329-D41E-111A-53B8-A36BB6C2B4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8D59A8-EC36-9D6D-8ADE-5BA946F9DA08}"/>
              </a:ext>
            </a:extLst>
          </p:cNvPr>
          <p:cNvSpPr>
            <a:spLocks noGrp="1"/>
          </p:cNvSpPr>
          <p:nvPr>
            <p:ph type="title"/>
          </p:nvPr>
        </p:nvSpPr>
        <p:spPr/>
        <p:txBody>
          <a:bodyPr/>
          <a:lstStyle/>
          <a:p>
            <a:r>
              <a:rPr lang="en-US" dirty="0"/>
              <a:t>TIS</a:t>
            </a:r>
            <a:br>
              <a:rPr lang="en-US" dirty="0"/>
            </a:br>
            <a:r>
              <a:rPr lang="en-US" sz="2000" dirty="0"/>
              <a:t>as </a:t>
            </a:r>
            <a:r>
              <a:rPr lang="en-US" sz="2000" dirty="0" err="1"/>
              <a:t>Zemax</a:t>
            </a:r>
            <a:r>
              <a:rPr lang="en-US" sz="2000" dirty="0"/>
              <a:t> scatter cone</a:t>
            </a: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0FA5563-0D7E-65DB-E040-A6838732CB93}"/>
                  </a:ext>
                </a:extLst>
              </p:cNvPr>
              <p:cNvSpPr>
                <a:spLocks noGrp="1"/>
              </p:cNvSpPr>
              <p:nvPr>
                <p:ph type="body" idx="1"/>
              </p:nvPr>
            </p:nvSpPr>
            <p:spPr>
              <a:xfrm>
                <a:off x="609600" y="1752601"/>
                <a:ext cx="10160000" cy="4373563"/>
              </a:xfrm>
            </p:spPr>
            <p:txBody>
              <a:bodyPr>
                <a:normAutofit/>
              </a:bodyPr>
              <a:lstStyle/>
              <a:p>
                <a:r>
                  <a:rPr lang="en-US" sz="2400" b="0" dirty="0"/>
                  <a:t>Easier to integrate using </a:t>
                </a:r>
                <a:r>
                  <a:rPr lang="en-US" sz="2400" b="0" dirty="0" err="1"/>
                  <a:t>Zemax</a:t>
                </a:r>
                <a:r>
                  <a:rPr lang="en-US" sz="2400" b="0" dirty="0"/>
                  <a:t> grid since that data must exist in some well-organized format anyway; else must do additional processing on all RT measurements</a:t>
                </a:r>
              </a:p>
              <a:p>
                <a:r>
                  <a:rPr lang="en-US" sz="2400" b="0" dirty="0"/>
                  <a:t>But assumes BRDF=0 for Rz values not in grid</a:t>
                </a:r>
              </a:p>
              <a:p>
                <a:pPr lvl="1"/>
                <a:r>
                  <a:rPr lang="en-US" sz="2000" b="0" dirty="0"/>
                  <a:t>Az = [0, 180], so multiplied by 2 in end (for ful</a:t>
                </a:r>
                <a:r>
                  <a:rPr lang="en-US" sz="2000" dirty="0"/>
                  <a:t>l 360) </a:t>
                </a:r>
                <a:r>
                  <a:rPr lang="en-US" sz="2000" dirty="0">
                    <a:sym typeface="Wingdings" panose="05000000000000000000" pitchFamily="2" charset="2"/>
                  </a:rPr>
                  <a:t> not a problem</a:t>
                </a:r>
                <a:endParaRPr lang="en-US" sz="2000" dirty="0"/>
              </a:p>
              <a:p>
                <a:pPr lvl="1"/>
                <a:r>
                  <a:rPr lang="en-US" sz="2000" b="0" dirty="0"/>
                  <a:t>Rz = [0, 90] </a:t>
                </a:r>
                <a:r>
                  <a:rPr lang="en-US" sz="2000" b="0" dirty="0">
                    <a:sym typeface="Wingdings" panose="05000000000000000000" pitchFamily="2" charset="2"/>
                  </a:rPr>
                  <a:t> problem, because fails to capture full energy as all scatter may really be in Rz = [0, 180]. Specifically, I believe scatter is possible where:</a:t>
                </a:r>
              </a:p>
              <a:p>
                <a:pPr lvl="2"/>
                <a14:m>
                  <m:oMath xmlns:m="http://schemas.openxmlformats.org/officeDocument/2006/math">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90</m:t>
                        </m:r>
                      </m:e>
                      <m:sup>
                        <m:r>
                          <a:rPr lang="en-US" sz="2000" b="0" i="1" smtClean="0">
                            <a:latin typeface="Cambria Math" panose="02040503050406030204" pitchFamily="18" charset="0"/>
                            <a:ea typeface="Cambria Math" panose="02040503050406030204" pitchFamily="18" charset="0"/>
                          </a:rPr>
                          <m:t>∘</m:t>
                        </m:r>
                      </m:sup>
                    </m:sSup>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𝐼</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𝑍</m:t>
                        </m:r>
                      </m:sub>
                    </m:sSub>
                    <m:func>
                      <m:funcPr>
                        <m:ctrlPr>
                          <a:rPr lang="en-US" sz="2000" b="0" i="0"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𝑍</m:t>
                                </m:r>
                              </m:sub>
                            </m:sSub>
                          </m:e>
                        </m:d>
                      </m:e>
                    </m:func>
                    <m:r>
                      <a:rPr lang="en-US" sz="2000" i="1">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90</m:t>
                        </m:r>
                      </m:e>
                      <m:sup>
                        <m:r>
                          <a:rPr lang="en-US" sz="2000" b="0" i="1" smtClean="0">
                            <a:latin typeface="Cambria Math" panose="02040503050406030204" pitchFamily="18" charset="0"/>
                            <a:ea typeface="Cambria Math" panose="02040503050406030204" pitchFamily="18" charset="0"/>
                          </a:rPr>
                          <m:t>∘</m:t>
                        </m:r>
                      </m:sup>
                    </m:sSup>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𝐼</m:t>
                    </m:r>
                  </m:oMath>
                </a14:m>
                <a:endParaRPr lang="en-US" sz="2000" b="0" dirty="0"/>
              </a:p>
            </p:txBody>
          </p:sp>
        </mc:Choice>
        <mc:Fallback xmlns="">
          <p:sp>
            <p:nvSpPr>
              <p:cNvPr id="3" name="Text Placeholder 2">
                <a:extLst>
                  <a:ext uri="{FF2B5EF4-FFF2-40B4-BE49-F238E27FC236}">
                    <a16:creationId xmlns:a16="http://schemas.microsoft.com/office/drawing/2014/main" id="{00FA5563-0D7E-65DB-E040-A6838732CB93}"/>
                  </a:ext>
                </a:extLst>
              </p:cNvPr>
              <p:cNvSpPr>
                <a:spLocks noGrp="1" noRot="1" noChangeAspect="1" noMove="1" noResize="1" noEditPoints="1" noAdjustHandles="1" noChangeArrowheads="1" noChangeShapeType="1" noTextEdit="1"/>
              </p:cNvSpPr>
              <p:nvPr>
                <p:ph type="body" idx="1"/>
              </p:nvPr>
            </p:nvSpPr>
            <p:spPr>
              <a:xfrm>
                <a:off x="609600" y="1752601"/>
                <a:ext cx="10160000" cy="4373563"/>
              </a:xfrm>
              <a:blipFill>
                <a:blip r:embed="rId2"/>
                <a:stretch>
                  <a:fillRect l="-600" t="-279"/>
                </a:stretch>
              </a:blipFill>
            </p:spPr>
            <p:txBody>
              <a:bodyPr/>
              <a:lstStyle/>
              <a:p>
                <a:r>
                  <a:rPr lang="en-US">
                    <a:noFill/>
                  </a:rPr>
                  <a:t> </a:t>
                </a:r>
              </a:p>
            </p:txBody>
          </p:sp>
        </mc:Fallback>
      </mc:AlternateContent>
    </p:spTree>
    <p:extLst>
      <p:ext uri="{BB962C8B-B14F-4D97-AF65-F5344CB8AC3E}">
        <p14:creationId xmlns:p14="http://schemas.microsoft.com/office/powerpoint/2010/main" val="22037615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40CD2-B3C2-2DAB-5C13-2C269743C7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640FF3-FF7A-0FB2-37B8-E455303C2D3C}"/>
              </a:ext>
            </a:extLst>
          </p:cNvPr>
          <p:cNvSpPr>
            <a:spLocks noGrp="1"/>
          </p:cNvSpPr>
          <p:nvPr>
            <p:ph type="title"/>
          </p:nvPr>
        </p:nvSpPr>
        <p:spPr/>
        <p:txBody>
          <a:bodyPr/>
          <a:lstStyle/>
          <a:p>
            <a:r>
              <a:rPr lang="en-US" dirty="0"/>
              <a:t>TIS</a:t>
            </a:r>
            <a:br>
              <a:rPr lang="en-US" dirty="0"/>
            </a:br>
            <a:r>
              <a:rPr lang="en-US" sz="2000" dirty="0"/>
              <a:t>as </a:t>
            </a:r>
            <a:r>
              <a:rPr lang="en-US" sz="2000" dirty="0" err="1"/>
              <a:t>Zemax</a:t>
            </a:r>
            <a:r>
              <a:rPr lang="en-US" sz="2000" dirty="0"/>
              <a:t> scatter cone</a:t>
            </a:r>
            <a:endParaRPr lang="en-US" dirty="0"/>
          </a:p>
        </p:txBody>
      </p:sp>
      <p:sp>
        <p:nvSpPr>
          <p:cNvPr id="3" name="Text Placeholder 2">
            <a:extLst>
              <a:ext uri="{FF2B5EF4-FFF2-40B4-BE49-F238E27FC236}">
                <a16:creationId xmlns:a16="http://schemas.microsoft.com/office/drawing/2014/main" id="{D5280DCC-0538-D0C9-44C1-21AE489D983A}"/>
              </a:ext>
            </a:extLst>
          </p:cNvPr>
          <p:cNvSpPr>
            <a:spLocks noGrp="1"/>
          </p:cNvSpPr>
          <p:nvPr>
            <p:ph type="body" idx="1"/>
          </p:nvPr>
        </p:nvSpPr>
        <p:spPr>
          <a:xfrm>
            <a:off x="609600" y="1752601"/>
            <a:ext cx="10160000" cy="4373563"/>
          </a:xfrm>
        </p:spPr>
        <p:txBody>
          <a:bodyPr>
            <a:normAutofit/>
          </a:bodyPr>
          <a:lstStyle/>
          <a:p>
            <a:r>
              <a:rPr lang="en-US" sz="2400" b="0" dirty="0"/>
              <a:t>Nonetheless, just using Rz up to 90deg, not 180deg</a:t>
            </a:r>
            <a:endParaRPr lang="en-US" sz="2000" b="0" dirty="0"/>
          </a:p>
        </p:txBody>
      </p:sp>
      <p:pic>
        <p:nvPicPr>
          <p:cNvPr id="5" name="Picture 4">
            <a:extLst>
              <a:ext uri="{FF2B5EF4-FFF2-40B4-BE49-F238E27FC236}">
                <a16:creationId xmlns:a16="http://schemas.microsoft.com/office/drawing/2014/main" id="{0CFFC46D-BD68-C85A-1792-AB6B682E749E}"/>
              </a:ext>
            </a:extLst>
          </p:cNvPr>
          <p:cNvPicPr>
            <a:picLocks noChangeAspect="1"/>
          </p:cNvPicPr>
          <p:nvPr/>
        </p:nvPicPr>
        <p:blipFill>
          <a:blip r:embed="rId2"/>
          <a:stretch>
            <a:fillRect/>
          </a:stretch>
        </p:blipFill>
        <p:spPr>
          <a:xfrm>
            <a:off x="1495255" y="2658231"/>
            <a:ext cx="7240010" cy="3696216"/>
          </a:xfrm>
          <a:prstGeom prst="rect">
            <a:avLst/>
          </a:prstGeom>
        </p:spPr>
      </p:pic>
      <p:sp>
        <p:nvSpPr>
          <p:cNvPr id="6" name="Rectangle 5">
            <a:extLst>
              <a:ext uri="{FF2B5EF4-FFF2-40B4-BE49-F238E27FC236}">
                <a16:creationId xmlns:a16="http://schemas.microsoft.com/office/drawing/2014/main" id="{21433DF5-9AA9-5F7C-66E2-9ADBF5202C22}"/>
              </a:ext>
            </a:extLst>
          </p:cNvPr>
          <p:cNvSpPr/>
          <p:nvPr/>
        </p:nvSpPr>
        <p:spPr>
          <a:xfrm>
            <a:off x="2633134" y="3793067"/>
            <a:ext cx="1811866" cy="254000"/>
          </a:xfrm>
          <a:prstGeom prst="rect">
            <a:avLst/>
          </a:prstGeom>
          <a:no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44B67D0-E66C-595D-F2B1-EFFC3B9A601E}"/>
              </a:ext>
            </a:extLst>
          </p:cNvPr>
          <p:cNvSpPr txBox="1"/>
          <p:nvPr/>
        </p:nvSpPr>
        <p:spPr>
          <a:xfrm>
            <a:off x="8828076" y="3638236"/>
            <a:ext cx="2923658" cy="1200329"/>
          </a:xfrm>
          <a:prstGeom prst="rect">
            <a:avLst/>
          </a:prstGeom>
          <a:noFill/>
        </p:spPr>
        <p:txBody>
          <a:bodyPr wrap="square" rtlCol="0">
            <a:spAutoFit/>
          </a:bodyPr>
          <a:lstStyle/>
          <a:p>
            <a:r>
              <a:rPr lang="en-US" sz="1800" dirty="0">
                <a:solidFill>
                  <a:schemeClr val="bg2"/>
                </a:solidFill>
              </a:rPr>
              <a:t>Only indexes Rz values in </a:t>
            </a:r>
            <a:r>
              <a:rPr lang="en-US" sz="1800" dirty="0" err="1">
                <a:solidFill>
                  <a:schemeClr val="bg2"/>
                </a:solidFill>
              </a:rPr>
              <a:t>Zemax</a:t>
            </a:r>
            <a:r>
              <a:rPr lang="en-US" sz="1800" dirty="0">
                <a:solidFill>
                  <a:schemeClr val="bg2"/>
                </a:solidFill>
              </a:rPr>
              <a:t> BSDF file grid, so outside of this is assumed BRDF=0</a:t>
            </a:r>
          </a:p>
        </p:txBody>
      </p:sp>
    </p:spTree>
    <p:extLst>
      <p:ext uri="{BB962C8B-B14F-4D97-AF65-F5344CB8AC3E}">
        <p14:creationId xmlns:p14="http://schemas.microsoft.com/office/powerpoint/2010/main" val="79115469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64267-4647-A943-A1BC-43712B213F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967C3C-EB66-3BCF-DC8B-182E91AC53F3}"/>
              </a:ext>
            </a:extLst>
          </p:cNvPr>
          <p:cNvSpPr>
            <a:spLocks noGrp="1"/>
          </p:cNvSpPr>
          <p:nvPr>
            <p:ph type="title"/>
          </p:nvPr>
        </p:nvSpPr>
        <p:spPr/>
        <p:txBody>
          <a:bodyPr/>
          <a:lstStyle/>
          <a:p>
            <a:r>
              <a:rPr lang="en-US" dirty="0"/>
              <a:t>TIS</a:t>
            </a:r>
            <a:br>
              <a:rPr lang="en-US" dirty="0"/>
            </a:br>
            <a:r>
              <a:rPr lang="en-US" sz="2000" dirty="0"/>
              <a:t>as </a:t>
            </a:r>
            <a:r>
              <a:rPr lang="en-US" sz="2000" dirty="0" err="1"/>
              <a:t>Zemax</a:t>
            </a:r>
            <a:r>
              <a:rPr lang="en-US" sz="2000" dirty="0"/>
              <a:t> scatter cone</a:t>
            </a:r>
            <a:endParaRPr lang="en-US" dirty="0"/>
          </a:p>
        </p:txBody>
      </p:sp>
      <p:sp>
        <p:nvSpPr>
          <p:cNvPr id="3" name="Text Placeholder 2">
            <a:extLst>
              <a:ext uri="{FF2B5EF4-FFF2-40B4-BE49-F238E27FC236}">
                <a16:creationId xmlns:a16="http://schemas.microsoft.com/office/drawing/2014/main" id="{59C275B0-2204-069A-AAC3-C33D0C6A0A78}"/>
              </a:ext>
            </a:extLst>
          </p:cNvPr>
          <p:cNvSpPr>
            <a:spLocks noGrp="1"/>
          </p:cNvSpPr>
          <p:nvPr>
            <p:ph type="body" idx="1"/>
          </p:nvPr>
        </p:nvSpPr>
        <p:spPr>
          <a:xfrm>
            <a:off x="609600" y="1752601"/>
            <a:ext cx="10160000" cy="4373563"/>
          </a:xfrm>
        </p:spPr>
        <p:txBody>
          <a:bodyPr>
            <a:normAutofit/>
          </a:bodyPr>
          <a:lstStyle/>
          <a:p>
            <a:r>
              <a:rPr lang="en-US" sz="2400" b="0" dirty="0"/>
              <a:t>Then, need integral for specular beam</a:t>
            </a:r>
            <a:endParaRPr lang="en-US" sz="2000" b="0" dirty="0"/>
          </a:p>
        </p:txBody>
      </p:sp>
      <p:pic>
        <p:nvPicPr>
          <p:cNvPr id="6" name="Picture 5">
            <a:extLst>
              <a:ext uri="{FF2B5EF4-FFF2-40B4-BE49-F238E27FC236}">
                <a16:creationId xmlns:a16="http://schemas.microsoft.com/office/drawing/2014/main" id="{7EFE4ADD-0976-3324-E4C2-44318BB3F310}"/>
              </a:ext>
            </a:extLst>
          </p:cNvPr>
          <p:cNvPicPr>
            <a:picLocks noChangeAspect="1"/>
          </p:cNvPicPr>
          <p:nvPr/>
        </p:nvPicPr>
        <p:blipFill>
          <a:blip r:embed="rId2"/>
          <a:stretch>
            <a:fillRect/>
          </a:stretch>
        </p:blipFill>
        <p:spPr>
          <a:xfrm>
            <a:off x="1628623" y="2451343"/>
            <a:ext cx="6973273" cy="4105848"/>
          </a:xfrm>
          <a:prstGeom prst="rect">
            <a:avLst/>
          </a:prstGeom>
        </p:spPr>
      </p:pic>
      <p:sp>
        <p:nvSpPr>
          <p:cNvPr id="7" name="Rectangle 6">
            <a:extLst>
              <a:ext uri="{FF2B5EF4-FFF2-40B4-BE49-F238E27FC236}">
                <a16:creationId xmlns:a16="http://schemas.microsoft.com/office/drawing/2014/main" id="{548422C8-8ED3-3457-E206-0C6C25296A76}"/>
              </a:ext>
            </a:extLst>
          </p:cNvPr>
          <p:cNvSpPr/>
          <p:nvPr/>
        </p:nvSpPr>
        <p:spPr>
          <a:xfrm>
            <a:off x="1219200" y="5604933"/>
            <a:ext cx="7620000" cy="863600"/>
          </a:xfrm>
          <a:prstGeom prst="rect">
            <a:avLst/>
          </a:prstGeom>
          <a:no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9BBBDFE-2C7E-8A7C-B139-9D9975B78619}"/>
              </a:ext>
            </a:extLst>
          </p:cNvPr>
          <p:cNvSpPr txBox="1"/>
          <p:nvPr/>
        </p:nvSpPr>
        <p:spPr>
          <a:xfrm>
            <a:off x="9303356" y="5713567"/>
            <a:ext cx="1975756" cy="646331"/>
          </a:xfrm>
          <a:prstGeom prst="rect">
            <a:avLst/>
          </a:prstGeom>
          <a:noFill/>
        </p:spPr>
        <p:txBody>
          <a:bodyPr wrap="square" rtlCol="0">
            <a:spAutoFit/>
          </a:bodyPr>
          <a:lstStyle/>
          <a:p>
            <a:r>
              <a:rPr lang="en-US" sz="1800" dirty="0">
                <a:solidFill>
                  <a:schemeClr val="bg2"/>
                </a:solidFill>
              </a:rPr>
              <a:t>Eventually, difference is TIS</a:t>
            </a:r>
          </a:p>
        </p:txBody>
      </p:sp>
      <p:sp>
        <p:nvSpPr>
          <p:cNvPr id="9" name="Rectangle 8">
            <a:extLst>
              <a:ext uri="{FF2B5EF4-FFF2-40B4-BE49-F238E27FC236}">
                <a16:creationId xmlns:a16="http://schemas.microsoft.com/office/drawing/2014/main" id="{C20D21D2-DCC3-35CA-54B2-93A150509AC2}"/>
              </a:ext>
            </a:extLst>
          </p:cNvPr>
          <p:cNvSpPr/>
          <p:nvPr/>
        </p:nvSpPr>
        <p:spPr>
          <a:xfrm>
            <a:off x="3810000" y="4089400"/>
            <a:ext cx="2590800" cy="370538"/>
          </a:xfrm>
          <a:prstGeom prst="rect">
            <a:avLst/>
          </a:prstGeom>
          <a:no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51C9F72-5719-B399-28EF-77E4F4ED032A}"/>
              </a:ext>
            </a:extLst>
          </p:cNvPr>
          <p:cNvSpPr txBox="1"/>
          <p:nvPr/>
        </p:nvSpPr>
        <p:spPr>
          <a:xfrm>
            <a:off x="8819608" y="3951503"/>
            <a:ext cx="2969015" cy="646331"/>
          </a:xfrm>
          <a:prstGeom prst="rect">
            <a:avLst/>
          </a:prstGeom>
          <a:noFill/>
        </p:spPr>
        <p:txBody>
          <a:bodyPr wrap="square" rtlCol="0">
            <a:spAutoFit/>
          </a:bodyPr>
          <a:lstStyle/>
          <a:p>
            <a:r>
              <a:rPr lang="en-US" sz="1800" dirty="0">
                <a:solidFill>
                  <a:schemeClr val="bg2"/>
                </a:solidFill>
              </a:rPr>
              <a:t>But this requires defining some nonzero beam width</a:t>
            </a:r>
          </a:p>
        </p:txBody>
      </p:sp>
    </p:spTree>
    <p:extLst>
      <p:ext uri="{BB962C8B-B14F-4D97-AF65-F5344CB8AC3E}">
        <p14:creationId xmlns:p14="http://schemas.microsoft.com/office/powerpoint/2010/main" val="340155263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7EEE6F2-3F88-1865-75CF-D1ABC2893659}"/>
              </a:ext>
            </a:extLst>
          </p:cNvPr>
          <p:cNvPicPr>
            <a:picLocks noChangeAspect="1"/>
          </p:cNvPicPr>
          <p:nvPr/>
        </p:nvPicPr>
        <p:blipFill>
          <a:blip r:embed="rId2"/>
          <a:srcRect l="9490" r="42152" b="61268"/>
          <a:stretch>
            <a:fillRect/>
          </a:stretch>
        </p:blipFill>
        <p:spPr>
          <a:xfrm>
            <a:off x="328068" y="3075466"/>
            <a:ext cx="3951908" cy="2893198"/>
          </a:xfrm>
          <a:prstGeom prst="rect">
            <a:avLst/>
          </a:prstGeom>
        </p:spPr>
      </p:pic>
      <p:sp>
        <p:nvSpPr>
          <p:cNvPr id="2" name="Title 1">
            <a:extLst>
              <a:ext uri="{FF2B5EF4-FFF2-40B4-BE49-F238E27FC236}">
                <a16:creationId xmlns:a16="http://schemas.microsoft.com/office/drawing/2014/main" id="{3BC7B0FB-4E2B-55C5-F31D-27C6DCD0E9E3}"/>
              </a:ext>
            </a:extLst>
          </p:cNvPr>
          <p:cNvSpPr>
            <a:spLocks noGrp="1"/>
          </p:cNvSpPr>
          <p:nvPr>
            <p:ph type="title"/>
          </p:nvPr>
        </p:nvSpPr>
        <p:spPr/>
        <p:txBody>
          <a:bodyPr/>
          <a:lstStyle/>
          <a:p>
            <a:r>
              <a:rPr lang="en-US" dirty="0"/>
              <a:t>TIS</a:t>
            </a:r>
            <a:br>
              <a:rPr lang="en-US" dirty="0"/>
            </a:br>
            <a:r>
              <a:rPr lang="en-US" sz="2000" dirty="0"/>
              <a:t>derivation of specular </a:t>
            </a:r>
            <a:br>
              <a:rPr lang="en-US" sz="2000" dirty="0"/>
            </a:br>
            <a:r>
              <a:rPr lang="en-US" sz="2000" dirty="0"/>
              <a:t>beam width</a:t>
            </a:r>
            <a:endParaRPr lang="en-US" sz="3200" dirty="0"/>
          </a:p>
        </p:txBody>
      </p:sp>
      <p:sp>
        <p:nvSpPr>
          <p:cNvPr id="3" name="Text Placeholder 2">
            <a:extLst>
              <a:ext uri="{FF2B5EF4-FFF2-40B4-BE49-F238E27FC236}">
                <a16:creationId xmlns:a16="http://schemas.microsoft.com/office/drawing/2014/main" id="{BEA5E2CD-A63D-FB48-FA20-682BBCA3EC47}"/>
              </a:ext>
            </a:extLst>
          </p:cNvPr>
          <p:cNvSpPr>
            <a:spLocks noGrp="1"/>
          </p:cNvSpPr>
          <p:nvPr>
            <p:ph type="body" idx="1"/>
          </p:nvPr>
        </p:nvSpPr>
        <p:spPr/>
        <p:txBody>
          <a:bodyPr>
            <a:normAutofit/>
          </a:bodyPr>
          <a:lstStyle/>
          <a:p>
            <a:r>
              <a:rPr lang="en-US" sz="2400" b="0" dirty="0"/>
              <a:t>Need </a:t>
            </a:r>
            <a:r>
              <a:rPr lang="en-US" sz="2400" b="0" dirty="0" err="1"/>
              <a:t>dR</a:t>
            </a:r>
            <a:r>
              <a:rPr lang="en-US" sz="2400" b="0" dirty="0"/>
              <a:t> for integral</a:t>
            </a:r>
          </a:p>
        </p:txBody>
      </p:sp>
      <p:pic>
        <p:nvPicPr>
          <p:cNvPr id="7" name="Picture 6">
            <a:extLst>
              <a:ext uri="{FF2B5EF4-FFF2-40B4-BE49-F238E27FC236}">
                <a16:creationId xmlns:a16="http://schemas.microsoft.com/office/drawing/2014/main" id="{1A257CF2-9D10-BD3C-2728-D74D8FB80807}"/>
              </a:ext>
            </a:extLst>
          </p:cNvPr>
          <p:cNvPicPr>
            <a:picLocks noChangeAspect="1"/>
          </p:cNvPicPr>
          <p:nvPr/>
        </p:nvPicPr>
        <p:blipFill>
          <a:blip r:embed="rId3"/>
          <a:stretch>
            <a:fillRect/>
          </a:stretch>
        </p:blipFill>
        <p:spPr>
          <a:xfrm>
            <a:off x="6435816" y="4184617"/>
            <a:ext cx="5359252" cy="2520665"/>
          </a:xfrm>
          <a:prstGeom prst="rect">
            <a:avLst/>
          </a:prstGeom>
        </p:spPr>
      </p:pic>
      <p:pic>
        <p:nvPicPr>
          <p:cNvPr id="8" name="Picture 7">
            <a:extLst>
              <a:ext uri="{FF2B5EF4-FFF2-40B4-BE49-F238E27FC236}">
                <a16:creationId xmlns:a16="http://schemas.microsoft.com/office/drawing/2014/main" id="{715442BD-C5A1-3A68-0C66-B21A966F06B2}"/>
              </a:ext>
            </a:extLst>
          </p:cNvPr>
          <p:cNvPicPr>
            <a:picLocks noChangeAspect="1"/>
          </p:cNvPicPr>
          <p:nvPr/>
        </p:nvPicPr>
        <p:blipFill>
          <a:blip r:embed="rId2"/>
          <a:srcRect l="3255" t="39112"/>
          <a:stretch>
            <a:fillRect/>
          </a:stretch>
        </p:blipFill>
        <p:spPr>
          <a:xfrm>
            <a:off x="5266247" y="279400"/>
            <a:ext cx="6683669" cy="3844948"/>
          </a:xfrm>
          <a:prstGeom prst="rect">
            <a:avLst/>
          </a:prstGeom>
        </p:spPr>
      </p:pic>
      <p:sp>
        <p:nvSpPr>
          <p:cNvPr id="9" name="TextBox 8">
            <a:extLst>
              <a:ext uri="{FF2B5EF4-FFF2-40B4-BE49-F238E27FC236}">
                <a16:creationId xmlns:a16="http://schemas.microsoft.com/office/drawing/2014/main" id="{74C1537D-5B0A-AADE-1567-2412AAA450D7}"/>
              </a:ext>
            </a:extLst>
          </p:cNvPr>
          <p:cNvSpPr txBox="1"/>
          <p:nvPr/>
        </p:nvSpPr>
        <p:spPr>
          <a:xfrm>
            <a:off x="3045868" y="5450432"/>
            <a:ext cx="1445775" cy="923330"/>
          </a:xfrm>
          <a:prstGeom prst="rect">
            <a:avLst/>
          </a:prstGeom>
          <a:noFill/>
        </p:spPr>
        <p:txBody>
          <a:bodyPr wrap="square" rtlCol="0">
            <a:spAutoFit/>
          </a:bodyPr>
          <a:lstStyle/>
          <a:p>
            <a:r>
              <a:rPr lang="en-US" sz="1800" dirty="0"/>
              <a:t>Sample (origin of RT-300S)</a:t>
            </a:r>
          </a:p>
        </p:txBody>
      </p:sp>
      <p:sp>
        <p:nvSpPr>
          <p:cNvPr id="10" name="TextBox 9">
            <a:extLst>
              <a:ext uri="{FF2B5EF4-FFF2-40B4-BE49-F238E27FC236}">
                <a16:creationId xmlns:a16="http://schemas.microsoft.com/office/drawing/2014/main" id="{570C0EE9-EB6C-AA02-3E37-2498E457EC66}"/>
              </a:ext>
            </a:extLst>
          </p:cNvPr>
          <p:cNvSpPr txBox="1"/>
          <p:nvPr/>
        </p:nvSpPr>
        <p:spPr>
          <a:xfrm rot="18825295">
            <a:off x="206314" y="3403260"/>
            <a:ext cx="1445775" cy="369332"/>
          </a:xfrm>
          <a:prstGeom prst="rect">
            <a:avLst/>
          </a:prstGeom>
          <a:noFill/>
        </p:spPr>
        <p:txBody>
          <a:bodyPr wrap="square" rtlCol="0">
            <a:spAutoFit/>
          </a:bodyPr>
          <a:lstStyle/>
          <a:p>
            <a:r>
              <a:rPr lang="en-US" sz="1800" dirty="0"/>
              <a:t>detector</a:t>
            </a:r>
          </a:p>
        </p:txBody>
      </p:sp>
      <p:sp>
        <p:nvSpPr>
          <p:cNvPr id="11" name="TextBox 10">
            <a:extLst>
              <a:ext uri="{FF2B5EF4-FFF2-40B4-BE49-F238E27FC236}">
                <a16:creationId xmlns:a16="http://schemas.microsoft.com/office/drawing/2014/main" id="{F14CC76F-0AB9-D277-6694-61F1225067C6}"/>
              </a:ext>
            </a:extLst>
          </p:cNvPr>
          <p:cNvSpPr txBox="1"/>
          <p:nvPr/>
        </p:nvSpPr>
        <p:spPr>
          <a:xfrm>
            <a:off x="4069823" y="4522065"/>
            <a:ext cx="1445775" cy="646331"/>
          </a:xfrm>
          <a:prstGeom prst="rect">
            <a:avLst/>
          </a:prstGeom>
          <a:noFill/>
        </p:spPr>
        <p:txBody>
          <a:bodyPr wrap="square" rtlCol="0">
            <a:spAutoFit/>
          </a:bodyPr>
          <a:lstStyle/>
          <a:p>
            <a:r>
              <a:rPr lang="en-US" sz="1800" dirty="0">
                <a:solidFill>
                  <a:srgbClr val="FF944A"/>
                </a:solidFill>
              </a:rPr>
              <a:t>Nonzero beam width</a:t>
            </a:r>
          </a:p>
        </p:txBody>
      </p:sp>
      <p:cxnSp>
        <p:nvCxnSpPr>
          <p:cNvPr id="13" name="Straight Connector 12">
            <a:extLst>
              <a:ext uri="{FF2B5EF4-FFF2-40B4-BE49-F238E27FC236}">
                <a16:creationId xmlns:a16="http://schemas.microsoft.com/office/drawing/2014/main" id="{0B10A985-E047-F345-082D-D86BE73E9219}"/>
              </a:ext>
            </a:extLst>
          </p:cNvPr>
          <p:cNvCxnSpPr/>
          <p:nvPr/>
        </p:nvCxnSpPr>
        <p:spPr>
          <a:xfrm>
            <a:off x="4639733" y="0"/>
            <a:ext cx="0" cy="260773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2E9C897-D4D0-DAC6-3BFC-A5ED39E76531}"/>
              </a:ext>
            </a:extLst>
          </p:cNvPr>
          <p:cNvCxnSpPr/>
          <p:nvPr/>
        </p:nvCxnSpPr>
        <p:spPr>
          <a:xfrm>
            <a:off x="5977466" y="4237782"/>
            <a:ext cx="0" cy="260773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2F84B49-F875-36D5-39A7-7662050F0CF6}"/>
              </a:ext>
            </a:extLst>
          </p:cNvPr>
          <p:cNvCxnSpPr>
            <a:cxnSpLocks/>
          </p:cNvCxnSpPr>
          <p:nvPr/>
        </p:nvCxnSpPr>
        <p:spPr>
          <a:xfrm>
            <a:off x="4637226" y="2607733"/>
            <a:ext cx="1340240" cy="163004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80BCD0C1-76DF-0EF1-2291-0951B2799F6E}"/>
              </a:ext>
            </a:extLst>
          </p:cNvPr>
          <p:cNvSpPr/>
          <p:nvPr/>
        </p:nvSpPr>
        <p:spPr>
          <a:xfrm>
            <a:off x="7103533" y="5774267"/>
            <a:ext cx="4691534" cy="999066"/>
          </a:xfrm>
          <a:prstGeom prst="rect">
            <a:avLst/>
          </a:prstGeom>
          <a:solidFill>
            <a:srgbClr val="00FF00">
              <a:alpha val="20000"/>
            </a:srgbClr>
          </a:solidFill>
          <a:ln>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380466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8AE7A-93E6-5048-AB14-0FD95F84D9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1B487A-6ED0-7A71-C9BB-D86BD7E9863F}"/>
              </a:ext>
            </a:extLst>
          </p:cNvPr>
          <p:cNvSpPr>
            <a:spLocks noGrp="1"/>
          </p:cNvSpPr>
          <p:nvPr>
            <p:ph type="title"/>
          </p:nvPr>
        </p:nvSpPr>
        <p:spPr/>
        <p:txBody>
          <a:bodyPr/>
          <a:lstStyle/>
          <a:p>
            <a:r>
              <a:rPr lang="en-US" dirty="0"/>
              <a:t>TIS</a:t>
            </a:r>
            <a:br>
              <a:rPr lang="en-US" dirty="0"/>
            </a:br>
            <a:r>
              <a:rPr lang="en-US" sz="2000" dirty="0"/>
              <a:t>sanity check</a:t>
            </a:r>
            <a:endParaRPr lang="en-US" sz="3200" dirty="0"/>
          </a:p>
        </p:txBody>
      </p:sp>
      <p:sp>
        <p:nvSpPr>
          <p:cNvPr id="3" name="Text Placeholder 2">
            <a:extLst>
              <a:ext uri="{FF2B5EF4-FFF2-40B4-BE49-F238E27FC236}">
                <a16:creationId xmlns:a16="http://schemas.microsoft.com/office/drawing/2014/main" id="{E047F54A-BA12-5F97-3370-1932EB48A7D8}"/>
              </a:ext>
            </a:extLst>
          </p:cNvPr>
          <p:cNvSpPr>
            <a:spLocks noGrp="1"/>
          </p:cNvSpPr>
          <p:nvPr>
            <p:ph type="body" idx="1"/>
          </p:nvPr>
        </p:nvSpPr>
        <p:spPr/>
        <p:txBody>
          <a:bodyPr>
            <a:normAutofit/>
          </a:bodyPr>
          <a:lstStyle/>
          <a:p>
            <a:r>
              <a:rPr lang="en-US" sz="2400" b="0" dirty="0"/>
              <a:t>Comparing against </a:t>
            </a:r>
            <a:r>
              <a:rPr lang="en-US" sz="2400" b="0" dirty="0" err="1"/>
              <a:t>MagicBlack</a:t>
            </a:r>
            <a:endParaRPr lang="en-US" sz="2400" b="0" dirty="0"/>
          </a:p>
          <a:p>
            <a:pPr lvl="1"/>
            <a:r>
              <a:rPr lang="en-US" sz="2000" dirty="0">
                <a:highlight>
                  <a:srgbClr val="FFFF00"/>
                </a:highlight>
              </a:rPr>
              <a:t>Which now I am skeptical of </a:t>
            </a:r>
            <a:r>
              <a:rPr lang="en-US" sz="2000" dirty="0"/>
              <a:t>all BSDF files in </a:t>
            </a:r>
            <a:r>
              <a:rPr lang="en-US" sz="2000" dirty="0" err="1"/>
              <a:t>Zemax</a:t>
            </a:r>
            <a:r>
              <a:rPr lang="en-US" sz="2000" dirty="0"/>
              <a:t> except for </a:t>
            </a:r>
            <a:r>
              <a:rPr lang="en-US" sz="2000" dirty="0" err="1"/>
              <a:t>BrownVinyl</a:t>
            </a:r>
            <a:r>
              <a:rPr lang="en-US" sz="2000" dirty="0"/>
              <a:t>, because </a:t>
            </a:r>
            <a:r>
              <a:rPr lang="en-US" sz="2000" dirty="0" err="1"/>
              <a:t>BrownVinyl</a:t>
            </a:r>
            <a:r>
              <a:rPr lang="en-US" sz="2000" dirty="0"/>
              <a:t> was original and all others produced by same method</a:t>
            </a:r>
          </a:p>
          <a:p>
            <a:pPr lvl="2"/>
            <a:r>
              <a:rPr lang="en-US" sz="1400" b="0" dirty="0"/>
              <a:t>For one thing, non-</a:t>
            </a:r>
            <a:r>
              <a:rPr lang="en-US" sz="1400" b="0" dirty="0" err="1"/>
              <a:t>BrownVi</a:t>
            </a:r>
            <a:r>
              <a:rPr lang="en-US" sz="1400" dirty="0" err="1"/>
              <a:t>nyl</a:t>
            </a:r>
            <a:r>
              <a:rPr lang="en-US" sz="1400" dirty="0"/>
              <a:t> files use Az = [0,90], [270,360) which is not how </a:t>
            </a:r>
            <a:r>
              <a:rPr lang="en-US" sz="1400" dirty="0" err="1"/>
              <a:t>Zemax</a:t>
            </a:r>
            <a:r>
              <a:rPr lang="en-US" sz="1400" dirty="0"/>
              <a:t> docs say plane symmetry gets applied in non sequential</a:t>
            </a:r>
          </a:p>
          <a:p>
            <a:r>
              <a:rPr lang="en-US" sz="2400" b="0" dirty="0"/>
              <a:t>Nonetheless, with </a:t>
            </a:r>
            <a:r>
              <a:rPr lang="en-US" sz="2400" b="0" dirty="0">
                <a:highlight>
                  <a:srgbClr val="FFFF00"/>
                </a:highlight>
              </a:rPr>
              <a:t>rough approximation L=500mm for detector-arm length</a:t>
            </a:r>
            <a:r>
              <a:rPr lang="en-US" sz="2400" b="0" dirty="0"/>
              <a:t>,</a:t>
            </a:r>
          </a:p>
        </p:txBody>
      </p:sp>
      <p:graphicFrame>
        <p:nvGraphicFramePr>
          <p:cNvPr id="4" name="Table 3">
            <a:extLst>
              <a:ext uri="{FF2B5EF4-FFF2-40B4-BE49-F238E27FC236}">
                <a16:creationId xmlns:a16="http://schemas.microsoft.com/office/drawing/2014/main" id="{9C298348-9C00-45B0-787B-84D10264B359}"/>
              </a:ext>
            </a:extLst>
          </p:cNvPr>
          <p:cNvGraphicFramePr>
            <a:graphicFrameLocks noGrp="1"/>
          </p:cNvGraphicFramePr>
          <p:nvPr>
            <p:extLst>
              <p:ext uri="{D42A27DB-BD31-4B8C-83A1-F6EECF244321}">
                <p14:modId xmlns:p14="http://schemas.microsoft.com/office/powerpoint/2010/main" val="3446172157"/>
              </p:ext>
            </p:extLst>
          </p:nvPr>
        </p:nvGraphicFramePr>
        <p:xfrm>
          <a:off x="1492923" y="4398647"/>
          <a:ext cx="8127999"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806875458"/>
                    </a:ext>
                  </a:extLst>
                </a:gridCol>
                <a:gridCol w="2709333">
                  <a:extLst>
                    <a:ext uri="{9D8B030D-6E8A-4147-A177-3AD203B41FA5}">
                      <a16:colId xmlns:a16="http://schemas.microsoft.com/office/drawing/2014/main" val="2378473224"/>
                    </a:ext>
                  </a:extLst>
                </a:gridCol>
                <a:gridCol w="2709333">
                  <a:extLst>
                    <a:ext uri="{9D8B030D-6E8A-4147-A177-3AD203B41FA5}">
                      <a16:colId xmlns:a16="http://schemas.microsoft.com/office/drawing/2014/main" val="2927599510"/>
                    </a:ext>
                  </a:extLst>
                </a:gridCol>
              </a:tblGrid>
              <a:tr h="370840">
                <a:tc>
                  <a:txBody>
                    <a:bodyPr/>
                    <a:lstStyle/>
                    <a:p>
                      <a:r>
                        <a:rPr lang="en-US" dirty="0"/>
                        <a:t>Incident angle</a:t>
                      </a:r>
                    </a:p>
                  </a:txBody>
                  <a:tcPr/>
                </a:tc>
                <a:tc>
                  <a:txBody>
                    <a:bodyPr/>
                    <a:lstStyle/>
                    <a:p>
                      <a:r>
                        <a:rPr lang="en-US" dirty="0"/>
                        <a:t>Known TIS</a:t>
                      </a:r>
                    </a:p>
                  </a:txBody>
                  <a:tcPr/>
                </a:tc>
                <a:tc>
                  <a:txBody>
                    <a:bodyPr/>
                    <a:lstStyle/>
                    <a:p>
                      <a:r>
                        <a:rPr lang="en-US" dirty="0"/>
                        <a:t>Measured TIS</a:t>
                      </a:r>
                    </a:p>
                  </a:txBody>
                  <a:tcPr/>
                </a:tc>
                <a:extLst>
                  <a:ext uri="{0D108BD9-81ED-4DB2-BD59-A6C34878D82A}">
                    <a16:rowId xmlns:a16="http://schemas.microsoft.com/office/drawing/2014/main" val="4032241669"/>
                  </a:ext>
                </a:extLst>
              </a:tr>
              <a:tr h="370840">
                <a:tc>
                  <a:txBody>
                    <a:bodyPr/>
                    <a:lstStyle/>
                    <a:p>
                      <a:r>
                        <a:rPr lang="en-US" dirty="0"/>
                        <a:t>10</a:t>
                      </a:r>
                    </a:p>
                  </a:txBody>
                  <a:tcPr/>
                </a:tc>
                <a:tc>
                  <a:txBody>
                    <a:bodyPr/>
                    <a:lstStyle/>
                    <a:p>
                      <a:r>
                        <a:rPr lang="en-US" dirty="0"/>
                        <a:t>0.005169</a:t>
                      </a:r>
                    </a:p>
                  </a:txBody>
                  <a:tcPr/>
                </a:tc>
                <a:tc>
                  <a:txBody>
                    <a:bodyPr/>
                    <a:lstStyle/>
                    <a:p>
                      <a:r>
                        <a:rPr lang="en-US" dirty="0">
                          <a:solidFill>
                            <a:schemeClr val="bg2"/>
                          </a:solidFill>
                        </a:rPr>
                        <a:t>0.000001</a:t>
                      </a:r>
                    </a:p>
                  </a:txBody>
                  <a:tcPr/>
                </a:tc>
                <a:extLst>
                  <a:ext uri="{0D108BD9-81ED-4DB2-BD59-A6C34878D82A}">
                    <a16:rowId xmlns:a16="http://schemas.microsoft.com/office/drawing/2014/main" val="3839863913"/>
                  </a:ext>
                </a:extLst>
              </a:tr>
              <a:tr h="370840">
                <a:tc>
                  <a:txBody>
                    <a:bodyPr/>
                    <a:lstStyle/>
                    <a:p>
                      <a:r>
                        <a:rPr lang="en-US" dirty="0"/>
                        <a:t>30</a:t>
                      </a:r>
                    </a:p>
                  </a:txBody>
                  <a:tcPr/>
                </a:tc>
                <a:tc>
                  <a:txBody>
                    <a:bodyPr/>
                    <a:lstStyle/>
                    <a:p>
                      <a:r>
                        <a:rPr lang="en-US" dirty="0"/>
                        <a:t>0.0067297</a:t>
                      </a:r>
                    </a:p>
                  </a:txBody>
                  <a:tcPr/>
                </a:tc>
                <a:tc>
                  <a:txBody>
                    <a:bodyPr/>
                    <a:lstStyle/>
                    <a:p>
                      <a:r>
                        <a:rPr lang="en-US" dirty="0">
                          <a:solidFill>
                            <a:schemeClr val="bg2"/>
                          </a:solidFill>
                        </a:rPr>
                        <a:t>0.000154</a:t>
                      </a:r>
                    </a:p>
                  </a:txBody>
                  <a:tcPr/>
                </a:tc>
                <a:extLst>
                  <a:ext uri="{0D108BD9-81ED-4DB2-BD59-A6C34878D82A}">
                    <a16:rowId xmlns:a16="http://schemas.microsoft.com/office/drawing/2014/main" val="4242174604"/>
                  </a:ext>
                </a:extLst>
              </a:tr>
              <a:tr h="370840">
                <a:tc>
                  <a:txBody>
                    <a:bodyPr/>
                    <a:lstStyle/>
                    <a:p>
                      <a:r>
                        <a:rPr lang="en-US" dirty="0"/>
                        <a:t>50</a:t>
                      </a:r>
                    </a:p>
                  </a:txBody>
                  <a:tcPr/>
                </a:tc>
                <a:tc>
                  <a:txBody>
                    <a:bodyPr/>
                    <a:lstStyle/>
                    <a:p>
                      <a:r>
                        <a:rPr lang="en-US" dirty="0"/>
                        <a:t>0.009598</a:t>
                      </a:r>
                    </a:p>
                  </a:txBody>
                  <a:tcPr/>
                </a:tc>
                <a:tc>
                  <a:txBody>
                    <a:bodyPr/>
                    <a:lstStyle/>
                    <a:p>
                      <a:r>
                        <a:rPr lang="en-US" dirty="0">
                          <a:solidFill>
                            <a:schemeClr val="bg2"/>
                          </a:solidFill>
                        </a:rPr>
                        <a:t>0.007401</a:t>
                      </a:r>
                    </a:p>
                  </a:txBody>
                  <a:tcPr/>
                </a:tc>
                <a:extLst>
                  <a:ext uri="{0D108BD9-81ED-4DB2-BD59-A6C34878D82A}">
                    <a16:rowId xmlns:a16="http://schemas.microsoft.com/office/drawing/2014/main" val="2586521438"/>
                  </a:ext>
                </a:extLst>
              </a:tr>
              <a:tr h="370840">
                <a:tc>
                  <a:txBody>
                    <a:bodyPr/>
                    <a:lstStyle/>
                    <a:p>
                      <a:r>
                        <a:rPr lang="en-US" dirty="0"/>
                        <a:t>70</a:t>
                      </a:r>
                    </a:p>
                  </a:txBody>
                  <a:tcPr/>
                </a:tc>
                <a:tc>
                  <a:txBody>
                    <a:bodyPr/>
                    <a:lstStyle/>
                    <a:p>
                      <a:r>
                        <a:rPr lang="en-US" dirty="0"/>
                        <a:t>0.025526</a:t>
                      </a:r>
                    </a:p>
                  </a:txBody>
                  <a:tcPr/>
                </a:tc>
                <a:tc>
                  <a:txBody>
                    <a:bodyPr/>
                    <a:lstStyle/>
                    <a:p>
                      <a:r>
                        <a:rPr lang="en-US" dirty="0">
                          <a:solidFill>
                            <a:schemeClr val="bg2"/>
                          </a:solidFill>
                        </a:rPr>
                        <a:t>0.055286</a:t>
                      </a:r>
                    </a:p>
                  </a:txBody>
                  <a:tcPr/>
                </a:tc>
                <a:extLst>
                  <a:ext uri="{0D108BD9-81ED-4DB2-BD59-A6C34878D82A}">
                    <a16:rowId xmlns:a16="http://schemas.microsoft.com/office/drawing/2014/main" val="2307379022"/>
                  </a:ext>
                </a:extLst>
              </a:tr>
            </a:tbl>
          </a:graphicData>
        </a:graphic>
      </p:graphicFrame>
      <p:sp>
        <p:nvSpPr>
          <p:cNvPr id="12" name="TextBox 11">
            <a:extLst>
              <a:ext uri="{FF2B5EF4-FFF2-40B4-BE49-F238E27FC236}">
                <a16:creationId xmlns:a16="http://schemas.microsoft.com/office/drawing/2014/main" id="{B8F17964-1679-3E8A-63F1-32B1093A6BEC}"/>
              </a:ext>
            </a:extLst>
          </p:cNvPr>
          <p:cNvSpPr txBox="1"/>
          <p:nvPr/>
        </p:nvSpPr>
        <p:spPr>
          <a:xfrm>
            <a:off x="1676400" y="6354447"/>
            <a:ext cx="8026400" cy="338554"/>
          </a:xfrm>
          <a:prstGeom prst="rect">
            <a:avLst/>
          </a:prstGeom>
          <a:noFill/>
        </p:spPr>
        <p:txBody>
          <a:bodyPr wrap="square" rtlCol="0">
            <a:spAutoFit/>
          </a:bodyPr>
          <a:lstStyle/>
          <a:p>
            <a:r>
              <a:rPr lang="en-US" sz="1600" dirty="0">
                <a:solidFill>
                  <a:schemeClr val="bg2"/>
                </a:solidFill>
              </a:rPr>
              <a:t>Begins lower, ends higher </a:t>
            </a:r>
            <a:r>
              <a:rPr lang="en-US" sz="1600" dirty="0">
                <a:solidFill>
                  <a:schemeClr val="bg2"/>
                </a:solidFill>
                <a:sym typeface="Wingdings" panose="05000000000000000000" pitchFamily="2" charset="2"/>
              </a:rPr>
              <a:t> that means </a:t>
            </a:r>
            <a:r>
              <a:rPr lang="en-US" sz="1600" dirty="0" err="1">
                <a:solidFill>
                  <a:schemeClr val="bg2"/>
                </a:solidFill>
                <a:sym typeface="Wingdings" panose="05000000000000000000" pitchFamily="2" charset="2"/>
              </a:rPr>
              <a:t>miscalibrated</a:t>
            </a:r>
            <a:r>
              <a:rPr lang="en-US" sz="1600" dirty="0">
                <a:solidFill>
                  <a:schemeClr val="bg2"/>
                </a:solidFill>
                <a:sym typeface="Wingdings" panose="05000000000000000000" pitchFamily="2" charset="2"/>
              </a:rPr>
              <a:t> even for rough L value</a:t>
            </a:r>
            <a:endParaRPr lang="en-US" sz="1600" dirty="0">
              <a:solidFill>
                <a:schemeClr val="bg2"/>
              </a:solidFill>
            </a:endParaRPr>
          </a:p>
        </p:txBody>
      </p:sp>
      <p:sp>
        <p:nvSpPr>
          <p:cNvPr id="16" name="TextBox 15">
            <a:extLst>
              <a:ext uri="{FF2B5EF4-FFF2-40B4-BE49-F238E27FC236}">
                <a16:creationId xmlns:a16="http://schemas.microsoft.com/office/drawing/2014/main" id="{6E947C53-A5AD-669F-5682-A8478AEB61F2}"/>
              </a:ext>
            </a:extLst>
          </p:cNvPr>
          <p:cNvSpPr txBox="1"/>
          <p:nvPr/>
        </p:nvSpPr>
        <p:spPr>
          <a:xfrm>
            <a:off x="2740152" y="499964"/>
            <a:ext cx="8026400" cy="338554"/>
          </a:xfrm>
          <a:prstGeom prst="rect">
            <a:avLst/>
          </a:prstGeom>
          <a:noFill/>
        </p:spPr>
        <p:txBody>
          <a:bodyPr wrap="square" rtlCol="0">
            <a:spAutoFit/>
          </a:bodyPr>
          <a:lstStyle/>
          <a:p>
            <a:r>
              <a:rPr lang="en-US" sz="1600" dirty="0">
                <a:solidFill>
                  <a:schemeClr val="bg2"/>
                </a:solidFill>
              </a:rPr>
              <a:t>BSDF file from this data processing: ‘</a:t>
            </a:r>
            <a:r>
              <a:rPr lang="en-US" sz="1600" dirty="0" err="1">
                <a:solidFill>
                  <a:schemeClr val="bg2"/>
                </a:solidFill>
              </a:rPr>
              <a:t>MagicBlack_JKrell_validation.bsdf</a:t>
            </a:r>
            <a:r>
              <a:rPr lang="en-US" sz="1600" dirty="0">
                <a:solidFill>
                  <a:schemeClr val="bg2"/>
                </a:solidFill>
              </a:rPr>
              <a:t>’</a:t>
            </a:r>
          </a:p>
        </p:txBody>
      </p:sp>
    </p:spTree>
    <p:extLst>
      <p:ext uri="{BB962C8B-B14F-4D97-AF65-F5344CB8AC3E}">
        <p14:creationId xmlns:p14="http://schemas.microsoft.com/office/powerpoint/2010/main" val="208223893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19624-983E-7DD1-97C0-43182E7B7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42519D-1886-6EC2-216C-303EB24A2659}"/>
              </a:ext>
            </a:extLst>
          </p:cNvPr>
          <p:cNvSpPr>
            <a:spLocks noGrp="1"/>
          </p:cNvSpPr>
          <p:nvPr>
            <p:ph type="title"/>
          </p:nvPr>
        </p:nvSpPr>
        <p:spPr/>
        <p:txBody>
          <a:bodyPr/>
          <a:lstStyle/>
          <a:p>
            <a:r>
              <a:rPr lang="en-US" dirty="0"/>
              <a:t>TIS</a:t>
            </a:r>
            <a:br>
              <a:rPr lang="en-US" dirty="0"/>
            </a:br>
            <a:r>
              <a:rPr lang="en-US" sz="2000" dirty="0"/>
              <a:t>sanity check</a:t>
            </a:r>
            <a:endParaRPr lang="en-US" sz="3200" dirty="0"/>
          </a:p>
        </p:txBody>
      </p:sp>
      <p:sp>
        <p:nvSpPr>
          <p:cNvPr id="3" name="Text Placeholder 2">
            <a:extLst>
              <a:ext uri="{FF2B5EF4-FFF2-40B4-BE49-F238E27FC236}">
                <a16:creationId xmlns:a16="http://schemas.microsoft.com/office/drawing/2014/main" id="{D0B9D69D-C91B-D8DA-9109-F6D1BE5A3A40}"/>
              </a:ext>
            </a:extLst>
          </p:cNvPr>
          <p:cNvSpPr>
            <a:spLocks noGrp="1"/>
          </p:cNvSpPr>
          <p:nvPr>
            <p:ph type="body" idx="1"/>
          </p:nvPr>
        </p:nvSpPr>
        <p:spPr/>
        <p:txBody>
          <a:bodyPr>
            <a:normAutofit/>
          </a:bodyPr>
          <a:lstStyle/>
          <a:p>
            <a:r>
              <a:rPr lang="en-US" sz="2400" b="0" dirty="0"/>
              <a:t>But looking at BRDF values, they show orders of magnitude difference</a:t>
            </a:r>
          </a:p>
          <a:p>
            <a:r>
              <a:rPr lang="en-US" sz="2400" b="0" dirty="0"/>
              <a:t>So, checking TIS again but with BRDF values from known </a:t>
            </a:r>
            <a:r>
              <a:rPr lang="en-US" sz="2400" b="0" dirty="0" err="1"/>
              <a:t>MagicBlack</a:t>
            </a:r>
            <a:endParaRPr lang="en-US" sz="2400" b="0" dirty="0"/>
          </a:p>
          <a:p>
            <a:pPr lvl="1"/>
            <a:r>
              <a:rPr lang="en-US" sz="2000" dirty="0"/>
              <a:t>Using Az=[0,90] from known </a:t>
            </a:r>
            <a:r>
              <a:rPr lang="en-US" sz="2000" dirty="0" err="1"/>
              <a:t>MagicBlack</a:t>
            </a:r>
            <a:r>
              <a:rPr lang="en-US" sz="2000" dirty="0"/>
              <a:t>, but </a:t>
            </a:r>
            <a:r>
              <a:rPr lang="en-US" sz="2000" dirty="0">
                <a:highlight>
                  <a:srgbClr val="FFFF00"/>
                </a:highlight>
              </a:rPr>
              <a:t>copying and flipping that to Az=(90,180]</a:t>
            </a:r>
            <a:r>
              <a:rPr lang="en-US" sz="2000" dirty="0"/>
              <a:t>; ignoring Az=[270,360) entries</a:t>
            </a:r>
            <a:endParaRPr lang="en-US" sz="2000" b="0" dirty="0"/>
          </a:p>
        </p:txBody>
      </p:sp>
      <p:graphicFrame>
        <p:nvGraphicFramePr>
          <p:cNvPr id="4" name="Table 3">
            <a:extLst>
              <a:ext uri="{FF2B5EF4-FFF2-40B4-BE49-F238E27FC236}">
                <a16:creationId xmlns:a16="http://schemas.microsoft.com/office/drawing/2014/main" id="{03487E32-AC8E-6033-9BAB-598F04C1F463}"/>
              </a:ext>
            </a:extLst>
          </p:cNvPr>
          <p:cNvGraphicFramePr>
            <a:graphicFrameLocks noGrp="1"/>
          </p:cNvGraphicFramePr>
          <p:nvPr>
            <p:extLst>
              <p:ext uri="{D42A27DB-BD31-4B8C-83A1-F6EECF244321}">
                <p14:modId xmlns:p14="http://schemas.microsoft.com/office/powerpoint/2010/main" val="3749484459"/>
              </p:ext>
            </p:extLst>
          </p:nvPr>
        </p:nvGraphicFramePr>
        <p:xfrm>
          <a:off x="749808" y="3875374"/>
          <a:ext cx="10232136" cy="2001520"/>
        </p:xfrm>
        <a:graphic>
          <a:graphicData uri="http://schemas.openxmlformats.org/drawingml/2006/table">
            <a:tbl>
              <a:tblPr firstRow="1" bandRow="1">
                <a:tableStyleId>{5C22544A-7EE6-4342-B048-85BDC9FD1C3A}</a:tableStyleId>
              </a:tblPr>
              <a:tblGrid>
                <a:gridCol w="2558034">
                  <a:extLst>
                    <a:ext uri="{9D8B030D-6E8A-4147-A177-3AD203B41FA5}">
                      <a16:colId xmlns:a16="http://schemas.microsoft.com/office/drawing/2014/main" val="806875458"/>
                    </a:ext>
                  </a:extLst>
                </a:gridCol>
                <a:gridCol w="2558034">
                  <a:extLst>
                    <a:ext uri="{9D8B030D-6E8A-4147-A177-3AD203B41FA5}">
                      <a16:colId xmlns:a16="http://schemas.microsoft.com/office/drawing/2014/main" val="2378473224"/>
                    </a:ext>
                  </a:extLst>
                </a:gridCol>
                <a:gridCol w="2558034">
                  <a:extLst>
                    <a:ext uri="{9D8B030D-6E8A-4147-A177-3AD203B41FA5}">
                      <a16:colId xmlns:a16="http://schemas.microsoft.com/office/drawing/2014/main" val="2927599510"/>
                    </a:ext>
                  </a:extLst>
                </a:gridCol>
                <a:gridCol w="2558034">
                  <a:extLst>
                    <a:ext uri="{9D8B030D-6E8A-4147-A177-3AD203B41FA5}">
                      <a16:colId xmlns:a16="http://schemas.microsoft.com/office/drawing/2014/main" val="748156831"/>
                    </a:ext>
                  </a:extLst>
                </a:gridCol>
              </a:tblGrid>
              <a:tr h="370840">
                <a:tc>
                  <a:txBody>
                    <a:bodyPr/>
                    <a:lstStyle/>
                    <a:p>
                      <a:r>
                        <a:rPr lang="en-US" dirty="0"/>
                        <a:t>Incident angle</a:t>
                      </a:r>
                    </a:p>
                  </a:txBody>
                  <a:tcPr/>
                </a:tc>
                <a:tc>
                  <a:txBody>
                    <a:bodyPr/>
                    <a:lstStyle/>
                    <a:p>
                      <a:r>
                        <a:rPr lang="en-US" dirty="0"/>
                        <a:t>Known TIS</a:t>
                      </a:r>
                    </a:p>
                  </a:txBody>
                  <a:tcPr/>
                </a:tc>
                <a:tc>
                  <a:txBody>
                    <a:bodyPr/>
                    <a:lstStyle/>
                    <a:p>
                      <a:r>
                        <a:rPr lang="en-US" dirty="0"/>
                        <a:t>Measured TIS (with L = 500mm)</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Measured TIS (with </a:t>
                      </a:r>
                      <a:r>
                        <a:rPr lang="en-US" dirty="0">
                          <a:highlight>
                            <a:srgbClr val="00FFFF"/>
                          </a:highlight>
                        </a:rPr>
                        <a:t>L = 264mm</a:t>
                      </a:r>
                      <a:r>
                        <a:rPr lang="en-US" dirty="0"/>
                        <a:t>)</a:t>
                      </a:r>
                    </a:p>
                  </a:txBody>
                  <a:tcPr/>
                </a:tc>
                <a:extLst>
                  <a:ext uri="{0D108BD9-81ED-4DB2-BD59-A6C34878D82A}">
                    <a16:rowId xmlns:a16="http://schemas.microsoft.com/office/drawing/2014/main" val="4032241669"/>
                  </a:ext>
                </a:extLst>
              </a:tr>
              <a:tr h="370840">
                <a:tc>
                  <a:txBody>
                    <a:bodyPr/>
                    <a:lstStyle/>
                    <a:p>
                      <a:r>
                        <a:rPr lang="en-US" dirty="0"/>
                        <a:t>10</a:t>
                      </a:r>
                    </a:p>
                  </a:txBody>
                  <a:tcPr/>
                </a:tc>
                <a:tc>
                  <a:txBody>
                    <a:bodyPr/>
                    <a:lstStyle/>
                    <a:p>
                      <a:r>
                        <a:rPr lang="en-US" dirty="0"/>
                        <a:t>0.005169</a:t>
                      </a:r>
                    </a:p>
                  </a:txBody>
                  <a:tcPr/>
                </a:tc>
                <a:tc>
                  <a:txBody>
                    <a:bodyPr/>
                    <a:lstStyle/>
                    <a:p>
                      <a:r>
                        <a:rPr lang="en-US" dirty="0">
                          <a:solidFill>
                            <a:schemeClr val="bg2"/>
                          </a:solidFill>
                        </a:rPr>
                        <a:t>0.010848</a:t>
                      </a:r>
                    </a:p>
                  </a:txBody>
                  <a:tcPr/>
                </a:tc>
                <a:tc>
                  <a:txBody>
                    <a:bodyPr/>
                    <a:lstStyle/>
                    <a:p>
                      <a:r>
                        <a:rPr lang="en-US" dirty="0">
                          <a:solidFill>
                            <a:schemeClr val="bg2"/>
                          </a:solidFill>
                        </a:rPr>
                        <a:t>0.010694</a:t>
                      </a:r>
                    </a:p>
                  </a:txBody>
                  <a:tcPr/>
                </a:tc>
                <a:extLst>
                  <a:ext uri="{0D108BD9-81ED-4DB2-BD59-A6C34878D82A}">
                    <a16:rowId xmlns:a16="http://schemas.microsoft.com/office/drawing/2014/main" val="3839863913"/>
                  </a:ext>
                </a:extLst>
              </a:tr>
              <a:tr h="370840">
                <a:tc>
                  <a:txBody>
                    <a:bodyPr/>
                    <a:lstStyle/>
                    <a:p>
                      <a:r>
                        <a:rPr lang="en-US" dirty="0"/>
                        <a:t>30</a:t>
                      </a:r>
                    </a:p>
                  </a:txBody>
                  <a:tcPr/>
                </a:tc>
                <a:tc>
                  <a:txBody>
                    <a:bodyPr/>
                    <a:lstStyle/>
                    <a:p>
                      <a:r>
                        <a:rPr lang="en-US" dirty="0"/>
                        <a:t>0.0067297</a:t>
                      </a:r>
                    </a:p>
                  </a:txBody>
                  <a:tcPr/>
                </a:tc>
                <a:tc>
                  <a:txBody>
                    <a:bodyPr/>
                    <a:lstStyle/>
                    <a:p>
                      <a:r>
                        <a:rPr lang="en-US" dirty="0">
                          <a:solidFill>
                            <a:schemeClr val="bg2"/>
                          </a:solidFill>
                        </a:rPr>
                        <a:t>0.010490</a:t>
                      </a:r>
                    </a:p>
                  </a:txBody>
                  <a:tcPr/>
                </a:tc>
                <a:tc>
                  <a:txBody>
                    <a:bodyPr/>
                    <a:lstStyle/>
                    <a:p>
                      <a:r>
                        <a:rPr lang="en-US" dirty="0">
                          <a:solidFill>
                            <a:schemeClr val="bg2"/>
                          </a:solidFill>
                        </a:rPr>
                        <a:t>0.010289</a:t>
                      </a:r>
                    </a:p>
                  </a:txBody>
                  <a:tcPr/>
                </a:tc>
                <a:extLst>
                  <a:ext uri="{0D108BD9-81ED-4DB2-BD59-A6C34878D82A}">
                    <a16:rowId xmlns:a16="http://schemas.microsoft.com/office/drawing/2014/main" val="4242174604"/>
                  </a:ext>
                </a:extLst>
              </a:tr>
              <a:tr h="370840">
                <a:tc>
                  <a:txBody>
                    <a:bodyPr/>
                    <a:lstStyle/>
                    <a:p>
                      <a:r>
                        <a:rPr lang="en-US" dirty="0"/>
                        <a:t>50</a:t>
                      </a:r>
                    </a:p>
                  </a:txBody>
                  <a:tcPr/>
                </a:tc>
                <a:tc>
                  <a:txBody>
                    <a:bodyPr/>
                    <a:lstStyle/>
                    <a:p>
                      <a:r>
                        <a:rPr lang="en-US" dirty="0"/>
                        <a:t>0.009598</a:t>
                      </a:r>
                    </a:p>
                  </a:txBody>
                  <a:tcPr/>
                </a:tc>
                <a:tc>
                  <a:txBody>
                    <a:bodyPr/>
                    <a:lstStyle/>
                    <a:p>
                      <a:r>
                        <a:rPr lang="en-US" dirty="0">
                          <a:solidFill>
                            <a:schemeClr val="bg2"/>
                          </a:solidFill>
                        </a:rPr>
                        <a:t>0.011784</a:t>
                      </a:r>
                    </a:p>
                  </a:txBody>
                  <a:tcPr/>
                </a:tc>
                <a:tc>
                  <a:txBody>
                    <a:bodyPr/>
                    <a:lstStyle/>
                    <a:p>
                      <a:r>
                        <a:rPr lang="en-US" dirty="0">
                          <a:solidFill>
                            <a:schemeClr val="bg2"/>
                          </a:solidFill>
                        </a:rPr>
                        <a:t>0.011189</a:t>
                      </a:r>
                    </a:p>
                  </a:txBody>
                  <a:tcPr/>
                </a:tc>
                <a:extLst>
                  <a:ext uri="{0D108BD9-81ED-4DB2-BD59-A6C34878D82A}">
                    <a16:rowId xmlns:a16="http://schemas.microsoft.com/office/drawing/2014/main" val="2586521438"/>
                  </a:ext>
                </a:extLst>
              </a:tr>
              <a:tr h="370840">
                <a:tc>
                  <a:txBody>
                    <a:bodyPr/>
                    <a:lstStyle/>
                    <a:p>
                      <a:r>
                        <a:rPr lang="en-US" dirty="0"/>
                        <a:t>70</a:t>
                      </a:r>
                    </a:p>
                  </a:txBody>
                  <a:tcPr/>
                </a:tc>
                <a:tc>
                  <a:txBody>
                    <a:bodyPr/>
                    <a:lstStyle/>
                    <a:p>
                      <a:r>
                        <a:rPr lang="en-US" dirty="0">
                          <a:highlight>
                            <a:srgbClr val="00FFFF"/>
                          </a:highlight>
                        </a:rPr>
                        <a:t>0.025526</a:t>
                      </a:r>
                    </a:p>
                  </a:txBody>
                  <a:tcPr/>
                </a:tc>
                <a:tc>
                  <a:txBody>
                    <a:bodyPr/>
                    <a:lstStyle/>
                    <a:p>
                      <a:r>
                        <a:rPr lang="en-US" dirty="0">
                          <a:solidFill>
                            <a:schemeClr val="bg2"/>
                          </a:solidFill>
                        </a:rPr>
                        <a:t>0.034612</a:t>
                      </a:r>
                    </a:p>
                  </a:txBody>
                  <a:tcPr/>
                </a:tc>
                <a:tc>
                  <a:txBody>
                    <a:bodyPr/>
                    <a:lstStyle/>
                    <a:p>
                      <a:r>
                        <a:rPr lang="en-US" dirty="0">
                          <a:solidFill>
                            <a:schemeClr val="bg2"/>
                          </a:solidFill>
                          <a:highlight>
                            <a:srgbClr val="00FFFF"/>
                          </a:highlight>
                        </a:rPr>
                        <a:t>0.025518</a:t>
                      </a:r>
                    </a:p>
                  </a:txBody>
                  <a:tcPr/>
                </a:tc>
                <a:extLst>
                  <a:ext uri="{0D108BD9-81ED-4DB2-BD59-A6C34878D82A}">
                    <a16:rowId xmlns:a16="http://schemas.microsoft.com/office/drawing/2014/main" val="2307379022"/>
                  </a:ext>
                </a:extLst>
              </a:tr>
            </a:tbl>
          </a:graphicData>
        </a:graphic>
      </p:graphicFrame>
      <p:sp>
        <p:nvSpPr>
          <p:cNvPr id="5" name="TextBox 4">
            <a:extLst>
              <a:ext uri="{FF2B5EF4-FFF2-40B4-BE49-F238E27FC236}">
                <a16:creationId xmlns:a16="http://schemas.microsoft.com/office/drawing/2014/main" id="{F0F2A787-41B2-F37C-CE77-1F397B8D2859}"/>
              </a:ext>
            </a:extLst>
          </p:cNvPr>
          <p:cNvSpPr txBox="1"/>
          <p:nvPr/>
        </p:nvSpPr>
        <p:spPr>
          <a:xfrm>
            <a:off x="2740152" y="499964"/>
            <a:ext cx="8026400" cy="338554"/>
          </a:xfrm>
          <a:prstGeom prst="rect">
            <a:avLst/>
          </a:prstGeom>
          <a:noFill/>
        </p:spPr>
        <p:txBody>
          <a:bodyPr wrap="square" rtlCol="0">
            <a:spAutoFit/>
          </a:bodyPr>
          <a:lstStyle/>
          <a:p>
            <a:r>
              <a:rPr lang="en-US" sz="1600" dirty="0">
                <a:solidFill>
                  <a:schemeClr val="bg2"/>
                </a:solidFill>
              </a:rPr>
              <a:t>BSDF file from this data processing: ‘</a:t>
            </a:r>
            <a:r>
              <a:rPr lang="en-US" sz="1600" dirty="0" err="1">
                <a:solidFill>
                  <a:schemeClr val="bg2"/>
                </a:solidFill>
              </a:rPr>
              <a:t>MagicBlack_validationTest.bsdf</a:t>
            </a:r>
            <a:r>
              <a:rPr lang="en-US" sz="1600" dirty="0">
                <a:solidFill>
                  <a:schemeClr val="bg2"/>
                </a:solidFill>
              </a:rPr>
              <a:t>’</a:t>
            </a:r>
          </a:p>
        </p:txBody>
      </p:sp>
      <p:sp>
        <p:nvSpPr>
          <p:cNvPr id="6" name="TextBox 5">
            <a:extLst>
              <a:ext uri="{FF2B5EF4-FFF2-40B4-BE49-F238E27FC236}">
                <a16:creationId xmlns:a16="http://schemas.microsoft.com/office/drawing/2014/main" id="{DD1A898F-E53D-085F-41B8-3213645D5C7E}"/>
              </a:ext>
            </a:extLst>
          </p:cNvPr>
          <p:cNvSpPr txBox="1"/>
          <p:nvPr/>
        </p:nvSpPr>
        <p:spPr>
          <a:xfrm>
            <a:off x="1676400" y="6354447"/>
            <a:ext cx="8628888" cy="338554"/>
          </a:xfrm>
          <a:prstGeom prst="rect">
            <a:avLst/>
          </a:prstGeom>
          <a:noFill/>
        </p:spPr>
        <p:txBody>
          <a:bodyPr wrap="square" rtlCol="0">
            <a:spAutoFit/>
          </a:bodyPr>
          <a:lstStyle/>
          <a:p>
            <a:r>
              <a:rPr lang="en-US" sz="1600" dirty="0">
                <a:solidFill>
                  <a:schemeClr val="tx1"/>
                </a:solidFill>
              </a:rPr>
              <a:t>Again, </a:t>
            </a:r>
            <a:r>
              <a:rPr lang="en-US" sz="1600" dirty="0">
                <a:solidFill>
                  <a:schemeClr val="tx1"/>
                </a:solidFill>
                <a:highlight>
                  <a:srgbClr val="00FFFF"/>
                </a:highlight>
              </a:rPr>
              <a:t>still need to measure L</a:t>
            </a:r>
            <a:r>
              <a:rPr lang="en-US" sz="1600" dirty="0">
                <a:solidFill>
                  <a:schemeClr val="tx1"/>
                </a:solidFill>
              </a:rPr>
              <a:t>; this is just to show relative changes between incident angles</a:t>
            </a:r>
          </a:p>
        </p:txBody>
      </p:sp>
    </p:spTree>
    <p:extLst>
      <p:ext uri="{BB962C8B-B14F-4D97-AF65-F5344CB8AC3E}">
        <p14:creationId xmlns:p14="http://schemas.microsoft.com/office/powerpoint/2010/main" val="183282136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F16EC-149A-33C1-D25A-0B4F899AEF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C85038-F8F4-83CB-3FD3-0990B7CCBE14}"/>
              </a:ext>
            </a:extLst>
          </p:cNvPr>
          <p:cNvSpPr>
            <a:spLocks noGrp="1"/>
          </p:cNvSpPr>
          <p:nvPr>
            <p:ph type="title"/>
          </p:nvPr>
        </p:nvSpPr>
        <p:spPr/>
        <p:txBody>
          <a:bodyPr/>
          <a:lstStyle/>
          <a:p>
            <a:r>
              <a:rPr lang="en-US" dirty="0"/>
              <a:t>TIS</a:t>
            </a:r>
            <a:br>
              <a:rPr lang="en-US" dirty="0"/>
            </a:br>
            <a:r>
              <a:rPr lang="en-US" sz="2000" dirty="0"/>
              <a:t>sanity check</a:t>
            </a:r>
            <a:endParaRPr lang="en-US" sz="3200" dirty="0"/>
          </a:p>
        </p:txBody>
      </p:sp>
      <p:sp>
        <p:nvSpPr>
          <p:cNvPr id="3" name="Text Placeholder 2">
            <a:extLst>
              <a:ext uri="{FF2B5EF4-FFF2-40B4-BE49-F238E27FC236}">
                <a16:creationId xmlns:a16="http://schemas.microsoft.com/office/drawing/2014/main" id="{3DCFD0A5-9DDF-0A51-1C1A-417B49721EE1}"/>
              </a:ext>
            </a:extLst>
          </p:cNvPr>
          <p:cNvSpPr>
            <a:spLocks noGrp="1"/>
          </p:cNvSpPr>
          <p:nvPr>
            <p:ph type="body" idx="1"/>
          </p:nvPr>
        </p:nvSpPr>
        <p:spPr/>
        <p:txBody>
          <a:bodyPr>
            <a:normAutofit/>
          </a:bodyPr>
          <a:lstStyle/>
          <a:p>
            <a:r>
              <a:rPr lang="en-US" sz="2400" b="0" dirty="0">
                <a:highlight>
                  <a:srgbClr val="FFFF00"/>
                </a:highlight>
              </a:rPr>
              <a:t>Measured L = 82mm</a:t>
            </a:r>
          </a:p>
          <a:p>
            <a:r>
              <a:rPr lang="en-US" sz="2400" b="0" dirty="0"/>
              <a:t>Using known </a:t>
            </a:r>
            <a:r>
              <a:rPr lang="en-US" sz="2400" b="0" dirty="0" err="1"/>
              <a:t>BrownVinyl</a:t>
            </a:r>
            <a:r>
              <a:rPr lang="en-US" sz="2400" b="0" dirty="0"/>
              <a:t> BRDF values for validation</a:t>
            </a:r>
          </a:p>
          <a:p>
            <a:r>
              <a:rPr lang="en-US" sz="2400" b="0" dirty="0"/>
              <a:t>Data produced via v1.0 with “FOR VALIDATION TESTING OF TIS AGAINST BROWNVINYL:” set to true</a:t>
            </a:r>
          </a:p>
          <a:p>
            <a:r>
              <a:rPr lang="en-US" sz="2400" b="0" dirty="0"/>
              <a:t>It appears </a:t>
            </a:r>
            <a:r>
              <a:rPr lang="en-US" sz="2400" b="0" dirty="0" err="1"/>
              <a:t>BrownVinyl</a:t>
            </a:r>
            <a:r>
              <a:rPr lang="en-US" sz="2400" b="0" dirty="0"/>
              <a:t> uses quarter-sphere (Az = [0,180])</a:t>
            </a:r>
          </a:p>
          <a:p>
            <a:pPr lvl="1"/>
            <a:r>
              <a:rPr lang="en-US" sz="2000" dirty="0"/>
              <a:t>For the tabulated values here, I am reporting TIS / 2</a:t>
            </a:r>
            <a:endParaRPr lang="en-US" sz="2000" b="0" dirty="0"/>
          </a:p>
        </p:txBody>
      </p:sp>
      <p:graphicFrame>
        <p:nvGraphicFramePr>
          <p:cNvPr id="4" name="Table 3">
            <a:extLst>
              <a:ext uri="{FF2B5EF4-FFF2-40B4-BE49-F238E27FC236}">
                <a16:creationId xmlns:a16="http://schemas.microsoft.com/office/drawing/2014/main" id="{422E0867-F911-6515-8108-12F85A6865AA}"/>
              </a:ext>
            </a:extLst>
          </p:cNvPr>
          <p:cNvGraphicFramePr>
            <a:graphicFrameLocks noGrp="1"/>
          </p:cNvGraphicFramePr>
          <p:nvPr>
            <p:extLst>
              <p:ext uri="{D42A27DB-BD31-4B8C-83A1-F6EECF244321}">
                <p14:modId xmlns:p14="http://schemas.microsoft.com/office/powerpoint/2010/main" val="723847857"/>
              </p:ext>
            </p:extLst>
          </p:nvPr>
        </p:nvGraphicFramePr>
        <p:xfrm>
          <a:off x="1210733" y="4446694"/>
          <a:ext cx="9460992" cy="2001520"/>
        </p:xfrm>
        <a:graphic>
          <a:graphicData uri="http://schemas.openxmlformats.org/drawingml/2006/table">
            <a:tbl>
              <a:tblPr firstRow="1" bandRow="1">
                <a:tableStyleId>{5C22544A-7EE6-4342-B048-85BDC9FD1C3A}</a:tableStyleId>
              </a:tblPr>
              <a:tblGrid>
                <a:gridCol w="3153664">
                  <a:extLst>
                    <a:ext uri="{9D8B030D-6E8A-4147-A177-3AD203B41FA5}">
                      <a16:colId xmlns:a16="http://schemas.microsoft.com/office/drawing/2014/main" val="806875458"/>
                    </a:ext>
                  </a:extLst>
                </a:gridCol>
                <a:gridCol w="2508843">
                  <a:extLst>
                    <a:ext uri="{9D8B030D-6E8A-4147-A177-3AD203B41FA5}">
                      <a16:colId xmlns:a16="http://schemas.microsoft.com/office/drawing/2014/main" val="2378473224"/>
                    </a:ext>
                  </a:extLst>
                </a:gridCol>
                <a:gridCol w="3798485">
                  <a:extLst>
                    <a:ext uri="{9D8B030D-6E8A-4147-A177-3AD203B41FA5}">
                      <a16:colId xmlns:a16="http://schemas.microsoft.com/office/drawing/2014/main" val="2927599510"/>
                    </a:ext>
                  </a:extLst>
                </a:gridCol>
              </a:tblGrid>
              <a:tr h="370840">
                <a:tc>
                  <a:txBody>
                    <a:bodyPr/>
                    <a:lstStyle/>
                    <a:p>
                      <a:r>
                        <a:rPr lang="en-US" dirty="0"/>
                        <a:t>Incident angle</a:t>
                      </a:r>
                    </a:p>
                  </a:txBody>
                  <a:tcPr/>
                </a:tc>
                <a:tc>
                  <a:txBody>
                    <a:bodyPr/>
                    <a:lstStyle/>
                    <a:p>
                      <a:r>
                        <a:rPr lang="en-US" dirty="0"/>
                        <a:t>Known TIS</a:t>
                      </a:r>
                    </a:p>
                  </a:txBody>
                  <a:tcPr/>
                </a:tc>
                <a:tc>
                  <a:txBody>
                    <a:bodyPr/>
                    <a:lstStyle/>
                    <a:p>
                      <a:r>
                        <a:rPr lang="en-US" dirty="0"/>
                        <a:t>Calculated TIS, using my TIS equation but </a:t>
                      </a:r>
                      <a:r>
                        <a:rPr lang="en-US" dirty="0" err="1"/>
                        <a:t>BrownVinyl</a:t>
                      </a:r>
                      <a:r>
                        <a:rPr lang="en-US" dirty="0"/>
                        <a:t> BRDF data</a:t>
                      </a:r>
                    </a:p>
                  </a:txBody>
                  <a:tcPr/>
                </a:tc>
                <a:extLst>
                  <a:ext uri="{0D108BD9-81ED-4DB2-BD59-A6C34878D82A}">
                    <a16:rowId xmlns:a16="http://schemas.microsoft.com/office/drawing/2014/main" val="4032241669"/>
                  </a:ext>
                </a:extLst>
              </a:tr>
              <a:tr h="370840">
                <a:tc>
                  <a:txBody>
                    <a:bodyPr/>
                    <a:lstStyle/>
                    <a:p>
                      <a:r>
                        <a:rPr lang="en-US" dirty="0"/>
                        <a:t>15 (</a:t>
                      </a:r>
                      <a:r>
                        <a:rPr lang="en-US" dirty="0" err="1"/>
                        <a:t>BrownVinyl</a:t>
                      </a:r>
                      <a:r>
                        <a:rPr lang="en-US" dirty="0"/>
                        <a:t> does not have 10)</a:t>
                      </a:r>
                    </a:p>
                  </a:txBody>
                  <a:tcPr/>
                </a:tc>
                <a:tc>
                  <a:txBody>
                    <a:bodyPr/>
                    <a:lstStyle/>
                    <a:p>
                      <a:r>
                        <a:rPr lang="en-US" dirty="0"/>
                        <a:t>0.134506</a:t>
                      </a:r>
                    </a:p>
                  </a:txBody>
                  <a:tcPr/>
                </a:tc>
                <a:tc>
                  <a:txBody>
                    <a:bodyPr/>
                    <a:lstStyle/>
                    <a:p>
                      <a:pPr lvl="0">
                        <a:buNone/>
                      </a:pPr>
                      <a:r>
                        <a:rPr lang="en-US" sz="1400" b="0" i="0" u="none" strike="noStrike" noProof="0" dirty="0">
                          <a:solidFill>
                            <a:schemeClr val="tx1"/>
                          </a:solidFill>
                          <a:latin typeface="Arial"/>
                        </a:rPr>
                        <a:t>0.108220</a:t>
                      </a:r>
                      <a:endParaRPr lang="en-US" dirty="0">
                        <a:solidFill>
                          <a:schemeClr val="tx1"/>
                        </a:solidFill>
                      </a:endParaRPr>
                    </a:p>
                  </a:txBody>
                  <a:tcPr/>
                </a:tc>
                <a:extLst>
                  <a:ext uri="{0D108BD9-81ED-4DB2-BD59-A6C34878D82A}">
                    <a16:rowId xmlns:a16="http://schemas.microsoft.com/office/drawing/2014/main" val="3839863913"/>
                  </a:ext>
                </a:extLst>
              </a:tr>
              <a:tr h="370840">
                <a:tc>
                  <a:txBody>
                    <a:bodyPr/>
                    <a:lstStyle/>
                    <a:p>
                      <a:r>
                        <a:rPr lang="en-US" dirty="0"/>
                        <a:t>30</a:t>
                      </a:r>
                    </a:p>
                  </a:txBody>
                  <a:tcPr/>
                </a:tc>
                <a:tc>
                  <a:txBody>
                    <a:bodyPr/>
                    <a:lstStyle/>
                    <a:p>
                      <a:r>
                        <a:rPr lang="en-US" dirty="0"/>
                        <a:t>0.1371577</a:t>
                      </a:r>
                    </a:p>
                  </a:txBody>
                  <a:tcPr/>
                </a:tc>
                <a:tc>
                  <a:txBody>
                    <a:bodyPr/>
                    <a:lstStyle/>
                    <a:p>
                      <a:pPr lvl="0" algn="l">
                        <a:lnSpc>
                          <a:spcPct val="100000"/>
                        </a:lnSpc>
                        <a:spcBef>
                          <a:spcPts val="0"/>
                        </a:spcBef>
                        <a:spcAft>
                          <a:spcPts val="0"/>
                        </a:spcAft>
                        <a:buNone/>
                      </a:pPr>
                      <a:r>
                        <a:rPr lang="en-US" sz="1400" b="0" i="0" u="none" strike="noStrike" noProof="0" dirty="0">
                          <a:solidFill>
                            <a:schemeClr val="tx1"/>
                          </a:solidFill>
                          <a:latin typeface="Arial"/>
                        </a:rPr>
                        <a:t>0.108966</a:t>
                      </a:r>
                      <a:endParaRPr lang="en-US" dirty="0">
                        <a:solidFill>
                          <a:schemeClr val="tx1"/>
                        </a:solidFill>
                      </a:endParaRPr>
                    </a:p>
                  </a:txBody>
                  <a:tcPr/>
                </a:tc>
                <a:extLst>
                  <a:ext uri="{0D108BD9-81ED-4DB2-BD59-A6C34878D82A}">
                    <a16:rowId xmlns:a16="http://schemas.microsoft.com/office/drawing/2014/main" val="4242174604"/>
                  </a:ext>
                </a:extLst>
              </a:tr>
              <a:tr h="370840">
                <a:tc>
                  <a:txBody>
                    <a:bodyPr/>
                    <a:lstStyle/>
                    <a:p>
                      <a:r>
                        <a:rPr lang="en-US" dirty="0"/>
                        <a:t>50</a:t>
                      </a:r>
                    </a:p>
                  </a:txBody>
                  <a:tcPr/>
                </a:tc>
                <a:tc>
                  <a:txBody>
                    <a:bodyPr/>
                    <a:lstStyle/>
                    <a:p>
                      <a:r>
                        <a:rPr lang="en-US" dirty="0"/>
                        <a:t>0.1597279</a:t>
                      </a:r>
                    </a:p>
                  </a:txBody>
                  <a:tcPr/>
                </a:tc>
                <a:tc>
                  <a:txBody>
                    <a:bodyPr/>
                    <a:lstStyle/>
                    <a:p>
                      <a:pPr lvl="0" algn="l">
                        <a:lnSpc>
                          <a:spcPct val="100000"/>
                        </a:lnSpc>
                        <a:spcBef>
                          <a:spcPts val="0"/>
                        </a:spcBef>
                        <a:spcAft>
                          <a:spcPts val="0"/>
                        </a:spcAft>
                        <a:buNone/>
                      </a:pPr>
                      <a:r>
                        <a:rPr lang="en-US" sz="1400" b="0" i="0" u="none" strike="noStrike" noProof="0" dirty="0">
                          <a:solidFill>
                            <a:schemeClr val="tx1"/>
                          </a:solidFill>
                          <a:latin typeface="Arial"/>
                        </a:rPr>
                        <a:t>0.135538</a:t>
                      </a:r>
                      <a:endParaRPr lang="en-US" dirty="0">
                        <a:solidFill>
                          <a:schemeClr val="tx1"/>
                        </a:solidFill>
                      </a:endParaRPr>
                    </a:p>
                  </a:txBody>
                  <a:tcPr/>
                </a:tc>
                <a:extLst>
                  <a:ext uri="{0D108BD9-81ED-4DB2-BD59-A6C34878D82A}">
                    <a16:rowId xmlns:a16="http://schemas.microsoft.com/office/drawing/2014/main" val="2586521438"/>
                  </a:ext>
                </a:extLst>
              </a:tr>
              <a:tr h="370840">
                <a:tc>
                  <a:txBody>
                    <a:bodyPr/>
                    <a:lstStyle/>
                    <a:p>
                      <a:r>
                        <a:rPr lang="en-US" dirty="0"/>
                        <a:t>70</a:t>
                      </a:r>
                    </a:p>
                  </a:txBody>
                  <a:tcPr/>
                </a:tc>
                <a:tc>
                  <a:txBody>
                    <a:bodyPr/>
                    <a:lstStyle/>
                    <a:p>
                      <a:r>
                        <a:rPr lang="en-US" dirty="0"/>
                        <a:t>0.218906</a:t>
                      </a:r>
                    </a:p>
                  </a:txBody>
                  <a:tcPr/>
                </a:tc>
                <a:tc>
                  <a:txBody>
                    <a:bodyPr/>
                    <a:lstStyle/>
                    <a:p>
                      <a:pPr lvl="0">
                        <a:buNone/>
                      </a:pPr>
                      <a:r>
                        <a:rPr lang="en-US" sz="1400" b="0" i="0" u="none" strike="noStrike" noProof="0" dirty="0">
                          <a:solidFill>
                            <a:schemeClr val="tx1"/>
                          </a:solidFill>
                          <a:latin typeface="Arial"/>
                        </a:rPr>
                        <a:t>0.234095</a:t>
                      </a:r>
                      <a:endParaRPr lang="en-US" dirty="0">
                        <a:solidFill>
                          <a:schemeClr val="tx1"/>
                        </a:solidFill>
                      </a:endParaRPr>
                    </a:p>
                  </a:txBody>
                  <a:tcPr/>
                </a:tc>
                <a:extLst>
                  <a:ext uri="{0D108BD9-81ED-4DB2-BD59-A6C34878D82A}">
                    <a16:rowId xmlns:a16="http://schemas.microsoft.com/office/drawing/2014/main" val="2307379022"/>
                  </a:ext>
                </a:extLst>
              </a:tr>
            </a:tbl>
          </a:graphicData>
        </a:graphic>
      </p:graphicFrame>
      <p:sp>
        <p:nvSpPr>
          <p:cNvPr id="5" name="TextBox 4">
            <a:extLst>
              <a:ext uri="{FF2B5EF4-FFF2-40B4-BE49-F238E27FC236}">
                <a16:creationId xmlns:a16="http://schemas.microsoft.com/office/drawing/2014/main" id="{F874E550-41A5-C6A6-48CD-90319B2A0684}"/>
              </a:ext>
            </a:extLst>
          </p:cNvPr>
          <p:cNvSpPr txBox="1"/>
          <p:nvPr/>
        </p:nvSpPr>
        <p:spPr>
          <a:xfrm>
            <a:off x="2079752" y="662524"/>
            <a:ext cx="8026400" cy="338554"/>
          </a:xfrm>
          <a:prstGeom prst="rect">
            <a:avLst/>
          </a:prstGeom>
          <a:noFill/>
        </p:spPr>
        <p:txBody>
          <a:bodyPr wrap="square" lIns="91440" tIns="45720" rIns="91440" bIns="45720" rtlCol="0" anchor="t">
            <a:spAutoFit/>
          </a:bodyPr>
          <a:lstStyle/>
          <a:p>
            <a:r>
              <a:rPr lang="en-US" sz="1600" dirty="0">
                <a:solidFill>
                  <a:schemeClr val="bg2"/>
                </a:solidFill>
              </a:rPr>
              <a:t>BSDF file from this data processing: ‘</a:t>
            </a:r>
            <a:r>
              <a:rPr lang="en-US" sz="1600" dirty="0" err="1">
                <a:solidFill>
                  <a:schemeClr val="bg2"/>
                </a:solidFill>
              </a:rPr>
              <a:t>ValidationTest_of_TIS_via_BrownVinyl.bsdf</a:t>
            </a:r>
            <a:r>
              <a:rPr lang="en-US" sz="1600" dirty="0">
                <a:solidFill>
                  <a:schemeClr val="bg2"/>
                </a:solidFill>
              </a:rPr>
              <a:t>’</a:t>
            </a:r>
          </a:p>
        </p:txBody>
      </p:sp>
    </p:spTree>
    <p:extLst>
      <p:ext uri="{BB962C8B-B14F-4D97-AF65-F5344CB8AC3E}">
        <p14:creationId xmlns:p14="http://schemas.microsoft.com/office/powerpoint/2010/main" val="257775533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151BD-E02C-9D17-0472-0F9C79B337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87393-3063-17E2-4BBB-572AC17FC16A}"/>
              </a:ext>
            </a:extLst>
          </p:cNvPr>
          <p:cNvSpPr>
            <a:spLocks noGrp="1"/>
          </p:cNvSpPr>
          <p:nvPr>
            <p:ph type="title"/>
          </p:nvPr>
        </p:nvSpPr>
        <p:spPr/>
        <p:txBody>
          <a:bodyPr/>
          <a:lstStyle/>
          <a:p>
            <a:r>
              <a:rPr lang="en-US" dirty="0"/>
              <a:t>BRDF</a:t>
            </a:r>
            <a:br>
              <a:rPr lang="en-US" dirty="0"/>
            </a:br>
            <a:r>
              <a:rPr lang="en-US" sz="2000" dirty="0"/>
              <a:t>sanity check</a:t>
            </a:r>
            <a:endParaRPr lang="en-US" sz="3200" dirty="0"/>
          </a:p>
        </p:txBody>
      </p:sp>
      <p:sp>
        <p:nvSpPr>
          <p:cNvPr id="3" name="Text Placeholder 2">
            <a:extLst>
              <a:ext uri="{FF2B5EF4-FFF2-40B4-BE49-F238E27FC236}">
                <a16:creationId xmlns:a16="http://schemas.microsoft.com/office/drawing/2014/main" id="{26B17254-0093-1A74-44B1-DC9A47E87859}"/>
              </a:ext>
            </a:extLst>
          </p:cNvPr>
          <p:cNvSpPr>
            <a:spLocks noGrp="1"/>
          </p:cNvSpPr>
          <p:nvPr>
            <p:ph type="body" idx="1"/>
          </p:nvPr>
        </p:nvSpPr>
        <p:spPr>
          <a:xfrm>
            <a:off x="609600" y="1752601"/>
            <a:ext cx="4250265" cy="4373563"/>
          </a:xfrm>
        </p:spPr>
        <p:txBody>
          <a:bodyPr>
            <a:normAutofit/>
          </a:bodyPr>
          <a:lstStyle/>
          <a:p>
            <a:r>
              <a:rPr lang="en-US" sz="2400" b="0" dirty="0"/>
              <a:t>I think only </a:t>
            </a:r>
            <a:r>
              <a:rPr lang="en-US" sz="2400" b="0" dirty="0" err="1"/>
              <a:t>BrownVinyl</a:t>
            </a:r>
            <a:r>
              <a:rPr lang="en-US" sz="2400" b="0" dirty="0"/>
              <a:t> in </a:t>
            </a:r>
            <a:r>
              <a:rPr lang="en-US" sz="2400" b="0" dirty="0" err="1"/>
              <a:t>Zemax</a:t>
            </a:r>
            <a:r>
              <a:rPr lang="en-US" sz="2400" b="0" dirty="0"/>
              <a:t> is correct</a:t>
            </a:r>
          </a:p>
          <a:p>
            <a:pPr lvl="1"/>
            <a:r>
              <a:rPr lang="en-US" sz="1600" b="0" dirty="0"/>
              <a:t>Az </a:t>
            </a:r>
            <a:r>
              <a:rPr lang="en-US" sz="1600" dirty="0"/>
              <a:t>= [0, 180], with plane symmetry</a:t>
            </a:r>
          </a:p>
          <a:p>
            <a:pPr lvl="1"/>
            <a:r>
              <a:rPr lang="en-US" sz="1600" b="0" dirty="0" err="1"/>
              <a:t>MagicBlack</a:t>
            </a:r>
            <a:r>
              <a:rPr lang="en-US" sz="1600" b="0" dirty="0"/>
              <a:t> has Az = [-90, 90], but </a:t>
            </a:r>
            <a:r>
              <a:rPr lang="en-US" sz="1600" b="0" dirty="0" err="1"/>
              <a:t>Zemax</a:t>
            </a:r>
            <a:r>
              <a:rPr lang="en-US" sz="1600" b="0" dirty="0"/>
              <a:t> docs do not define plane symmetry in this way (and physically, this is not how isometric works)</a:t>
            </a:r>
          </a:p>
          <a:p>
            <a:r>
              <a:rPr lang="en-US" sz="2000" b="0" dirty="0"/>
              <a:t>Measured </a:t>
            </a:r>
            <a:r>
              <a:rPr lang="en-US" sz="2000" b="0" dirty="0" err="1"/>
              <a:t>MagicBlack</a:t>
            </a:r>
            <a:r>
              <a:rPr lang="en-US" sz="2000" b="0" dirty="0"/>
              <a:t> is plotted with scale given by the </a:t>
            </a:r>
            <a:r>
              <a:rPr lang="en-US" sz="2000" b="0" dirty="0" err="1"/>
              <a:t>Zemax</a:t>
            </a:r>
            <a:r>
              <a:rPr lang="en-US" sz="2000" b="0" dirty="0"/>
              <a:t> one, showing similar behavior for |Az| &lt; 90</a:t>
            </a:r>
          </a:p>
        </p:txBody>
      </p:sp>
      <p:pic>
        <p:nvPicPr>
          <p:cNvPr id="7" name="Picture 6">
            <a:extLst>
              <a:ext uri="{FF2B5EF4-FFF2-40B4-BE49-F238E27FC236}">
                <a16:creationId xmlns:a16="http://schemas.microsoft.com/office/drawing/2014/main" id="{52BB4BE7-3567-27AF-E1A7-D19D7E0B5BD2}"/>
              </a:ext>
            </a:extLst>
          </p:cNvPr>
          <p:cNvPicPr>
            <a:picLocks noChangeAspect="1"/>
          </p:cNvPicPr>
          <p:nvPr/>
        </p:nvPicPr>
        <p:blipFill>
          <a:blip r:embed="rId2"/>
          <a:stretch>
            <a:fillRect/>
          </a:stretch>
        </p:blipFill>
        <p:spPr>
          <a:xfrm>
            <a:off x="5078104" y="0"/>
            <a:ext cx="7113896" cy="685800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695D738-D702-EA70-A569-220E3DE53EFC}"/>
                  </a:ext>
                </a:extLst>
              </p:cNvPr>
              <p:cNvSpPr txBox="1"/>
              <p:nvPr/>
            </p:nvSpPr>
            <p:spPr>
              <a:xfrm>
                <a:off x="2971800" y="438408"/>
                <a:ext cx="1888065" cy="400110"/>
              </a:xfrm>
              <a:prstGeom prst="rect">
                <a:avLst/>
              </a:prstGeom>
              <a:solidFill>
                <a:schemeClr val="bg1"/>
              </a:solidFill>
              <a:ln>
                <a:solidFill>
                  <a:schemeClr val="bg2"/>
                </a:solidFill>
              </a:ln>
            </p:spPr>
            <p:txBody>
              <a:bodyPr wrap="square" rtlCol="0">
                <a:spAutoFit/>
              </a:bodyPr>
              <a:lstStyle/>
              <a:p>
                <a14:m>
                  <m:oMath xmlns:m="http://schemas.openxmlformats.org/officeDocument/2006/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𝟑𝟎</m:t>
                        </m:r>
                      </m:e>
                      <m:sup>
                        <m:r>
                          <a:rPr lang="en-US" sz="2000" b="1" i="1" smtClean="0">
                            <a:solidFill>
                              <a:schemeClr val="bg2"/>
                            </a:solidFill>
                            <a:latin typeface="Cambria Math" panose="02040503050406030204" pitchFamily="18" charset="0"/>
                          </a:rPr>
                          <m:t>∘</m:t>
                        </m:r>
                      </m:sup>
                    </m:sSup>
                  </m:oMath>
                </a14:m>
                <a:r>
                  <a:rPr lang="en-US" sz="2000" b="1" dirty="0">
                    <a:solidFill>
                      <a:schemeClr val="bg2"/>
                    </a:solidFill>
                  </a:rPr>
                  <a:t> for all</a:t>
                </a:r>
              </a:p>
            </p:txBody>
          </p:sp>
        </mc:Choice>
        <mc:Fallback xmlns="">
          <p:sp>
            <p:nvSpPr>
              <p:cNvPr id="8" name="TextBox 7">
                <a:extLst>
                  <a:ext uri="{FF2B5EF4-FFF2-40B4-BE49-F238E27FC236}">
                    <a16:creationId xmlns:a16="http://schemas.microsoft.com/office/drawing/2014/main" id="{A695D738-D702-EA70-A569-220E3DE53EFC}"/>
                  </a:ext>
                </a:extLst>
              </p:cNvPr>
              <p:cNvSpPr txBox="1">
                <a:spLocks noRot="1" noChangeAspect="1" noMove="1" noResize="1" noEditPoints="1" noAdjustHandles="1" noChangeArrowheads="1" noChangeShapeType="1" noTextEdit="1"/>
              </p:cNvSpPr>
              <p:nvPr/>
            </p:nvSpPr>
            <p:spPr>
              <a:xfrm>
                <a:off x="2971800" y="438408"/>
                <a:ext cx="1888065" cy="400110"/>
              </a:xfrm>
              <a:prstGeom prst="rect">
                <a:avLst/>
              </a:prstGeom>
              <a:blipFill>
                <a:blip r:embed="rId3"/>
                <a:stretch>
                  <a:fillRect t="-5882" b="-25000"/>
                </a:stretch>
              </a:blipFill>
              <a:ln>
                <a:solidFill>
                  <a:schemeClr val="bg2"/>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DA041DBD-8F15-19E8-F2C8-27B2412D8062}"/>
              </a:ext>
            </a:extLst>
          </p:cNvPr>
          <p:cNvSpPr txBox="1"/>
          <p:nvPr/>
        </p:nvSpPr>
        <p:spPr>
          <a:xfrm>
            <a:off x="5078104" y="2876809"/>
            <a:ext cx="3496734" cy="400110"/>
          </a:xfrm>
          <a:prstGeom prst="rect">
            <a:avLst/>
          </a:prstGeom>
          <a:solidFill>
            <a:schemeClr val="bg1"/>
          </a:solidFill>
          <a:ln>
            <a:solidFill>
              <a:schemeClr val="bg2"/>
            </a:solidFill>
          </a:ln>
        </p:spPr>
        <p:txBody>
          <a:bodyPr wrap="square" rtlCol="0">
            <a:spAutoFit/>
          </a:bodyPr>
          <a:lstStyle/>
          <a:p>
            <a:r>
              <a:rPr lang="en-US" sz="2000" b="1" dirty="0" err="1">
                <a:solidFill>
                  <a:schemeClr val="bg2"/>
                </a:solidFill>
              </a:rPr>
              <a:t>NiTE</a:t>
            </a:r>
            <a:r>
              <a:rPr lang="en-US" sz="2000" b="1" dirty="0">
                <a:solidFill>
                  <a:schemeClr val="bg2"/>
                </a:solidFill>
              </a:rPr>
              <a:t> on INVAR (measured)</a:t>
            </a:r>
          </a:p>
        </p:txBody>
      </p:sp>
      <p:sp>
        <p:nvSpPr>
          <p:cNvPr id="10" name="TextBox 9">
            <a:extLst>
              <a:ext uri="{FF2B5EF4-FFF2-40B4-BE49-F238E27FC236}">
                <a16:creationId xmlns:a16="http://schemas.microsoft.com/office/drawing/2014/main" id="{DDF5A2F5-8887-B178-4594-26A9EDFF0137}"/>
              </a:ext>
            </a:extLst>
          </p:cNvPr>
          <p:cNvSpPr txBox="1"/>
          <p:nvPr/>
        </p:nvSpPr>
        <p:spPr>
          <a:xfrm>
            <a:off x="8695266" y="2885595"/>
            <a:ext cx="3496734" cy="400110"/>
          </a:xfrm>
          <a:prstGeom prst="rect">
            <a:avLst/>
          </a:prstGeom>
          <a:solidFill>
            <a:schemeClr val="bg1"/>
          </a:solidFill>
          <a:ln>
            <a:solidFill>
              <a:schemeClr val="bg2"/>
            </a:solidFill>
          </a:ln>
        </p:spPr>
        <p:txBody>
          <a:bodyPr wrap="square" rtlCol="0">
            <a:spAutoFit/>
          </a:bodyPr>
          <a:lstStyle/>
          <a:p>
            <a:r>
              <a:rPr lang="en-US" sz="2000" b="1" dirty="0" err="1">
                <a:solidFill>
                  <a:schemeClr val="bg2"/>
                </a:solidFill>
              </a:rPr>
              <a:t>BrownVinyl</a:t>
            </a:r>
            <a:r>
              <a:rPr lang="en-US" sz="2000" b="1" dirty="0">
                <a:solidFill>
                  <a:schemeClr val="bg2"/>
                </a:solidFill>
              </a:rPr>
              <a:t> (via </a:t>
            </a:r>
            <a:r>
              <a:rPr lang="en-US" sz="2000" b="1" dirty="0" err="1">
                <a:solidFill>
                  <a:schemeClr val="bg2"/>
                </a:solidFill>
              </a:rPr>
              <a:t>Zemax</a:t>
            </a:r>
            <a:r>
              <a:rPr lang="en-US" sz="2000" b="1" dirty="0">
                <a:solidFill>
                  <a:schemeClr val="bg2"/>
                </a:solidFill>
              </a:rPr>
              <a:t>)</a:t>
            </a:r>
          </a:p>
        </p:txBody>
      </p:sp>
      <p:sp>
        <p:nvSpPr>
          <p:cNvPr id="11" name="TextBox 10">
            <a:extLst>
              <a:ext uri="{FF2B5EF4-FFF2-40B4-BE49-F238E27FC236}">
                <a16:creationId xmlns:a16="http://schemas.microsoft.com/office/drawing/2014/main" id="{BF83D351-B1DD-01E5-D018-D1FAA767B4AE}"/>
              </a:ext>
            </a:extLst>
          </p:cNvPr>
          <p:cNvSpPr txBox="1"/>
          <p:nvPr/>
        </p:nvSpPr>
        <p:spPr>
          <a:xfrm>
            <a:off x="5192855" y="6305172"/>
            <a:ext cx="3062145" cy="400110"/>
          </a:xfrm>
          <a:prstGeom prst="rect">
            <a:avLst/>
          </a:prstGeom>
          <a:solidFill>
            <a:schemeClr val="bg1"/>
          </a:solidFill>
          <a:ln>
            <a:solidFill>
              <a:schemeClr val="bg2"/>
            </a:solidFill>
          </a:ln>
        </p:spPr>
        <p:txBody>
          <a:bodyPr wrap="square" rtlCol="0">
            <a:spAutoFit/>
          </a:bodyPr>
          <a:lstStyle/>
          <a:p>
            <a:r>
              <a:rPr lang="en-US" sz="2000" b="1" dirty="0" err="1">
                <a:solidFill>
                  <a:schemeClr val="bg2"/>
                </a:solidFill>
              </a:rPr>
              <a:t>MagicBlack</a:t>
            </a:r>
            <a:r>
              <a:rPr lang="en-US" sz="2000" b="1" dirty="0">
                <a:solidFill>
                  <a:schemeClr val="bg2"/>
                </a:solidFill>
              </a:rPr>
              <a:t> (measured)</a:t>
            </a:r>
          </a:p>
        </p:txBody>
      </p:sp>
      <p:sp>
        <p:nvSpPr>
          <p:cNvPr id="12" name="TextBox 11">
            <a:extLst>
              <a:ext uri="{FF2B5EF4-FFF2-40B4-BE49-F238E27FC236}">
                <a16:creationId xmlns:a16="http://schemas.microsoft.com/office/drawing/2014/main" id="{44C5087C-46D1-54B1-273A-1C316A7A3CF4}"/>
              </a:ext>
            </a:extLst>
          </p:cNvPr>
          <p:cNvSpPr txBox="1"/>
          <p:nvPr/>
        </p:nvSpPr>
        <p:spPr>
          <a:xfrm>
            <a:off x="8843382" y="6371977"/>
            <a:ext cx="3062145" cy="400110"/>
          </a:xfrm>
          <a:prstGeom prst="rect">
            <a:avLst/>
          </a:prstGeom>
          <a:solidFill>
            <a:schemeClr val="bg1"/>
          </a:solidFill>
          <a:ln>
            <a:solidFill>
              <a:schemeClr val="bg2"/>
            </a:solidFill>
          </a:ln>
        </p:spPr>
        <p:txBody>
          <a:bodyPr wrap="square" rtlCol="0">
            <a:spAutoFit/>
          </a:bodyPr>
          <a:lstStyle/>
          <a:p>
            <a:r>
              <a:rPr lang="en-US" sz="2000" b="1" dirty="0" err="1">
                <a:solidFill>
                  <a:schemeClr val="bg2"/>
                </a:solidFill>
              </a:rPr>
              <a:t>MagicBlack</a:t>
            </a:r>
            <a:r>
              <a:rPr lang="en-US" sz="2000" b="1" dirty="0">
                <a:solidFill>
                  <a:schemeClr val="bg2"/>
                </a:solidFill>
              </a:rPr>
              <a:t> (via </a:t>
            </a:r>
            <a:r>
              <a:rPr lang="en-US" sz="2000" b="1" dirty="0" err="1">
                <a:solidFill>
                  <a:schemeClr val="bg2"/>
                </a:solidFill>
              </a:rPr>
              <a:t>Zemax</a:t>
            </a:r>
            <a:r>
              <a:rPr lang="en-US" sz="2000" b="1" dirty="0">
                <a:solidFill>
                  <a:schemeClr val="bg2"/>
                </a:solidFill>
              </a:rPr>
              <a:t>)</a:t>
            </a:r>
          </a:p>
        </p:txBody>
      </p:sp>
      <p:sp>
        <p:nvSpPr>
          <p:cNvPr id="13" name="Arc 12">
            <a:extLst>
              <a:ext uri="{FF2B5EF4-FFF2-40B4-BE49-F238E27FC236}">
                <a16:creationId xmlns:a16="http://schemas.microsoft.com/office/drawing/2014/main" id="{E913B131-58E2-251A-616E-156DE9901AD5}"/>
              </a:ext>
            </a:extLst>
          </p:cNvPr>
          <p:cNvSpPr/>
          <p:nvPr/>
        </p:nvSpPr>
        <p:spPr>
          <a:xfrm flipH="1">
            <a:off x="4995335" y="638463"/>
            <a:ext cx="2286000" cy="2286000"/>
          </a:xfrm>
          <a:prstGeom prst="arc">
            <a:avLst/>
          </a:prstGeom>
          <a:ln w="76200">
            <a:solidFill>
              <a:schemeClr val="bg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5B16628-366C-FD00-D5A8-362964E00DDF}"/>
                  </a:ext>
                </a:extLst>
              </p:cNvPr>
              <p:cNvSpPr txBox="1"/>
              <p:nvPr/>
            </p:nvSpPr>
            <p:spPr>
              <a:xfrm>
                <a:off x="4349968" y="1066801"/>
                <a:ext cx="577632"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ParaPr>
                      <m:jc m:val="center"/>
                    </m:oMathParaPr>
                    <m:oMath>
                      <m:sSub>
                        <m:sSubPr>
                          <m:ctrlPr>
                            <a:rPr lang="en-US" sz="2000" b="1" i="1" smtClean="0">
                              <a:solidFill>
                                <a:schemeClr val="bg2"/>
                              </a:solidFill>
                              <a:latin typeface="Cambria Math" panose="02040503050406030204" pitchFamily="18" charset="0"/>
                            </a:rPr>
                          </m:ctrlPr>
                        </m:sSubPr>
                        <m:e>
                          <m:r>
                            <a:rPr lang="en-US" sz="2000" b="1" i="1" smtClean="0">
                              <a:solidFill>
                                <a:schemeClr val="bg2"/>
                              </a:solidFill>
                              <a:latin typeface="Cambria Math" panose="02040503050406030204" pitchFamily="18" charset="0"/>
                            </a:rPr>
                            <m:t>𝑨</m:t>
                          </m:r>
                        </m:e>
                        <m:sub>
                          <m:r>
                            <a:rPr lang="en-US" sz="2000" b="1" i="1" smtClean="0">
                              <a:solidFill>
                                <a:schemeClr val="bg2"/>
                              </a:solidFill>
                              <a:latin typeface="Cambria Math" panose="02040503050406030204" pitchFamily="18" charset="0"/>
                            </a:rPr>
                            <m:t>𝒁</m:t>
                          </m:r>
                        </m:sub>
                      </m:sSub>
                    </m:oMath>
                  </m:oMathPara>
                </a14:m>
                <a:endParaRPr lang="en-US" sz="2000" b="1" dirty="0">
                  <a:solidFill>
                    <a:schemeClr val="bg2"/>
                  </a:solidFill>
                </a:endParaRPr>
              </a:p>
            </p:txBody>
          </p:sp>
        </mc:Choice>
        <mc:Fallback xmlns="">
          <p:sp>
            <p:nvSpPr>
              <p:cNvPr id="14" name="TextBox 13">
                <a:extLst>
                  <a:ext uri="{FF2B5EF4-FFF2-40B4-BE49-F238E27FC236}">
                    <a16:creationId xmlns:a16="http://schemas.microsoft.com/office/drawing/2014/main" id="{15B16628-366C-FD00-D5A8-362964E00DDF}"/>
                  </a:ext>
                </a:extLst>
              </p:cNvPr>
              <p:cNvSpPr txBox="1">
                <a:spLocks noRot="1" noChangeAspect="1" noMove="1" noResize="1" noEditPoints="1" noAdjustHandles="1" noChangeArrowheads="1" noChangeShapeType="1" noTextEdit="1"/>
              </p:cNvSpPr>
              <p:nvPr/>
            </p:nvSpPr>
            <p:spPr>
              <a:xfrm>
                <a:off x="4349968" y="1066801"/>
                <a:ext cx="577632" cy="400110"/>
              </a:xfrm>
              <a:prstGeom prst="rect">
                <a:avLst/>
              </a:prstGeom>
              <a:blipFill>
                <a:blip r:embed="rId4"/>
                <a:stretch>
                  <a:fillRect b="-1471"/>
                </a:stretch>
              </a:blipFill>
              <a:ln>
                <a:solidFill>
                  <a:schemeClr val="bg2"/>
                </a:solidFill>
              </a:ln>
            </p:spPr>
            <p:txBody>
              <a:bodyPr/>
              <a:lstStyle/>
              <a:p>
                <a:r>
                  <a:rPr lang="en-US">
                    <a:noFill/>
                  </a:rPr>
                  <a:t> </a:t>
                </a:r>
              </a:p>
            </p:txBody>
          </p:sp>
        </mc:Fallback>
      </mc:AlternateContent>
      <p:sp>
        <p:nvSpPr>
          <p:cNvPr id="4" name="TextBox 3">
            <a:extLst>
              <a:ext uri="{FF2B5EF4-FFF2-40B4-BE49-F238E27FC236}">
                <a16:creationId xmlns:a16="http://schemas.microsoft.com/office/drawing/2014/main" id="{685E6CD8-E40E-CC70-5F16-A3105EA645C7}"/>
              </a:ext>
            </a:extLst>
          </p:cNvPr>
          <p:cNvSpPr txBox="1"/>
          <p:nvPr/>
        </p:nvSpPr>
        <p:spPr>
          <a:xfrm>
            <a:off x="2336799" y="5791199"/>
            <a:ext cx="2929467" cy="954107"/>
          </a:xfrm>
          <a:prstGeom prst="rect">
            <a:avLst/>
          </a:prstGeom>
          <a:noFill/>
        </p:spPr>
        <p:txBody>
          <a:bodyPr wrap="square" rtlCol="0">
            <a:spAutoFit/>
          </a:bodyPr>
          <a:lstStyle/>
          <a:p>
            <a:r>
              <a:rPr lang="en-US" i="1" dirty="0">
                <a:solidFill>
                  <a:schemeClr val="bg2"/>
                </a:solidFill>
              </a:rPr>
              <a:t>Note: </a:t>
            </a:r>
            <a:r>
              <a:rPr lang="en-US" i="1" dirty="0" err="1">
                <a:solidFill>
                  <a:schemeClr val="bg2"/>
                </a:solidFill>
              </a:rPr>
              <a:t>MagicBlack</a:t>
            </a:r>
            <a:r>
              <a:rPr lang="en-US" i="1" dirty="0">
                <a:solidFill>
                  <a:schemeClr val="bg2"/>
                </a:solidFill>
              </a:rPr>
              <a:t> sample was unknowingly damaged prior to measurement, because surface was wiped with cloth.</a:t>
            </a:r>
          </a:p>
        </p:txBody>
      </p:sp>
    </p:spTree>
    <p:extLst>
      <p:ext uri="{BB962C8B-B14F-4D97-AF65-F5344CB8AC3E}">
        <p14:creationId xmlns:p14="http://schemas.microsoft.com/office/powerpoint/2010/main" val="23904721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83F5F-DEBB-7D71-C152-D246F7D5C8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B7A838-1ABD-F33C-1BB7-E5DEDC419E1F}"/>
              </a:ext>
            </a:extLst>
          </p:cNvPr>
          <p:cNvSpPr>
            <a:spLocks noGrp="1"/>
          </p:cNvSpPr>
          <p:nvPr>
            <p:ph type="ctrTitle"/>
          </p:nvPr>
        </p:nvSpPr>
        <p:spPr/>
        <p:txBody>
          <a:bodyPr/>
          <a:lstStyle/>
          <a:p>
            <a:r>
              <a:rPr lang="en-US" sz="3600" dirty="0"/>
              <a:t>Ideas to improve from v1.0 to v1.1</a:t>
            </a:r>
            <a:endParaRPr lang="en-US" sz="3600" dirty="0">
              <a:solidFill>
                <a:schemeClr val="bg2"/>
              </a:solidFill>
            </a:endParaRPr>
          </a:p>
        </p:txBody>
      </p:sp>
      <p:sp>
        <p:nvSpPr>
          <p:cNvPr id="5" name="Subtitle 4">
            <a:extLst>
              <a:ext uri="{FF2B5EF4-FFF2-40B4-BE49-F238E27FC236}">
                <a16:creationId xmlns:a16="http://schemas.microsoft.com/office/drawing/2014/main" id="{092FC0F9-B975-0A39-946B-96B1527577DA}"/>
              </a:ext>
            </a:extLst>
          </p:cNvPr>
          <p:cNvSpPr>
            <a:spLocks noGrp="1"/>
          </p:cNvSpPr>
          <p:nvPr>
            <p:ph type="subTitle" idx="1"/>
          </p:nvPr>
        </p:nvSpPr>
        <p:spPr/>
        <p:txBody>
          <a:bodyPr>
            <a:normAutofit/>
          </a:bodyPr>
          <a:lstStyle/>
          <a:p>
            <a:r>
              <a:rPr lang="en-US" dirty="0"/>
              <a:t>2025/10/06</a:t>
            </a:r>
          </a:p>
        </p:txBody>
      </p:sp>
    </p:spTree>
    <p:extLst>
      <p:ext uri="{BB962C8B-B14F-4D97-AF65-F5344CB8AC3E}">
        <p14:creationId xmlns:p14="http://schemas.microsoft.com/office/powerpoint/2010/main" val="361552602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F46C4-4971-929C-73C1-FD6202D4AF93}"/>
              </a:ext>
            </a:extLst>
          </p:cNvPr>
          <p:cNvSpPr>
            <a:spLocks noGrp="1"/>
          </p:cNvSpPr>
          <p:nvPr>
            <p:ph type="title"/>
          </p:nvPr>
        </p:nvSpPr>
        <p:spPr/>
        <p:txBody>
          <a:bodyPr/>
          <a:lstStyle/>
          <a:p>
            <a:r>
              <a:rPr lang="en-US" dirty="0"/>
              <a:t>Ideas </a:t>
            </a:r>
          </a:p>
        </p:txBody>
      </p:sp>
      <p:sp>
        <p:nvSpPr>
          <p:cNvPr id="3" name="Text Placeholder 2">
            <a:extLst>
              <a:ext uri="{FF2B5EF4-FFF2-40B4-BE49-F238E27FC236}">
                <a16:creationId xmlns:a16="http://schemas.microsoft.com/office/drawing/2014/main" id="{CB7168AB-D371-1FC6-5304-B376D4BBC0D8}"/>
              </a:ext>
            </a:extLst>
          </p:cNvPr>
          <p:cNvSpPr>
            <a:spLocks noGrp="1"/>
          </p:cNvSpPr>
          <p:nvPr>
            <p:ph type="body" idx="1"/>
          </p:nvPr>
        </p:nvSpPr>
        <p:spPr/>
        <p:txBody>
          <a:bodyPr>
            <a:normAutofit fontScale="92500" lnSpcReduction="20000"/>
          </a:bodyPr>
          <a:lstStyle/>
          <a:p>
            <a:r>
              <a:rPr lang="en-US" sz="2400" b="0" dirty="0"/>
              <a:t>Plots crash sometimes (fail to generate)</a:t>
            </a:r>
          </a:p>
          <a:p>
            <a:r>
              <a:rPr lang="en-US" sz="2400" b="0" dirty="0"/>
              <a:t>Think from perspective of light source plane, seeing detector plane rotating azimuth</a:t>
            </a:r>
          </a:p>
          <a:p>
            <a:pPr lvl="1"/>
            <a:r>
              <a:rPr lang="en-US" sz="2000" dirty="0"/>
              <a:t>Should then be easy to get TIS from full hemisphere</a:t>
            </a:r>
          </a:p>
          <a:p>
            <a:pPr lvl="1"/>
            <a:r>
              <a:rPr lang="en-US" sz="2000" dirty="0"/>
              <a:t>Also, Rz can be expanded to 180</a:t>
            </a:r>
            <a:endParaRPr lang="en-US" sz="1800" dirty="0"/>
          </a:p>
          <a:p>
            <a:r>
              <a:rPr lang="en-US" sz="2400" b="0" dirty="0"/>
              <a:t>Account for shift when treating A=[-90,0] and A=[0,90] measurements as unique and averaging them (see ‘</a:t>
            </a:r>
            <a:r>
              <a:rPr lang="en-US" sz="2400" b="0" dirty="0" err="1"/>
              <a:t>RT_iso_avg</a:t>
            </a:r>
            <a:r>
              <a:rPr lang="en-US" sz="2400" b="0" dirty="0"/>
              <a:t>’ variable); currently, the shift gets ignored</a:t>
            </a:r>
          </a:p>
          <a:p>
            <a:pPr lvl="1"/>
            <a:r>
              <a:rPr lang="en-US" sz="2000" dirty="0"/>
              <a:t>Will need to interpolate RT values on new [A,R] values to common [A,R] grid so may average</a:t>
            </a:r>
          </a:p>
          <a:p>
            <a:r>
              <a:rPr lang="en-US" sz="2400" b="0" dirty="0"/>
              <a:t>Decouple ‘</a:t>
            </a:r>
            <a:r>
              <a:rPr lang="en-US" sz="2400" b="0" dirty="0" err="1"/>
              <a:t>mObscured</a:t>
            </a:r>
            <a:r>
              <a:rPr lang="en-US" sz="2400" b="0" dirty="0"/>
              <a:t>’ from figure</a:t>
            </a:r>
          </a:p>
          <a:p>
            <a:r>
              <a:rPr lang="en-US" sz="2400" b="0" dirty="0"/>
              <a:t>Add Max’s thesis and whitepaper, with README markdown doc, to package</a:t>
            </a:r>
          </a:p>
          <a:p>
            <a:r>
              <a:rPr lang="en-US" sz="2400" b="0" dirty="0"/>
              <a:t>Does anisotropic do full 360 TIS ? Or just 180 x2 ? </a:t>
            </a:r>
            <a:r>
              <a:rPr lang="en-US" sz="2400" b="0"/>
              <a:t>Fix this</a:t>
            </a:r>
            <a:endParaRPr lang="en-US" sz="2400" b="0" dirty="0"/>
          </a:p>
        </p:txBody>
      </p:sp>
    </p:spTree>
    <p:extLst>
      <p:ext uri="{BB962C8B-B14F-4D97-AF65-F5344CB8AC3E}">
        <p14:creationId xmlns:p14="http://schemas.microsoft.com/office/powerpoint/2010/main" val="119561048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E5C36-67DC-9924-F8EF-765959BF735A}"/>
              </a:ext>
            </a:extLst>
          </p:cNvPr>
          <p:cNvSpPr>
            <a:spLocks noGrp="1"/>
          </p:cNvSpPr>
          <p:nvPr>
            <p:ph type="title"/>
          </p:nvPr>
        </p:nvSpPr>
        <p:spPr/>
        <p:txBody>
          <a:bodyPr/>
          <a:lstStyle/>
          <a:p>
            <a:r>
              <a:rPr lang="en-US" dirty="0"/>
              <a:t>Upcoming </a:t>
            </a:r>
            <a:br>
              <a:rPr lang="en-US" dirty="0"/>
            </a:br>
            <a:r>
              <a:rPr lang="en-US" sz="2400" dirty="0"/>
              <a:t>(post 2025/10/07 meeting)</a:t>
            </a:r>
            <a:endParaRPr lang="en-US" dirty="0"/>
          </a:p>
        </p:txBody>
      </p:sp>
      <p:sp>
        <p:nvSpPr>
          <p:cNvPr id="3" name="Text Placeholder 2">
            <a:extLst>
              <a:ext uri="{FF2B5EF4-FFF2-40B4-BE49-F238E27FC236}">
                <a16:creationId xmlns:a16="http://schemas.microsoft.com/office/drawing/2014/main" id="{AC262A81-7FD7-D7AB-CA2B-2D13EF81018F}"/>
              </a:ext>
            </a:extLst>
          </p:cNvPr>
          <p:cNvSpPr>
            <a:spLocks noGrp="1"/>
          </p:cNvSpPr>
          <p:nvPr>
            <p:ph type="body" idx="1"/>
          </p:nvPr>
        </p:nvSpPr>
        <p:spPr/>
        <p:txBody>
          <a:bodyPr/>
          <a:lstStyle/>
          <a:p>
            <a:r>
              <a:rPr lang="en-US" dirty="0"/>
              <a:t>NS first to validate v1.0</a:t>
            </a:r>
          </a:p>
          <a:p>
            <a:r>
              <a:rPr lang="en-US" dirty="0"/>
              <a:t>Then, anisotropic</a:t>
            </a:r>
          </a:p>
          <a:p>
            <a:r>
              <a:rPr lang="en-US" dirty="0"/>
              <a:t>Measure with halogen</a:t>
            </a:r>
          </a:p>
        </p:txBody>
      </p:sp>
    </p:spTree>
    <p:extLst>
      <p:ext uri="{BB962C8B-B14F-4D97-AF65-F5344CB8AC3E}">
        <p14:creationId xmlns:p14="http://schemas.microsoft.com/office/powerpoint/2010/main" val="78070123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BD5A1-2E35-6E96-A12B-9ADB62713D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077A13-8ED7-5B17-6AAA-2B413291940A}"/>
              </a:ext>
            </a:extLst>
          </p:cNvPr>
          <p:cNvSpPr>
            <a:spLocks noGrp="1"/>
          </p:cNvSpPr>
          <p:nvPr>
            <p:ph type="ctrTitle"/>
          </p:nvPr>
        </p:nvSpPr>
        <p:spPr/>
        <p:txBody>
          <a:bodyPr/>
          <a:lstStyle/>
          <a:p>
            <a:r>
              <a:rPr lang="en-US" sz="3600" dirty="0"/>
              <a:t>Anisotropic (v1.0, adapted)</a:t>
            </a:r>
            <a:endParaRPr lang="en-US" sz="3600" dirty="0">
              <a:solidFill>
                <a:schemeClr val="bg2"/>
              </a:solidFill>
            </a:endParaRPr>
          </a:p>
        </p:txBody>
      </p:sp>
      <p:sp>
        <p:nvSpPr>
          <p:cNvPr id="5" name="Subtitle 4">
            <a:extLst>
              <a:ext uri="{FF2B5EF4-FFF2-40B4-BE49-F238E27FC236}">
                <a16:creationId xmlns:a16="http://schemas.microsoft.com/office/drawing/2014/main" id="{681D4F38-8CDF-6E6F-AE98-12616530F2B1}"/>
              </a:ext>
            </a:extLst>
          </p:cNvPr>
          <p:cNvSpPr>
            <a:spLocks noGrp="1"/>
          </p:cNvSpPr>
          <p:nvPr>
            <p:ph type="subTitle" idx="1"/>
          </p:nvPr>
        </p:nvSpPr>
        <p:spPr/>
        <p:txBody>
          <a:bodyPr>
            <a:normAutofit/>
          </a:bodyPr>
          <a:lstStyle/>
          <a:p>
            <a:r>
              <a:rPr lang="en-US" dirty="0"/>
              <a:t>2025/10/07</a:t>
            </a:r>
          </a:p>
        </p:txBody>
      </p:sp>
    </p:spTree>
    <p:extLst>
      <p:ext uri="{BB962C8B-B14F-4D97-AF65-F5344CB8AC3E}">
        <p14:creationId xmlns:p14="http://schemas.microsoft.com/office/powerpoint/2010/main" val="341711707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BDD2F-59E7-9F98-FA52-561E88BE61C8}"/>
              </a:ext>
            </a:extLst>
          </p:cNvPr>
          <p:cNvSpPr>
            <a:spLocks noGrp="1"/>
          </p:cNvSpPr>
          <p:nvPr>
            <p:ph type="title"/>
          </p:nvPr>
        </p:nvSpPr>
        <p:spPr/>
        <p:txBody>
          <a:bodyPr/>
          <a:lstStyle/>
          <a:p>
            <a:r>
              <a:rPr lang="en-US" dirty="0"/>
              <a:t>IMX455</a:t>
            </a:r>
          </a:p>
        </p:txBody>
      </p:sp>
      <p:sp>
        <p:nvSpPr>
          <p:cNvPr id="3" name="Text Placeholder 2">
            <a:extLst>
              <a:ext uri="{FF2B5EF4-FFF2-40B4-BE49-F238E27FC236}">
                <a16:creationId xmlns:a16="http://schemas.microsoft.com/office/drawing/2014/main" id="{887D27B4-9848-6EBD-72E9-D024EE7C44FB}"/>
              </a:ext>
            </a:extLst>
          </p:cNvPr>
          <p:cNvSpPr>
            <a:spLocks noGrp="1"/>
          </p:cNvSpPr>
          <p:nvPr>
            <p:ph type="body" idx="1"/>
          </p:nvPr>
        </p:nvSpPr>
        <p:spPr>
          <a:xfrm>
            <a:off x="609600" y="1752601"/>
            <a:ext cx="4826000" cy="4373563"/>
          </a:xfrm>
        </p:spPr>
        <p:txBody>
          <a:bodyPr>
            <a:normAutofit/>
          </a:bodyPr>
          <a:lstStyle/>
          <a:p>
            <a:r>
              <a:rPr lang="en-US" sz="2400" b="0" dirty="0"/>
              <a:t>Missing quadrant about specular seems like bug</a:t>
            </a:r>
          </a:p>
        </p:txBody>
      </p:sp>
      <p:pic>
        <p:nvPicPr>
          <p:cNvPr id="5" name="Picture 4">
            <a:extLst>
              <a:ext uri="{FF2B5EF4-FFF2-40B4-BE49-F238E27FC236}">
                <a16:creationId xmlns:a16="http://schemas.microsoft.com/office/drawing/2014/main" id="{37F99299-BC02-9621-6AF4-0EFE1CE1C811}"/>
              </a:ext>
            </a:extLst>
          </p:cNvPr>
          <p:cNvPicPr>
            <a:picLocks noChangeAspect="1"/>
          </p:cNvPicPr>
          <p:nvPr/>
        </p:nvPicPr>
        <p:blipFill>
          <a:blip r:embed="rId2"/>
          <a:stretch>
            <a:fillRect/>
          </a:stretch>
        </p:blipFill>
        <p:spPr>
          <a:xfrm>
            <a:off x="5912209" y="0"/>
            <a:ext cx="6279791" cy="685800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48AEC0F-A6CF-DB5E-E7FC-3B13BC772CC1}"/>
                  </a:ext>
                </a:extLst>
              </p:cNvPr>
              <p:cNvSpPr txBox="1"/>
              <p:nvPr/>
            </p:nvSpPr>
            <p:spPr>
              <a:xfrm>
                <a:off x="7501467" y="2576255"/>
                <a:ext cx="2498905" cy="700769"/>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𝟎</m:t>
                          </m:r>
                        </m:e>
                        <m:sup>
                          <m:r>
                            <a:rPr lang="en-US" sz="2000" b="1" i="1" smtClean="0">
                              <a:solidFill>
                                <a:schemeClr val="bg2"/>
                              </a:solidFill>
                              <a:latin typeface="Cambria Math" panose="02040503050406030204" pitchFamily="18" charset="0"/>
                            </a:rPr>
                            <m:t>∘</m:t>
                          </m:r>
                        </m:sup>
                      </m:sSup>
                      <m:r>
                        <a:rPr lang="en-US" sz="2000" b="1" i="1" smtClean="0">
                          <a:solidFill>
                            <a:schemeClr val="bg2"/>
                          </a:solidFill>
                          <a:latin typeface="Cambria Math" panose="02040503050406030204" pitchFamily="18" charset="0"/>
                        </a:rPr>
                        <m:t>≡</m:t>
                      </m:r>
                      <m:r>
                        <a:rPr lang="en-US" sz="2000" b="1" i="0" smtClean="0">
                          <a:solidFill>
                            <a:schemeClr val="bg2"/>
                          </a:solidFill>
                          <a:latin typeface="Cambria Math" panose="02040503050406030204" pitchFamily="18" charset="0"/>
                        </a:rPr>
                        <m:t>𝐬𝐚𝐦𝐩𝐥𝐞</m:t>
                      </m:r>
                      <m:r>
                        <a:rPr lang="en-US" sz="2000" b="1" i="0" smtClean="0">
                          <a:solidFill>
                            <a:schemeClr val="bg2"/>
                          </a:solidFill>
                          <a:latin typeface="Cambria Math" panose="02040503050406030204" pitchFamily="18" charset="0"/>
                        </a:rPr>
                        <m:t> </m:t>
                      </m:r>
                      <m:r>
                        <a:rPr lang="en-US" sz="2000" b="1" i="0" smtClean="0">
                          <a:solidFill>
                            <a:schemeClr val="bg2"/>
                          </a:solidFill>
                          <a:latin typeface="Cambria Math" panose="02040503050406030204" pitchFamily="18" charset="0"/>
                        </a:rPr>
                        <m:t>𝐫𝐨𝐭𝐚𝐭𝐢𝐨𝐧</m:t>
                      </m:r>
                    </m:oMath>
                  </m:oMathPara>
                </a14:m>
                <a:endParaRPr lang="en-US" sz="2000" b="1" dirty="0">
                  <a:solidFill>
                    <a:schemeClr val="bg2"/>
                  </a:solidFill>
                </a:endParaRPr>
              </a:p>
            </p:txBody>
          </p:sp>
        </mc:Choice>
        <mc:Fallback xmlns="">
          <p:sp>
            <p:nvSpPr>
              <p:cNvPr id="6" name="TextBox 5">
                <a:extLst>
                  <a:ext uri="{FF2B5EF4-FFF2-40B4-BE49-F238E27FC236}">
                    <a16:creationId xmlns:a16="http://schemas.microsoft.com/office/drawing/2014/main" id="{F48AEC0F-A6CF-DB5E-E7FC-3B13BC772CC1}"/>
                  </a:ext>
                </a:extLst>
              </p:cNvPr>
              <p:cNvSpPr txBox="1">
                <a:spLocks noRot="1" noChangeAspect="1" noMove="1" noResize="1" noEditPoints="1" noAdjustHandles="1" noChangeArrowheads="1" noChangeShapeType="1" noTextEdit="1"/>
              </p:cNvSpPr>
              <p:nvPr/>
            </p:nvSpPr>
            <p:spPr>
              <a:xfrm>
                <a:off x="7501467" y="2576255"/>
                <a:ext cx="2498905" cy="700769"/>
              </a:xfrm>
              <a:prstGeom prst="rect">
                <a:avLst/>
              </a:prstGeom>
              <a:blipFill>
                <a:blip r:embed="rId3"/>
                <a:stretch>
                  <a:fillRect b="-7692"/>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9E0DCBD-85FE-8C59-C8D5-4731C95DEEEF}"/>
                  </a:ext>
                </a:extLst>
              </p:cNvPr>
              <p:cNvSpPr txBox="1"/>
              <p:nvPr/>
            </p:nvSpPr>
            <p:spPr>
              <a:xfrm>
                <a:off x="10889370" y="2726585"/>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𝟑𝟎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7" name="TextBox 6">
                <a:extLst>
                  <a:ext uri="{FF2B5EF4-FFF2-40B4-BE49-F238E27FC236}">
                    <a16:creationId xmlns:a16="http://schemas.microsoft.com/office/drawing/2014/main" id="{89E0DCBD-85FE-8C59-C8D5-4731C95DEEEF}"/>
                  </a:ext>
                </a:extLst>
              </p:cNvPr>
              <p:cNvSpPr txBox="1">
                <a:spLocks noRot="1" noChangeAspect="1" noMove="1" noResize="1" noEditPoints="1" noAdjustHandles="1" noChangeArrowheads="1" noChangeShapeType="1" noTextEdit="1"/>
              </p:cNvSpPr>
              <p:nvPr/>
            </p:nvSpPr>
            <p:spPr>
              <a:xfrm>
                <a:off x="10889370" y="2726585"/>
                <a:ext cx="1168400" cy="400110"/>
              </a:xfrm>
              <a:prstGeom prst="rect">
                <a:avLst/>
              </a:prstGeom>
              <a:blipFill>
                <a:blip r:embed="rId4"/>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BCE6A0C-F943-7F43-A33A-AA052B710483}"/>
                  </a:ext>
                </a:extLst>
              </p:cNvPr>
              <p:cNvSpPr txBox="1"/>
              <p:nvPr/>
            </p:nvSpPr>
            <p:spPr>
              <a:xfrm>
                <a:off x="8027638" y="6221460"/>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𝟔𝟎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8" name="TextBox 7">
                <a:extLst>
                  <a:ext uri="{FF2B5EF4-FFF2-40B4-BE49-F238E27FC236}">
                    <a16:creationId xmlns:a16="http://schemas.microsoft.com/office/drawing/2014/main" id="{DBCE6A0C-F943-7F43-A33A-AA052B710483}"/>
                  </a:ext>
                </a:extLst>
              </p:cNvPr>
              <p:cNvSpPr txBox="1">
                <a:spLocks noRot="1" noChangeAspect="1" noMove="1" noResize="1" noEditPoints="1" noAdjustHandles="1" noChangeArrowheads="1" noChangeShapeType="1" noTextEdit="1"/>
              </p:cNvSpPr>
              <p:nvPr/>
            </p:nvSpPr>
            <p:spPr>
              <a:xfrm>
                <a:off x="8027638" y="6221460"/>
                <a:ext cx="1168400" cy="400110"/>
              </a:xfrm>
              <a:prstGeom prst="rect">
                <a:avLst/>
              </a:prstGeom>
              <a:blipFill>
                <a:blip r:embed="rId5"/>
                <a:stretch>
                  <a:fillRect b="-16418"/>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59C7D8E-DA64-6AF4-4396-27674DF539EF}"/>
                  </a:ext>
                </a:extLst>
              </p:cNvPr>
              <p:cNvSpPr txBox="1"/>
              <p:nvPr/>
            </p:nvSpPr>
            <p:spPr>
              <a:xfrm>
                <a:off x="10889370" y="6223318"/>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𝟗𝟎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9" name="TextBox 8">
                <a:extLst>
                  <a:ext uri="{FF2B5EF4-FFF2-40B4-BE49-F238E27FC236}">
                    <a16:creationId xmlns:a16="http://schemas.microsoft.com/office/drawing/2014/main" id="{759C7D8E-DA64-6AF4-4396-27674DF539EF}"/>
                  </a:ext>
                </a:extLst>
              </p:cNvPr>
              <p:cNvSpPr txBox="1">
                <a:spLocks noRot="1" noChangeAspect="1" noMove="1" noResize="1" noEditPoints="1" noAdjustHandles="1" noChangeArrowheads="1" noChangeShapeType="1" noTextEdit="1"/>
              </p:cNvSpPr>
              <p:nvPr/>
            </p:nvSpPr>
            <p:spPr>
              <a:xfrm>
                <a:off x="10889370" y="6223318"/>
                <a:ext cx="1168400" cy="400110"/>
              </a:xfrm>
              <a:prstGeom prst="rect">
                <a:avLst/>
              </a:prstGeom>
              <a:blipFill>
                <a:blip r:embed="rId6"/>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90C9D40-DD59-222B-F2F6-8B38EE7BBA1A}"/>
                  </a:ext>
                </a:extLst>
              </p:cNvPr>
              <p:cNvSpPr txBox="1"/>
              <p:nvPr/>
            </p:nvSpPr>
            <p:spPr>
              <a:xfrm>
                <a:off x="3895906" y="377893"/>
                <a:ext cx="1888065" cy="707886"/>
              </a:xfrm>
              <a:prstGeom prst="rect">
                <a:avLst/>
              </a:prstGeom>
              <a:solidFill>
                <a:schemeClr val="bg1"/>
              </a:solidFill>
              <a:ln>
                <a:solidFill>
                  <a:schemeClr val="bg2"/>
                </a:solidFill>
              </a:ln>
            </p:spPr>
            <p:txBody>
              <a:bodyPr wrap="square" rtlCol="0">
                <a:spAutoFit/>
              </a:bodyPr>
              <a:lstStyle/>
              <a:p>
                <a14:m>
                  <m:oMath xmlns:m="http://schemas.openxmlformats.org/officeDocument/2006/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𝟑𝟎</m:t>
                        </m:r>
                      </m:e>
                      <m:sup>
                        <m:r>
                          <a:rPr lang="en-US" sz="2000" b="1" i="1" smtClean="0">
                            <a:solidFill>
                              <a:schemeClr val="bg2"/>
                            </a:solidFill>
                            <a:latin typeface="Cambria Math" panose="02040503050406030204" pitchFamily="18" charset="0"/>
                          </a:rPr>
                          <m:t>∘</m:t>
                        </m:r>
                      </m:sup>
                    </m:sSup>
                  </m:oMath>
                </a14:m>
                <a:r>
                  <a:rPr lang="en-US" sz="2000" b="1" dirty="0">
                    <a:solidFill>
                      <a:schemeClr val="bg2"/>
                    </a:solidFill>
                  </a:rPr>
                  <a:t>,</a:t>
                </a:r>
                <a:br>
                  <a:rPr lang="en-US" sz="2000" b="1" dirty="0">
                    <a:solidFill>
                      <a:schemeClr val="bg2"/>
                    </a:solidFill>
                  </a:rPr>
                </a:br>
                <a:r>
                  <a:rPr lang="en-US" sz="2000" b="1" dirty="0">
                    <a:solidFill>
                      <a:schemeClr val="bg2"/>
                    </a:solidFill>
                  </a:rPr>
                  <a:t>same scale</a:t>
                </a:r>
              </a:p>
            </p:txBody>
          </p:sp>
        </mc:Choice>
        <mc:Fallback xmlns="">
          <p:sp>
            <p:nvSpPr>
              <p:cNvPr id="10" name="TextBox 9">
                <a:extLst>
                  <a:ext uri="{FF2B5EF4-FFF2-40B4-BE49-F238E27FC236}">
                    <a16:creationId xmlns:a16="http://schemas.microsoft.com/office/drawing/2014/main" id="{F90C9D40-DD59-222B-F2F6-8B38EE7BBA1A}"/>
                  </a:ext>
                </a:extLst>
              </p:cNvPr>
              <p:cNvSpPr txBox="1">
                <a:spLocks noRot="1" noChangeAspect="1" noMove="1" noResize="1" noEditPoints="1" noAdjustHandles="1" noChangeArrowheads="1" noChangeShapeType="1" noTextEdit="1"/>
              </p:cNvSpPr>
              <p:nvPr/>
            </p:nvSpPr>
            <p:spPr>
              <a:xfrm>
                <a:off x="3895906" y="377893"/>
                <a:ext cx="1888065" cy="707886"/>
              </a:xfrm>
              <a:prstGeom prst="rect">
                <a:avLst/>
              </a:prstGeom>
              <a:blipFill>
                <a:blip r:embed="rId7"/>
                <a:stretch>
                  <a:fillRect l="-2885" t="-3390" b="-14407"/>
                </a:stretch>
              </a:blipFill>
              <a:ln>
                <a:solidFill>
                  <a:schemeClr val="bg2"/>
                </a:solidFill>
              </a:ln>
            </p:spPr>
            <p:txBody>
              <a:bodyPr/>
              <a:lstStyle/>
              <a:p>
                <a:r>
                  <a:rPr lang="en-US">
                    <a:noFill/>
                  </a:rPr>
                  <a:t> </a:t>
                </a:r>
              </a:p>
            </p:txBody>
          </p:sp>
        </mc:Fallback>
      </mc:AlternateContent>
    </p:spTree>
    <p:extLst>
      <p:ext uri="{BB962C8B-B14F-4D97-AF65-F5344CB8AC3E}">
        <p14:creationId xmlns:p14="http://schemas.microsoft.com/office/powerpoint/2010/main" val="310635430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7A6C9-E07D-AB80-6E85-16CBDE03D974}"/>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D01FA97C-B645-96D4-1A59-BF03FE59EE84}"/>
              </a:ext>
            </a:extLst>
          </p:cNvPr>
          <p:cNvPicPr>
            <a:picLocks noChangeAspect="1"/>
          </p:cNvPicPr>
          <p:nvPr/>
        </p:nvPicPr>
        <p:blipFill>
          <a:blip r:embed="rId2"/>
          <a:srcRect r="58033"/>
          <a:stretch>
            <a:fillRect/>
          </a:stretch>
        </p:blipFill>
        <p:spPr>
          <a:xfrm>
            <a:off x="0" y="0"/>
            <a:ext cx="2650067" cy="6858000"/>
          </a:xfrm>
          <a:prstGeom prst="rect">
            <a:avLst/>
          </a:prstGeom>
        </p:spPr>
      </p:pic>
      <p:pic>
        <p:nvPicPr>
          <p:cNvPr id="22" name="Picture 21">
            <a:extLst>
              <a:ext uri="{FF2B5EF4-FFF2-40B4-BE49-F238E27FC236}">
                <a16:creationId xmlns:a16="http://schemas.microsoft.com/office/drawing/2014/main" id="{F8268AD3-0BD0-2441-4381-F3145199E6E7}"/>
              </a:ext>
            </a:extLst>
          </p:cNvPr>
          <p:cNvPicPr>
            <a:picLocks noChangeAspect="1"/>
          </p:cNvPicPr>
          <p:nvPr/>
        </p:nvPicPr>
        <p:blipFill>
          <a:blip r:embed="rId2"/>
          <a:srcRect l="56645"/>
          <a:stretch>
            <a:fillRect/>
          </a:stretch>
        </p:blipFill>
        <p:spPr>
          <a:xfrm>
            <a:off x="2650067" y="0"/>
            <a:ext cx="2737729" cy="6858000"/>
          </a:xfrm>
          <a:prstGeom prst="rect">
            <a:avLst/>
          </a:prstGeom>
        </p:spPr>
      </p:pic>
      <p:pic>
        <p:nvPicPr>
          <p:cNvPr id="23" name="Picture 22">
            <a:extLst>
              <a:ext uri="{FF2B5EF4-FFF2-40B4-BE49-F238E27FC236}">
                <a16:creationId xmlns:a16="http://schemas.microsoft.com/office/drawing/2014/main" id="{D4299B97-3D07-D7C9-73E6-5FAD783AFF37}"/>
              </a:ext>
            </a:extLst>
          </p:cNvPr>
          <p:cNvPicPr>
            <a:picLocks noChangeAspect="1"/>
          </p:cNvPicPr>
          <p:nvPr/>
        </p:nvPicPr>
        <p:blipFill>
          <a:blip r:embed="rId3"/>
          <a:srcRect r="57775"/>
          <a:stretch>
            <a:fillRect/>
          </a:stretch>
        </p:blipFill>
        <p:spPr>
          <a:xfrm>
            <a:off x="6891865" y="0"/>
            <a:ext cx="2650067" cy="6858000"/>
          </a:xfrm>
          <a:prstGeom prst="rect">
            <a:avLst/>
          </a:prstGeom>
        </p:spPr>
      </p:pic>
      <p:pic>
        <p:nvPicPr>
          <p:cNvPr id="17" name="Picture 16">
            <a:extLst>
              <a:ext uri="{FF2B5EF4-FFF2-40B4-BE49-F238E27FC236}">
                <a16:creationId xmlns:a16="http://schemas.microsoft.com/office/drawing/2014/main" id="{9BDA3D68-3752-118A-F8F8-88809195673E}"/>
              </a:ext>
            </a:extLst>
          </p:cNvPr>
          <p:cNvPicPr>
            <a:picLocks noChangeAspect="1"/>
          </p:cNvPicPr>
          <p:nvPr/>
        </p:nvPicPr>
        <p:blipFill>
          <a:blip r:embed="rId3"/>
          <a:srcRect l="57775"/>
          <a:stretch>
            <a:fillRect/>
          </a:stretch>
        </p:blipFill>
        <p:spPr>
          <a:xfrm>
            <a:off x="9541932" y="0"/>
            <a:ext cx="2650067" cy="685800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B8754AE-9B81-F023-2E64-10EE76A0A85A}"/>
                  </a:ext>
                </a:extLst>
              </p:cNvPr>
              <p:cNvSpPr txBox="1"/>
              <p:nvPr/>
            </p:nvSpPr>
            <p:spPr>
              <a:xfrm>
                <a:off x="10889370" y="2726585"/>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𝟑𝟎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7" name="TextBox 6">
                <a:extLst>
                  <a:ext uri="{FF2B5EF4-FFF2-40B4-BE49-F238E27FC236}">
                    <a16:creationId xmlns:a16="http://schemas.microsoft.com/office/drawing/2014/main" id="{CB8754AE-9B81-F023-2E64-10EE76A0A85A}"/>
                  </a:ext>
                </a:extLst>
              </p:cNvPr>
              <p:cNvSpPr txBox="1">
                <a:spLocks noRot="1" noChangeAspect="1" noMove="1" noResize="1" noEditPoints="1" noAdjustHandles="1" noChangeArrowheads="1" noChangeShapeType="1" noTextEdit="1"/>
              </p:cNvSpPr>
              <p:nvPr/>
            </p:nvSpPr>
            <p:spPr>
              <a:xfrm>
                <a:off x="10889370" y="2726585"/>
                <a:ext cx="1168400" cy="400110"/>
              </a:xfrm>
              <a:prstGeom prst="rect">
                <a:avLst/>
              </a:prstGeom>
              <a:blipFill>
                <a:blip r:embed="rId4"/>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04111D5-B094-17E8-BBE5-98334457AC39}"/>
                  </a:ext>
                </a:extLst>
              </p:cNvPr>
              <p:cNvSpPr txBox="1"/>
              <p:nvPr/>
            </p:nvSpPr>
            <p:spPr>
              <a:xfrm>
                <a:off x="8395937" y="6223318"/>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𝟔𝟎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8" name="TextBox 7">
                <a:extLst>
                  <a:ext uri="{FF2B5EF4-FFF2-40B4-BE49-F238E27FC236}">
                    <a16:creationId xmlns:a16="http://schemas.microsoft.com/office/drawing/2014/main" id="{604111D5-B094-17E8-BBE5-98334457AC39}"/>
                  </a:ext>
                </a:extLst>
              </p:cNvPr>
              <p:cNvSpPr txBox="1">
                <a:spLocks noRot="1" noChangeAspect="1" noMove="1" noResize="1" noEditPoints="1" noAdjustHandles="1" noChangeArrowheads="1" noChangeShapeType="1" noTextEdit="1"/>
              </p:cNvSpPr>
              <p:nvPr/>
            </p:nvSpPr>
            <p:spPr>
              <a:xfrm>
                <a:off x="8395937" y="6223318"/>
                <a:ext cx="1168400" cy="400110"/>
              </a:xfrm>
              <a:prstGeom prst="rect">
                <a:avLst/>
              </a:prstGeom>
              <a:blipFill>
                <a:blip r:embed="rId5"/>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B73B581-72AE-D5A6-541D-25BFBFA5F651}"/>
                  </a:ext>
                </a:extLst>
              </p:cNvPr>
              <p:cNvSpPr txBox="1"/>
              <p:nvPr/>
            </p:nvSpPr>
            <p:spPr>
              <a:xfrm>
                <a:off x="10889370" y="6223318"/>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𝟗𝟎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9" name="TextBox 8">
                <a:extLst>
                  <a:ext uri="{FF2B5EF4-FFF2-40B4-BE49-F238E27FC236}">
                    <a16:creationId xmlns:a16="http://schemas.microsoft.com/office/drawing/2014/main" id="{2B73B581-72AE-D5A6-541D-25BFBFA5F651}"/>
                  </a:ext>
                </a:extLst>
              </p:cNvPr>
              <p:cNvSpPr txBox="1">
                <a:spLocks noRot="1" noChangeAspect="1" noMove="1" noResize="1" noEditPoints="1" noAdjustHandles="1" noChangeArrowheads="1" noChangeShapeType="1" noTextEdit="1"/>
              </p:cNvSpPr>
              <p:nvPr/>
            </p:nvSpPr>
            <p:spPr>
              <a:xfrm>
                <a:off x="10889370" y="6223318"/>
                <a:ext cx="1168400" cy="400110"/>
              </a:xfrm>
              <a:prstGeom prst="rect">
                <a:avLst/>
              </a:prstGeom>
              <a:blipFill>
                <a:blip r:embed="rId6"/>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54DC4AD-05CC-4EE1-FC38-1639E0260304}"/>
                  </a:ext>
                </a:extLst>
              </p:cNvPr>
              <p:cNvSpPr txBox="1"/>
              <p:nvPr/>
            </p:nvSpPr>
            <p:spPr>
              <a:xfrm>
                <a:off x="1847955" y="192875"/>
                <a:ext cx="1559413" cy="584775"/>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3200" b="1" i="1" smtClean="0">
                          <a:solidFill>
                            <a:schemeClr val="bg2"/>
                          </a:solidFill>
                          <a:latin typeface="Cambria Math" panose="02040503050406030204" pitchFamily="18" charset="0"/>
                        </a:rPr>
                        <m:t>𝑰</m:t>
                      </m:r>
                      <m:r>
                        <a:rPr lang="en-US" sz="3200" b="1" i="1" smtClean="0">
                          <a:solidFill>
                            <a:schemeClr val="bg2"/>
                          </a:solidFill>
                          <a:latin typeface="Cambria Math" panose="02040503050406030204" pitchFamily="18" charset="0"/>
                        </a:rPr>
                        <m:t>=</m:t>
                      </m:r>
                      <m:sSup>
                        <m:sSupPr>
                          <m:ctrlPr>
                            <a:rPr lang="en-US" sz="3200" b="1" i="1" smtClean="0">
                              <a:solidFill>
                                <a:schemeClr val="bg2"/>
                              </a:solidFill>
                              <a:latin typeface="Cambria Math" panose="02040503050406030204" pitchFamily="18" charset="0"/>
                            </a:rPr>
                          </m:ctrlPr>
                        </m:sSupPr>
                        <m:e>
                          <m:r>
                            <a:rPr lang="en-US" sz="3200" b="1" i="1" smtClean="0">
                              <a:solidFill>
                                <a:schemeClr val="bg2"/>
                              </a:solidFill>
                              <a:latin typeface="Cambria Math" panose="02040503050406030204" pitchFamily="18" charset="0"/>
                            </a:rPr>
                            <m:t>𝟏𝟎</m:t>
                          </m:r>
                        </m:e>
                        <m:sup>
                          <m:r>
                            <a:rPr lang="en-US" sz="3200" b="1" i="1" smtClean="0">
                              <a:solidFill>
                                <a:schemeClr val="bg2"/>
                              </a:solidFill>
                              <a:latin typeface="Cambria Math" panose="02040503050406030204" pitchFamily="18" charset="0"/>
                            </a:rPr>
                            <m:t>∘</m:t>
                          </m:r>
                        </m:sup>
                      </m:sSup>
                    </m:oMath>
                  </m:oMathPara>
                </a14:m>
                <a:endParaRPr lang="en-US" sz="3200" b="1" dirty="0">
                  <a:solidFill>
                    <a:schemeClr val="bg2"/>
                  </a:solidFill>
                </a:endParaRPr>
              </a:p>
            </p:txBody>
          </p:sp>
        </mc:Choice>
        <mc:Fallback xmlns="">
          <p:sp>
            <p:nvSpPr>
              <p:cNvPr id="10" name="TextBox 9">
                <a:extLst>
                  <a:ext uri="{FF2B5EF4-FFF2-40B4-BE49-F238E27FC236}">
                    <a16:creationId xmlns:a16="http://schemas.microsoft.com/office/drawing/2014/main" id="{554DC4AD-05CC-4EE1-FC38-1639E0260304}"/>
                  </a:ext>
                </a:extLst>
              </p:cNvPr>
              <p:cNvSpPr txBox="1">
                <a:spLocks noRot="1" noChangeAspect="1" noMove="1" noResize="1" noEditPoints="1" noAdjustHandles="1" noChangeArrowheads="1" noChangeShapeType="1" noTextEdit="1"/>
              </p:cNvSpPr>
              <p:nvPr/>
            </p:nvSpPr>
            <p:spPr>
              <a:xfrm>
                <a:off x="1847955" y="192875"/>
                <a:ext cx="1559413" cy="584775"/>
              </a:xfrm>
              <a:prstGeom prst="rect">
                <a:avLst/>
              </a:prstGeom>
              <a:blipFill>
                <a:blip r:embed="rId7"/>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2FBA0DD-821A-7739-611C-C987E00D9C4F}"/>
                  </a:ext>
                </a:extLst>
              </p:cNvPr>
              <p:cNvSpPr txBox="1"/>
              <p:nvPr/>
            </p:nvSpPr>
            <p:spPr>
              <a:xfrm>
                <a:off x="8395937" y="2726585"/>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24" name="TextBox 23">
                <a:extLst>
                  <a:ext uri="{FF2B5EF4-FFF2-40B4-BE49-F238E27FC236}">
                    <a16:creationId xmlns:a16="http://schemas.microsoft.com/office/drawing/2014/main" id="{32FBA0DD-821A-7739-611C-C987E00D9C4F}"/>
                  </a:ext>
                </a:extLst>
              </p:cNvPr>
              <p:cNvSpPr txBox="1">
                <a:spLocks noRot="1" noChangeAspect="1" noMove="1" noResize="1" noEditPoints="1" noAdjustHandles="1" noChangeArrowheads="1" noChangeShapeType="1" noTextEdit="1"/>
              </p:cNvSpPr>
              <p:nvPr/>
            </p:nvSpPr>
            <p:spPr>
              <a:xfrm>
                <a:off x="8395937" y="2726585"/>
                <a:ext cx="1168400" cy="400110"/>
              </a:xfrm>
              <a:prstGeom prst="rect">
                <a:avLst/>
              </a:prstGeom>
              <a:blipFill>
                <a:blip r:embed="rId8"/>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B6356E2-8A10-D6F2-E3F0-73129E139BD3}"/>
                  </a:ext>
                </a:extLst>
              </p:cNvPr>
              <p:cNvSpPr txBox="1"/>
              <p:nvPr/>
            </p:nvSpPr>
            <p:spPr>
              <a:xfrm>
                <a:off x="4097248" y="2726585"/>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𝟑𝟎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26" name="TextBox 25">
                <a:extLst>
                  <a:ext uri="{FF2B5EF4-FFF2-40B4-BE49-F238E27FC236}">
                    <a16:creationId xmlns:a16="http://schemas.microsoft.com/office/drawing/2014/main" id="{BB6356E2-8A10-D6F2-E3F0-73129E139BD3}"/>
                  </a:ext>
                </a:extLst>
              </p:cNvPr>
              <p:cNvSpPr txBox="1">
                <a:spLocks noRot="1" noChangeAspect="1" noMove="1" noResize="1" noEditPoints="1" noAdjustHandles="1" noChangeArrowheads="1" noChangeShapeType="1" noTextEdit="1"/>
              </p:cNvSpPr>
              <p:nvPr/>
            </p:nvSpPr>
            <p:spPr>
              <a:xfrm>
                <a:off x="4097248" y="2726585"/>
                <a:ext cx="1168400" cy="400110"/>
              </a:xfrm>
              <a:prstGeom prst="rect">
                <a:avLst/>
              </a:prstGeom>
              <a:blipFill>
                <a:blip r:embed="rId9"/>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EBDD66EA-39EA-7E14-FBE7-082C64F339F7}"/>
                  </a:ext>
                </a:extLst>
              </p:cNvPr>
              <p:cNvSpPr txBox="1"/>
              <p:nvPr/>
            </p:nvSpPr>
            <p:spPr>
              <a:xfrm>
                <a:off x="1603815" y="6223318"/>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𝟔𝟎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27" name="TextBox 26">
                <a:extLst>
                  <a:ext uri="{FF2B5EF4-FFF2-40B4-BE49-F238E27FC236}">
                    <a16:creationId xmlns:a16="http://schemas.microsoft.com/office/drawing/2014/main" id="{EBDD66EA-39EA-7E14-FBE7-082C64F339F7}"/>
                  </a:ext>
                </a:extLst>
              </p:cNvPr>
              <p:cNvSpPr txBox="1">
                <a:spLocks noRot="1" noChangeAspect="1" noMove="1" noResize="1" noEditPoints="1" noAdjustHandles="1" noChangeArrowheads="1" noChangeShapeType="1" noTextEdit="1"/>
              </p:cNvSpPr>
              <p:nvPr/>
            </p:nvSpPr>
            <p:spPr>
              <a:xfrm>
                <a:off x="1603815" y="6223318"/>
                <a:ext cx="1168400" cy="400110"/>
              </a:xfrm>
              <a:prstGeom prst="rect">
                <a:avLst/>
              </a:prstGeom>
              <a:blipFill>
                <a:blip r:embed="rId10"/>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EF22560-8E15-94B8-FB86-E20C32C38A59}"/>
                  </a:ext>
                </a:extLst>
              </p:cNvPr>
              <p:cNvSpPr txBox="1"/>
              <p:nvPr/>
            </p:nvSpPr>
            <p:spPr>
              <a:xfrm>
                <a:off x="4097248" y="6223318"/>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𝟗𝟎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28" name="TextBox 27">
                <a:extLst>
                  <a:ext uri="{FF2B5EF4-FFF2-40B4-BE49-F238E27FC236}">
                    <a16:creationId xmlns:a16="http://schemas.microsoft.com/office/drawing/2014/main" id="{EEF22560-8E15-94B8-FB86-E20C32C38A59}"/>
                  </a:ext>
                </a:extLst>
              </p:cNvPr>
              <p:cNvSpPr txBox="1">
                <a:spLocks noRot="1" noChangeAspect="1" noMove="1" noResize="1" noEditPoints="1" noAdjustHandles="1" noChangeArrowheads="1" noChangeShapeType="1" noTextEdit="1"/>
              </p:cNvSpPr>
              <p:nvPr/>
            </p:nvSpPr>
            <p:spPr>
              <a:xfrm>
                <a:off x="4097248" y="6223318"/>
                <a:ext cx="1168400" cy="400110"/>
              </a:xfrm>
              <a:prstGeom prst="rect">
                <a:avLst/>
              </a:prstGeom>
              <a:blipFill>
                <a:blip r:embed="rId11"/>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4278718-1F7B-E720-8DEA-7FFD2436CC33}"/>
                  </a:ext>
                </a:extLst>
              </p:cNvPr>
              <p:cNvSpPr txBox="1"/>
              <p:nvPr/>
            </p:nvSpPr>
            <p:spPr>
              <a:xfrm>
                <a:off x="1603815" y="2726585"/>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29" name="TextBox 28">
                <a:extLst>
                  <a:ext uri="{FF2B5EF4-FFF2-40B4-BE49-F238E27FC236}">
                    <a16:creationId xmlns:a16="http://schemas.microsoft.com/office/drawing/2014/main" id="{14278718-1F7B-E720-8DEA-7FFD2436CC33}"/>
                  </a:ext>
                </a:extLst>
              </p:cNvPr>
              <p:cNvSpPr txBox="1">
                <a:spLocks noRot="1" noChangeAspect="1" noMove="1" noResize="1" noEditPoints="1" noAdjustHandles="1" noChangeArrowheads="1" noChangeShapeType="1" noTextEdit="1"/>
              </p:cNvSpPr>
              <p:nvPr/>
            </p:nvSpPr>
            <p:spPr>
              <a:xfrm>
                <a:off x="1603815" y="2726585"/>
                <a:ext cx="1168400" cy="400110"/>
              </a:xfrm>
              <a:prstGeom prst="rect">
                <a:avLst/>
              </a:prstGeom>
              <a:blipFill>
                <a:blip r:embed="rId12"/>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B64282B-D666-0963-A997-224535BB3930}"/>
                  </a:ext>
                </a:extLst>
              </p:cNvPr>
              <p:cNvSpPr txBox="1"/>
              <p:nvPr/>
            </p:nvSpPr>
            <p:spPr>
              <a:xfrm>
                <a:off x="8784632" y="192874"/>
                <a:ext cx="1559413" cy="584775"/>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3200" b="1" i="1" smtClean="0">
                          <a:solidFill>
                            <a:schemeClr val="bg2"/>
                          </a:solidFill>
                          <a:latin typeface="Cambria Math" panose="02040503050406030204" pitchFamily="18" charset="0"/>
                        </a:rPr>
                        <m:t>𝑰</m:t>
                      </m:r>
                      <m:r>
                        <a:rPr lang="en-US" sz="3200" b="1" i="1" smtClean="0">
                          <a:solidFill>
                            <a:schemeClr val="bg2"/>
                          </a:solidFill>
                          <a:latin typeface="Cambria Math" panose="02040503050406030204" pitchFamily="18" charset="0"/>
                        </a:rPr>
                        <m:t>=</m:t>
                      </m:r>
                      <m:sSup>
                        <m:sSupPr>
                          <m:ctrlPr>
                            <a:rPr lang="en-US" sz="3200" b="1" i="1" smtClean="0">
                              <a:solidFill>
                                <a:schemeClr val="bg2"/>
                              </a:solidFill>
                              <a:latin typeface="Cambria Math" panose="02040503050406030204" pitchFamily="18" charset="0"/>
                            </a:rPr>
                          </m:ctrlPr>
                        </m:sSupPr>
                        <m:e>
                          <m:r>
                            <a:rPr lang="en-US" sz="3200" b="1" i="1" smtClean="0">
                              <a:solidFill>
                                <a:schemeClr val="bg2"/>
                              </a:solidFill>
                              <a:latin typeface="Cambria Math" panose="02040503050406030204" pitchFamily="18" charset="0"/>
                            </a:rPr>
                            <m:t>𝟑𝟎</m:t>
                          </m:r>
                        </m:e>
                        <m:sup>
                          <m:r>
                            <a:rPr lang="en-US" sz="3200" b="1" i="1" smtClean="0">
                              <a:solidFill>
                                <a:schemeClr val="bg2"/>
                              </a:solidFill>
                              <a:latin typeface="Cambria Math" panose="02040503050406030204" pitchFamily="18" charset="0"/>
                            </a:rPr>
                            <m:t>∘</m:t>
                          </m:r>
                        </m:sup>
                      </m:sSup>
                    </m:oMath>
                  </m:oMathPara>
                </a14:m>
                <a:endParaRPr lang="en-US" sz="3200" b="1" dirty="0">
                  <a:solidFill>
                    <a:schemeClr val="bg2"/>
                  </a:solidFill>
                </a:endParaRPr>
              </a:p>
            </p:txBody>
          </p:sp>
        </mc:Choice>
        <mc:Fallback xmlns="">
          <p:sp>
            <p:nvSpPr>
              <p:cNvPr id="30" name="TextBox 29">
                <a:extLst>
                  <a:ext uri="{FF2B5EF4-FFF2-40B4-BE49-F238E27FC236}">
                    <a16:creationId xmlns:a16="http://schemas.microsoft.com/office/drawing/2014/main" id="{1B64282B-D666-0963-A997-224535BB3930}"/>
                  </a:ext>
                </a:extLst>
              </p:cNvPr>
              <p:cNvSpPr txBox="1">
                <a:spLocks noRot="1" noChangeAspect="1" noMove="1" noResize="1" noEditPoints="1" noAdjustHandles="1" noChangeArrowheads="1" noChangeShapeType="1" noTextEdit="1"/>
              </p:cNvSpPr>
              <p:nvPr/>
            </p:nvSpPr>
            <p:spPr>
              <a:xfrm>
                <a:off x="8784632" y="192874"/>
                <a:ext cx="1559413" cy="584775"/>
              </a:xfrm>
              <a:prstGeom prst="rect">
                <a:avLst/>
              </a:prstGeom>
              <a:blipFill>
                <a:blip r:embed="rId13"/>
                <a:stretch>
                  <a:fillRect/>
                </a:stretch>
              </a:blipFill>
              <a:ln>
                <a:solidFill>
                  <a:schemeClr val="bg2"/>
                </a:solidFill>
              </a:ln>
            </p:spPr>
            <p:txBody>
              <a:bodyPr/>
              <a:lstStyle/>
              <a:p>
                <a:r>
                  <a:rPr lang="en-US">
                    <a:noFill/>
                  </a:rPr>
                  <a:t> </a:t>
                </a:r>
              </a:p>
            </p:txBody>
          </p:sp>
        </mc:Fallback>
      </mc:AlternateContent>
      <p:cxnSp>
        <p:nvCxnSpPr>
          <p:cNvPr id="32" name="Straight Connector 31">
            <a:extLst>
              <a:ext uri="{FF2B5EF4-FFF2-40B4-BE49-F238E27FC236}">
                <a16:creationId xmlns:a16="http://schemas.microsoft.com/office/drawing/2014/main" id="{B8635A58-D856-D596-0107-170DF7BAED2D}"/>
              </a:ext>
            </a:extLst>
          </p:cNvPr>
          <p:cNvCxnSpPr/>
          <p:nvPr/>
        </p:nvCxnSpPr>
        <p:spPr>
          <a:xfrm flipV="1">
            <a:off x="6028267" y="110067"/>
            <a:ext cx="0" cy="663786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697769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1F276-05A8-6EF0-8F61-3CBED698D76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150D996-E511-BD12-C1F9-34073F854619}"/>
              </a:ext>
            </a:extLst>
          </p:cNvPr>
          <p:cNvPicPr>
            <a:picLocks noChangeAspect="1"/>
          </p:cNvPicPr>
          <p:nvPr/>
        </p:nvPicPr>
        <p:blipFill>
          <a:blip r:embed="rId2"/>
          <a:srcRect r="58715"/>
          <a:stretch>
            <a:fillRect/>
          </a:stretch>
        </p:blipFill>
        <p:spPr>
          <a:xfrm>
            <a:off x="0" y="0"/>
            <a:ext cx="2605460" cy="6858000"/>
          </a:xfrm>
          <a:prstGeom prst="rect">
            <a:avLst/>
          </a:prstGeom>
        </p:spPr>
      </p:pic>
      <p:pic>
        <p:nvPicPr>
          <p:cNvPr id="5" name="Picture 4">
            <a:extLst>
              <a:ext uri="{FF2B5EF4-FFF2-40B4-BE49-F238E27FC236}">
                <a16:creationId xmlns:a16="http://schemas.microsoft.com/office/drawing/2014/main" id="{890A8CE5-5B8B-2177-002E-3C720BF45AB8}"/>
              </a:ext>
            </a:extLst>
          </p:cNvPr>
          <p:cNvPicPr>
            <a:picLocks noChangeAspect="1"/>
          </p:cNvPicPr>
          <p:nvPr/>
        </p:nvPicPr>
        <p:blipFill>
          <a:blip r:embed="rId2"/>
          <a:srcRect l="56618"/>
          <a:stretch>
            <a:fillRect/>
          </a:stretch>
        </p:blipFill>
        <p:spPr>
          <a:xfrm>
            <a:off x="2605460" y="0"/>
            <a:ext cx="2737729" cy="6858000"/>
          </a:xfrm>
          <a:prstGeom prst="rect">
            <a:avLst/>
          </a:prstGeom>
        </p:spPr>
      </p:pic>
      <p:pic>
        <p:nvPicPr>
          <p:cNvPr id="2" name="Picture 1">
            <a:extLst>
              <a:ext uri="{FF2B5EF4-FFF2-40B4-BE49-F238E27FC236}">
                <a16:creationId xmlns:a16="http://schemas.microsoft.com/office/drawing/2014/main" id="{3A9D6BD5-37CF-47F2-7490-4F23205D2DBD}"/>
              </a:ext>
            </a:extLst>
          </p:cNvPr>
          <p:cNvPicPr>
            <a:picLocks noChangeAspect="1"/>
          </p:cNvPicPr>
          <p:nvPr/>
        </p:nvPicPr>
        <p:blipFill>
          <a:blip r:embed="rId3"/>
          <a:srcRect r="58736"/>
          <a:stretch>
            <a:fillRect/>
          </a:stretch>
        </p:blipFill>
        <p:spPr>
          <a:xfrm>
            <a:off x="6848811" y="0"/>
            <a:ext cx="2605460" cy="6858000"/>
          </a:xfrm>
          <a:prstGeom prst="rect">
            <a:avLst/>
          </a:prstGeom>
        </p:spPr>
      </p:pic>
      <p:pic>
        <p:nvPicPr>
          <p:cNvPr id="3" name="Picture 2">
            <a:extLst>
              <a:ext uri="{FF2B5EF4-FFF2-40B4-BE49-F238E27FC236}">
                <a16:creationId xmlns:a16="http://schemas.microsoft.com/office/drawing/2014/main" id="{5403B382-4AA0-2AB5-DCA8-7D986592CA06}"/>
              </a:ext>
            </a:extLst>
          </p:cNvPr>
          <p:cNvPicPr>
            <a:picLocks noChangeAspect="1"/>
          </p:cNvPicPr>
          <p:nvPr/>
        </p:nvPicPr>
        <p:blipFill>
          <a:blip r:embed="rId3"/>
          <a:srcRect l="56641"/>
          <a:stretch>
            <a:fillRect/>
          </a:stretch>
        </p:blipFill>
        <p:spPr>
          <a:xfrm>
            <a:off x="9454271" y="0"/>
            <a:ext cx="2737729" cy="685800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71883CD-73D0-F15C-3FED-B23B8D354C34}"/>
                  </a:ext>
                </a:extLst>
              </p:cNvPr>
              <p:cNvSpPr txBox="1"/>
              <p:nvPr/>
            </p:nvSpPr>
            <p:spPr>
              <a:xfrm>
                <a:off x="10889370" y="2726585"/>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𝟑𝟎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7" name="TextBox 6">
                <a:extLst>
                  <a:ext uri="{FF2B5EF4-FFF2-40B4-BE49-F238E27FC236}">
                    <a16:creationId xmlns:a16="http://schemas.microsoft.com/office/drawing/2014/main" id="{871883CD-73D0-F15C-3FED-B23B8D354C34}"/>
                  </a:ext>
                </a:extLst>
              </p:cNvPr>
              <p:cNvSpPr txBox="1">
                <a:spLocks noRot="1" noChangeAspect="1" noMove="1" noResize="1" noEditPoints="1" noAdjustHandles="1" noChangeArrowheads="1" noChangeShapeType="1" noTextEdit="1"/>
              </p:cNvSpPr>
              <p:nvPr/>
            </p:nvSpPr>
            <p:spPr>
              <a:xfrm>
                <a:off x="10889370" y="2726585"/>
                <a:ext cx="1168400" cy="400110"/>
              </a:xfrm>
              <a:prstGeom prst="rect">
                <a:avLst/>
              </a:prstGeom>
              <a:blipFill>
                <a:blip r:embed="rId4"/>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FC615DB-4E39-AD77-2314-1B72646B2873}"/>
                  </a:ext>
                </a:extLst>
              </p:cNvPr>
              <p:cNvSpPr txBox="1"/>
              <p:nvPr/>
            </p:nvSpPr>
            <p:spPr>
              <a:xfrm>
                <a:off x="8395937" y="6223318"/>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𝟔𝟎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8" name="TextBox 7">
                <a:extLst>
                  <a:ext uri="{FF2B5EF4-FFF2-40B4-BE49-F238E27FC236}">
                    <a16:creationId xmlns:a16="http://schemas.microsoft.com/office/drawing/2014/main" id="{BFC615DB-4E39-AD77-2314-1B72646B2873}"/>
                  </a:ext>
                </a:extLst>
              </p:cNvPr>
              <p:cNvSpPr txBox="1">
                <a:spLocks noRot="1" noChangeAspect="1" noMove="1" noResize="1" noEditPoints="1" noAdjustHandles="1" noChangeArrowheads="1" noChangeShapeType="1" noTextEdit="1"/>
              </p:cNvSpPr>
              <p:nvPr/>
            </p:nvSpPr>
            <p:spPr>
              <a:xfrm>
                <a:off x="8395937" y="6223318"/>
                <a:ext cx="1168400" cy="400110"/>
              </a:xfrm>
              <a:prstGeom prst="rect">
                <a:avLst/>
              </a:prstGeom>
              <a:blipFill>
                <a:blip r:embed="rId5"/>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C58867D-AD5E-0B14-FB02-DA978E1560CD}"/>
                  </a:ext>
                </a:extLst>
              </p:cNvPr>
              <p:cNvSpPr txBox="1"/>
              <p:nvPr/>
            </p:nvSpPr>
            <p:spPr>
              <a:xfrm>
                <a:off x="10889370" y="6223318"/>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𝟗𝟎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9" name="TextBox 8">
                <a:extLst>
                  <a:ext uri="{FF2B5EF4-FFF2-40B4-BE49-F238E27FC236}">
                    <a16:creationId xmlns:a16="http://schemas.microsoft.com/office/drawing/2014/main" id="{9C58867D-AD5E-0B14-FB02-DA978E1560CD}"/>
                  </a:ext>
                </a:extLst>
              </p:cNvPr>
              <p:cNvSpPr txBox="1">
                <a:spLocks noRot="1" noChangeAspect="1" noMove="1" noResize="1" noEditPoints="1" noAdjustHandles="1" noChangeArrowheads="1" noChangeShapeType="1" noTextEdit="1"/>
              </p:cNvSpPr>
              <p:nvPr/>
            </p:nvSpPr>
            <p:spPr>
              <a:xfrm>
                <a:off x="10889370" y="6223318"/>
                <a:ext cx="1168400" cy="400110"/>
              </a:xfrm>
              <a:prstGeom prst="rect">
                <a:avLst/>
              </a:prstGeom>
              <a:blipFill>
                <a:blip r:embed="rId6"/>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4279487-8F94-2894-6801-BF359016E751}"/>
                  </a:ext>
                </a:extLst>
              </p:cNvPr>
              <p:cNvSpPr txBox="1"/>
              <p:nvPr/>
            </p:nvSpPr>
            <p:spPr>
              <a:xfrm>
                <a:off x="1847955" y="192875"/>
                <a:ext cx="1559413" cy="584775"/>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3200" b="1" i="1" smtClean="0">
                          <a:solidFill>
                            <a:schemeClr val="bg2"/>
                          </a:solidFill>
                          <a:latin typeface="Cambria Math" panose="02040503050406030204" pitchFamily="18" charset="0"/>
                        </a:rPr>
                        <m:t>𝑰</m:t>
                      </m:r>
                      <m:r>
                        <a:rPr lang="en-US" sz="3200" b="1" i="1" smtClean="0">
                          <a:solidFill>
                            <a:schemeClr val="bg2"/>
                          </a:solidFill>
                          <a:latin typeface="Cambria Math" panose="02040503050406030204" pitchFamily="18" charset="0"/>
                        </a:rPr>
                        <m:t>=</m:t>
                      </m:r>
                      <m:sSup>
                        <m:sSupPr>
                          <m:ctrlPr>
                            <a:rPr lang="en-US" sz="3200" b="1" i="1" smtClean="0">
                              <a:solidFill>
                                <a:schemeClr val="bg2"/>
                              </a:solidFill>
                              <a:latin typeface="Cambria Math" panose="02040503050406030204" pitchFamily="18" charset="0"/>
                            </a:rPr>
                          </m:ctrlPr>
                        </m:sSupPr>
                        <m:e>
                          <m:r>
                            <a:rPr lang="en-US" sz="3200" b="1" i="1" smtClean="0">
                              <a:solidFill>
                                <a:schemeClr val="bg2"/>
                              </a:solidFill>
                              <a:latin typeface="Cambria Math" panose="02040503050406030204" pitchFamily="18" charset="0"/>
                            </a:rPr>
                            <m:t>𝟓𝟎</m:t>
                          </m:r>
                        </m:e>
                        <m:sup>
                          <m:r>
                            <a:rPr lang="en-US" sz="3200" b="1" i="1" smtClean="0">
                              <a:solidFill>
                                <a:schemeClr val="bg2"/>
                              </a:solidFill>
                              <a:latin typeface="Cambria Math" panose="02040503050406030204" pitchFamily="18" charset="0"/>
                            </a:rPr>
                            <m:t>∘</m:t>
                          </m:r>
                        </m:sup>
                      </m:sSup>
                    </m:oMath>
                  </m:oMathPara>
                </a14:m>
                <a:endParaRPr lang="en-US" sz="3200" b="1" dirty="0">
                  <a:solidFill>
                    <a:schemeClr val="bg2"/>
                  </a:solidFill>
                </a:endParaRPr>
              </a:p>
            </p:txBody>
          </p:sp>
        </mc:Choice>
        <mc:Fallback xmlns="">
          <p:sp>
            <p:nvSpPr>
              <p:cNvPr id="10" name="TextBox 9">
                <a:extLst>
                  <a:ext uri="{FF2B5EF4-FFF2-40B4-BE49-F238E27FC236}">
                    <a16:creationId xmlns:a16="http://schemas.microsoft.com/office/drawing/2014/main" id="{94279487-8F94-2894-6801-BF359016E751}"/>
                  </a:ext>
                </a:extLst>
              </p:cNvPr>
              <p:cNvSpPr txBox="1">
                <a:spLocks noRot="1" noChangeAspect="1" noMove="1" noResize="1" noEditPoints="1" noAdjustHandles="1" noChangeArrowheads="1" noChangeShapeType="1" noTextEdit="1"/>
              </p:cNvSpPr>
              <p:nvPr/>
            </p:nvSpPr>
            <p:spPr>
              <a:xfrm>
                <a:off x="1847955" y="192875"/>
                <a:ext cx="1559413" cy="584775"/>
              </a:xfrm>
              <a:prstGeom prst="rect">
                <a:avLst/>
              </a:prstGeom>
              <a:blipFill>
                <a:blip r:embed="rId7"/>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622A519-191C-BE8D-7430-4E48B6B97215}"/>
                  </a:ext>
                </a:extLst>
              </p:cNvPr>
              <p:cNvSpPr txBox="1"/>
              <p:nvPr/>
            </p:nvSpPr>
            <p:spPr>
              <a:xfrm>
                <a:off x="8395937" y="2726585"/>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24" name="TextBox 23">
                <a:extLst>
                  <a:ext uri="{FF2B5EF4-FFF2-40B4-BE49-F238E27FC236}">
                    <a16:creationId xmlns:a16="http://schemas.microsoft.com/office/drawing/2014/main" id="{F622A519-191C-BE8D-7430-4E48B6B97215}"/>
                  </a:ext>
                </a:extLst>
              </p:cNvPr>
              <p:cNvSpPr txBox="1">
                <a:spLocks noRot="1" noChangeAspect="1" noMove="1" noResize="1" noEditPoints="1" noAdjustHandles="1" noChangeArrowheads="1" noChangeShapeType="1" noTextEdit="1"/>
              </p:cNvSpPr>
              <p:nvPr/>
            </p:nvSpPr>
            <p:spPr>
              <a:xfrm>
                <a:off x="8395937" y="2726585"/>
                <a:ext cx="1168400" cy="400110"/>
              </a:xfrm>
              <a:prstGeom prst="rect">
                <a:avLst/>
              </a:prstGeom>
              <a:blipFill>
                <a:blip r:embed="rId8"/>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A80F068-F1D0-0850-526C-F5DB0A1FFD44}"/>
                  </a:ext>
                </a:extLst>
              </p:cNvPr>
              <p:cNvSpPr txBox="1"/>
              <p:nvPr/>
            </p:nvSpPr>
            <p:spPr>
              <a:xfrm>
                <a:off x="4097248" y="2726585"/>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𝟑𝟎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26" name="TextBox 25">
                <a:extLst>
                  <a:ext uri="{FF2B5EF4-FFF2-40B4-BE49-F238E27FC236}">
                    <a16:creationId xmlns:a16="http://schemas.microsoft.com/office/drawing/2014/main" id="{3A80F068-F1D0-0850-526C-F5DB0A1FFD44}"/>
                  </a:ext>
                </a:extLst>
              </p:cNvPr>
              <p:cNvSpPr txBox="1">
                <a:spLocks noRot="1" noChangeAspect="1" noMove="1" noResize="1" noEditPoints="1" noAdjustHandles="1" noChangeArrowheads="1" noChangeShapeType="1" noTextEdit="1"/>
              </p:cNvSpPr>
              <p:nvPr/>
            </p:nvSpPr>
            <p:spPr>
              <a:xfrm>
                <a:off x="4097248" y="2726585"/>
                <a:ext cx="1168400" cy="400110"/>
              </a:xfrm>
              <a:prstGeom prst="rect">
                <a:avLst/>
              </a:prstGeom>
              <a:blipFill>
                <a:blip r:embed="rId9"/>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D9DC098-08FC-8AFC-7813-3C4DA83A37B4}"/>
                  </a:ext>
                </a:extLst>
              </p:cNvPr>
              <p:cNvSpPr txBox="1"/>
              <p:nvPr/>
            </p:nvSpPr>
            <p:spPr>
              <a:xfrm>
                <a:off x="1603815" y="6223318"/>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𝟔𝟎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27" name="TextBox 26">
                <a:extLst>
                  <a:ext uri="{FF2B5EF4-FFF2-40B4-BE49-F238E27FC236}">
                    <a16:creationId xmlns:a16="http://schemas.microsoft.com/office/drawing/2014/main" id="{2D9DC098-08FC-8AFC-7813-3C4DA83A37B4}"/>
                  </a:ext>
                </a:extLst>
              </p:cNvPr>
              <p:cNvSpPr txBox="1">
                <a:spLocks noRot="1" noChangeAspect="1" noMove="1" noResize="1" noEditPoints="1" noAdjustHandles="1" noChangeArrowheads="1" noChangeShapeType="1" noTextEdit="1"/>
              </p:cNvSpPr>
              <p:nvPr/>
            </p:nvSpPr>
            <p:spPr>
              <a:xfrm>
                <a:off x="1603815" y="6223318"/>
                <a:ext cx="1168400" cy="400110"/>
              </a:xfrm>
              <a:prstGeom prst="rect">
                <a:avLst/>
              </a:prstGeom>
              <a:blipFill>
                <a:blip r:embed="rId10"/>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A0D899B-0ABD-6C2F-7CC8-942EAD903253}"/>
                  </a:ext>
                </a:extLst>
              </p:cNvPr>
              <p:cNvSpPr txBox="1"/>
              <p:nvPr/>
            </p:nvSpPr>
            <p:spPr>
              <a:xfrm>
                <a:off x="4097248" y="6223318"/>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𝟗𝟎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28" name="TextBox 27">
                <a:extLst>
                  <a:ext uri="{FF2B5EF4-FFF2-40B4-BE49-F238E27FC236}">
                    <a16:creationId xmlns:a16="http://schemas.microsoft.com/office/drawing/2014/main" id="{BA0D899B-0ABD-6C2F-7CC8-942EAD903253}"/>
                  </a:ext>
                </a:extLst>
              </p:cNvPr>
              <p:cNvSpPr txBox="1">
                <a:spLocks noRot="1" noChangeAspect="1" noMove="1" noResize="1" noEditPoints="1" noAdjustHandles="1" noChangeArrowheads="1" noChangeShapeType="1" noTextEdit="1"/>
              </p:cNvSpPr>
              <p:nvPr/>
            </p:nvSpPr>
            <p:spPr>
              <a:xfrm>
                <a:off x="4097248" y="6223318"/>
                <a:ext cx="1168400" cy="400110"/>
              </a:xfrm>
              <a:prstGeom prst="rect">
                <a:avLst/>
              </a:prstGeom>
              <a:blipFill>
                <a:blip r:embed="rId11"/>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CDF1CFA2-0EDB-C60E-DDF5-55E0044442BC}"/>
                  </a:ext>
                </a:extLst>
              </p:cNvPr>
              <p:cNvSpPr txBox="1"/>
              <p:nvPr/>
            </p:nvSpPr>
            <p:spPr>
              <a:xfrm>
                <a:off x="1603815" y="2726585"/>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29" name="TextBox 28">
                <a:extLst>
                  <a:ext uri="{FF2B5EF4-FFF2-40B4-BE49-F238E27FC236}">
                    <a16:creationId xmlns:a16="http://schemas.microsoft.com/office/drawing/2014/main" id="{CDF1CFA2-0EDB-C60E-DDF5-55E0044442BC}"/>
                  </a:ext>
                </a:extLst>
              </p:cNvPr>
              <p:cNvSpPr txBox="1">
                <a:spLocks noRot="1" noChangeAspect="1" noMove="1" noResize="1" noEditPoints="1" noAdjustHandles="1" noChangeArrowheads="1" noChangeShapeType="1" noTextEdit="1"/>
              </p:cNvSpPr>
              <p:nvPr/>
            </p:nvSpPr>
            <p:spPr>
              <a:xfrm>
                <a:off x="1603815" y="2726585"/>
                <a:ext cx="1168400" cy="400110"/>
              </a:xfrm>
              <a:prstGeom prst="rect">
                <a:avLst/>
              </a:prstGeom>
              <a:blipFill>
                <a:blip r:embed="rId12"/>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5569496-5574-FE4E-9997-14B8E12E519F}"/>
                  </a:ext>
                </a:extLst>
              </p:cNvPr>
              <p:cNvSpPr txBox="1"/>
              <p:nvPr/>
            </p:nvSpPr>
            <p:spPr>
              <a:xfrm>
                <a:off x="8784632" y="192874"/>
                <a:ext cx="1559413" cy="584775"/>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3200" b="1" i="1" smtClean="0">
                          <a:solidFill>
                            <a:schemeClr val="bg2"/>
                          </a:solidFill>
                          <a:latin typeface="Cambria Math" panose="02040503050406030204" pitchFamily="18" charset="0"/>
                        </a:rPr>
                        <m:t>𝑰</m:t>
                      </m:r>
                      <m:r>
                        <a:rPr lang="en-US" sz="3200" b="1" i="1" smtClean="0">
                          <a:solidFill>
                            <a:schemeClr val="bg2"/>
                          </a:solidFill>
                          <a:latin typeface="Cambria Math" panose="02040503050406030204" pitchFamily="18" charset="0"/>
                        </a:rPr>
                        <m:t>=</m:t>
                      </m:r>
                      <m:sSup>
                        <m:sSupPr>
                          <m:ctrlPr>
                            <a:rPr lang="en-US" sz="3200" b="1" i="1" smtClean="0">
                              <a:solidFill>
                                <a:schemeClr val="bg2"/>
                              </a:solidFill>
                              <a:latin typeface="Cambria Math" panose="02040503050406030204" pitchFamily="18" charset="0"/>
                            </a:rPr>
                          </m:ctrlPr>
                        </m:sSupPr>
                        <m:e>
                          <m:r>
                            <a:rPr lang="en-US" sz="3200" b="1" i="1" smtClean="0">
                              <a:solidFill>
                                <a:schemeClr val="bg2"/>
                              </a:solidFill>
                              <a:latin typeface="Cambria Math" panose="02040503050406030204" pitchFamily="18" charset="0"/>
                            </a:rPr>
                            <m:t>𝟕𝟎</m:t>
                          </m:r>
                        </m:e>
                        <m:sup>
                          <m:r>
                            <a:rPr lang="en-US" sz="3200" b="1" i="1" smtClean="0">
                              <a:solidFill>
                                <a:schemeClr val="bg2"/>
                              </a:solidFill>
                              <a:latin typeface="Cambria Math" panose="02040503050406030204" pitchFamily="18" charset="0"/>
                            </a:rPr>
                            <m:t>∘</m:t>
                          </m:r>
                        </m:sup>
                      </m:sSup>
                    </m:oMath>
                  </m:oMathPara>
                </a14:m>
                <a:endParaRPr lang="en-US" sz="3200" b="1" dirty="0">
                  <a:solidFill>
                    <a:schemeClr val="bg2"/>
                  </a:solidFill>
                </a:endParaRPr>
              </a:p>
            </p:txBody>
          </p:sp>
        </mc:Choice>
        <mc:Fallback xmlns="">
          <p:sp>
            <p:nvSpPr>
              <p:cNvPr id="30" name="TextBox 29">
                <a:extLst>
                  <a:ext uri="{FF2B5EF4-FFF2-40B4-BE49-F238E27FC236}">
                    <a16:creationId xmlns:a16="http://schemas.microsoft.com/office/drawing/2014/main" id="{65569496-5574-FE4E-9997-14B8E12E519F}"/>
                  </a:ext>
                </a:extLst>
              </p:cNvPr>
              <p:cNvSpPr txBox="1">
                <a:spLocks noRot="1" noChangeAspect="1" noMove="1" noResize="1" noEditPoints="1" noAdjustHandles="1" noChangeArrowheads="1" noChangeShapeType="1" noTextEdit="1"/>
              </p:cNvSpPr>
              <p:nvPr/>
            </p:nvSpPr>
            <p:spPr>
              <a:xfrm>
                <a:off x="8784632" y="192874"/>
                <a:ext cx="1559413" cy="584775"/>
              </a:xfrm>
              <a:prstGeom prst="rect">
                <a:avLst/>
              </a:prstGeom>
              <a:blipFill>
                <a:blip r:embed="rId13"/>
                <a:stretch>
                  <a:fillRect/>
                </a:stretch>
              </a:blipFill>
              <a:ln>
                <a:solidFill>
                  <a:schemeClr val="bg2"/>
                </a:solidFill>
              </a:ln>
            </p:spPr>
            <p:txBody>
              <a:bodyPr/>
              <a:lstStyle/>
              <a:p>
                <a:r>
                  <a:rPr lang="en-US">
                    <a:noFill/>
                  </a:rPr>
                  <a:t> </a:t>
                </a:r>
              </a:p>
            </p:txBody>
          </p:sp>
        </mc:Fallback>
      </mc:AlternateContent>
      <p:cxnSp>
        <p:nvCxnSpPr>
          <p:cNvPr id="32" name="Straight Connector 31">
            <a:extLst>
              <a:ext uri="{FF2B5EF4-FFF2-40B4-BE49-F238E27FC236}">
                <a16:creationId xmlns:a16="http://schemas.microsoft.com/office/drawing/2014/main" id="{8DEA81B2-35C5-C8FE-5435-568C6D50FB2D}"/>
              </a:ext>
            </a:extLst>
          </p:cNvPr>
          <p:cNvCxnSpPr/>
          <p:nvPr/>
        </p:nvCxnSpPr>
        <p:spPr>
          <a:xfrm flipV="1">
            <a:off x="6028267" y="110067"/>
            <a:ext cx="0" cy="663786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543379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BDD18-965E-7952-EF26-CA0A0EE1DF31}"/>
              </a:ext>
            </a:extLst>
          </p:cNvPr>
          <p:cNvSpPr>
            <a:spLocks noGrp="1"/>
          </p:cNvSpPr>
          <p:nvPr>
            <p:ph type="title"/>
          </p:nvPr>
        </p:nvSpPr>
        <p:spPr/>
        <p:txBody>
          <a:bodyPr/>
          <a:lstStyle/>
          <a:p>
            <a:r>
              <a:rPr lang="en-US" dirty="0"/>
              <a:t>IMX455</a:t>
            </a:r>
            <a:br>
              <a:rPr lang="en-US" dirty="0"/>
            </a:br>
            <a:r>
              <a:rPr lang="en-US" sz="2000" dirty="0"/>
              <a:t>filling [0,360] rotations from [0,90]</a:t>
            </a:r>
            <a:endParaRPr lang="en-US" dirty="0"/>
          </a:p>
        </p:txBody>
      </p:sp>
      <p:pic>
        <p:nvPicPr>
          <p:cNvPr id="5" name="Picture 4">
            <a:extLst>
              <a:ext uri="{FF2B5EF4-FFF2-40B4-BE49-F238E27FC236}">
                <a16:creationId xmlns:a16="http://schemas.microsoft.com/office/drawing/2014/main" id="{83F37331-C77E-9852-2544-3043FD1237BD}"/>
              </a:ext>
            </a:extLst>
          </p:cNvPr>
          <p:cNvPicPr>
            <a:picLocks noChangeAspect="1"/>
          </p:cNvPicPr>
          <p:nvPr/>
        </p:nvPicPr>
        <p:blipFill>
          <a:blip r:embed="rId2"/>
          <a:stretch>
            <a:fillRect/>
          </a:stretch>
        </p:blipFill>
        <p:spPr>
          <a:xfrm>
            <a:off x="5945401" y="0"/>
            <a:ext cx="6246599" cy="6858000"/>
          </a:xfrm>
          <a:prstGeom prst="rect">
            <a:avLst/>
          </a:prstGeom>
        </p:spPr>
      </p:pic>
      <mc:AlternateContent xmlns:mc="http://schemas.openxmlformats.org/markup-compatibility/2006" xmlns:a14="http://schemas.microsoft.com/office/drawing/2010/main">
        <mc:Choice Requires="a14">
          <p:sp>
            <p:nvSpPr>
              <p:cNvPr id="6" name="Text Placeholder 2">
                <a:extLst>
                  <a:ext uri="{FF2B5EF4-FFF2-40B4-BE49-F238E27FC236}">
                    <a16:creationId xmlns:a16="http://schemas.microsoft.com/office/drawing/2014/main" id="{79BBFD86-212F-C70C-192D-705DFC502D60}"/>
                  </a:ext>
                </a:extLst>
              </p:cNvPr>
              <p:cNvSpPr>
                <a:spLocks noGrp="1"/>
              </p:cNvSpPr>
              <p:nvPr>
                <p:ph type="body" idx="1"/>
              </p:nvPr>
            </p:nvSpPr>
            <p:spPr>
              <a:xfrm>
                <a:off x="609600" y="1752601"/>
                <a:ext cx="4758267" cy="4373563"/>
              </a:xfrm>
            </p:spPr>
            <p:txBody>
              <a:bodyPr>
                <a:normAutofit fontScale="85000" lnSpcReduction="10000"/>
              </a:bodyPr>
              <a:lstStyle/>
              <a:p>
                <a:r>
                  <a:rPr lang="en-US" sz="2400" b="0" dirty="0"/>
                  <a:t>Only measured </a:t>
                </a:r>
                <a14:m>
                  <m:oMath xmlns:m="http://schemas.openxmlformats.org/officeDocument/2006/math">
                    <m:r>
                      <a:rPr lang="en-US" sz="2400" b="0" i="1" smtClean="0">
                        <a:latin typeface="Cambria Math" panose="02040503050406030204" pitchFamily="18" charset="0"/>
                      </a:rPr>
                      <m:t>𝜙</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0</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90</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oMath>
                </a14:m>
                <a:endParaRPr lang="en-US" sz="2400" b="0" dirty="0"/>
              </a:p>
              <a:p>
                <a:r>
                  <a:rPr lang="en-US" sz="2400" b="0" dirty="0"/>
                  <a:t>But </a:t>
                </a:r>
                <a:r>
                  <a:rPr lang="en-US" sz="2400" b="0" dirty="0" err="1"/>
                  <a:t>Zemax</a:t>
                </a:r>
                <a:r>
                  <a:rPr lang="en-US" sz="2400" b="0" dirty="0"/>
                  <a:t> requires full 360 to be defined</a:t>
                </a:r>
              </a:p>
              <a:p>
                <a:pPr lvl="1"/>
                <a:r>
                  <a:rPr lang="en-US" sz="2000" dirty="0"/>
                  <a:t>So, I manually copied/mirrored the measured values like so:</a:t>
                </a:r>
              </a:p>
              <a:p>
                <a:r>
                  <a:rPr lang="en-US" sz="2400" b="0" dirty="0"/>
                  <a:t>Copied measured [0,90] to inferred [180,90) with Az = 360 – Az</a:t>
                </a:r>
              </a:p>
              <a:p>
                <a:pPr lvl="1"/>
                <a:r>
                  <a:rPr lang="en-US" sz="2000" dirty="0"/>
                  <a:t>i.e., flipped order and flipped azimuth about incident plane</a:t>
                </a:r>
              </a:p>
              <a:p>
                <a:r>
                  <a:rPr lang="en-US" sz="2400" b="0" dirty="0"/>
                  <a:t>Copied new [0,180] to inferred (180,360]</a:t>
                </a:r>
              </a:p>
              <a:p>
                <a:pPr lvl="1"/>
                <a:r>
                  <a:rPr lang="en-US" sz="2000" dirty="0"/>
                  <a:t>i.e., no flip required</a:t>
                </a:r>
              </a:p>
              <a:p>
                <a:r>
                  <a:rPr lang="en-US" sz="2400" b="0" dirty="0"/>
                  <a:t>Visualize rotating CMOS detector to understand this symmetry</a:t>
                </a:r>
              </a:p>
            </p:txBody>
          </p:sp>
        </mc:Choice>
        <mc:Fallback xmlns="">
          <p:sp>
            <p:nvSpPr>
              <p:cNvPr id="6" name="Text Placeholder 2">
                <a:extLst>
                  <a:ext uri="{FF2B5EF4-FFF2-40B4-BE49-F238E27FC236}">
                    <a16:creationId xmlns:a16="http://schemas.microsoft.com/office/drawing/2014/main" id="{79BBFD86-212F-C70C-192D-705DFC502D60}"/>
                  </a:ext>
                </a:extLst>
              </p:cNvPr>
              <p:cNvSpPr>
                <a:spLocks noGrp="1" noRot="1" noChangeAspect="1" noMove="1" noResize="1" noEditPoints="1" noAdjustHandles="1" noChangeArrowheads="1" noChangeShapeType="1" noTextEdit="1"/>
              </p:cNvSpPr>
              <p:nvPr>
                <p:ph type="body" idx="1"/>
              </p:nvPr>
            </p:nvSpPr>
            <p:spPr>
              <a:xfrm>
                <a:off x="609600" y="1752601"/>
                <a:ext cx="4758267" cy="4373563"/>
              </a:xfrm>
              <a:blipFill>
                <a:blip r:embed="rId3"/>
                <a:stretch>
                  <a:fillRect l="-1280" t="-2092" r="-896" b="-16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EC52666-9865-5DF7-5D85-43E1F734494F}"/>
                  </a:ext>
                </a:extLst>
              </p:cNvPr>
              <p:cNvSpPr txBox="1"/>
              <p:nvPr/>
            </p:nvSpPr>
            <p:spPr>
              <a:xfrm>
                <a:off x="10336561" y="2793641"/>
                <a:ext cx="1762301"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𝟏𝟖𝟎</m:t>
                          </m:r>
                        </m:e>
                        <m:sup>
                          <m:r>
                            <a:rPr lang="en-US" sz="2000" b="1" i="1" smtClean="0">
                              <a:solidFill>
                                <a:schemeClr val="bg2"/>
                              </a:solidFill>
                              <a:latin typeface="Cambria Math" panose="02040503050406030204" pitchFamily="18" charset="0"/>
                            </a:rPr>
                            <m:t>∘</m:t>
                          </m:r>
                        </m:sup>
                      </m:sSup>
                      <m:r>
                        <a:rPr lang="en-US" sz="2000" b="1" i="1" smtClean="0">
                          <a:solidFill>
                            <a:schemeClr val="bg2"/>
                          </a:solidFill>
                          <a:latin typeface="Cambria Math" panose="02040503050406030204" pitchFamily="18" charset="0"/>
                        </a:rPr>
                        <m:t>−</m:t>
                      </m:r>
                      <m:r>
                        <a:rPr lang="en-US" sz="2000" b="1" i="0" smtClean="0">
                          <a:solidFill>
                            <a:schemeClr val="bg2"/>
                          </a:solidFill>
                          <a:latin typeface="Cambria Math" panose="02040503050406030204" pitchFamily="18" charset="0"/>
                        </a:rPr>
                        <m:t>𝚫</m:t>
                      </m:r>
                    </m:oMath>
                  </m:oMathPara>
                </a14:m>
                <a:endParaRPr lang="en-US" sz="2000" b="1" dirty="0">
                  <a:solidFill>
                    <a:schemeClr val="bg2"/>
                  </a:solidFill>
                </a:endParaRPr>
              </a:p>
            </p:txBody>
          </p:sp>
        </mc:Choice>
        <mc:Fallback xmlns="">
          <p:sp>
            <p:nvSpPr>
              <p:cNvPr id="7" name="TextBox 6">
                <a:extLst>
                  <a:ext uri="{FF2B5EF4-FFF2-40B4-BE49-F238E27FC236}">
                    <a16:creationId xmlns:a16="http://schemas.microsoft.com/office/drawing/2014/main" id="{6EC52666-9865-5DF7-5D85-43E1F734494F}"/>
                  </a:ext>
                </a:extLst>
              </p:cNvPr>
              <p:cNvSpPr txBox="1">
                <a:spLocks noRot="1" noChangeAspect="1" noMove="1" noResize="1" noEditPoints="1" noAdjustHandles="1" noChangeArrowheads="1" noChangeShapeType="1" noTextEdit="1"/>
              </p:cNvSpPr>
              <p:nvPr/>
            </p:nvSpPr>
            <p:spPr>
              <a:xfrm>
                <a:off x="10336561" y="2793641"/>
                <a:ext cx="1762301" cy="400110"/>
              </a:xfrm>
              <a:prstGeom prst="rect">
                <a:avLst/>
              </a:prstGeom>
              <a:blipFill>
                <a:blip r:embed="rId4"/>
                <a:stretch>
                  <a:fillRect l="-344"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C2B8C89-1615-255A-5DE3-E59E523AF144}"/>
                  </a:ext>
                </a:extLst>
              </p:cNvPr>
              <p:cNvSpPr txBox="1"/>
              <p:nvPr/>
            </p:nvSpPr>
            <p:spPr>
              <a:xfrm>
                <a:off x="7683502" y="6254543"/>
                <a:ext cx="1762302"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𝟏𝟖𝟎</m:t>
                          </m:r>
                        </m:e>
                        <m:sup>
                          <m:r>
                            <a:rPr lang="en-US" sz="2000" b="1" i="1" smtClean="0">
                              <a:solidFill>
                                <a:schemeClr val="bg2"/>
                              </a:solidFill>
                              <a:latin typeface="Cambria Math" panose="02040503050406030204" pitchFamily="18" charset="0"/>
                            </a:rPr>
                            <m:t>∘</m:t>
                          </m:r>
                        </m:sup>
                      </m:sSup>
                      <m:r>
                        <a:rPr lang="en-US" sz="2000" b="1" i="1" smtClean="0">
                          <a:solidFill>
                            <a:schemeClr val="bg2"/>
                          </a:solidFill>
                          <a:latin typeface="Cambria Math" panose="02040503050406030204" pitchFamily="18" charset="0"/>
                        </a:rPr>
                        <m:t>+</m:t>
                      </m:r>
                      <m:r>
                        <a:rPr lang="en-US" sz="2000" b="1" i="0" smtClean="0">
                          <a:solidFill>
                            <a:schemeClr val="bg2"/>
                          </a:solidFill>
                          <a:latin typeface="Cambria Math" panose="02040503050406030204" pitchFamily="18" charset="0"/>
                        </a:rPr>
                        <m:t>𝚫</m:t>
                      </m:r>
                    </m:oMath>
                  </m:oMathPara>
                </a14:m>
                <a:endParaRPr lang="en-US" sz="2000" b="1" dirty="0">
                  <a:solidFill>
                    <a:schemeClr val="bg2"/>
                  </a:solidFill>
                </a:endParaRPr>
              </a:p>
            </p:txBody>
          </p:sp>
        </mc:Choice>
        <mc:Fallback xmlns="">
          <p:sp>
            <p:nvSpPr>
              <p:cNvPr id="8" name="TextBox 7">
                <a:extLst>
                  <a:ext uri="{FF2B5EF4-FFF2-40B4-BE49-F238E27FC236}">
                    <a16:creationId xmlns:a16="http://schemas.microsoft.com/office/drawing/2014/main" id="{1C2B8C89-1615-255A-5DE3-E59E523AF144}"/>
                  </a:ext>
                </a:extLst>
              </p:cNvPr>
              <p:cNvSpPr txBox="1">
                <a:spLocks noRot="1" noChangeAspect="1" noMove="1" noResize="1" noEditPoints="1" noAdjustHandles="1" noChangeArrowheads="1" noChangeShapeType="1" noTextEdit="1"/>
              </p:cNvSpPr>
              <p:nvPr/>
            </p:nvSpPr>
            <p:spPr>
              <a:xfrm>
                <a:off x="7683502" y="6254543"/>
                <a:ext cx="1762302" cy="400110"/>
              </a:xfrm>
              <a:prstGeom prst="rect">
                <a:avLst/>
              </a:prstGeom>
              <a:blipFill>
                <a:blip r:embed="rId5"/>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A0CFB1F-8B4F-C180-AE2D-9236BBC8FE2E}"/>
                  </a:ext>
                </a:extLst>
              </p:cNvPr>
              <p:cNvSpPr txBox="1"/>
              <p:nvPr/>
            </p:nvSpPr>
            <p:spPr>
              <a:xfrm>
                <a:off x="10336561" y="6254543"/>
                <a:ext cx="1762302"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𝟑𝟔𝟎</m:t>
                          </m:r>
                        </m:e>
                        <m:sup>
                          <m:r>
                            <a:rPr lang="en-US" sz="2000" b="1" i="1" smtClean="0">
                              <a:solidFill>
                                <a:schemeClr val="bg2"/>
                              </a:solidFill>
                              <a:latin typeface="Cambria Math" panose="02040503050406030204" pitchFamily="18" charset="0"/>
                            </a:rPr>
                            <m:t>∘</m:t>
                          </m:r>
                        </m:sup>
                      </m:sSup>
                      <m:r>
                        <a:rPr lang="en-US" sz="2000" b="1" i="1" smtClean="0">
                          <a:solidFill>
                            <a:schemeClr val="bg2"/>
                          </a:solidFill>
                          <a:latin typeface="Cambria Math" panose="02040503050406030204" pitchFamily="18" charset="0"/>
                        </a:rPr>
                        <m:t>−</m:t>
                      </m:r>
                      <m:r>
                        <a:rPr lang="en-US" sz="2000" b="1" i="0" smtClean="0">
                          <a:solidFill>
                            <a:schemeClr val="bg2"/>
                          </a:solidFill>
                          <a:latin typeface="Cambria Math" panose="02040503050406030204" pitchFamily="18" charset="0"/>
                        </a:rPr>
                        <m:t>𝚫</m:t>
                      </m:r>
                    </m:oMath>
                  </m:oMathPara>
                </a14:m>
                <a:endParaRPr lang="en-US" sz="2000" b="1" dirty="0">
                  <a:solidFill>
                    <a:schemeClr val="bg2"/>
                  </a:solidFill>
                </a:endParaRPr>
              </a:p>
            </p:txBody>
          </p:sp>
        </mc:Choice>
        <mc:Fallback xmlns="">
          <p:sp>
            <p:nvSpPr>
              <p:cNvPr id="9" name="TextBox 8">
                <a:extLst>
                  <a:ext uri="{FF2B5EF4-FFF2-40B4-BE49-F238E27FC236}">
                    <a16:creationId xmlns:a16="http://schemas.microsoft.com/office/drawing/2014/main" id="{4A0CFB1F-8B4F-C180-AE2D-9236BBC8FE2E}"/>
                  </a:ext>
                </a:extLst>
              </p:cNvPr>
              <p:cNvSpPr txBox="1">
                <a:spLocks noRot="1" noChangeAspect="1" noMove="1" noResize="1" noEditPoints="1" noAdjustHandles="1" noChangeArrowheads="1" noChangeShapeType="1" noTextEdit="1"/>
              </p:cNvSpPr>
              <p:nvPr/>
            </p:nvSpPr>
            <p:spPr>
              <a:xfrm>
                <a:off x="10336561" y="6254543"/>
                <a:ext cx="1762302" cy="400110"/>
              </a:xfrm>
              <a:prstGeom prst="rect">
                <a:avLst/>
              </a:prstGeom>
              <a:blipFill>
                <a:blip r:embed="rId6"/>
                <a:stretch>
                  <a:fillRect l="-344"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B737F1E-C911-CF38-296B-41450C634803}"/>
                  </a:ext>
                </a:extLst>
              </p:cNvPr>
              <p:cNvSpPr txBox="1"/>
              <p:nvPr/>
            </p:nvSpPr>
            <p:spPr>
              <a:xfrm>
                <a:off x="7683502" y="2793641"/>
                <a:ext cx="1762302"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𝟎</m:t>
                          </m:r>
                        </m:e>
                        <m:sup>
                          <m:r>
                            <a:rPr lang="en-US" sz="2000" b="1" i="1" smtClean="0">
                              <a:solidFill>
                                <a:schemeClr val="bg2"/>
                              </a:solidFill>
                              <a:latin typeface="Cambria Math" panose="02040503050406030204" pitchFamily="18" charset="0"/>
                            </a:rPr>
                            <m:t>∘</m:t>
                          </m:r>
                        </m:sup>
                      </m:sSup>
                      <m:r>
                        <a:rPr lang="en-US" sz="2000" b="1" i="1" smtClean="0">
                          <a:solidFill>
                            <a:schemeClr val="bg2"/>
                          </a:solidFill>
                          <a:latin typeface="Cambria Math" panose="02040503050406030204" pitchFamily="18" charset="0"/>
                        </a:rPr>
                        <m:t>+</m:t>
                      </m:r>
                      <m:r>
                        <a:rPr lang="en-US" sz="2000" b="1" i="0" smtClean="0">
                          <a:solidFill>
                            <a:schemeClr val="bg2"/>
                          </a:solidFill>
                          <a:latin typeface="Cambria Math" panose="02040503050406030204" pitchFamily="18" charset="0"/>
                        </a:rPr>
                        <m:t>𝚫</m:t>
                      </m:r>
                    </m:oMath>
                  </m:oMathPara>
                </a14:m>
                <a:endParaRPr lang="en-US" sz="2000" b="1" dirty="0">
                  <a:solidFill>
                    <a:schemeClr val="bg2"/>
                  </a:solidFill>
                </a:endParaRPr>
              </a:p>
            </p:txBody>
          </p:sp>
        </mc:Choice>
        <mc:Fallback xmlns="">
          <p:sp>
            <p:nvSpPr>
              <p:cNvPr id="10" name="TextBox 9">
                <a:extLst>
                  <a:ext uri="{FF2B5EF4-FFF2-40B4-BE49-F238E27FC236}">
                    <a16:creationId xmlns:a16="http://schemas.microsoft.com/office/drawing/2014/main" id="{3B737F1E-C911-CF38-296B-41450C634803}"/>
                  </a:ext>
                </a:extLst>
              </p:cNvPr>
              <p:cNvSpPr txBox="1">
                <a:spLocks noRot="1" noChangeAspect="1" noMove="1" noResize="1" noEditPoints="1" noAdjustHandles="1" noChangeArrowheads="1" noChangeShapeType="1" noTextEdit="1"/>
              </p:cNvSpPr>
              <p:nvPr/>
            </p:nvSpPr>
            <p:spPr>
              <a:xfrm>
                <a:off x="7683502" y="2793641"/>
                <a:ext cx="1762302" cy="400110"/>
              </a:xfrm>
              <a:prstGeom prst="rect">
                <a:avLst/>
              </a:prstGeom>
              <a:blipFill>
                <a:blip r:embed="rId7"/>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C1BB1F8-CB5F-39B5-72E0-36A700A78E14}"/>
                  </a:ext>
                </a:extLst>
              </p:cNvPr>
              <p:cNvSpPr txBox="1"/>
              <p:nvPr/>
            </p:nvSpPr>
            <p:spPr>
              <a:xfrm>
                <a:off x="2227641" y="99368"/>
                <a:ext cx="3282722" cy="461665"/>
              </a:xfrm>
              <a:prstGeom prst="rect">
                <a:avLst/>
              </a:prstGeom>
              <a:solidFill>
                <a:schemeClr val="bg1"/>
              </a:solidFill>
              <a:ln>
                <a:solidFill>
                  <a:schemeClr val="bg2"/>
                </a:solidFill>
              </a:ln>
            </p:spPr>
            <p:txBody>
              <a:bodyPr wrap="square" rtlCol="0">
                <a:spAutoFit/>
              </a:bodyPr>
              <a:lstStyle/>
              <a:p>
                <a:pPr algn="ctr"/>
                <a:r>
                  <a:rPr lang="en-US" sz="2400" b="1" dirty="0">
                    <a:solidFill>
                      <a:schemeClr val="bg2"/>
                    </a:solidFill>
                  </a:rPr>
                  <a:t>e.g., </a:t>
                </a:r>
                <a14:m>
                  <m:oMath xmlns:m="http://schemas.openxmlformats.org/officeDocument/2006/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𝟑𝟎</m:t>
                        </m:r>
                      </m:e>
                      <m:sup>
                        <m:r>
                          <a:rPr lang="en-US" sz="2400" b="1" i="1" smtClean="0">
                            <a:solidFill>
                              <a:schemeClr val="bg2"/>
                            </a:solidFill>
                            <a:latin typeface="Cambria Math" panose="02040503050406030204" pitchFamily="18" charset="0"/>
                          </a:rPr>
                          <m:t>∘</m:t>
                        </m:r>
                      </m:sup>
                    </m:sSup>
                    <m:r>
                      <a:rPr lang="en-US" sz="2400" b="1" i="1" smtClean="0">
                        <a:solidFill>
                          <a:schemeClr val="bg2"/>
                        </a:solidFill>
                        <a:latin typeface="Cambria Math" panose="02040503050406030204" pitchFamily="18" charset="0"/>
                      </a:rPr>
                      <m:t>, </m:t>
                    </m:r>
                    <m:r>
                      <a:rPr lang="en-US" sz="2400" b="1" i="0" smtClean="0">
                        <a:solidFill>
                          <a:schemeClr val="bg2"/>
                        </a:solidFill>
                        <a:latin typeface="Cambria Math" panose="02040503050406030204" pitchFamily="18" charset="0"/>
                      </a:rPr>
                      <m:t>𝚫</m:t>
                    </m:r>
                    <m:r>
                      <a:rPr lang="en-US" sz="2400" b="1" i="1" smtClean="0">
                        <a:solidFill>
                          <a:schemeClr val="bg2"/>
                        </a:solidFill>
                        <a:latin typeface="Cambria Math" panose="02040503050406030204" pitchFamily="18" charset="0"/>
                      </a:rPr>
                      <m:t>=</m:t>
                    </m:r>
                    <m:r>
                      <a:rPr lang="en-US" sz="2400" b="1" i="1" smtClean="0">
                        <a:solidFill>
                          <a:schemeClr val="bg2"/>
                        </a:solidFill>
                        <a:latin typeface="Cambria Math" panose="02040503050406030204" pitchFamily="18" charset="0"/>
                      </a:rPr>
                      <m:t>𝟐</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𝟎</m:t>
                        </m:r>
                      </m:e>
                      <m:sup>
                        <m:r>
                          <a:rPr lang="en-US" sz="2400" b="1" i="1" smtClean="0">
                            <a:solidFill>
                              <a:schemeClr val="bg2"/>
                            </a:solidFill>
                            <a:latin typeface="Cambria Math" panose="02040503050406030204" pitchFamily="18" charset="0"/>
                          </a:rPr>
                          <m:t>∘</m:t>
                        </m:r>
                      </m:sup>
                    </m:sSup>
                  </m:oMath>
                </a14:m>
                <a:endParaRPr lang="en-US" sz="2400" b="1" dirty="0">
                  <a:solidFill>
                    <a:schemeClr val="bg2"/>
                  </a:solidFill>
                </a:endParaRPr>
              </a:p>
            </p:txBody>
          </p:sp>
        </mc:Choice>
        <mc:Fallback xmlns="">
          <p:sp>
            <p:nvSpPr>
              <p:cNvPr id="11" name="TextBox 10">
                <a:extLst>
                  <a:ext uri="{FF2B5EF4-FFF2-40B4-BE49-F238E27FC236}">
                    <a16:creationId xmlns:a16="http://schemas.microsoft.com/office/drawing/2014/main" id="{1C1BB1F8-CB5F-39B5-72E0-36A700A78E14}"/>
                  </a:ext>
                </a:extLst>
              </p:cNvPr>
              <p:cNvSpPr txBox="1">
                <a:spLocks noRot="1" noChangeAspect="1" noMove="1" noResize="1" noEditPoints="1" noAdjustHandles="1" noChangeArrowheads="1" noChangeShapeType="1" noTextEdit="1"/>
              </p:cNvSpPr>
              <p:nvPr/>
            </p:nvSpPr>
            <p:spPr>
              <a:xfrm>
                <a:off x="2227641" y="99368"/>
                <a:ext cx="3282722" cy="461665"/>
              </a:xfrm>
              <a:prstGeom prst="rect">
                <a:avLst/>
              </a:prstGeom>
              <a:blipFill>
                <a:blip r:embed="rId8"/>
                <a:stretch>
                  <a:fillRect t="-7692" b="-28205"/>
                </a:stretch>
              </a:blipFill>
              <a:ln>
                <a:solidFill>
                  <a:schemeClr val="bg2"/>
                </a:solidFill>
              </a:ln>
            </p:spPr>
            <p:txBody>
              <a:bodyPr/>
              <a:lstStyle/>
              <a:p>
                <a:r>
                  <a:rPr lang="en-US">
                    <a:noFill/>
                  </a:rPr>
                  <a:t> </a:t>
                </a:r>
              </a:p>
            </p:txBody>
          </p:sp>
        </mc:Fallback>
      </mc:AlternateContent>
      <p:sp>
        <p:nvSpPr>
          <p:cNvPr id="12" name="Rectangle: Rounded Corners 11">
            <a:extLst>
              <a:ext uri="{FF2B5EF4-FFF2-40B4-BE49-F238E27FC236}">
                <a16:creationId xmlns:a16="http://schemas.microsoft.com/office/drawing/2014/main" id="{46803646-BB8F-5490-1034-B2D77895FE84}"/>
              </a:ext>
            </a:extLst>
          </p:cNvPr>
          <p:cNvSpPr/>
          <p:nvPr/>
        </p:nvSpPr>
        <p:spPr>
          <a:xfrm>
            <a:off x="5706533" y="330201"/>
            <a:ext cx="3914389" cy="3225800"/>
          </a:xfrm>
          <a:prstGeom prst="roundRect">
            <a:avLst>
              <a:gd name="adj" fmla="val 7384"/>
            </a:avLst>
          </a:prstGeom>
          <a:noFill/>
          <a:ln w="571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DBE7A16-5D6B-D08D-6DA6-5B218CD51604}"/>
              </a:ext>
            </a:extLst>
          </p:cNvPr>
          <p:cNvSpPr txBox="1"/>
          <p:nvPr/>
        </p:nvSpPr>
        <p:spPr>
          <a:xfrm>
            <a:off x="8081441" y="494904"/>
            <a:ext cx="1264867" cy="369332"/>
          </a:xfrm>
          <a:prstGeom prst="rect">
            <a:avLst/>
          </a:prstGeom>
          <a:solidFill>
            <a:schemeClr val="bg1"/>
          </a:solidFill>
          <a:ln>
            <a:solidFill>
              <a:schemeClr val="bg2"/>
            </a:solidFill>
          </a:ln>
        </p:spPr>
        <p:txBody>
          <a:bodyPr wrap="square" rtlCol="0">
            <a:spAutoFit/>
          </a:bodyPr>
          <a:lstStyle/>
          <a:p>
            <a:r>
              <a:rPr lang="en-US" sz="1800" b="1" i="1" dirty="0">
                <a:solidFill>
                  <a:schemeClr val="bg2"/>
                </a:solidFill>
              </a:rPr>
              <a:t>measured</a:t>
            </a:r>
          </a:p>
        </p:txBody>
      </p:sp>
      <p:cxnSp>
        <p:nvCxnSpPr>
          <p:cNvPr id="15" name="Straight Arrow Connector 14">
            <a:extLst>
              <a:ext uri="{FF2B5EF4-FFF2-40B4-BE49-F238E27FC236}">
                <a16:creationId xmlns:a16="http://schemas.microsoft.com/office/drawing/2014/main" id="{3D33F13F-8D8B-2C4B-ED8F-EC51D15B77EB}"/>
              </a:ext>
            </a:extLst>
          </p:cNvPr>
          <p:cNvCxnSpPr/>
          <p:nvPr/>
        </p:nvCxnSpPr>
        <p:spPr>
          <a:xfrm>
            <a:off x="7001933" y="2853267"/>
            <a:ext cx="0" cy="1320800"/>
          </a:xfrm>
          <a:prstGeom prst="straightConnector1">
            <a:avLst/>
          </a:prstGeom>
          <a:ln w="7620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AA248D8-131C-09B0-7366-26B2A243FEB0}"/>
              </a:ext>
            </a:extLst>
          </p:cNvPr>
          <p:cNvCxnSpPr/>
          <p:nvPr/>
        </p:nvCxnSpPr>
        <p:spPr>
          <a:xfrm>
            <a:off x="10947400" y="3278982"/>
            <a:ext cx="0" cy="1320800"/>
          </a:xfrm>
          <a:prstGeom prst="straightConnector1">
            <a:avLst/>
          </a:prstGeom>
          <a:ln w="7620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BE6A0EF-BD60-E20E-0C49-EA0C2E8EF9A1}"/>
              </a:ext>
            </a:extLst>
          </p:cNvPr>
          <p:cNvCxnSpPr>
            <a:cxnSpLocks/>
          </p:cNvCxnSpPr>
          <p:nvPr/>
        </p:nvCxnSpPr>
        <p:spPr>
          <a:xfrm>
            <a:off x="8881534" y="2192867"/>
            <a:ext cx="1286933" cy="0"/>
          </a:xfrm>
          <a:prstGeom prst="straightConnector1">
            <a:avLst/>
          </a:prstGeom>
          <a:ln w="7620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1460D91-CC05-06AE-3923-0B4A310B1752}"/>
              </a:ext>
            </a:extLst>
          </p:cNvPr>
          <p:cNvSpPr txBox="1"/>
          <p:nvPr/>
        </p:nvSpPr>
        <p:spPr>
          <a:xfrm>
            <a:off x="7086488" y="3429000"/>
            <a:ext cx="795341" cy="369332"/>
          </a:xfrm>
          <a:prstGeom prst="rect">
            <a:avLst/>
          </a:prstGeom>
          <a:solidFill>
            <a:schemeClr val="tx1"/>
          </a:solidFill>
          <a:ln>
            <a:solidFill>
              <a:schemeClr val="accent2"/>
            </a:solidFill>
          </a:ln>
        </p:spPr>
        <p:txBody>
          <a:bodyPr wrap="square" rtlCol="0">
            <a:spAutoFit/>
          </a:bodyPr>
          <a:lstStyle/>
          <a:p>
            <a:r>
              <a:rPr lang="en-US" sz="1800" b="1" i="1" dirty="0">
                <a:solidFill>
                  <a:schemeClr val="accent2"/>
                </a:solidFill>
              </a:rPr>
              <a:t>same</a:t>
            </a:r>
          </a:p>
        </p:txBody>
      </p:sp>
      <p:sp>
        <p:nvSpPr>
          <p:cNvPr id="20" name="TextBox 19">
            <a:extLst>
              <a:ext uri="{FF2B5EF4-FFF2-40B4-BE49-F238E27FC236}">
                <a16:creationId xmlns:a16="http://schemas.microsoft.com/office/drawing/2014/main" id="{25855E2C-A4C7-0522-B0E1-96B7D577FAF9}"/>
              </a:ext>
            </a:extLst>
          </p:cNvPr>
          <p:cNvSpPr txBox="1"/>
          <p:nvPr/>
        </p:nvSpPr>
        <p:spPr>
          <a:xfrm>
            <a:off x="11041266" y="3613666"/>
            <a:ext cx="795341" cy="369332"/>
          </a:xfrm>
          <a:prstGeom prst="rect">
            <a:avLst/>
          </a:prstGeom>
          <a:solidFill>
            <a:schemeClr val="tx1"/>
          </a:solidFill>
          <a:ln>
            <a:solidFill>
              <a:schemeClr val="accent2"/>
            </a:solidFill>
          </a:ln>
        </p:spPr>
        <p:txBody>
          <a:bodyPr wrap="square" rtlCol="0">
            <a:spAutoFit/>
          </a:bodyPr>
          <a:lstStyle/>
          <a:p>
            <a:r>
              <a:rPr lang="en-US" sz="1800" b="1" i="1" dirty="0">
                <a:solidFill>
                  <a:schemeClr val="accent2"/>
                </a:solidFill>
              </a:rPr>
              <a:t>same</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5644327E-9AE8-87C3-39BE-CE65179F07E0}"/>
                  </a:ext>
                </a:extLst>
              </p:cNvPr>
              <p:cNvSpPr txBox="1"/>
              <p:nvPr/>
            </p:nvSpPr>
            <p:spPr>
              <a:xfrm>
                <a:off x="8686256" y="1256660"/>
                <a:ext cx="1422400" cy="738664"/>
              </a:xfrm>
              <a:prstGeom prst="rect">
                <a:avLst/>
              </a:prstGeom>
              <a:solidFill>
                <a:schemeClr val="tx1"/>
              </a:solidFill>
              <a:ln>
                <a:solidFill>
                  <a:schemeClr val="accent2"/>
                </a:solidFill>
              </a:ln>
            </p:spPr>
            <p:txBody>
              <a:bodyPr wrap="square" rtlCol="0">
                <a:spAutoFit/>
              </a:bodyPr>
              <a:lstStyle/>
              <a:p>
                <a:r>
                  <a:rPr lang="en-US" b="1" i="1" dirty="0">
                    <a:solidFill>
                      <a:schemeClr val="accent2"/>
                    </a:solidFill>
                  </a:rPr>
                  <a:t>Flipped about incident plane, and sign of </a:t>
                </a:r>
                <a14:m>
                  <m:oMath xmlns:m="http://schemas.openxmlformats.org/officeDocument/2006/math">
                    <m:r>
                      <a:rPr lang="en-US" b="1" i="0" smtClean="0">
                        <a:solidFill>
                          <a:schemeClr val="accent2"/>
                        </a:solidFill>
                        <a:latin typeface="Cambria Math" panose="02040503050406030204" pitchFamily="18" charset="0"/>
                      </a:rPr>
                      <m:t>𝚫</m:t>
                    </m:r>
                  </m:oMath>
                </a14:m>
                <a:endParaRPr lang="en-US" b="1" i="1" dirty="0">
                  <a:solidFill>
                    <a:schemeClr val="accent2"/>
                  </a:solidFill>
                </a:endParaRPr>
              </a:p>
            </p:txBody>
          </p:sp>
        </mc:Choice>
        <mc:Fallback xmlns="">
          <p:sp>
            <p:nvSpPr>
              <p:cNvPr id="21" name="TextBox 20">
                <a:extLst>
                  <a:ext uri="{FF2B5EF4-FFF2-40B4-BE49-F238E27FC236}">
                    <a16:creationId xmlns:a16="http://schemas.microsoft.com/office/drawing/2014/main" id="{5644327E-9AE8-87C3-39BE-CE65179F07E0}"/>
                  </a:ext>
                </a:extLst>
              </p:cNvPr>
              <p:cNvSpPr txBox="1">
                <a:spLocks noRot="1" noChangeAspect="1" noMove="1" noResize="1" noEditPoints="1" noAdjustHandles="1" noChangeArrowheads="1" noChangeShapeType="1" noTextEdit="1"/>
              </p:cNvSpPr>
              <p:nvPr/>
            </p:nvSpPr>
            <p:spPr>
              <a:xfrm>
                <a:off x="8686256" y="1256660"/>
                <a:ext cx="1422400" cy="738664"/>
              </a:xfrm>
              <a:prstGeom prst="rect">
                <a:avLst/>
              </a:prstGeom>
              <a:blipFill>
                <a:blip r:embed="rId9"/>
                <a:stretch>
                  <a:fillRect l="-851" t="-813" r="-4255" b="-7317"/>
                </a:stretch>
              </a:blipFill>
              <a:ln>
                <a:solidFill>
                  <a:schemeClr val="accent2"/>
                </a:solidFill>
              </a:ln>
            </p:spPr>
            <p:txBody>
              <a:bodyPr/>
              <a:lstStyle/>
              <a:p>
                <a:r>
                  <a:rPr lang="en-US">
                    <a:noFill/>
                  </a:rPr>
                  <a:t> </a:t>
                </a:r>
              </a:p>
            </p:txBody>
          </p:sp>
        </mc:Fallback>
      </mc:AlternateContent>
    </p:spTree>
    <p:extLst>
      <p:ext uri="{BB962C8B-B14F-4D97-AF65-F5344CB8AC3E}">
        <p14:creationId xmlns:p14="http://schemas.microsoft.com/office/powerpoint/2010/main" val="165372182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B41B3-CF2F-0194-62F0-9ABE9C61768E}"/>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6BDA03ED-2FD2-06F9-99F0-1ACAFF543468}"/>
              </a:ext>
            </a:extLst>
          </p:cNvPr>
          <p:cNvSpPr>
            <a:spLocks noGrp="1"/>
          </p:cNvSpPr>
          <p:nvPr>
            <p:ph type="body" idx="1"/>
          </p:nvPr>
        </p:nvSpPr>
        <p:spPr/>
        <p:txBody>
          <a:bodyPr/>
          <a:lstStyle/>
          <a:p>
            <a:endParaRPr lang="en-US"/>
          </a:p>
        </p:txBody>
      </p:sp>
      <p:pic>
        <p:nvPicPr>
          <p:cNvPr id="5" name="Picture 4" descr="A machine with a piece of metal&#10;&#10;AI-generated content may be incorrect.">
            <a:extLst>
              <a:ext uri="{FF2B5EF4-FFF2-40B4-BE49-F238E27FC236}">
                <a16:creationId xmlns:a16="http://schemas.microsoft.com/office/drawing/2014/main" id="{B669A239-8978-358B-3F6E-04C49F6C5775}"/>
              </a:ext>
            </a:extLst>
          </p:cNvPr>
          <p:cNvPicPr>
            <a:picLocks noChangeAspect="1"/>
          </p:cNvPicPr>
          <p:nvPr/>
        </p:nvPicPr>
        <p:blipFill>
          <a:blip r:embed="rId2"/>
          <a:stretch>
            <a:fillRect/>
          </a:stretch>
        </p:blipFill>
        <p:spPr>
          <a:xfrm>
            <a:off x="3522617" y="0"/>
            <a:ext cx="5146766" cy="6858000"/>
          </a:xfrm>
          <a:prstGeom prst="rect">
            <a:avLst/>
          </a:prstGeom>
        </p:spPr>
      </p:pic>
    </p:spTree>
    <p:extLst>
      <p:ext uri="{BB962C8B-B14F-4D97-AF65-F5344CB8AC3E}">
        <p14:creationId xmlns:p14="http://schemas.microsoft.com/office/powerpoint/2010/main" val="5717602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71D47-5255-BF9B-29DA-6B9B112458E7}"/>
              </a:ext>
            </a:extLst>
          </p:cNvPr>
          <p:cNvSpPr>
            <a:spLocks noGrp="1"/>
          </p:cNvSpPr>
          <p:nvPr>
            <p:ph type="title"/>
          </p:nvPr>
        </p:nvSpPr>
        <p:spPr/>
        <p:txBody>
          <a:bodyPr/>
          <a:lstStyle/>
          <a:p>
            <a:r>
              <a:rPr lang="en-US" dirty="0"/>
              <a:t>10/14 meeting – upcoming to-do:</a:t>
            </a:r>
          </a:p>
        </p:txBody>
      </p:sp>
      <p:sp>
        <p:nvSpPr>
          <p:cNvPr id="3" name="Text Placeholder 2">
            <a:extLst>
              <a:ext uri="{FF2B5EF4-FFF2-40B4-BE49-F238E27FC236}">
                <a16:creationId xmlns:a16="http://schemas.microsoft.com/office/drawing/2014/main" id="{E03AD7AC-5703-F702-1535-82A780E6712A}"/>
              </a:ext>
            </a:extLst>
          </p:cNvPr>
          <p:cNvSpPr>
            <a:spLocks noGrp="1"/>
          </p:cNvSpPr>
          <p:nvPr>
            <p:ph type="body" idx="1"/>
          </p:nvPr>
        </p:nvSpPr>
        <p:spPr/>
        <p:txBody>
          <a:bodyPr/>
          <a:lstStyle/>
          <a:p>
            <a:r>
              <a:rPr lang="en-US" sz="2400" b="0" dirty="0"/>
              <a:t>Confirm IMX455 symmetry assumption is correct by sampling one or maybe two angles (not all); confirm at least once experimentally</a:t>
            </a:r>
          </a:p>
          <a:p>
            <a:r>
              <a:rPr lang="en-US" sz="2400" b="0" dirty="0"/>
              <a:t>Measure with halogen light source</a:t>
            </a:r>
          </a:p>
          <a:p>
            <a:r>
              <a:rPr lang="en-US" sz="2400" b="0" dirty="0"/>
              <a:t>Debug data processing for missing quadrant</a:t>
            </a:r>
            <a:endParaRPr lang="en-US" b="0" dirty="0"/>
          </a:p>
        </p:txBody>
      </p:sp>
    </p:spTree>
    <p:extLst>
      <p:ext uri="{BB962C8B-B14F-4D97-AF65-F5344CB8AC3E}">
        <p14:creationId xmlns:p14="http://schemas.microsoft.com/office/powerpoint/2010/main" val="333277020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5074C-BF10-4DE3-D616-F1E0A74AB10D}"/>
              </a:ext>
            </a:extLst>
          </p:cNvPr>
          <p:cNvSpPr>
            <a:spLocks noGrp="1"/>
          </p:cNvSpPr>
          <p:nvPr>
            <p:ph type="title"/>
          </p:nvPr>
        </p:nvSpPr>
        <p:spPr/>
        <p:txBody>
          <a:bodyPr/>
          <a:lstStyle/>
          <a:p>
            <a:r>
              <a:rPr lang="en-US" dirty="0"/>
              <a:t>Notes on anisotropic processing bugs</a:t>
            </a:r>
          </a:p>
        </p:txBody>
      </p:sp>
      <p:sp>
        <p:nvSpPr>
          <p:cNvPr id="3" name="Text Placeholder 2">
            <a:extLst>
              <a:ext uri="{FF2B5EF4-FFF2-40B4-BE49-F238E27FC236}">
                <a16:creationId xmlns:a16="http://schemas.microsoft.com/office/drawing/2014/main" id="{7E315F54-56F2-7994-4223-7CDDB36B02CE}"/>
              </a:ext>
            </a:extLst>
          </p:cNvPr>
          <p:cNvSpPr>
            <a:spLocks noGrp="1"/>
          </p:cNvSpPr>
          <p:nvPr>
            <p:ph type="body" idx="1"/>
          </p:nvPr>
        </p:nvSpPr>
        <p:spPr/>
        <p:txBody>
          <a:bodyPr/>
          <a:lstStyle/>
          <a:p>
            <a:r>
              <a:rPr lang="en-US" dirty="0"/>
              <a:t>In BSDF file of IMX455,</a:t>
            </a:r>
          </a:p>
          <a:p>
            <a:pPr lvl="1"/>
            <a:r>
              <a:rPr lang="en-US" dirty="0"/>
              <a:t>At Rz=0 should be constant BRDF value for all Az, but Az=0 has different value</a:t>
            </a:r>
          </a:p>
          <a:p>
            <a:pPr lvl="2"/>
            <a:r>
              <a:rPr lang="en-US" dirty="0"/>
              <a:t>Looks true for all data blocks (all incident angles, all sample rotations)</a:t>
            </a:r>
          </a:p>
          <a:p>
            <a:pPr lvl="1"/>
            <a:r>
              <a:rPr lang="en-US" dirty="0"/>
              <a:t>Az&gt;270 for first data block is all 0 exactly… this is the “missing quadrant” bug seen in the “Scatter Polar Plot” figures</a:t>
            </a:r>
          </a:p>
          <a:p>
            <a:pPr lvl="1"/>
            <a:endParaRPr lang="en-US" dirty="0"/>
          </a:p>
        </p:txBody>
      </p:sp>
    </p:spTree>
    <p:extLst>
      <p:ext uri="{BB962C8B-B14F-4D97-AF65-F5344CB8AC3E}">
        <p14:creationId xmlns:p14="http://schemas.microsoft.com/office/powerpoint/2010/main" val="226188941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8ACF2-CB55-BE92-09F7-71A16C0A73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49EDCE-D1B7-D295-94BD-A0C5F33E57AB}"/>
              </a:ext>
            </a:extLst>
          </p:cNvPr>
          <p:cNvSpPr>
            <a:spLocks noGrp="1"/>
          </p:cNvSpPr>
          <p:nvPr>
            <p:ph type="ctrTitle"/>
          </p:nvPr>
        </p:nvSpPr>
        <p:spPr/>
        <p:txBody>
          <a:bodyPr/>
          <a:lstStyle/>
          <a:p>
            <a:r>
              <a:rPr lang="en-US" sz="3600" dirty="0"/>
              <a:t>V1.1 Development</a:t>
            </a:r>
            <a:br>
              <a:rPr lang="en-US" sz="3600" dirty="0"/>
            </a:br>
            <a:r>
              <a:rPr lang="en-US" sz="2400" dirty="0">
                <a:solidFill>
                  <a:schemeClr val="bg2"/>
                </a:solidFill>
              </a:rPr>
              <a:t>(what I’ve called v2 above, for anisotropic debugging)</a:t>
            </a:r>
            <a:endParaRPr lang="en-US" sz="3600" dirty="0">
              <a:solidFill>
                <a:schemeClr val="bg2"/>
              </a:solidFill>
            </a:endParaRPr>
          </a:p>
        </p:txBody>
      </p:sp>
      <p:sp>
        <p:nvSpPr>
          <p:cNvPr id="3" name="Subtitle 2">
            <a:extLst>
              <a:ext uri="{FF2B5EF4-FFF2-40B4-BE49-F238E27FC236}">
                <a16:creationId xmlns:a16="http://schemas.microsoft.com/office/drawing/2014/main" id="{3013FDE7-698B-9583-2E30-7003C79EB66A}"/>
              </a:ext>
            </a:extLst>
          </p:cNvPr>
          <p:cNvSpPr>
            <a:spLocks noGrp="1"/>
          </p:cNvSpPr>
          <p:nvPr>
            <p:ph type="subTitle" idx="1"/>
          </p:nvPr>
        </p:nvSpPr>
        <p:spPr/>
        <p:txBody>
          <a:bodyPr>
            <a:normAutofit/>
          </a:bodyPr>
          <a:lstStyle/>
          <a:p>
            <a:endParaRPr lang="en-US" dirty="0"/>
          </a:p>
          <a:p>
            <a:r>
              <a:rPr lang="en-US" dirty="0"/>
              <a:t>2025/11/20</a:t>
            </a:r>
          </a:p>
        </p:txBody>
      </p:sp>
    </p:spTree>
    <p:extLst>
      <p:ext uri="{BB962C8B-B14F-4D97-AF65-F5344CB8AC3E}">
        <p14:creationId xmlns:p14="http://schemas.microsoft.com/office/powerpoint/2010/main" val="46772751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0D6CB-FF22-ABDF-1193-DE941CA9F441}"/>
              </a:ext>
            </a:extLst>
          </p:cNvPr>
          <p:cNvSpPr>
            <a:spLocks noGrp="1"/>
          </p:cNvSpPr>
          <p:nvPr>
            <p:ph type="title"/>
          </p:nvPr>
        </p:nvSpPr>
        <p:spPr/>
        <p:txBody>
          <a:bodyPr/>
          <a:lstStyle/>
          <a:p>
            <a:r>
              <a:rPr lang="en-US" dirty="0" err="1"/>
              <a:t>Github</a:t>
            </a:r>
            <a:r>
              <a:rPr lang="en-US" dirty="0"/>
              <a:t> repo</a:t>
            </a:r>
          </a:p>
        </p:txBody>
      </p:sp>
      <p:sp>
        <p:nvSpPr>
          <p:cNvPr id="3" name="Text Placeholder 2">
            <a:extLst>
              <a:ext uri="{FF2B5EF4-FFF2-40B4-BE49-F238E27FC236}">
                <a16:creationId xmlns:a16="http://schemas.microsoft.com/office/drawing/2014/main" id="{E9F20943-0AA4-CF35-4142-6E14191FA383}"/>
              </a:ext>
            </a:extLst>
          </p:cNvPr>
          <p:cNvSpPr>
            <a:spLocks noGrp="1"/>
          </p:cNvSpPr>
          <p:nvPr>
            <p:ph type="body" idx="1"/>
          </p:nvPr>
        </p:nvSpPr>
        <p:spPr/>
        <p:txBody>
          <a:bodyPr/>
          <a:lstStyle/>
          <a:p>
            <a:r>
              <a:rPr lang="en-US" dirty="0"/>
              <a:t>Created “</a:t>
            </a:r>
            <a:r>
              <a:rPr lang="en-US" dirty="0" err="1"/>
              <a:t>bsdf</a:t>
            </a:r>
            <a:r>
              <a:rPr lang="en-US" dirty="0"/>
              <a:t>-tools” repo under LOFT </a:t>
            </a:r>
            <a:r>
              <a:rPr lang="en-US" dirty="0" err="1"/>
              <a:t>github</a:t>
            </a:r>
            <a:r>
              <a:rPr lang="en-US" dirty="0"/>
              <a:t> as public data processing tools</a:t>
            </a:r>
          </a:p>
          <a:p>
            <a:r>
              <a:rPr lang="en-US" dirty="0"/>
              <a:t>V1.0 of zip folder package reorganized for initialization of repo, with added files from local storage</a:t>
            </a:r>
          </a:p>
          <a:p>
            <a:r>
              <a:rPr lang="en-US" dirty="0"/>
              <a:t>V1.1 development is to debug anisotropic</a:t>
            </a:r>
          </a:p>
        </p:txBody>
      </p:sp>
    </p:spTree>
    <p:extLst>
      <p:ext uri="{BB962C8B-B14F-4D97-AF65-F5344CB8AC3E}">
        <p14:creationId xmlns:p14="http://schemas.microsoft.com/office/powerpoint/2010/main" val="238638992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22902-5F86-9228-5AAB-0DD8E96E3262}"/>
              </a:ext>
            </a:extLst>
          </p:cNvPr>
          <p:cNvSpPr>
            <a:spLocks noGrp="1"/>
          </p:cNvSpPr>
          <p:nvPr>
            <p:ph type="title"/>
          </p:nvPr>
        </p:nvSpPr>
        <p:spPr/>
        <p:txBody>
          <a:bodyPr/>
          <a:lstStyle/>
          <a:p>
            <a:r>
              <a:rPr lang="en-US" dirty="0"/>
              <a:t>Questions</a:t>
            </a:r>
          </a:p>
        </p:txBody>
      </p:sp>
      <p:sp>
        <p:nvSpPr>
          <p:cNvPr id="3" name="Text Placeholder 2">
            <a:extLst>
              <a:ext uri="{FF2B5EF4-FFF2-40B4-BE49-F238E27FC236}">
                <a16:creationId xmlns:a16="http://schemas.microsoft.com/office/drawing/2014/main" id="{CB14F98A-BB84-F34D-347F-6C15F0C67C23}"/>
              </a:ext>
            </a:extLst>
          </p:cNvPr>
          <p:cNvSpPr>
            <a:spLocks noGrp="1"/>
          </p:cNvSpPr>
          <p:nvPr>
            <p:ph type="body" idx="1"/>
          </p:nvPr>
        </p:nvSpPr>
        <p:spPr/>
        <p:txBody>
          <a:bodyPr/>
          <a:lstStyle/>
          <a:p>
            <a:r>
              <a:rPr lang="en-US" dirty="0"/>
              <a:t>Az \in [0, 360) or Az \in [0, 360] ?</a:t>
            </a:r>
          </a:p>
          <a:p>
            <a:pPr lvl="1"/>
            <a:r>
              <a:rPr lang="en-US" dirty="0"/>
              <a:t>From </a:t>
            </a:r>
            <a:r>
              <a:rPr lang="en-US" dirty="0" err="1"/>
              <a:t>zemax</a:t>
            </a:r>
            <a:r>
              <a:rPr lang="en-US" dirty="0"/>
              <a:t> docs (linked article way above):</a:t>
            </a:r>
          </a:p>
          <a:p>
            <a:pPr lvl="2"/>
            <a:r>
              <a:rPr lang="en-US" dirty="0"/>
              <a:t>“In order for the interpolation to work correctly, the Sample Rotation for anisotropic samples have to be defined from 0 to 360 degrees.”</a:t>
            </a:r>
          </a:p>
          <a:p>
            <a:pPr lvl="3"/>
            <a:r>
              <a:rPr lang="en-US" dirty="0"/>
              <a:t>Not sure if this means 360] or 360)</a:t>
            </a:r>
          </a:p>
          <a:p>
            <a:pPr lvl="3"/>
            <a:r>
              <a:rPr lang="en-US" dirty="0">
                <a:highlight>
                  <a:srgbClr val="FFFF00"/>
                </a:highlight>
              </a:rPr>
              <a:t>Whatever, just assume 360] and copy the values from Az=0… doesn’t hurt</a:t>
            </a:r>
          </a:p>
        </p:txBody>
      </p:sp>
    </p:spTree>
    <p:extLst>
      <p:ext uri="{BB962C8B-B14F-4D97-AF65-F5344CB8AC3E}">
        <p14:creationId xmlns:p14="http://schemas.microsoft.com/office/powerpoint/2010/main" val="219871756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73AD6-778D-B27C-D26E-A094DE8104A1}"/>
              </a:ext>
            </a:extLst>
          </p:cNvPr>
          <p:cNvSpPr>
            <a:spLocks noGrp="1"/>
          </p:cNvSpPr>
          <p:nvPr>
            <p:ph type="title"/>
          </p:nvPr>
        </p:nvSpPr>
        <p:spPr/>
        <p:txBody>
          <a:bodyPr/>
          <a:lstStyle/>
          <a:p>
            <a:r>
              <a:rPr lang="en-US" dirty="0"/>
              <a:t>Debugging why missing quadrant</a:t>
            </a:r>
          </a:p>
        </p:txBody>
      </p:sp>
      <p:sp>
        <p:nvSpPr>
          <p:cNvPr id="3" name="Text Placeholder 2">
            <a:extLst>
              <a:ext uri="{FF2B5EF4-FFF2-40B4-BE49-F238E27FC236}">
                <a16:creationId xmlns:a16="http://schemas.microsoft.com/office/drawing/2014/main" id="{E8BA1DED-742C-6B1A-CE59-F6ADF384EB43}"/>
              </a:ext>
            </a:extLst>
          </p:cNvPr>
          <p:cNvSpPr>
            <a:spLocks noGrp="1"/>
          </p:cNvSpPr>
          <p:nvPr>
            <p:ph type="body" idx="1"/>
          </p:nvPr>
        </p:nvSpPr>
        <p:spPr/>
        <p:txBody>
          <a:bodyPr>
            <a:normAutofit fontScale="92500" lnSpcReduction="10000"/>
          </a:bodyPr>
          <a:lstStyle/>
          <a:p>
            <a:r>
              <a:rPr lang="en-US" sz="2400" b="0" dirty="0"/>
              <a:t>All 0’s (exact) for those Az values</a:t>
            </a:r>
          </a:p>
          <a:p>
            <a:r>
              <a:rPr lang="en-US" sz="2400" b="0" dirty="0"/>
              <a:t>Comes from </a:t>
            </a:r>
            <a:r>
              <a:rPr lang="en-US" sz="2400" b="0" dirty="0" err="1"/>
              <a:t>RT_eval</a:t>
            </a:r>
            <a:r>
              <a:rPr lang="en-US" sz="2400" b="0" dirty="0"/>
              <a:t> in code</a:t>
            </a:r>
          </a:p>
          <a:p>
            <a:pPr lvl="1"/>
            <a:r>
              <a:rPr lang="en-US" sz="2000" dirty="0"/>
              <a:t>0’s are forced here:</a:t>
            </a:r>
          </a:p>
          <a:p>
            <a:pPr lvl="1"/>
            <a:endParaRPr lang="en-US" sz="2000" dirty="0"/>
          </a:p>
          <a:p>
            <a:pPr lvl="1"/>
            <a:endParaRPr lang="en-US" sz="2000" dirty="0"/>
          </a:p>
          <a:p>
            <a:pPr lvl="1"/>
            <a:endParaRPr lang="en-US" sz="2000" dirty="0"/>
          </a:p>
          <a:p>
            <a:pPr lvl="1"/>
            <a:endParaRPr lang="en-US" sz="2000" dirty="0"/>
          </a:p>
          <a:p>
            <a:pPr lvl="1"/>
            <a:endParaRPr lang="en-US" sz="2000" dirty="0"/>
          </a:p>
          <a:p>
            <a:pPr lvl="1"/>
            <a:endParaRPr lang="en-US" sz="2000" dirty="0"/>
          </a:p>
          <a:p>
            <a:pPr lvl="1"/>
            <a:endParaRPr lang="en-US" sz="2000" dirty="0"/>
          </a:p>
          <a:p>
            <a:pPr lvl="1"/>
            <a:endParaRPr lang="en-US" sz="2000" dirty="0"/>
          </a:p>
          <a:p>
            <a:pPr lvl="1"/>
            <a:r>
              <a:rPr lang="en-US" sz="2000" dirty="0"/>
              <a:t>Means “</a:t>
            </a:r>
            <a:r>
              <a:rPr lang="en-US" sz="2000" dirty="0" err="1"/>
              <a:t>mTransmission</a:t>
            </a:r>
            <a:r>
              <a:rPr lang="en-US" sz="2000" dirty="0"/>
              <a:t>” is wrong</a:t>
            </a:r>
          </a:p>
          <a:p>
            <a:pPr lvl="1"/>
            <a:endParaRPr lang="en-US" dirty="0"/>
          </a:p>
        </p:txBody>
      </p:sp>
      <p:pic>
        <p:nvPicPr>
          <p:cNvPr id="7" name="Picture 6">
            <a:extLst>
              <a:ext uri="{FF2B5EF4-FFF2-40B4-BE49-F238E27FC236}">
                <a16:creationId xmlns:a16="http://schemas.microsoft.com/office/drawing/2014/main" id="{E14811FE-2C7D-55B7-09E0-77E658585D66}"/>
              </a:ext>
            </a:extLst>
          </p:cNvPr>
          <p:cNvPicPr>
            <a:picLocks noChangeAspect="1"/>
          </p:cNvPicPr>
          <p:nvPr/>
        </p:nvPicPr>
        <p:blipFill>
          <a:blip r:embed="rId2"/>
          <a:stretch>
            <a:fillRect/>
          </a:stretch>
        </p:blipFill>
        <p:spPr>
          <a:xfrm>
            <a:off x="1906532" y="2979617"/>
            <a:ext cx="7566135" cy="2511547"/>
          </a:xfrm>
          <a:prstGeom prst="rect">
            <a:avLst/>
          </a:prstGeom>
        </p:spPr>
      </p:pic>
    </p:spTree>
    <p:extLst>
      <p:ext uri="{BB962C8B-B14F-4D97-AF65-F5344CB8AC3E}">
        <p14:creationId xmlns:p14="http://schemas.microsoft.com/office/powerpoint/2010/main" val="81457243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7A821-2443-A52E-CFD8-2BF6BCFAB1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491F07-8A92-6FEF-E6E2-76EF37956A81}"/>
              </a:ext>
            </a:extLst>
          </p:cNvPr>
          <p:cNvSpPr>
            <a:spLocks noGrp="1"/>
          </p:cNvSpPr>
          <p:nvPr>
            <p:ph type="title"/>
          </p:nvPr>
        </p:nvSpPr>
        <p:spPr/>
        <p:txBody>
          <a:bodyPr/>
          <a:lstStyle/>
          <a:p>
            <a:r>
              <a:rPr lang="en-US" dirty="0"/>
              <a:t>Debugging why missing quadrant</a:t>
            </a:r>
          </a:p>
        </p:txBody>
      </p:sp>
      <p:sp>
        <p:nvSpPr>
          <p:cNvPr id="3" name="Text Placeholder 2">
            <a:extLst>
              <a:ext uri="{FF2B5EF4-FFF2-40B4-BE49-F238E27FC236}">
                <a16:creationId xmlns:a16="http://schemas.microsoft.com/office/drawing/2014/main" id="{3A04A632-A490-2004-0912-57D49B8037FC}"/>
              </a:ext>
            </a:extLst>
          </p:cNvPr>
          <p:cNvSpPr>
            <a:spLocks noGrp="1"/>
          </p:cNvSpPr>
          <p:nvPr>
            <p:ph type="body" idx="1"/>
          </p:nvPr>
        </p:nvSpPr>
        <p:spPr/>
        <p:txBody>
          <a:bodyPr>
            <a:normAutofit/>
          </a:bodyPr>
          <a:lstStyle/>
          <a:p>
            <a:r>
              <a:rPr lang="en-US" sz="2400" b="0" dirty="0"/>
              <a:t>“</a:t>
            </a:r>
            <a:r>
              <a:rPr lang="en-US" sz="2400" b="0" dirty="0" err="1"/>
              <a:t>mTransmission</a:t>
            </a:r>
            <a:r>
              <a:rPr lang="en-US" sz="2400" b="0" dirty="0"/>
              <a:t>” correction:</a:t>
            </a:r>
          </a:p>
          <a:p>
            <a:pPr lvl="1"/>
            <a:r>
              <a:rPr lang="en-US" sz="2000" dirty="0"/>
              <a:t>Note the goal is to find angles that would be transmission through the sample surface, but in terms of Az and Rz angles</a:t>
            </a:r>
          </a:p>
          <a:p>
            <a:pPr lvl="1"/>
            <a:r>
              <a:rPr lang="en-US" sz="2000" b="0" dirty="0"/>
              <a:t>Solution: need Az &lt; 270 too, not just Az &gt; 90</a:t>
            </a:r>
          </a:p>
          <a:p>
            <a:pPr lvl="1"/>
            <a:endParaRPr lang="en-US" sz="2800" dirty="0"/>
          </a:p>
        </p:txBody>
      </p:sp>
      <p:pic>
        <p:nvPicPr>
          <p:cNvPr id="5" name="Picture 4">
            <a:extLst>
              <a:ext uri="{FF2B5EF4-FFF2-40B4-BE49-F238E27FC236}">
                <a16:creationId xmlns:a16="http://schemas.microsoft.com/office/drawing/2014/main" id="{F3F99096-8EE4-2C6D-F012-480D4A492D8D}"/>
              </a:ext>
            </a:extLst>
          </p:cNvPr>
          <p:cNvPicPr>
            <a:picLocks noChangeAspect="1"/>
          </p:cNvPicPr>
          <p:nvPr/>
        </p:nvPicPr>
        <p:blipFill>
          <a:blip r:embed="rId2"/>
          <a:stretch>
            <a:fillRect/>
          </a:stretch>
        </p:blipFill>
        <p:spPr>
          <a:xfrm>
            <a:off x="2108620" y="3562018"/>
            <a:ext cx="7314779" cy="2954926"/>
          </a:xfrm>
          <a:prstGeom prst="rect">
            <a:avLst/>
          </a:prstGeom>
        </p:spPr>
      </p:pic>
    </p:spTree>
    <p:extLst>
      <p:ext uri="{BB962C8B-B14F-4D97-AF65-F5344CB8AC3E}">
        <p14:creationId xmlns:p14="http://schemas.microsoft.com/office/powerpoint/2010/main" val="86191200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BF62F-E406-4148-4248-A2EBF2EAFE79}"/>
              </a:ext>
            </a:extLst>
          </p:cNvPr>
          <p:cNvSpPr>
            <a:spLocks noGrp="1"/>
          </p:cNvSpPr>
          <p:nvPr>
            <p:ph type="title"/>
          </p:nvPr>
        </p:nvSpPr>
        <p:spPr/>
        <p:txBody>
          <a:bodyPr/>
          <a:lstStyle/>
          <a:p>
            <a:r>
              <a:rPr lang="en-US" dirty="0"/>
              <a:t>Debugging why Az=0 at Rz=0 has different value than other Az</a:t>
            </a:r>
          </a:p>
        </p:txBody>
      </p:sp>
      <p:sp>
        <p:nvSpPr>
          <p:cNvPr id="3" name="Text Placeholder 2">
            <a:extLst>
              <a:ext uri="{FF2B5EF4-FFF2-40B4-BE49-F238E27FC236}">
                <a16:creationId xmlns:a16="http://schemas.microsoft.com/office/drawing/2014/main" id="{6FAEAA5E-2E57-46D4-88D4-2999DEFF751B}"/>
              </a:ext>
            </a:extLst>
          </p:cNvPr>
          <p:cNvSpPr>
            <a:spLocks noGrp="1"/>
          </p:cNvSpPr>
          <p:nvPr>
            <p:ph type="body" idx="1"/>
          </p:nvPr>
        </p:nvSpPr>
        <p:spPr/>
        <p:txBody>
          <a:bodyPr/>
          <a:lstStyle/>
          <a:p>
            <a:r>
              <a:rPr lang="en-US" dirty="0"/>
              <a:t>Problem was I assumed:</a:t>
            </a:r>
          </a:p>
          <a:p>
            <a:pPr lvl="1"/>
            <a:r>
              <a:rPr lang="en-US" dirty="0"/>
              <a:t>max(RT) = specular ray</a:t>
            </a:r>
          </a:p>
          <a:p>
            <a:r>
              <a:rPr lang="en-US" dirty="0"/>
              <a:t>Fixed by averaging actual specular ray measurements at (A,R) = (-90,+I) and (A,R) = (+90,-I)</a:t>
            </a:r>
          </a:p>
          <a:p>
            <a:pPr lvl="1"/>
            <a:r>
              <a:rPr lang="en-US" dirty="0"/>
              <a:t>Doesn’t account for shift though, so assumed RT-300S alignment is good</a:t>
            </a:r>
          </a:p>
        </p:txBody>
      </p:sp>
    </p:spTree>
    <p:extLst>
      <p:ext uri="{BB962C8B-B14F-4D97-AF65-F5344CB8AC3E}">
        <p14:creationId xmlns:p14="http://schemas.microsoft.com/office/powerpoint/2010/main" val="238748045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71039-F9D4-0CB4-692C-974A2DFB4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99C4F7-3217-D93E-211B-9AD96F125D16}"/>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B5771968-2F9D-E2DB-E7D3-3F01A29D4E5E}"/>
              </a:ext>
            </a:extLst>
          </p:cNvPr>
          <p:cNvSpPr>
            <a:spLocks noGrp="1"/>
          </p:cNvSpPr>
          <p:nvPr>
            <p:ph type="body" idx="1"/>
          </p:nvPr>
        </p:nvSpPr>
        <p:spPr/>
        <p:txBody>
          <a:bodyPr/>
          <a:lstStyle/>
          <a:p>
            <a:endParaRPr lang="en-US"/>
          </a:p>
        </p:txBody>
      </p:sp>
      <p:pic>
        <p:nvPicPr>
          <p:cNvPr id="5" name="Picture 4" descr="A machine with a piece of metal&#10;&#10;AI-generated content may be incorrect.">
            <a:extLst>
              <a:ext uri="{FF2B5EF4-FFF2-40B4-BE49-F238E27FC236}">
                <a16:creationId xmlns:a16="http://schemas.microsoft.com/office/drawing/2014/main" id="{3E80419A-E65F-5618-629A-D9E1641541C7}"/>
              </a:ext>
            </a:extLst>
          </p:cNvPr>
          <p:cNvPicPr>
            <a:picLocks noChangeAspect="1"/>
          </p:cNvPicPr>
          <p:nvPr/>
        </p:nvPicPr>
        <p:blipFill>
          <a:blip r:embed="rId2"/>
          <a:stretch>
            <a:fillRect/>
          </a:stretch>
        </p:blipFill>
        <p:spPr>
          <a:xfrm>
            <a:off x="3522617" y="0"/>
            <a:ext cx="5146766" cy="6858000"/>
          </a:xfrm>
          <a:prstGeom prst="rect">
            <a:avLst/>
          </a:prstGeom>
        </p:spPr>
      </p:pic>
    </p:spTree>
    <p:extLst>
      <p:ext uri="{BB962C8B-B14F-4D97-AF65-F5344CB8AC3E}">
        <p14:creationId xmlns:p14="http://schemas.microsoft.com/office/powerpoint/2010/main" val="267329865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414D8-966A-A125-4897-F9D9EFE63CC0}"/>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1A407852-15A2-CD1E-FB77-B2E97DD4060C}"/>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C48C1C1A-1B21-6044-220D-05CF2527F5E2}"/>
              </a:ext>
            </a:extLst>
          </p:cNvPr>
          <p:cNvPicPr>
            <a:picLocks noChangeAspect="1"/>
          </p:cNvPicPr>
          <p:nvPr/>
        </p:nvPicPr>
        <p:blipFill>
          <a:blip r:embed="rId2"/>
          <a:stretch>
            <a:fillRect/>
          </a:stretch>
        </p:blipFill>
        <p:spPr>
          <a:xfrm>
            <a:off x="165860" y="823549"/>
            <a:ext cx="11860280" cy="5210902"/>
          </a:xfrm>
          <a:prstGeom prst="rect">
            <a:avLst/>
          </a:prstGeom>
        </p:spPr>
      </p:pic>
    </p:spTree>
    <p:extLst>
      <p:ext uri="{BB962C8B-B14F-4D97-AF65-F5344CB8AC3E}">
        <p14:creationId xmlns:p14="http://schemas.microsoft.com/office/powerpoint/2010/main" val="164753244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8B7C-0067-7EB5-0F21-8B07E8902C60}"/>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D013ABD8-8B84-A17A-B185-6946D2A24113}"/>
              </a:ext>
            </a:extLst>
          </p:cNvPr>
          <p:cNvPicPr>
            <a:picLocks noChangeAspect="1"/>
          </p:cNvPicPr>
          <p:nvPr/>
        </p:nvPicPr>
        <p:blipFill>
          <a:blip r:embed="rId2"/>
          <a:srcRect l="649" r="65223"/>
          <a:stretch>
            <a:fillRect/>
          </a:stretch>
        </p:blipFill>
        <p:spPr>
          <a:xfrm>
            <a:off x="6496150" y="0"/>
            <a:ext cx="2847926" cy="6858000"/>
          </a:xfrm>
          <a:prstGeom prst="rect">
            <a:avLst/>
          </a:prstGeom>
        </p:spPr>
      </p:pic>
      <p:pic>
        <p:nvPicPr>
          <p:cNvPr id="6" name="Picture 5">
            <a:extLst>
              <a:ext uri="{FF2B5EF4-FFF2-40B4-BE49-F238E27FC236}">
                <a16:creationId xmlns:a16="http://schemas.microsoft.com/office/drawing/2014/main" id="{9A7FE70A-1B2B-51F0-8238-AE3CC59B732C}"/>
              </a:ext>
            </a:extLst>
          </p:cNvPr>
          <p:cNvPicPr>
            <a:picLocks noChangeAspect="1"/>
          </p:cNvPicPr>
          <p:nvPr/>
        </p:nvPicPr>
        <p:blipFill>
          <a:blip r:embed="rId3"/>
          <a:srcRect l="65829"/>
          <a:stretch>
            <a:fillRect/>
          </a:stretch>
        </p:blipFill>
        <p:spPr>
          <a:xfrm>
            <a:off x="2847924" y="0"/>
            <a:ext cx="2847925" cy="6858000"/>
          </a:xfrm>
          <a:prstGeom prst="rect">
            <a:avLst/>
          </a:prstGeom>
        </p:spPr>
      </p:pic>
      <p:pic>
        <p:nvPicPr>
          <p:cNvPr id="5" name="Picture 4">
            <a:extLst>
              <a:ext uri="{FF2B5EF4-FFF2-40B4-BE49-F238E27FC236}">
                <a16:creationId xmlns:a16="http://schemas.microsoft.com/office/drawing/2014/main" id="{CE6A31E1-D8D2-585C-0769-304DB45006FA}"/>
              </a:ext>
            </a:extLst>
          </p:cNvPr>
          <p:cNvPicPr>
            <a:picLocks noChangeAspect="1"/>
          </p:cNvPicPr>
          <p:nvPr/>
        </p:nvPicPr>
        <p:blipFill>
          <a:blip r:embed="rId2"/>
          <a:srcRect l="65872"/>
          <a:stretch>
            <a:fillRect/>
          </a:stretch>
        </p:blipFill>
        <p:spPr>
          <a:xfrm>
            <a:off x="9344076" y="0"/>
            <a:ext cx="2847926" cy="6858000"/>
          </a:xfrm>
          <a:prstGeom prst="rect">
            <a:avLst/>
          </a:prstGeom>
        </p:spPr>
      </p:pic>
      <p:pic>
        <p:nvPicPr>
          <p:cNvPr id="3" name="Picture 2">
            <a:extLst>
              <a:ext uri="{FF2B5EF4-FFF2-40B4-BE49-F238E27FC236}">
                <a16:creationId xmlns:a16="http://schemas.microsoft.com/office/drawing/2014/main" id="{C58D86B8-6156-E792-F33A-D73F4592D9B3}"/>
              </a:ext>
            </a:extLst>
          </p:cNvPr>
          <p:cNvPicPr>
            <a:picLocks noChangeAspect="1"/>
          </p:cNvPicPr>
          <p:nvPr/>
        </p:nvPicPr>
        <p:blipFill>
          <a:blip r:embed="rId3"/>
          <a:srcRect r="65829"/>
          <a:stretch>
            <a:fillRect/>
          </a:stretch>
        </p:blipFill>
        <p:spPr>
          <a:xfrm>
            <a:off x="0" y="0"/>
            <a:ext cx="2847924" cy="685800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BC1AF40-C60B-ADF5-2CD4-CA0FBD30BCDC}"/>
                  </a:ext>
                </a:extLst>
              </p:cNvPr>
              <p:cNvSpPr txBox="1"/>
              <p:nvPr/>
            </p:nvSpPr>
            <p:spPr>
              <a:xfrm>
                <a:off x="10889370" y="2726585"/>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𝟑𝟎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7" name="TextBox 6">
                <a:extLst>
                  <a:ext uri="{FF2B5EF4-FFF2-40B4-BE49-F238E27FC236}">
                    <a16:creationId xmlns:a16="http://schemas.microsoft.com/office/drawing/2014/main" id="{CB8754AE-9B81-F023-2E64-10EE76A0A85A}"/>
                  </a:ext>
                </a:extLst>
              </p:cNvPr>
              <p:cNvSpPr txBox="1">
                <a:spLocks noRot="1" noChangeAspect="1" noMove="1" noResize="1" noEditPoints="1" noAdjustHandles="1" noChangeArrowheads="1" noChangeShapeType="1" noTextEdit="1"/>
              </p:cNvSpPr>
              <p:nvPr/>
            </p:nvSpPr>
            <p:spPr>
              <a:xfrm>
                <a:off x="10889370" y="2726585"/>
                <a:ext cx="1168400" cy="400110"/>
              </a:xfrm>
              <a:prstGeom prst="rect">
                <a:avLst/>
              </a:prstGeom>
              <a:blipFill>
                <a:blip r:embed="rId4"/>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64485BE-1174-2493-1F89-83A531B18C40}"/>
                  </a:ext>
                </a:extLst>
              </p:cNvPr>
              <p:cNvSpPr txBox="1"/>
              <p:nvPr/>
            </p:nvSpPr>
            <p:spPr>
              <a:xfrm>
                <a:off x="8395937" y="6223318"/>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𝟔𝟎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8" name="TextBox 7">
                <a:extLst>
                  <a:ext uri="{FF2B5EF4-FFF2-40B4-BE49-F238E27FC236}">
                    <a16:creationId xmlns:a16="http://schemas.microsoft.com/office/drawing/2014/main" id="{604111D5-B094-17E8-BBE5-98334457AC39}"/>
                  </a:ext>
                </a:extLst>
              </p:cNvPr>
              <p:cNvSpPr txBox="1">
                <a:spLocks noRot="1" noChangeAspect="1" noMove="1" noResize="1" noEditPoints="1" noAdjustHandles="1" noChangeArrowheads="1" noChangeShapeType="1" noTextEdit="1"/>
              </p:cNvSpPr>
              <p:nvPr/>
            </p:nvSpPr>
            <p:spPr>
              <a:xfrm>
                <a:off x="8395937" y="6223318"/>
                <a:ext cx="1168400" cy="400110"/>
              </a:xfrm>
              <a:prstGeom prst="rect">
                <a:avLst/>
              </a:prstGeom>
              <a:blipFill>
                <a:blip r:embed="rId5"/>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F608386-9B9E-8D08-48EA-CD41CA30D34B}"/>
                  </a:ext>
                </a:extLst>
              </p:cNvPr>
              <p:cNvSpPr txBox="1"/>
              <p:nvPr/>
            </p:nvSpPr>
            <p:spPr>
              <a:xfrm>
                <a:off x="10889370" y="6223318"/>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𝟗𝟎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9" name="TextBox 8">
                <a:extLst>
                  <a:ext uri="{FF2B5EF4-FFF2-40B4-BE49-F238E27FC236}">
                    <a16:creationId xmlns:a16="http://schemas.microsoft.com/office/drawing/2014/main" id="{2B73B581-72AE-D5A6-541D-25BFBFA5F651}"/>
                  </a:ext>
                </a:extLst>
              </p:cNvPr>
              <p:cNvSpPr txBox="1">
                <a:spLocks noRot="1" noChangeAspect="1" noMove="1" noResize="1" noEditPoints="1" noAdjustHandles="1" noChangeArrowheads="1" noChangeShapeType="1" noTextEdit="1"/>
              </p:cNvSpPr>
              <p:nvPr/>
            </p:nvSpPr>
            <p:spPr>
              <a:xfrm>
                <a:off x="10889370" y="6223318"/>
                <a:ext cx="1168400" cy="400110"/>
              </a:xfrm>
              <a:prstGeom prst="rect">
                <a:avLst/>
              </a:prstGeom>
              <a:blipFill>
                <a:blip r:embed="rId6"/>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9B5C3BB-9B48-5218-60D0-89F43747A406}"/>
                  </a:ext>
                </a:extLst>
              </p:cNvPr>
              <p:cNvSpPr txBox="1"/>
              <p:nvPr/>
            </p:nvSpPr>
            <p:spPr>
              <a:xfrm>
                <a:off x="1847955" y="192875"/>
                <a:ext cx="1559413" cy="584775"/>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3200" b="1" i="1" smtClean="0">
                          <a:solidFill>
                            <a:schemeClr val="bg2"/>
                          </a:solidFill>
                          <a:latin typeface="Cambria Math" panose="02040503050406030204" pitchFamily="18" charset="0"/>
                        </a:rPr>
                        <m:t>𝑰</m:t>
                      </m:r>
                      <m:r>
                        <a:rPr lang="en-US" sz="3200" b="1" i="1" smtClean="0">
                          <a:solidFill>
                            <a:schemeClr val="bg2"/>
                          </a:solidFill>
                          <a:latin typeface="Cambria Math" panose="02040503050406030204" pitchFamily="18" charset="0"/>
                        </a:rPr>
                        <m:t>=</m:t>
                      </m:r>
                      <m:sSup>
                        <m:sSupPr>
                          <m:ctrlPr>
                            <a:rPr lang="en-US" sz="3200" b="1" i="1" smtClean="0">
                              <a:solidFill>
                                <a:schemeClr val="bg2"/>
                              </a:solidFill>
                              <a:latin typeface="Cambria Math" panose="02040503050406030204" pitchFamily="18" charset="0"/>
                            </a:rPr>
                          </m:ctrlPr>
                        </m:sSupPr>
                        <m:e>
                          <m:r>
                            <a:rPr lang="en-US" sz="3200" b="1" i="1" smtClean="0">
                              <a:solidFill>
                                <a:schemeClr val="bg2"/>
                              </a:solidFill>
                              <a:latin typeface="Cambria Math" panose="02040503050406030204" pitchFamily="18" charset="0"/>
                            </a:rPr>
                            <m:t>𝟏𝟎</m:t>
                          </m:r>
                        </m:e>
                        <m:sup>
                          <m:r>
                            <a:rPr lang="en-US" sz="3200" b="1" i="1" smtClean="0">
                              <a:solidFill>
                                <a:schemeClr val="bg2"/>
                              </a:solidFill>
                              <a:latin typeface="Cambria Math" panose="02040503050406030204" pitchFamily="18" charset="0"/>
                            </a:rPr>
                            <m:t>∘</m:t>
                          </m:r>
                        </m:sup>
                      </m:sSup>
                    </m:oMath>
                  </m:oMathPara>
                </a14:m>
                <a:endParaRPr lang="en-US" sz="3200" b="1" dirty="0">
                  <a:solidFill>
                    <a:schemeClr val="bg2"/>
                  </a:solidFill>
                </a:endParaRPr>
              </a:p>
            </p:txBody>
          </p:sp>
        </mc:Choice>
        <mc:Fallback xmlns="">
          <p:sp>
            <p:nvSpPr>
              <p:cNvPr id="10" name="TextBox 9">
                <a:extLst>
                  <a:ext uri="{FF2B5EF4-FFF2-40B4-BE49-F238E27FC236}">
                    <a16:creationId xmlns:a16="http://schemas.microsoft.com/office/drawing/2014/main" id="{554DC4AD-05CC-4EE1-FC38-1639E0260304}"/>
                  </a:ext>
                </a:extLst>
              </p:cNvPr>
              <p:cNvSpPr txBox="1">
                <a:spLocks noRot="1" noChangeAspect="1" noMove="1" noResize="1" noEditPoints="1" noAdjustHandles="1" noChangeArrowheads="1" noChangeShapeType="1" noTextEdit="1"/>
              </p:cNvSpPr>
              <p:nvPr/>
            </p:nvSpPr>
            <p:spPr>
              <a:xfrm>
                <a:off x="1847955" y="192875"/>
                <a:ext cx="1559413" cy="584775"/>
              </a:xfrm>
              <a:prstGeom prst="rect">
                <a:avLst/>
              </a:prstGeom>
              <a:blipFill>
                <a:blip r:embed="rId7"/>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87BA300-55BD-4027-D8B1-284FD00B9DA8}"/>
                  </a:ext>
                </a:extLst>
              </p:cNvPr>
              <p:cNvSpPr txBox="1"/>
              <p:nvPr/>
            </p:nvSpPr>
            <p:spPr>
              <a:xfrm>
                <a:off x="8395937" y="2726585"/>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24" name="TextBox 23">
                <a:extLst>
                  <a:ext uri="{FF2B5EF4-FFF2-40B4-BE49-F238E27FC236}">
                    <a16:creationId xmlns:a16="http://schemas.microsoft.com/office/drawing/2014/main" id="{32FBA0DD-821A-7739-611C-C987E00D9C4F}"/>
                  </a:ext>
                </a:extLst>
              </p:cNvPr>
              <p:cNvSpPr txBox="1">
                <a:spLocks noRot="1" noChangeAspect="1" noMove="1" noResize="1" noEditPoints="1" noAdjustHandles="1" noChangeArrowheads="1" noChangeShapeType="1" noTextEdit="1"/>
              </p:cNvSpPr>
              <p:nvPr/>
            </p:nvSpPr>
            <p:spPr>
              <a:xfrm>
                <a:off x="8395937" y="2726585"/>
                <a:ext cx="1168400" cy="400110"/>
              </a:xfrm>
              <a:prstGeom prst="rect">
                <a:avLst/>
              </a:prstGeom>
              <a:blipFill>
                <a:blip r:embed="rId8"/>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7411C16-B71C-B227-9502-942795FE3135}"/>
                  </a:ext>
                </a:extLst>
              </p:cNvPr>
              <p:cNvSpPr txBox="1"/>
              <p:nvPr/>
            </p:nvSpPr>
            <p:spPr>
              <a:xfrm>
                <a:off x="4097248" y="2726585"/>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𝟑𝟎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26" name="TextBox 25">
                <a:extLst>
                  <a:ext uri="{FF2B5EF4-FFF2-40B4-BE49-F238E27FC236}">
                    <a16:creationId xmlns:a16="http://schemas.microsoft.com/office/drawing/2014/main" id="{BB6356E2-8A10-D6F2-E3F0-73129E139BD3}"/>
                  </a:ext>
                </a:extLst>
              </p:cNvPr>
              <p:cNvSpPr txBox="1">
                <a:spLocks noRot="1" noChangeAspect="1" noMove="1" noResize="1" noEditPoints="1" noAdjustHandles="1" noChangeArrowheads="1" noChangeShapeType="1" noTextEdit="1"/>
              </p:cNvSpPr>
              <p:nvPr/>
            </p:nvSpPr>
            <p:spPr>
              <a:xfrm>
                <a:off x="4097248" y="2726585"/>
                <a:ext cx="1168400" cy="400110"/>
              </a:xfrm>
              <a:prstGeom prst="rect">
                <a:avLst/>
              </a:prstGeom>
              <a:blipFill>
                <a:blip r:embed="rId9"/>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DAE066B-C608-956B-AD6D-729246988F60}"/>
                  </a:ext>
                </a:extLst>
              </p:cNvPr>
              <p:cNvSpPr txBox="1"/>
              <p:nvPr/>
            </p:nvSpPr>
            <p:spPr>
              <a:xfrm>
                <a:off x="1603815" y="6223318"/>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𝟔𝟎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27" name="TextBox 26">
                <a:extLst>
                  <a:ext uri="{FF2B5EF4-FFF2-40B4-BE49-F238E27FC236}">
                    <a16:creationId xmlns:a16="http://schemas.microsoft.com/office/drawing/2014/main" id="{EBDD66EA-39EA-7E14-FBE7-082C64F339F7}"/>
                  </a:ext>
                </a:extLst>
              </p:cNvPr>
              <p:cNvSpPr txBox="1">
                <a:spLocks noRot="1" noChangeAspect="1" noMove="1" noResize="1" noEditPoints="1" noAdjustHandles="1" noChangeArrowheads="1" noChangeShapeType="1" noTextEdit="1"/>
              </p:cNvSpPr>
              <p:nvPr/>
            </p:nvSpPr>
            <p:spPr>
              <a:xfrm>
                <a:off x="1603815" y="6223318"/>
                <a:ext cx="1168400" cy="400110"/>
              </a:xfrm>
              <a:prstGeom prst="rect">
                <a:avLst/>
              </a:prstGeom>
              <a:blipFill>
                <a:blip r:embed="rId10"/>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806448D-6EA5-F000-CC93-31BA6F56C3A0}"/>
                  </a:ext>
                </a:extLst>
              </p:cNvPr>
              <p:cNvSpPr txBox="1"/>
              <p:nvPr/>
            </p:nvSpPr>
            <p:spPr>
              <a:xfrm>
                <a:off x="4097248" y="6223318"/>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𝟗𝟎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28" name="TextBox 27">
                <a:extLst>
                  <a:ext uri="{FF2B5EF4-FFF2-40B4-BE49-F238E27FC236}">
                    <a16:creationId xmlns:a16="http://schemas.microsoft.com/office/drawing/2014/main" id="{EEF22560-8E15-94B8-FB86-E20C32C38A59}"/>
                  </a:ext>
                </a:extLst>
              </p:cNvPr>
              <p:cNvSpPr txBox="1">
                <a:spLocks noRot="1" noChangeAspect="1" noMove="1" noResize="1" noEditPoints="1" noAdjustHandles="1" noChangeArrowheads="1" noChangeShapeType="1" noTextEdit="1"/>
              </p:cNvSpPr>
              <p:nvPr/>
            </p:nvSpPr>
            <p:spPr>
              <a:xfrm>
                <a:off x="4097248" y="6223318"/>
                <a:ext cx="1168400" cy="400110"/>
              </a:xfrm>
              <a:prstGeom prst="rect">
                <a:avLst/>
              </a:prstGeom>
              <a:blipFill>
                <a:blip r:embed="rId11"/>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F87CEC0D-EF15-440B-1B98-7912C56DDDA5}"/>
                  </a:ext>
                </a:extLst>
              </p:cNvPr>
              <p:cNvSpPr txBox="1"/>
              <p:nvPr/>
            </p:nvSpPr>
            <p:spPr>
              <a:xfrm>
                <a:off x="1603815" y="2726585"/>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29" name="TextBox 28">
                <a:extLst>
                  <a:ext uri="{FF2B5EF4-FFF2-40B4-BE49-F238E27FC236}">
                    <a16:creationId xmlns:a16="http://schemas.microsoft.com/office/drawing/2014/main" id="{14278718-1F7B-E720-8DEA-7FFD2436CC33}"/>
                  </a:ext>
                </a:extLst>
              </p:cNvPr>
              <p:cNvSpPr txBox="1">
                <a:spLocks noRot="1" noChangeAspect="1" noMove="1" noResize="1" noEditPoints="1" noAdjustHandles="1" noChangeArrowheads="1" noChangeShapeType="1" noTextEdit="1"/>
              </p:cNvSpPr>
              <p:nvPr/>
            </p:nvSpPr>
            <p:spPr>
              <a:xfrm>
                <a:off x="1603815" y="2726585"/>
                <a:ext cx="1168400" cy="400110"/>
              </a:xfrm>
              <a:prstGeom prst="rect">
                <a:avLst/>
              </a:prstGeom>
              <a:blipFill>
                <a:blip r:embed="rId12"/>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F84A541-F8B4-722C-2C53-B99706F2B8C4}"/>
                  </a:ext>
                </a:extLst>
              </p:cNvPr>
              <p:cNvSpPr txBox="1"/>
              <p:nvPr/>
            </p:nvSpPr>
            <p:spPr>
              <a:xfrm>
                <a:off x="8784632" y="192874"/>
                <a:ext cx="1559413" cy="584775"/>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3200" b="1" i="1" smtClean="0">
                          <a:solidFill>
                            <a:schemeClr val="bg2"/>
                          </a:solidFill>
                          <a:latin typeface="Cambria Math" panose="02040503050406030204" pitchFamily="18" charset="0"/>
                        </a:rPr>
                        <m:t>𝑰</m:t>
                      </m:r>
                      <m:r>
                        <a:rPr lang="en-US" sz="3200" b="1" i="1" smtClean="0">
                          <a:solidFill>
                            <a:schemeClr val="bg2"/>
                          </a:solidFill>
                          <a:latin typeface="Cambria Math" panose="02040503050406030204" pitchFamily="18" charset="0"/>
                        </a:rPr>
                        <m:t>=</m:t>
                      </m:r>
                      <m:sSup>
                        <m:sSupPr>
                          <m:ctrlPr>
                            <a:rPr lang="en-US" sz="3200" b="1" i="1" smtClean="0">
                              <a:solidFill>
                                <a:schemeClr val="bg2"/>
                              </a:solidFill>
                              <a:latin typeface="Cambria Math" panose="02040503050406030204" pitchFamily="18" charset="0"/>
                            </a:rPr>
                          </m:ctrlPr>
                        </m:sSupPr>
                        <m:e>
                          <m:r>
                            <a:rPr lang="en-US" sz="3200" b="1" i="1" smtClean="0">
                              <a:solidFill>
                                <a:schemeClr val="bg2"/>
                              </a:solidFill>
                              <a:latin typeface="Cambria Math" panose="02040503050406030204" pitchFamily="18" charset="0"/>
                            </a:rPr>
                            <m:t>𝟑𝟎</m:t>
                          </m:r>
                        </m:e>
                        <m:sup>
                          <m:r>
                            <a:rPr lang="en-US" sz="3200" b="1" i="1" smtClean="0">
                              <a:solidFill>
                                <a:schemeClr val="bg2"/>
                              </a:solidFill>
                              <a:latin typeface="Cambria Math" panose="02040503050406030204" pitchFamily="18" charset="0"/>
                            </a:rPr>
                            <m:t>∘</m:t>
                          </m:r>
                        </m:sup>
                      </m:sSup>
                    </m:oMath>
                  </m:oMathPara>
                </a14:m>
                <a:endParaRPr lang="en-US" sz="3200" b="1" dirty="0">
                  <a:solidFill>
                    <a:schemeClr val="bg2"/>
                  </a:solidFill>
                </a:endParaRPr>
              </a:p>
            </p:txBody>
          </p:sp>
        </mc:Choice>
        <mc:Fallback xmlns="">
          <p:sp>
            <p:nvSpPr>
              <p:cNvPr id="30" name="TextBox 29">
                <a:extLst>
                  <a:ext uri="{FF2B5EF4-FFF2-40B4-BE49-F238E27FC236}">
                    <a16:creationId xmlns:a16="http://schemas.microsoft.com/office/drawing/2014/main" id="{1B64282B-D666-0963-A997-224535BB3930}"/>
                  </a:ext>
                </a:extLst>
              </p:cNvPr>
              <p:cNvSpPr txBox="1">
                <a:spLocks noRot="1" noChangeAspect="1" noMove="1" noResize="1" noEditPoints="1" noAdjustHandles="1" noChangeArrowheads="1" noChangeShapeType="1" noTextEdit="1"/>
              </p:cNvSpPr>
              <p:nvPr/>
            </p:nvSpPr>
            <p:spPr>
              <a:xfrm>
                <a:off x="8784632" y="192874"/>
                <a:ext cx="1559413" cy="584775"/>
              </a:xfrm>
              <a:prstGeom prst="rect">
                <a:avLst/>
              </a:prstGeom>
              <a:blipFill>
                <a:blip r:embed="rId13"/>
                <a:stretch>
                  <a:fillRect/>
                </a:stretch>
              </a:blipFill>
              <a:ln>
                <a:solidFill>
                  <a:schemeClr val="bg2"/>
                </a:solidFill>
              </a:ln>
            </p:spPr>
            <p:txBody>
              <a:bodyPr/>
              <a:lstStyle/>
              <a:p>
                <a:r>
                  <a:rPr lang="en-US">
                    <a:noFill/>
                  </a:rPr>
                  <a:t> </a:t>
                </a:r>
              </a:p>
            </p:txBody>
          </p:sp>
        </mc:Fallback>
      </mc:AlternateContent>
      <p:cxnSp>
        <p:nvCxnSpPr>
          <p:cNvPr id="32" name="Straight Connector 31">
            <a:extLst>
              <a:ext uri="{FF2B5EF4-FFF2-40B4-BE49-F238E27FC236}">
                <a16:creationId xmlns:a16="http://schemas.microsoft.com/office/drawing/2014/main" id="{D2BF2F9F-F73B-FCD0-7DBA-50BDE108BC61}"/>
              </a:ext>
            </a:extLst>
          </p:cNvPr>
          <p:cNvCxnSpPr/>
          <p:nvPr/>
        </p:nvCxnSpPr>
        <p:spPr>
          <a:xfrm flipV="1">
            <a:off x="6028267" y="110067"/>
            <a:ext cx="0" cy="663786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661554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14C59-8DD5-AC60-BE7A-A67C5F45C57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6C50520-EFE3-8308-1E4C-21FA82D47DC5}"/>
              </a:ext>
            </a:extLst>
          </p:cNvPr>
          <p:cNvPicPr>
            <a:picLocks noChangeAspect="1"/>
          </p:cNvPicPr>
          <p:nvPr/>
        </p:nvPicPr>
        <p:blipFill>
          <a:blip r:embed="rId2"/>
          <a:srcRect l="-102" r="65949"/>
          <a:stretch>
            <a:fillRect/>
          </a:stretch>
        </p:blipFill>
        <p:spPr>
          <a:xfrm>
            <a:off x="6516864" y="0"/>
            <a:ext cx="2837568" cy="6865463"/>
          </a:xfrm>
          <a:prstGeom prst="rect">
            <a:avLst/>
          </a:prstGeom>
        </p:spPr>
      </p:pic>
      <p:pic>
        <p:nvPicPr>
          <p:cNvPr id="2" name="Picture 1">
            <a:extLst>
              <a:ext uri="{FF2B5EF4-FFF2-40B4-BE49-F238E27FC236}">
                <a16:creationId xmlns:a16="http://schemas.microsoft.com/office/drawing/2014/main" id="{BE4B03AA-961E-BA59-461D-7ECBE16C0D4C}"/>
              </a:ext>
            </a:extLst>
          </p:cNvPr>
          <p:cNvPicPr>
            <a:picLocks noChangeAspect="1"/>
          </p:cNvPicPr>
          <p:nvPr/>
        </p:nvPicPr>
        <p:blipFill>
          <a:blip r:embed="rId3"/>
          <a:srcRect l="65385"/>
          <a:stretch>
            <a:fillRect/>
          </a:stretch>
        </p:blipFill>
        <p:spPr>
          <a:xfrm>
            <a:off x="2772215" y="0"/>
            <a:ext cx="2902544" cy="6858000"/>
          </a:xfrm>
          <a:prstGeom prst="rect">
            <a:avLst/>
          </a:prstGeom>
        </p:spPr>
      </p:pic>
      <p:pic>
        <p:nvPicPr>
          <p:cNvPr id="5" name="Picture 4">
            <a:extLst>
              <a:ext uri="{FF2B5EF4-FFF2-40B4-BE49-F238E27FC236}">
                <a16:creationId xmlns:a16="http://schemas.microsoft.com/office/drawing/2014/main" id="{5129CB6A-33B0-45CE-62EE-0A468646FCA9}"/>
              </a:ext>
            </a:extLst>
          </p:cNvPr>
          <p:cNvPicPr>
            <a:picLocks noChangeAspect="1"/>
          </p:cNvPicPr>
          <p:nvPr/>
        </p:nvPicPr>
        <p:blipFill>
          <a:blip r:embed="rId2"/>
          <a:srcRect l="65847"/>
          <a:stretch>
            <a:fillRect/>
          </a:stretch>
        </p:blipFill>
        <p:spPr>
          <a:xfrm>
            <a:off x="9354432" y="0"/>
            <a:ext cx="2837568" cy="6865463"/>
          </a:xfrm>
          <a:prstGeom prst="rect">
            <a:avLst/>
          </a:prstGeom>
        </p:spPr>
      </p:pic>
      <p:pic>
        <p:nvPicPr>
          <p:cNvPr id="3" name="Picture 2">
            <a:extLst>
              <a:ext uri="{FF2B5EF4-FFF2-40B4-BE49-F238E27FC236}">
                <a16:creationId xmlns:a16="http://schemas.microsoft.com/office/drawing/2014/main" id="{EE70A239-DF2C-8860-B4A8-8ACD9E4B55FA}"/>
              </a:ext>
            </a:extLst>
          </p:cNvPr>
          <p:cNvPicPr>
            <a:picLocks noChangeAspect="1"/>
          </p:cNvPicPr>
          <p:nvPr/>
        </p:nvPicPr>
        <p:blipFill>
          <a:blip r:embed="rId3"/>
          <a:srcRect r="66939"/>
          <a:stretch>
            <a:fillRect/>
          </a:stretch>
        </p:blipFill>
        <p:spPr>
          <a:xfrm>
            <a:off x="1" y="0"/>
            <a:ext cx="2772214" cy="685800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BE9BD75-735C-E73B-795D-9825A63BA12F}"/>
                  </a:ext>
                </a:extLst>
              </p:cNvPr>
              <p:cNvSpPr txBox="1"/>
              <p:nvPr/>
            </p:nvSpPr>
            <p:spPr>
              <a:xfrm>
                <a:off x="10889370" y="2726585"/>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𝟑𝟎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7" name="TextBox 6">
                <a:extLst>
                  <a:ext uri="{FF2B5EF4-FFF2-40B4-BE49-F238E27FC236}">
                    <a16:creationId xmlns:a16="http://schemas.microsoft.com/office/drawing/2014/main" id="{4BE9BD75-735C-E73B-795D-9825A63BA12F}"/>
                  </a:ext>
                </a:extLst>
              </p:cNvPr>
              <p:cNvSpPr txBox="1">
                <a:spLocks noRot="1" noChangeAspect="1" noMove="1" noResize="1" noEditPoints="1" noAdjustHandles="1" noChangeArrowheads="1" noChangeShapeType="1" noTextEdit="1"/>
              </p:cNvSpPr>
              <p:nvPr/>
            </p:nvSpPr>
            <p:spPr>
              <a:xfrm>
                <a:off x="10889370" y="2726585"/>
                <a:ext cx="1168400" cy="400110"/>
              </a:xfrm>
              <a:prstGeom prst="rect">
                <a:avLst/>
              </a:prstGeom>
              <a:blipFill>
                <a:blip r:embed="rId4"/>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7F30FDD-0643-B72C-022A-73C55D341291}"/>
                  </a:ext>
                </a:extLst>
              </p:cNvPr>
              <p:cNvSpPr txBox="1"/>
              <p:nvPr/>
            </p:nvSpPr>
            <p:spPr>
              <a:xfrm>
                <a:off x="8395937" y="6223318"/>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𝟔𝟎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8" name="TextBox 7">
                <a:extLst>
                  <a:ext uri="{FF2B5EF4-FFF2-40B4-BE49-F238E27FC236}">
                    <a16:creationId xmlns:a16="http://schemas.microsoft.com/office/drawing/2014/main" id="{07F30FDD-0643-B72C-022A-73C55D341291}"/>
                  </a:ext>
                </a:extLst>
              </p:cNvPr>
              <p:cNvSpPr txBox="1">
                <a:spLocks noRot="1" noChangeAspect="1" noMove="1" noResize="1" noEditPoints="1" noAdjustHandles="1" noChangeArrowheads="1" noChangeShapeType="1" noTextEdit="1"/>
              </p:cNvSpPr>
              <p:nvPr/>
            </p:nvSpPr>
            <p:spPr>
              <a:xfrm>
                <a:off x="8395937" y="6223318"/>
                <a:ext cx="1168400" cy="400110"/>
              </a:xfrm>
              <a:prstGeom prst="rect">
                <a:avLst/>
              </a:prstGeom>
              <a:blipFill>
                <a:blip r:embed="rId5"/>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3228667-299E-365E-5402-B621FF38AB15}"/>
                  </a:ext>
                </a:extLst>
              </p:cNvPr>
              <p:cNvSpPr txBox="1"/>
              <p:nvPr/>
            </p:nvSpPr>
            <p:spPr>
              <a:xfrm>
                <a:off x="10889370" y="6223318"/>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𝟗𝟎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9" name="TextBox 8">
                <a:extLst>
                  <a:ext uri="{FF2B5EF4-FFF2-40B4-BE49-F238E27FC236}">
                    <a16:creationId xmlns:a16="http://schemas.microsoft.com/office/drawing/2014/main" id="{03228667-299E-365E-5402-B621FF38AB15}"/>
                  </a:ext>
                </a:extLst>
              </p:cNvPr>
              <p:cNvSpPr txBox="1">
                <a:spLocks noRot="1" noChangeAspect="1" noMove="1" noResize="1" noEditPoints="1" noAdjustHandles="1" noChangeArrowheads="1" noChangeShapeType="1" noTextEdit="1"/>
              </p:cNvSpPr>
              <p:nvPr/>
            </p:nvSpPr>
            <p:spPr>
              <a:xfrm>
                <a:off x="10889370" y="6223318"/>
                <a:ext cx="1168400" cy="400110"/>
              </a:xfrm>
              <a:prstGeom prst="rect">
                <a:avLst/>
              </a:prstGeom>
              <a:blipFill>
                <a:blip r:embed="rId6"/>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BA63A3-D198-A08C-3C1F-5E8750E3B1C9}"/>
                  </a:ext>
                </a:extLst>
              </p:cNvPr>
              <p:cNvSpPr txBox="1"/>
              <p:nvPr/>
            </p:nvSpPr>
            <p:spPr>
              <a:xfrm>
                <a:off x="1847955" y="192875"/>
                <a:ext cx="1559413" cy="584775"/>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3200" b="1" i="1" smtClean="0">
                          <a:solidFill>
                            <a:schemeClr val="bg2"/>
                          </a:solidFill>
                          <a:latin typeface="Cambria Math" panose="02040503050406030204" pitchFamily="18" charset="0"/>
                        </a:rPr>
                        <m:t>𝑰</m:t>
                      </m:r>
                      <m:r>
                        <a:rPr lang="en-US" sz="3200" b="1" i="1" smtClean="0">
                          <a:solidFill>
                            <a:schemeClr val="bg2"/>
                          </a:solidFill>
                          <a:latin typeface="Cambria Math" panose="02040503050406030204" pitchFamily="18" charset="0"/>
                        </a:rPr>
                        <m:t>=</m:t>
                      </m:r>
                      <m:sSup>
                        <m:sSupPr>
                          <m:ctrlPr>
                            <a:rPr lang="en-US" sz="3200" b="1" i="1" smtClean="0">
                              <a:solidFill>
                                <a:schemeClr val="bg2"/>
                              </a:solidFill>
                              <a:latin typeface="Cambria Math" panose="02040503050406030204" pitchFamily="18" charset="0"/>
                            </a:rPr>
                          </m:ctrlPr>
                        </m:sSupPr>
                        <m:e>
                          <m:r>
                            <a:rPr lang="en-US" sz="3200" b="1" i="1" smtClean="0">
                              <a:solidFill>
                                <a:schemeClr val="bg2"/>
                              </a:solidFill>
                              <a:latin typeface="Cambria Math" panose="02040503050406030204" pitchFamily="18" charset="0"/>
                            </a:rPr>
                            <m:t>𝟓𝟎</m:t>
                          </m:r>
                        </m:e>
                        <m:sup>
                          <m:r>
                            <a:rPr lang="en-US" sz="3200" b="1" i="1" smtClean="0">
                              <a:solidFill>
                                <a:schemeClr val="bg2"/>
                              </a:solidFill>
                              <a:latin typeface="Cambria Math" panose="02040503050406030204" pitchFamily="18" charset="0"/>
                            </a:rPr>
                            <m:t>∘</m:t>
                          </m:r>
                        </m:sup>
                      </m:sSup>
                    </m:oMath>
                  </m:oMathPara>
                </a14:m>
                <a:endParaRPr lang="en-US" sz="3200" b="1" dirty="0">
                  <a:solidFill>
                    <a:schemeClr val="bg2"/>
                  </a:solidFill>
                </a:endParaRPr>
              </a:p>
            </p:txBody>
          </p:sp>
        </mc:Choice>
        <mc:Fallback xmlns="">
          <p:sp>
            <p:nvSpPr>
              <p:cNvPr id="10" name="TextBox 9">
                <a:extLst>
                  <a:ext uri="{FF2B5EF4-FFF2-40B4-BE49-F238E27FC236}">
                    <a16:creationId xmlns:a16="http://schemas.microsoft.com/office/drawing/2014/main" id="{31BA63A3-D198-A08C-3C1F-5E8750E3B1C9}"/>
                  </a:ext>
                </a:extLst>
              </p:cNvPr>
              <p:cNvSpPr txBox="1">
                <a:spLocks noRot="1" noChangeAspect="1" noMove="1" noResize="1" noEditPoints="1" noAdjustHandles="1" noChangeArrowheads="1" noChangeShapeType="1" noTextEdit="1"/>
              </p:cNvSpPr>
              <p:nvPr/>
            </p:nvSpPr>
            <p:spPr>
              <a:xfrm>
                <a:off x="1847955" y="192875"/>
                <a:ext cx="1559413" cy="584775"/>
              </a:xfrm>
              <a:prstGeom prst="rect">
                <a:avLst/>
              </a:prstGeom>
              <a:blipFill>
                <a:blip r:embed="rId7"/>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F2CE1B6-FB26-141B-1750-403945BF41D2}"/>
                  </a:ext>
                </a:extLst>
              </p:cNvPr>
              <p:cNvSpPr txBox="1"/>
              <p:nvPr/>
            </p:nvSpPr>
            <p:spPr>
              <a:xfrm>
                <a:off x="8395937" y="2726585"/>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24" name="TextBox 23">
                <a:extLst>
                  <a:ext uri="{FF2B5EF4-FFF2-40B4-BE49-F238E27FC236}">
                    <a16:creationId xmlns:a16="http://schemas.microsoft.com/office/drawing/2014/main" id="{7F2CE1B6-FB26-141B-1750-403945BF41D2}"/>
                  </a:ext>
                </a:extLst>
              </p:cNvPr>
              <p:cNvSpPr txBox="1">
                <a:spLocks noRot="1" noChangeAspect="1" noMove="1" noResize="1" noEditPoints="1" noAdjustHandles="1" noChangeArrowheads="1" noChangeShapeType="1" noTextEdit="1"/>
              </p:cNvSpPr>
              <p:nvPr/>
            </p:nvSpPr>
            <p:spPr>
              <a:xfrm>
                <a:off x="8395937" y="2726585"/>
                <a:ext cx="1168400" cy="400110"/>
              </a:xfrm>
              <a:prstGeom prst="rect">
                <a:avLst/>
              </a:prstGeom>
              <a:blipFill>
                <a:blip r:embed="rId8"/>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06AAD03-1C2B-F3EB-0E23-7A15E56E115E}"/>
                  </a:ext>
                </a:extLst>
              </p:cNvPr>
              <p:cNvSpPr txBox="1"/>
              <p:nvPr/>
            </p:nvSpPr>
            <p:spPr>
              <a:xfrm>
                <a:off x="4097248" y="2726585"/>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𝟑𝟎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26" name="TextBox 25">
                <a:extLst>
                  <a:ext uri="{FF2B5EF4-FFF2-40B4-BE49-F238E27FC236}">
                    <a16:creationId xmlns:a16="http://schemas.microsoft.com/office/drawing/2014/main" id="{A06AAD03-1C2B-F3EB-0E23-7A15E56E115E}"/>
                  </a:ext>
                </a:extLst>
              </p:cNvPr>
              <p:cNvSpPr txBox="1">
                <a:spLocks noRot="1" noChangeAspect="1" noMove="1" noResize="1" noEditPoints="1" noAdjustHandles="1" noChangeArrowheads="1" noChangeShapeType="1" noTextEdit="1"/>
              </p:cNvSpPr>
              <p:nvPr/>
            </p:nvSpPr>
            <p:spPr>
              <a:xfrm>
                <a:off x="4097248" y="2726585"/>
                <a:ext cx="1168400" cy="400110"/>
              </a:xfrm>
              <a:prstGeom prst="rect">
                <a:avLst/>
              </a:prstGeom>
              <a:blipFill>
                <a:blip r:embed="rId9"/>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C0759CF-CE29-CCB8-8AEC-3BA0D4C98EB8}"/>
                  </a:ext>
                </a:extLst>
              </p:cNvPr>
              <p:cNvSpPr txBox="1"/>
              <p:nvPr/>
            </p:nvSpPr>
            <p:spPr>
              <a:xfrm>
                <a:off x="1603815" y="6223318"/>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𝟔𝟎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27" name="TextBox 26">
                <a:extLst>
                  <a:ext uri="{FF2B5EF4-FFF2-40B4-BE49-F238E27FC236}">
                    <a16:creationId xmlns:a16="http://schemas.microsoft.com/office/drawing/2014/main" id="{8C0759CF-CE29-CCB8-8AEC-3BA0D4C98EB8}"/>
                  </a:ext>
                </a:extLst>
              </p:cNvPr>
              <p:cNvSpPr txBox="1">
                <a:spLocks noRot="1" noChangeAspect="1" noMove="1" noResize="1" noEditPoints="1" noAdjustHandles="1" noChangeArrowheads="1" noChangeShapeType="1" noTextEdit="1"/>
              </p:cNvSpPr>
              <p:nvPr/>
            </p:nvSpPr>
            <p:spPr>
              <a:xfrm>
                <a:off x="1603815" y="6223318"/>
                <a:ext cx="1168400" cy="400110"/>
              </a:xfrm>
              <a:prstGeom prst="rect">
                <a:avLst/>
              </a:prstGeom>
              <a:blipFill>
                <a:blip r:embed="rId10"/>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883A830-8170-4A2B-6DDE-6193449F49E3}"/>
                  </a:ext>
                </a:extLst>
              </p:cNvPr>
              <p:cNvSpPr txBox="1"/>
              <p:nvPr/>
            </p:nvSpPr>
            <p:spPr>
              <a:xfrm>
                <a:off x="4097248" y="6223318"/>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𝟗𝟎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28" name="TextBox 27">
                <a:extLst>
                  <a:ext uri="{FF2B5EF4-FFF2-40B4-BE49-F238E27FC236}">
                    <a16:creationId xmlns:a16="http://schemas.microsoft.com/office/drawing/2014/main" id="{0883A830-8170-4A2B-6DDE-6193449F49E3}"/>
                  </a:ext>
                </a:extLst>
              </p:cNvPr>
              <p:cNvSpPr txBox="1">
                <a:spLocks noRot="1" noChangeAspect="1" noMove="1" noResize="1" noEditPoints="1" noAdjustHandles="1" noChangeArrowheads="1" noChangeShapeType="1" noTextEdit="1"/>
              </p:cNvSpPr>
              <p:nvPr/>
            </p:nvSpPr>
            <p:spPr>
              <a:xfrm>
                <a:off x="4097248" y="6223318"/>
                <a:ext cx="1168400" cy="400110"/>
              </a:xfrm>
              <a:prstGeom prst="rect">
                <a:avLst/>
              </a:prstGeom>
              <a:blipFill>
                <a:blip r:embed="rId11"/>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C2971EA-1ED5-81B0-F5BA-AA1F01E89553}"/>
                  </a:ext>
                </a:extLst>
              </p:cNvPr>
              <p:cNvSpPr txBox="1"/>
              <p:nvPr/>
            </p:nvSpPr>
            <p:spPr>
              <a:xfrm>
                <a:off x="1603815" y="2726585"/>
                <a:ext cx="1168400" cy="400110"/>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𝝓</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29" name="TextBox 28">
                <a:extLst>
                  <a:ext uri="{FF2B5EF4-FFF2-40B4-BE49-F238E27FC236}">
                    <a16:creationId xmlns:a16="http://schemas.microsoft.com/office/drawing/2014/main" id="{4C2971EA-1ED5-81B0-F5BA-AA1F01E89553}"/>
                  </a:ext>
                </a:extLst>
              </p:cNvPr>
              <p:cNvSpPr txBox="1">
                <a:spLocks noRot="1" noChangeAspect="1" noMove="1" noResize="1" noEditPoints="1" noAdjustHandles="1" noChangeArrowheads="1" noChangeShapeType="1" noTextEdit="1"/>
              </p:cNvSpPr>
              <p:nvPr/>
            </p:nvSpPr>
            <p:spPr>
              <a:xfrm>
                <a:off x="1603815" y="2726585"/>
                <a:ext cx="1168400" cy="400110"/>
              </a:xfrm>
              <a:prstGeom prst="rect">
                <a:avLst/>
              </a:prstGeom>
              <a:blipFill>
                <a:blip r:embed="rId12"/>
                <a:stretch>
                  <a:fillRect b="-14706"/>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1C8C7CA-B73E-240C-9466-7A701EFF5827}"/>
                  </a:ext>
                </a:extLst>
              </p:cNvPr>
              <p:cNvSpPr txBox="1"/>
              <p:nvPr/>
            </p:nvSpPr>
            <p:spPr>
              <a:xfrm>
                <a:off x="8784632" y="192874"/>
                <a:ext cx="1559413" cy="584775"/>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3200" b="1" i="1" smtClean="0">
                          <a:solidFill>
                            <a:schemeClr val="bg2"/>
                          </a:solidFill>
                          <a:latin typeface="Cambria Math" panose="02040503050406030204" pitchFamily="18" charset="0"/>
                        </a:rPr>
                        <m:t>𝑰</m:t>
                      </m:r>
                      <m:r>
                        <a:rPr lang="en-US" sz="3200" b="1" i="1" smtClean="0">
                          <a:solidFill>
                            <a:schemeClr val="bg2"/>
                          </a:solidFill>
                          <a:latin typeface="Cambria Math" panose="02040503050406030204" pitchFamily="18" charset="0"/>
                        </a:rPr>
                        <m:t>=</m:t>
                      </m:r>
                      <m:sSup>
                        <m:sSupPr>
                          <m:ctrlPr>
                            <a:rPr lang="en-US" sz="3200" b="1" i="1" smtClean="0">
                              <a:solidFill>
                                <a:schemeClr val="bg2"/>
                              </a:solidFill>
                              <a:latin typeface="Cambria Math" panose="02040503050406030204" pitchFamily="18" charset="0"/>
                            </a:rPr>
                          </m:ctrlPr>
                        </m:sSupPr>
                        <m:e>
                          <m:r>
                            <a:rPr lang="en-US" sz="3200" b="1" i="1" smtClean="0">
                              <a:solidFill>
                                <a:schemeClr val="bg2"/>
                              </a:solidFill>
                              <a:latin typeface="Cambria Math" panose="02040503050406030204" pitchFamily="18" charset="0"/>
                            </a:rPr>
                            <m:t>𝟕𝟎</m:t>
                          </m:r>
                        </m:e>
                        <m:sup>
                          <m:r>
                            <a:rPr lang="en-US" sz="3200" b="1" i="1" smtClean="0">
                              <a:solidFill>
                                <a:schemeClr val="bg2"/>
                              </a:solidFill>
                              <a:latin typeface="Cambria Math" panose="02040503050406030204" pitchFamily="18" charset="0"/>
                            </a:rPr>
                            <m:t>∘</m:t>
                          </m:r>
                        </m:sup>
                      </m:sSup>
                    </m:oMath>
                  </m:oMathPara>
                </a14:m>
                <a:endParaRPr lang="en-US" sz="3200" b="1" dirty="0">
                  <a:solidFill>
                    <a:schemeClr val="bg2"/>
                  </a:solidFill>
                </a:endParaRPr>
              </a:p>
            </p:txBody>
          </p:sp>
        </mc:Choice>
        <mc:Fallback xmlns="">
          <p:sp>
            <p:nvSpPr>
              <p:cNvPr id="30" name="TextBox 29">
                <a:extLst>
                  <a:ext uri="{FF2B5EF4-FFF2-40B4-BE49-F238E27FC236}">
                    <a16:creationId xmlns:a16="http://schemas.microsoft.com/office/drawing/2014/main" id="{81C8C7CA-B73E-240C-9466-7A701EFF5827}"/>
                  </a:ext>
                </a:extLst>
              </p:cNvPr>
              <p:cNvSpPr txBox="1">
                <a:spLocks noRot="1" noChangeAspect="1" noMove="1" noResize="1" noEditPoints="1" noAdjustHandles="1" noChangeArrowheads="1" noChangeShapeType="1" noTextEdit="1"/>
              </p:cNvSpPr>
              <p:nvPr/>
            </p:nvSpPr>
            <p:spPr>
              <a:xfrm>
                <a:off x="8784632" y="192874"/>
                <a:ext cx="1559413" cy="584775"/>
              </a:xfrm>
              <a:prstGeom prst="rect">
                <a:avLst/>
              </a:prstGeom>
              <a:blipFill>
                <a:blip r:embed="rId13"/>
                <a:stretch>
                  <a:fillRect/>
                </a:stretch>
              </a:blipFill>
              <a:ln>
                <a:solidFill>
                  <a:schemeClr val="bg2"/>
                </a:solidFill>
              </a:ln>
            </p:spPr>
            <p:txBody>
              <a:bodyPr/>
              <a:lstStyle/>
              <a:p>
                <a:r>
                  <a:rPr lang="en-US">
                    <a:noFill/>
                  </a:rPr>
                  <a:t> </a:t>
                </a:r>
              </a:p>
            </p:txBody>
          </p:sp>
        </mc:Fallback>
      </mc:AlternateContent>
      <p:cxnSp>
        <p:nvCxnSpPr>
          <p:cNvPr id="32" name="Straight Connector 31">
            <a:extLst>
              <a:ext uri="{FF2B5EF4-FFF2-40B4-BE49-F238E27FC236}">
                <a16:creationId xmlns:a16="http://schemas.microsoft.com/office/drawing/2014/main" id="{43F76CCC-A174-BBC4-19A9-94F7C5566007}"/>
              </a:ext>
            </a:extLst>
          </p:cNvPr>
          <p:cNvCxnSpPr/>
          <p:nvPr/>
        </p:nvCxnSpPr>
        <p:spPr>
          <a:xfrm flipV="1">
            <a:off x="6028267" y="110067"/>
            <a:ext cx="0" cy="663786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825056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701CF-5034-B02D-7F5E-204F6D8BF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E60521-BE6F-3DE2-9AE4-FA189CC355CB}"/>
              </a:ext>
            </a:extLst>
          </p:cNvPr>
          <p:cNvSpPr>
            <a:spLocks noGrp="1"/>
          </p:cNvSpPr>
          <p:nvPr>
            <p:ph type="ctrTitle"/>
          </p:nvPr>
        </p:nvSpPr>
        <p:spPr/>
        <p:txBody>
          <a:bodyPr/>
          <a:lstStyle/>
          <a:p>
            <a:r>
              <a:rPr lang="en-US" sz="3600" dirty="0"/>
              <a:t>Next up goals</a:t>
            </a:r>
            <a:endParaRPr lang="en-US" sz="3600" dirty="0">
              <a:solidFill>
                <a:schemeClr val="bg2"/>
              </a:solidFill>
            </a:endParaRPr>
          </a:p>
        </p:txBody>
      </p:sp>
      <p:sp>
        <p:nvSpPr>
          <p:cNvPr id="3" name="Subtitle 2">
            <a:extLst>
              <a:ext uri="{FF2B5EF4-FFF2-40B4-BE49-F238E27FC236}">
                <a16:creationId xmlns:a16="http://schemas.microsoft.com/office/drawing/2014/main" id="{82F05383-93CA-325A-837F-7C46A5335CE1}"/>
              </a:ext>
            </a:extLst>
          </p:cNvPr>
          <p:cNvSpPr>
            <a:spLocks noGrp="1"/>
          </p:cNvSpPr>
          <p:nvPr>
            <p:ph type="subTitle" idx="1"/>
          </p:nvPr>
        </p:nvSpPr>
        <p:spPr/>
        <p:txBody>
          <a:bodyPr>
            <a:normAutofit/>
          </a:bodyPr>
          <a:lstStyle/>
          <a:p>
            <a:endParaRPr lang="en-US" dirty="0"/>
          </a:p>
          <a:p>
            <a:r>
              <a:rPr lang="en-US" dirty="0"/>
              <a:t>2026/01/21</a:t>
            </a:r>
          </a:p>
        </p:txBody>
      </p:sp>
    </p:spTree>
    <p:extLst>
      <p:ext uri="{BB962C8B-B14F-4D97-AF65-F5344CB8AC3E}">
        <p14:creationId xmlns:p14="http://schemas.microsoft.com/office/powerpoint/2010/main" val="193822687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AA18E-B12C-6533-D44A-51F1664ADC01}"/>
              </a:ext>
            </a:extLst>
          </p:cNvPr>
          <p:cNvSpPr>
            <a:spLocks noGrp="1"/>
          </p:cNvSpPr>
          <p:nvPr>
            <p:ph type="title"/>
          </p:nvPr>
        </p:nvSpPr>
        <p:spPr/>
        <p:txBody>
          <a:bodyPr/>
          <a:lstStyle/>
          <a:p>
            <a:r>
              <a:rPr lang="en-US" dirty="0"/>
              <a:t>Wavelength dependence</a:t>
            </a:r>
          </a:p>
        </p:txBody>
      </p:sp>
      <p:sp>
        <p:nvSpPr>
          <p:cNvPr id="3" name="Text Placeholder 2">
            <a:extLst>
              <a:ext uri="{FF2B5EF4-FFF2-40B4-BE49-F238E27FC236}">
                <a16:creationId xmlns:a16="http://schemas.microsoft.com/office/drawing/2014/main" id="{DE18F26B-C55B-8071-C262-B48962604967}"/>
              </a:ext>
            </a:extLst>
          </p:cNvPr>
          <p:cNvSpPr>
            <a:spLocks noGrp="1"/>
          </p:cNvSpPr>
          <p:nvPr>
            <p:ph type="body" idx="1"/>
          </p:nvPr>
        </p:nvSpPr>
        <p:spPr/>
        <p:txBody>
          <a:bodyPr>
            <a:normAutofit/>
          </a:bodyPr>
          <a:lstStyle/>
          <a:p>
            <a:r>
              <a:rPr lang="en-US" sz="2400" b="0" dirty="0"/>
              <a:t>There is a known trend where &gt;~650nm significantly increases reflectance</a:t>
            </a:r>
          </a:p>
          <a:p>
            <a:pPr lvl="1"/>
            <a:r>
              <a:rPr lang="en-US" sz="2000" b="0" dirty="0"/>
              <a:t>Reference:</a:t>
            </a:r>
          </a:p>
          <a:p>
            <a:pPr lvl="2"/>
            <a:r>
              <a:rPr lang="en-US" sz="1400" b="0" dirty="0"/>
              <a:t>Marshall, J. et al, “Characterization of the Reflectivity of Various Black Materials”, </a:t>
            </a:r>
            <a:r>
              <a:rPr lang="en-US" sz="1400" b="0" i="1" dirty="0"/>
              <a:t>Proceedings SPIE</a:t>
            </a:r>
            <a:r>
              <a:rPr lang="en-US" sz="1400" b="0" dirty="0"/>
              <a:t>, Vol. 9147 (2014)</a:t>
            </a:r>
          </a:p>
          <a:p>
            <a:r>
              <a:rPr lang="en-US" sz="2400" b="0" dirty="0"/>
              <a:t>We have only 650 nm (and halogen) source currently</a:t>
            </a:r>
          </a:p>
          <a:p>
            <a:pPr lvl="1"/>
            <a:r>
              <a:rPr lang="en-US" sz="2000" dirty="0"/>
              <a:t>So, probably want to do independent (not </a:t>
            </a:r>
            <a:r>
              <a:rPr lang="en-US" sz="2000" dirty="0" err="1"/>
              <a:t>bsdf</a:t>
            </a:r>
            <a:r>
              <a:rPr lang="en-US" sz="2000" dirty="0"/>
              <a:t>-tools) reflectance test</a:t>
            </a:r>
            <a:endParaRPr lang="en-US" sz="2000" b="0" dirty="0"/>
          </a:p>
        </p:txBody>
      </p:sp>
    </p:spTree>
    <p:extLst>
      <p:ext uri="{BB962C8B-B14F-4D97-AF65-F5344CB8AC3E}">
        <p14:creationId xmlns:p14="http://schemas.microsoft.com/office/powerpoint/2010/main" val="98367278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073B8-EA33-6353-250B-71C193808BE9}"/>
              </a:ext>
            </a:extLst>
          </p:cNvPr>
          <p:cNvSpPr>
            <a:spLocks noGrp="1"/>
          </p:cNvSpPr>
          <p:nvPr>
            <p:ph type="title"/>
          </p:nvPr>
        </p:nvSpPr>
        <p:spPr/>
        <p:txBody>
          <a:bodyPr/>
          <a:lstStyle/>
          <a:p>
            <a:r>
              <a:rPr lang="en-US" dirty="0"/>
              <a:t>Wavelength dependence</a:t>
            </a:r>
          </a:p>
        </p:txBody>
      </p:sp>
      <p:pic>
        <p:nvPicPr>
          <p:cNvPr id="5" name="Picture 4">
            <a:extLst>
              <a:ext uri="{FF2B5EF4-FFF2-40B4-BE49-F238E27FC236}">
                <a16:creationId xmlns:a16="http://schemas.microsoft.com/office/drawing/2014/main" id="{D571CBFF-4819-78E9-951A-C5139F581A8F}"/>
              </a:ext>
            </a:extLst>
          </p:cNvPr>
          <p:cNvPicPr>
            <a:picLocks noChangeAspect="1"/>
          </p:cNvPicPr>
          <p:nvPr/>
        </p:nvPicPr>
        <p:blipFill>
          <a:blip r:embed="rId2"/>
          <a:stretch>
            <a:fillRect/>
          </a:stretch>
        </p:blipFill>
        <p:spPr>
          <a:xfrm>
            <a:off x="6324601" y="2128911"/>
            <a:ext cx="5257800" cy="3751631"/>
          </a:xfrm>
          <a:prstGeom prst="rect">
            <a:avLst/>
          </a:prstGeom>
        </p:spPr>
      </p:pic>
      <p:pic>
        <p:nvPicPr>
          <p:cNvPr id="7" name="Picture 6">
            <a:extLst>
              <a:ext uri="{FF2B5EF4-FFF2-40B4-BE49-F238E27FC236}">
                <a16:creationId xmlns:a16="http://schemas.microsoft.com/office/drawing/2014/main" id="{A0BBA6C8-21E3-0988-CF74-B0DEB98FF71C}"/>
              </a:ext>
            </a:extLst>
          </p:cNvPr>
          <p:cNvPicPr>
            <a:picLocks noChangeAspect="1"/>
          </p:cNvPicPr>
          <p:nvPr/>
        </p:nvPicPr>
        <p:blipFill>
          <a:blip r:embed="rId3"/>
          <a:stretch>
            <a:fillRect/>
          </a:stretch>
        </p:blipFill>
        <p:spPr>
          <a:xfrm>
            <a:off x="609599" y="1947912"/>
            <a:ext cx="5258123" cy="4113631"/>
          </a:xfrm>
          <a:prstGeom prst="rect">
            <a:avLst/>
          </a:prstGeom>
        </p:spPr>
      </p:pic>
    </p:spTree>
    <p:extLst>
      <p:ext uri="{BB962C8B-B14F-4D97-AF65-F5344CB8AC3E}">
        <p14:creationId xmlns:p14="http://schemas.microsoft.com/office/powerpoint/2010/main" val="412938809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45438-C3EB-FC65-D93A-19769E6A5963}"/>
              </a:ext>
            </a:extLst>
          </p:cNvPr>
          <p:cNvSpPr>
            <a:spLocks noGrp="1"/>
          </p:cNvSpPr>
          <p:nvPr>
            <p:ph type="title"/>
          </p:nvPr>
        </p:nvSpPr>
        <p:spPr/>
        <p:txBody>
          <a:bodyPr/>
          <a:lstStyle/>
          <a:p>
            <a:r>
              <a:rPr lang="en-US" dirty="0"/>
              <a:t>Urgent</a:t>
            </a:r>
          </a:p>
        </p:txBody>
      </p:sp>
      <p:sp>
        <p:nvSpPr>
          <p:cNvPr id="3" name="Text Placeholder 2">
            <a:extLst>
              <a:ext uri="{FF2B5EF4-FFF2-40B4-BE49-F238E27FC236}">
                <a16:creationId xmlns:a16="http://schemas.microsoft.com/office/drawing/2014/main" id="{15B1F295-E686-16C1-55B8-CFE03328D856}"/>
              </a:ext>
            </a:extLst>
          </p:cNvPr>
          <p:cNvSpPr>
            <a:spLocks noGrp="1"/>
          </p:cNvSpPr>
          <p:nvPr>
            <p:ph type="body" idx="1"/>
          </p:nvPr>
        </p:nvSpPr>
        <p:spPr/>
        <p:txBody>
          <a:bodyPr>
            <a:normAutofit/>
          </a:bodyPr>
          <a:lstStyle/>
          <a:p>
            <a:r>
              <a:rPr lang="en-US" sz="2400" b="0" dirty="0"/>
              <a:t>Check if RT-300S can output to ASAP</a:t>
            </a:r>
          </a:p>
          <a:p>
            <a:pPr lvl="1"/>
            <a:r>
              <a:rPr lang="en-US" sz="2000" dirty="0"/>
              <a:t>J&amp;C website claims they can</a:t>
            </a:r>
          </a:p>
          <a:p>
            <a:pPr lvl="1"/>
            <a:r>
              <a:rPr lang="en-US" sz="2000" b="0" dirty="0"/>
              <a:t>ANSWER: RT-300S software has export options for JDV, </a:t>
            </a:r>
            <a:r>
              <a:rPr lang="en-US" sz="2000" b="0" dirty="0" err="1"/>
              <a:t>LightTools</a:t>
            </a:r>
            <a:r>
              <a:rPr lang="en-US" sz="2000" b="0" dirty="0"/>
              <a:t>, RAYWIZ, SPEOS</a:t>
            </a:r>
          </a:p>
          <a:p>
            <a:pPr lvl="2"/>
            <a:r>
              <a:rPr lang="en-US" sz="1400" dirty="0"/>
              <a:t>But, I am skeptical that these export correctly – I have not checked yet (see files in “docs/RT300S_export_formats_20260126”)</a:t>
            </a:r>
            <a:endParaRPr lang="en-US" sz="1400" b="0" dirty="0"/>
          </a:p>
          <a:p>
            <a:r>
              <a:rPr lang="en-US" sz="2400" b="0" dirty="0"/>
              <a:t>Modify data processing to output to FRED format</a:t>
            </a:r>
          </a:p>
          <a:p>
            <a:pPr lvl="1"/>
            <a:r>
              <a:rPr lang="en-US" sz="2000" dirty="0"/>
              <a:t>This is preferred over Excel-to-</a:t>
            </a:r>
            <a:r>
              <a:rPr lang="en-US" sz="2000" dirty="0" err="1"/>
              <a:t>Zemax</a:t>
            </a:r>
            <a:r>
              <a:rPr lang="en-US" sz="2000" dirty="0"/>
              <a:t>-to-FRED; just have Excel-to-</a:t>
            </a:r>
            <a:r>
              <a:rPr lang="en-US" sz="2000" dirty="0" err="1"/>
              <a:t>Zemax</a:t>
            </a:r>
            <a:r>
              <a:rPr lang="en-US" sz="2000" dirty="0"/>
              <a:t> as currently exists and modify to get Excel-to-FRED</a:t>
            </a:r>
            <a:endParaRPr lang="en-US" sz="2000" b="0" dirty="0"/>
          </a:p>
          <a:p>
            <a:pPr lvl="1"/>
            <a:endParaRPr lang="en-US" sz="2000" b="0" dirty="0"/>
          </a:p>
        </p:txBody>
      </p:sp>
    </p:spTree>
    <p:extLst>
      <p:ext uri="{BB962C8B-B14F-4D97-AF65-F5344CB8AC3E}">
        <p14:creationId xmlns:p14="http://schemas.microsoft.com/office/powerpoint/2010/main" val="416186878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610DFC9-301F-F8EA-78D2-A6B2AD5F8F69}"/>
              </a:ext>
            </a:extLst>
          </p:cNvPr>
          <p:cNvPicPr>
            <a:picLocks noChangeAspect="1"/>
          </p:cNvPicPr>
          <p:nvPr/>
        </p:nvPicPr>
        <p:blipFill>
          <a:blip r:embed="rId2"/>
          <a:stretch>
            <a:fillRect/>
          </a:stretch>
        </p:blipFill>
        <p:spPr>
          <a:xfrm>
            <a:off x="6131870" y="3169077"/>
            <a:ext cx="4928808" cy="3165703"/>
          </a:xfrm>
          <a:prstGeom prst="rect">
            <a:avLst/>
          </a:prstGeom>
        </p:spPr>
      </p:pic>
      <p:sp>
        <p:nvSpPr>
          <p:cNvPr id="2" name="Title 1">
            <a:extLst>
              <a:ext uri="{FF2B5EF4-FFF2-40B4-BE49-F238E27FC236}">
                <a16:creationId xmlns:a16="http://schemas.microsoft.com/office/drawing/2014/main" id="{CDBCB390-C69E-D63B-630D-D11912ED9500}"/>
              </a:ext>
            </a:extLst>
          </p:cNvPr>
          <p:cNvSpPr>
            <a:spLocks noGrp="1"/>
          </p:cNvSpPr>
          <p:nvPr>
            <p:ph type="title"/>
          </p:nvPr>
        </p:nvSpPr>
        <p:spPr/>
        <p:txBody>
          <a:bodyPr/>
          <a:lstStyle/>
          <a:p>
            <a:r>
              <a:rPr lang="en-US" dirty="0"/>
              <a:t>FRED formatting</a:t>
            </a:r>
          </a:p>
        </p:txBody>
      </p:sp>
      <p:sp>
        <p:nvSpPr>
          <p:cNvPr id="3" name="Text Placeholder 2">
            <a:extLst>
              <a:ext uri="{FF2B5EF4-FFF2-40B4-BE49-F238E27FC236}">
                <a16:creationId xmlns:a16="http://schemas.microsoft.com/office/drawing/2014/main" id="{57DEED16-A836-3B9F-386C-EFC42360C8BD}"/>
              </a:ext>
            </a:extLst>
          </p:cNvPr>
          <p:cNvSpPr>
            <a:spLocks noGrp="1"/>
          </p:cNvSpPr>
          <p:nvPr>
            <p:ph type="body" idx="1"/>
          </p:nvPr>
        </p:nvSpPr>
        <p:spPr/>
        <p:txBody>
          <a:bodyPr>
            <a:normAutofit fontScale="85000" lnSpcReduction="20000"/>
          </a:bodyPr>
          <a:lstStyle/>
          <a:p>
            <a:r>
              <a:rPr lang="en-US" sz="2400" b="0" dirty="0"/>
              <a:t>Formatting for Tabulated BSDF:</a:t>
            </a:r>
          </a:p>
          <a:p>
            <a:pPr lvl="1"/>
            <a:r>
              <a:rPr lang="en-US" sz="2000" dirty="0"/>
              <a:t>Best resource currently found: </a:t>
            </a:r>
            <a:r>
              <a:rPr lang="en-US" sz="2000" dirty="0">
                <a:hlinkClick r:id="rId3"/>
              </a:rPr>
              <a:t>https://support.photonengr.com/article/304-viavi-engineered-diffuser-bsdf</a:t>
            </a:r>
            <a:endParaRPr lang="en-US" sz="2000" dirty="0"/>
          </a:p>
          <a:p>
            <a:pPr lvl="1"/>
            <a:r>
              <a:rPr lang="en-US" sz="2000" b="0" dirty="0"/>
              <a:t>That FR</a:t>
            </a:r>
            <a:r>
              <a:rPr lang="en-US" sz="2000" dirty="0"/>
              <a:t>ED script just merges the txt files, meaning the files are formatted for FRED already. Their format is:</a:t>
            </a:r>
          </a:p>
          <a:p>
            <a:pPr lvl="2"/>
            <a:r>
              <a:rPr lang="en-US" sz="1400" b="0" dirty="0"/>
              <a:t>Polar incident (0) \tab azimuth incident (0)</a:t>
            </a:r>
          </a:p>
          <a:p>
            <a:pPr lvl="3"/>
            <a:r>
              <a:rPr lang="en-US" sz="1400" dirty="0"/>
              <a:t>Polar scatter (0) \tab azimuth scatter (0) \tab BSDF value</a:t>
            </a:r>
          </a:p>
          <a:p>
            <a:pPr lvl="3"/>
            <a:r>
              <a:rPr lang="en-US" sz="1400" dirty="0"/>
              <a:t>Polar scatter (0) \tab azimuth scatter (1) \tab BSDF value</a:t>
            </a:r>
          </a:p>
          <a:p>
            <a:pPr lvl="3"/>
            <a:r>
              <a:rPr lang="en-US" sz="1400" dirty="0"/>
              <a:t>…</a:t>
            </a:r>
          </a:p>
          <a:p>
            <a:pPr lvl="2"/>
            <a:r>
              <a:rPr lang="en-US" sz="1400" dirty="0"/>
              <a:t>Polar incident (0), azimuth incident (1)</a:t>
            </a:r>
          </a:p>
          <a:p>
            <a:pPr lvl="3"/>
            <a:r>
              <a:rPr lang="en-US" sz="1400" dirty="0"/>
              <a:t>...</a:t>
            </a:r>
          </a:p>
          <a:p>
            <a:r>
              <a:rPr lang="en-US" sz="2400" b="0" dirty="0"/>
              <a:t>Domain:</a:t>
            </a:r>
          </a:p>
          <a:p>
            <a:pPr lvl="1"/>
            <a:r>
              <a:rPr lang="en-US" sz="2100" b="0" dirty="0"/>
              <a:t>Polar incident = 0 : 5 : 20</a:t>
            </a:r>
          </a:p>
          <a:p>
            <a:pPr lvl="1"/>
            <a:r>
              <a:rPr lang="en-US" sz="2100" b="0" dirty="0"/>
              <a:t>Azimuth incident = 0 : 15 : 345</a:t>
            </a:r>
          </a:p>
          <a:p>
            <a:pPr lvl="2"/>
            <a:r>
              <a:rPr lang="en-US" sz="1200" dirty="0"/>
              <a:t>Only 0 if polar incident = 0</a:t>
            </a:r>
          </a:p>
          <a:p>
            <a:pPr lvl="1"/>
            <a:r>
              <a:rPr lang="en-US" sz="2100" b="0" dirty="0"/>
              <a:t>Polar scatter = 0 : 1 : 85</a:t>
            </a:r>
          </a:p>
          <a:p>
            <a:pPr lvl="1"/>
            <a:r>
              <a:rPr lang="en-US" sz="2100" b="0" dirty="0"/>
              <a:t>Azimuth scatter = 0 : 1 : 359</a:t>
            </a:r>
            <a:endParaRPr lang="en-US" sz="2000" b="0" dirty="0"/>
          </a:p>
        </p:txBody>
      </p:sp>
      <p:sp>
        <p:nvSpPr>
          <p:cNvPr id="4" name="TextBox 3">
            <a:extLst>
              <a:ext uri="{FF2B5EF4-FFF2-40B4-BE49-F238E27FC236}">
                <a16:creationId xmlns:a16="http://schemas.microsoft.com/office/drawing/2014/main" id="{C672938F-FC71-2A22-D61A-E2FAC43C7B5F}"/>
              </a:ext>
            </a:extLst>
          </p:cNvPr>
          <p:cNvSpPr txBox="1"/>
          <p:nvPr/>
        </p:nvSpPr>
        <p:spPr>
          <a:xfrm>
            <a:off x="7340600" y="3087612"/>
            <a:ext cx="1837266" cy="369332"/>
          </a:xfrm>
          <a:prstGeom prst="rect">
            <a:avLst/>
          </a:prstGeom>
          <a:noFill/>
        </p:spPr>
        <p:txBody>
          <a:bodyPr wrap="square" rtlCol="0">
            <a:spAutoFit/>
          </a:bodyPr>
          <a:lstStyle/>
          <a:p>
            <a:r>
              <a:rPr lang="en-US" sz="1800" b="1" dirty="0">
                <a:solidFill>
                  <a:schemeClr val="bg2"/>
                </a:solidFill>
              </a:rPr>
              <a:t>(specular ray)</a:t>
            </a:r>
          </a:p>
        </p:txBody>
      </p:sp>
      <p:sp>
        <p:nvSpPr>
          <p:cNvPr id="6" name="TextBox 5">
            <a:extLst>
              <a:ext uri="{FF2B5EF4-FFF2-40B4-BE49-F238E27FC236}">
                <a16:creationId xmlns:a16="http://schemas.microsoft.com/office/drawing/2014/main" id="{DEB1E645-6618-102F-D229-06565542D5C7}"/>
              </a:ext>
            </a:extLst>
          </p:cNvPr>
          <p:cNvSpPr txBox="1"/>
          <p:nvPr/>
        </p:nvSpPr>
        <p:spPr>
          <a:xfrm>
            <a:off x="3107268" y="6334780"/>
            <a:ext cx="8966200" cy="523220"/>
          </a:xfrm>
          <a:prstGeom prst="rect">
            <a:avLst/>
          </a:prstGeom>
          <a:noFill/>
        </p:spPr>
        <p:txBody>
          <a:bodyPr wrap="square" rtlCol="0">
            <a:spAutoFit/>
          </a:bodyPr>
          <a:lstStyle/>
          <a:p>
            <a:r>
              <a:rPr lang="en-US" b="1" i="1" dirty="0">
                <a:solidFill>
                  <a:schemeClr val="bg2"/>
                </a:solidFill>
              </a:rPr>
              <a:t>Diagram from “RPC Photonics BSDF Data format.PDF” file included in VIAVI download. The FRED script does not add or subtract 90 deg to the azimuth angles, implying FRED coordinates are identical.</a:t>
            </a:r>
          </a:p>
        </p:txBody>
      </p:sp>
      <p:sp>
        <p:nvSpPr>
          <p:cNvPr id="7" name="TextBox 6">
            <a:extLst>
              <a:ext uri="{FF2B5EF4-FFF2-40B4-BE49-F238E27FC236}">
                <a16:creationId xmlns:a16="http://schemas.microsoft.com/office/drawing/2014/main" id="{3BBAC0E7-DE1B-4598-21D9-F3EF993B7EF4}"/>
              </a:ext>
            </a:extLst>
          </p:cNvPr>
          <p:cNvSpPr txBox="1"/>
          <p:nvPr/>
        </p:nvSpPr>
        <p:spPr>
          <a:xfrm>
            <a:off x="5842698" y="253742"/>
            <a:ext cx="3495340" cy="1169551"/>
          </a:xfrm>
          <a:prstGeom prst="rect">
            <a:avLst/>
          </a:prstGeom>
          <a:noFill/>
        </p:spPr>
        <p:txBody>
          <a:bodyPr wrap="square" rtlCol="0">
            <a:spAutoFit/>
          </a:bodyPr>
          <a:lstStyle/>
          <a:p>
            <a:r>
              <a:rPr lang="en-US" dirty="0">
                <a:solidFill>
                  <a:schemeClr val="bg2"/>
                </a:solidFill>
              </a:rPr>
              <a:t>Note, Scott confirmed in 2026/04/10 email that CCW from +X is correct, as shown below. There is a different FRED doc that shows CCW from +Y, on the right, which seems to be false.</a:t>
            </a:r>
          </a:p>
        </p:txBody>
      </p:sp>
      <p:pic>
        <p:nvPicPr>
          <p:cNvPr id="9" name="Picture 8">
            <a:extLst>
              <a:ext uri="{FF2B5EF4-FFF2-40B4-BE49-F238E27FC236}">
                <a16:creationId xmlns:a16="http://schemas.microsoft.com/office/drawing/2014/main" id="{6C548B53-20F9-8AFF-881A-068A9C5FCE1C}"/>
              </a:ext>
            </a:extLst>
          </p:cNvPr>
          <p:cNvPicPr>
            <a:picLocks noChangeAspect="1"/>
          </p:cNvPicPr>
          <p:nvPr/>
        </p:nvPicPr>
        <p:blipFill>
          <a:blip r:embed="rId4"/>
          <a:stretch>
            <a:fillRect/>
          </a:stretch>
        </p:blipFill>
        <p:spPr>
          <a:xfrm>
            <a:off x="9389059" y="71790"/>
            <a:ext cx="2524016" cy="1488126"/>
          </a:xfrm>
          <a:prstGeom prst="rect">
            <a:avLst/>
          </a:prstGeom>
        </p:spPr>
      </p:pic>
      <p:sp>
        <p:nvSpPr>
          <p:cNvPr id="10" name="Rectangle 9">
            <a:extLst>
              <a:ext uri="{FF2B5EF4-FFF2-40B4-BE49-F238E27FC236}">
                <a16:creationId xmlns:a16="http://schemas.microsoft.com/office/drawing/2014/main" id="{F1E0F96D-5495-14B1-8F6C-C323BDAA8E72}"/>
              </a:ext>
            </a:extLst>
          </p:cNvPr>
          <p:cNvSpPr/>
          <p:nvPr/>
        </p:nvSpPr>
        <p:spPr>
          <a:xfrm>
            <a:off x="5664200" y="39041"/>
            <a:ext cx="6282264" cy="1553126"/>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633095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86FB8-94DA-670D-2D4C-AB6EDB8EE21B}"/>
              </a:ext>
            </a:extLst>
          </p:cNvPr>
          <p:cNvSpPr>
            <a:spLocks noGrp="1"/>
          </p:cNvSpPr>
          <p:nvPr>
            <p:ph type="title"/>
          </p:nvPr>
        </p:nvSpPr>
        <p:spPr/>
        <p:txBody>
          <a:bodyPr/>
          <a:lstStyle/>
          <a:p>
            <a:r>
              <a:rPr lang="en-US" dirty="0"/>
              <a:t>Coordinate Transformation</a:t>
            </a:r>
          </a:p>
        </p:txBody>
      </p:sp>
      <p:sp>
        <p:nvSpPr>
          <p:cNvPr id="3" name="Text Placeholder 2">
            <a:extLst>
              <a:ext uri="{FF2B5EF4-FFF2-40B4-BE49-F238E27FC236}">
                <a16:creationId xmlns:a16="http://schemas.microsoft.com/office/drawing/2014/main" id="{8F343959-8013-BCEE-FDBC-DF9425EC07FA}"/>
              </a:ext>
            </a:extLst>
          </p:cNvPr>
          <p:cNvSpPr>
            <a:spLocks noGrp="1"/>
          </p:cNvSpPr>
          <p:nvPr>
            <p:ph type="body" idx="1"/>
          </p:nvPr>
        </p:nvSpPr>
        <p:spPr/>
        <p:txBody>
          <a:bodyPr>
            <a:normAutofit/>
          </a:bodyPr>
          <a:lstStyle/>
          <a:p>
            <a:r>
              <a:rPr lang="en-US" sz="2400" b="0" dirty="0"/>
              <a:t>From 2026/01/21 LOFT notebook,</a:t>
            </a:r>
          </a:p>
          <a:p>
            <a:pPr lvl="1"/>
            <a:endParaRPr lang="en-US" sz="2000" b="0"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FB36FDA-1489-9315-9734-5DC02BE29A19}"/>
                  </a:ext>
                </a:extLst>
              </p:cNvPr>
              <p:cNvGraphicFramePr>
                <a:graphicFrameLocks noGrp="1"/>
              </p:cNvGraphicFramePr>
              <p:nvPr>
                <p:extLst>
                  <p:ext uri="{D42A27DB-BD31-4B8C-83A1-F6EECF244321}">
                    <p14:modId xmlns:p14="http://schemas.microsoft.com/office/powerpoint/2010/main" val="2577668566"/>
                  </p:ext>
                </p:extLst>
              </p:nvPr>
            </p:nvGraphicFramePr>
            <p:xfrm>
              <a:off x="1711660" y="2527300"/>
              <a:ext cx="4062607" cy="2028952"/>
            </p:xfrm>
            <a:graphic>
              <a:graphicData uri="http://schemas.openxmlformats.org/drawingml/2006/table">
                <a:tbl>
                  <a:tblPr firstRow="1" bandRow="1">
                    <a:tableStyleId>{5C22544A-7EE6-4342-B048-85BDC9FD1C3A}</a:tableStyleId>
                  </a:tblPr>
                  <a:tblGrid>
                    <a:gridCol w="769073">
                      <a:extLst>
                        <a:ext uri="{9D8B030D-6E8A-4147-A177-3AD203B41FA5}">
                          <a16:colId xmlns:a16="http://schemas.microsoft.com/office/drawing/2014/main" val="2604773758"/>
                        </a:ext>
                      </a:extLst>
                    </a:gridCol>
                    <a:gridCol w="3293534">
                      <a:extLst>
                        <a:ext uri="{9D8B030D-6E8A-4147-A177-3AD203B41FA5}">
                          <a16:colId xmlns:a16="http://schemas.microsoft.com/office/drawing/2014/main" val="2138593278"/>
                        </a:ext>
                      </a:extLst>
                    </a:gridCol>
                  </a:tblGrid>
                  <a:tr h="370840">
                    <a:tc>
                      <a:txBody>
                        <a:bodyPr/>
                        <a:lstStyle/>
                        <a:p>
                          <a:r>
                            <a:rPr lang="en-US" dirty="0"/>
                            <a:t>FRED</a:t>
                          </a:r>
                        </a:p>
                      </a:txBody>
                      <a:tcPr/>
                    </a:tc>
                    <a:tc>
                      <a:txBody>
                        <a:bodyPr/>
                        <a:lstStyle/>
                        <a:p>
                          <a:r>
                            <a:rPr lang="en-US" dirty="0"/>
                            <a:t>RT-300S</a:t>
                          </a:r>
                        </a:p>
                      </a:txBody>
                      <a:tcPr/>
                    </a:tc>
                    <a:extLst>
                      <a:ext uri="{0D108BD9-81ED-4DB2-BD59-A6C34878D82A}">
                        <a16:rowId xmlns:a16="http://schemas.microsoft.com/office/drawing/2014/main" val="892119945"/>
                      </a:ext>
                    </a:extLst>
                  </a:tr>
                  <a:tr h="370840">
                    <a:tc>
                      <a:txBody>
                        <a:bodyPr/>
                        <a:lstStyle/>
                        <a:p>
                          <a:pPr/>
                          <a14:m>
                            <m:oMathPara xmlns:m="http://schemas.openxmlformats.org/officeDocument/2006/math">
                              <m:oMath>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𝑖</m:t>
                                    </m:r>
                                  </m:sub>
                                </m:sSub>
                              </m:oMath>
                            </m:oMathPara>
                          </a14:m>
                          <a:endParaRPr lang="en-US" dirty="0"/>
                        </a:p>
                      </a:txBody>
                      <a:tcPr/>
                    </a:tc>
                    <a:tc>
                      <a:txBody>
                        <a:bodyPr/>
                        <a:lstStyle/>
                        <a:p>
                          <a:pPr/>
                          <a14:m>
                            <m:oMathPara xmlns:m="http://schemas.openxmlformats.org/officeDocument/2006/math">
                              <m:oMath>
                                <m:r>
                                  <a:rPr lang="en-US" b="0" i="1" smtClean="0">
                                    <a:latin typeface="Cambria Math" panose="02040503050406030204" pitchFamily="18" charset="0"/>
                                  </a:rPr>
                                  <m:t>𝐼</m:t>
                                </m:r>
                              </m:oMath>
                            </m:oMathPara>
                          </a14:m>
                          <a:endParaRPr lang="en-US" dirty="0"/>
                        </a:p>
                      </a:txBody>
                      <a:tcPr/>
                    </a:tc>
                    <a:extLst>
                      <a:ext uri="{0D108BD9-81ED-4DB2-BD59-A6C34878D82A}">
                        <a16:rowId xmlns:a16="http://schemas.microsoft.com/office/drawing/2014/main" val="577335726"/>
                      </a:ext>
                    </a:extLst>
                  </a:tr>
                  <a:tr h="370840">
                    <a:tc>
                      <a:txBody>
                        <a:bodyPr/>
                        <a:lstStyle/>
                        <a:p>
                          <a:pPr/>
                          <a14:m>
                            <m:oMathPara xmlns:m="http://schemas.openxmlformats.org/officeDocument/2006/math">
                              <m:oMath>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𝜑</m:t>
                                    </m:r>
                                  </m:e>
                                  <m:sub>
                                    <m:r>
                                      <a:rPr lang="en-US" b="0" i="1" smtClean="0">
                                        <a:latin typeface="Cambria Math" panose="02040503050406030204" pitchFamily="18" charset="0"/>
                                        <a:ea typeface="Cambria Math" panose="02040503050406030204" pitchFamily="18" charset="0"/>
                                      </a:rPr>
                                      <m:t>𝑖</m:t>
                                    </m:r>
                                  </m:sub>
                                </m:sSub>
                              </m:oMath>
                            </m:oMathPara>
                          </a14:m>
                          <a:endParaRPr lang="en-US" dirty="0"/>
                        </a:p>
                      </a:txBody>
                      <a:tcPr/>
                    </a:tc>
                    <a:tc>
                      <a:txBody>
                        <a:bodyPr/>
                        <a:lstStyle/>
                        <a:p>
                          <a:pPr/>
                          <a14:m>
                            <m:oMathPara xmlns:m="http://schemas.openxmlformats.org/officeDocument/2006/math">
                              <m:oMath>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𝜑</m:t>
                                </m:r>
                              </m:oMath>
                            </m:oMathPara>
                          </a14:m>
                          <a:endParaRPr lang="en-US" dirty="0"/>
                        </a:p>
                      </a:txBody>
                      <a:tcPr/>
                    </a:tc>
                    <a:extLst>
                      <a:ext uri="{0D108BD9-81ED-4DB2-BD59-A6C34878D82A}">
                        <a16:rowId xmlns:a16="http://schemas.microsoft.com/office/drawing/2014/main" val="2758660130"/>
                      </a:ext>
                    </a:extLst>
                  </a:tr>
                  <a:tr h="370840">
                    <a:tc>
                      <a:txBody>
                        <a:bodyPr/>
                        <a:lstStyle/>
                        <a:p>
                          <a:pPr/>
                          <a14:m>
                            <m:oMathPara xmlns:m="http://schemas.openxmlformats.org/officeDocument/2006/math">
                              <m:oMath>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𝑠</m:t>
                                    </m:r>
                                  </m:sub>
                                </m:sSub>
                              </m:oMath>
                            </m:oMathPara>
                          </a14:m>
                          <a:endParaRPr lang="en-US" dirty="0"/>
                        </a:p>
                      </a:txBody>
                      <a:tcPr/>
                    </a:tc>
                    <a:tc>
                      <a:txBody>
                        <a:bodyPr/>
                        <a:lstStyle/>
                        <a:p>
                          <a:pPr/>
                          <a14:m>
                            <m:oMathPara xmlns:m="http://schemas.openxmlformats.org/officeDocument/2006/math">
                              <m:oMath>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642669507"/>
                      </a:ext>
                    </a:extLst>
                  </a:tr>
                  <a:tr h="370840">
                    <a:tc>
                      <a:txBody>
                        <a:bodyPr/>
                        <a:lstStyle/>
                        <a:p>
                          <a:pPr/>
                          <a14:m>
                            <m:oMathPara xmlns:m="http://schemas.openxmlformats.org/officeDocument/2006/math">
                              <m:oMath>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𝜑</m:t>
                                    </m:r>
                                  </m:e>
                                  <m:sub>
                                    <m:r>
                                      <a:rPr lang="en-US" b="0" i="1" smtClean="0">
                                        <a:latin typeface="Cambria Math" panose="02040503050406030204" pitchFamily="18" charset="0"/>
                                        <a:ea typeface="Cambria Math" panose="02040503050406030204" pitchFamily="18" charset="0"/>
                                      </a:rPr>
                                      <m:t>𝑠</m:t>
                                    </m:r>
                                  </m:sub>
                                </m:sSub>
                              </m:oMath>
                            </m:oMathPara>
                          </a14:m>
                          <a:endParaRPr lang="en-US" dirty="0"/>
                        </a:p>
                      </a:txBody>
                      <a:tcPr/>
                    </a:tc>
                    <a:tc>
                      <a:txBody>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90</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𝜑</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m:rPr>
                                        <m:sty m:val="p"/>
                                      </m:rPr>
                                      <a:rPr lang="en-US" b="0" i="0" smtClean="0">
                                        <a:latin typeface="Cambria Math" panose="02040503050406030204" pitchFamily="18" charset="0"/>
                                        <a:ea typeface="Cambria Math" panose="02040503050406030204" pitchFamily="18" charset="0"/>
                                      </a:rPr>
                                      <m:t>sign</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𝑅</m:t>
                                        </m:r>
                                      </m:e>
                                    </m:d>
                                  </m:e>
                                </m:d>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(90</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oMath>
                              <m:oMath>
                                <m:r>
                                  <m:rPr>
                                    <m:sty m:val="p"/>
                                  </m:rPr>
                                  <a:rPr lang="en-US" b="0" i="0" smtClean="0">
                                    <a:latin typeface="Cambria Math" panose="02040503050406030204" pitchFamily="18" charset="0"/>
                                  </a:rPr>
                                  <m:t>or</m:t>
                                </m:r>
                                <m:r>
                                  <a:rPr lang="en-US" b="0" i="0" smtClean="0">
                                    <a:latin typeface="Cambria Math" panose="02040503050406030204" pitchFamily="18" charset="0"/>
                                  </a:rPr>
                                  <m:t> </m:t>
                                </m:r>
                                <m:r>
                                  <m:rPr>
                                    <m:sty m:val="p"/>
                                  </m:rPr>
                                  <a:rPr lang="en-US" b="0" i="0" smtClean="0">
                                    <a:latin typeface="Cambria Math" panose="02040503050406030204" pitchFamily="18" charset="0"/>
                                  </a:rPr>
                                  <m:t>all</m:t>
                                </m:r>
                                <m:r>
                                  <a:rPr lang="en-US" b="0" i="0" smtClean="0">
                                    <a:latin typeface="Cambria Math" panose="02040503050406030204" pitchFamily="18" charset="0"/>
                                  </a:rPr>
                                  <m:t> </m:t>
                                </m:r>
                                <m:r>
                                  <m:rPr>
                                    <m:sty m:val="p"/>
                                  </m:rPr>
                                  <a:rPr lang="en-US" b="0" i="0" smtClean="0">
                                    <a:latin typeface="Cambria Math" panose="02040503050406030204" pitchFamily="18" charset="0"/>
                                  </a:rPr>
                                  <m:t>real</m:t>
                                </m:r>
                                <m:r>
                                  <a:rPr lang="en-US" b="0" i="0" smtClean="0">
                                    <a:latin typeface="Cambria Math" panose="02040503050406030204" pitchFamily="18" charset="0"/>
                                  </a:rPr>
                                  <m:t> </m:t>
                                </m:r>
                                <m:r>
                                  <m:rPr>
                                    <m:sty m:val="p"/>
                                  </m:rPr>
                                  <a:rPr lang="en-US" b="0" i="0" smtClean="0">
                                    <a:latin typeface="Cambria Math" panose="02040503050406030204" pitchFamily="18" charset="0"/>
                                  </a:rPr>
                                  <m:t>numbers</m:t>
                                </m:r>
                                <m:r>
                                  <a:rPr lang="en-US" b="0" i="1" smtClean="0">
                                    <a:latin typeface="Cambria Math" panose="02040503050406030204" pitchFamily="18" charset="0"/>
                                  </a:rPr>
                                  <m:t> </m:t>
                                </m:r>
                                <m:r>
                                  <m:rPr>
                                    <m:sty m:val="p"/>
                                  </m:rPr>
                                  <a:rPr lang="en-US" b="0" i="0" smtClean="0">
                                    <a:latin typeface="Cambria Math" panose="02040503050406030204" pitchFamily="18" charset="0"/>
                                  </a:rPr>
                                  <m:t>if</m:t>
                                </m:r>
                                <m:r>
                                  <a:rPr lang="en-US" b="0" i="0" smtClean="0">
                                    <a:latin typeface="Cambria Math" panose="02040503050406030204" pitchFamily="18" charset="0"/>
                                  </a:rPr>
                                  <m:t> </m:t>
                                </m:r>
                                <m:r>
                                  <a:rPr lang="en-US" b="0" i="1" smtClean="0">
                                    <a:latin typeface="Cambria Math" panose="02040503050406030204" pitchFamily="18" charset="0"/>
                                  </a:rPr>
                                  <m:t>𝑅</m:t>
                                </m:r>
                                <m:r>
                                  <a:rPr lang="en-US" b="0" i="1" smtClean="0">
                                    <a:latin typeface="Cambria Math" panose="02040503050406030204" pitchFamily="18" charset="0"/>
                                  </a:rPr>
                                  <m:t>=0</m:t>
                                </m:r>
                              </m:oMath>
                            </m:oMathPara>
                          </a14:m>
                          <a:endParaRPr lang="en-US" i="0" dirty="0"/>
                        </a:p>
                      </a:txBody>
                      <a:tcPr/>
                    </a:tc>
                    <a:extLst>
                      <a:ext uri="{0D108BD9-81ED-4DB2-BD59-A6C34878D82A}">
                        <a16:rowId xmlns:a16="http://schemas.microsoft.com/office/drawing/2014/main" val="1636304136"/>
                      </a:ext>
                    </a:extLst>
                  </a:tr>
                </a:tbl>
              </a:graphicData>
            </a:graphic>
          </p:graphicFrame>
        </mc:Choice>
        <mc:Fallback xmlns="">
          <p:graphicFrame>
            <p:nvGraphicFramePr>
              <p:cNvPr id="4" name="Table 3">
                <a:extLst>
                  <a:ext uri="{FF2B5EF4-FFF2-40B4-BE49-F238E27FC236}">
                    <a16:creationId xmlns:a16="http://schemas.microsoft.com/office/drawing/2014/main" id="{6FB36FDA-1489-9315-9734-5DC02BE29A19}"/>
                  </a:ext>
                </a:extLst>
              </p:cNvPr>
              <p:cNvGraphicFramePr>
                <a:graphicFrameLocks noGrp="1"/>
              </p:cNvGraphicFramePr>
              <p:nvPr>
                <p:extLst>
                  <p:ext uri="{D42A27DB-BD31-4B8C-83A1-F6EECF244321}">
                    <p14:modId xmlns:p14="http://schemas.microsoft.com/office/powerpoint/2010/main" val="2577668566"/>
                  </p:ext>
                </p:extLst>
              </p:nvPr>
            </p:nvGraphicFramePr>
            <p:xfrm>
              <a:off x="1711660" y="2527300"/>
              <a:ext cx="4062607" cy="2028952"/>
            </p:xfrm>
            <a:graphic>
              <a:graphicData uri="http://schemas.openxmlformats.org/drawingml/2006/table">
                <a:tbl>
                  <a:tblPr firstRow="1" bandRow="1">
                    <a:tableStyleId>{5C22544A-7EE6-4342-B048-85BDC9FD1C3A}</a:tableStyleId>
                  </a:tblPr>
                  <a:tblGrid>
                    <a:gridCol w="769073">
                      <a:extLst>
                        <a:ext uri="{9D8B030D-6E8A-4147-A177-3AD203B41FA5}">
                          <a16:colId xmlns:a16="http://schemas.microsoft.com/office/drawing/2014/main" val="2604773758"/>
                        </a:ext>
                      </a:extLst>
                    </a:gridCol>
                    <a:gridCol w="3293534">
                      <a:extLst>
                        <a:ext uri="{9D8B030D-6E8A-4147-A177-3AD203B41FA5}">
                          <a16:colId xmlns:a16="http://schemas.microsoft.com/office/drawing/2014/main" val="2138593278"/>
                        </a:ext>
                      </a:extLst>
                    </a:gridCol>
                  </a:tblGrid>
                  <a:tr h="370840">
                    <a:tc>
                      <a:txBody>
                        <a:bodyPr/>
                        <a:lstStyle/>
                        <a:p>
                          <a:r>
                            <a:rPr lang="en-US" dirty="0"/>
                            <a:t>FRED</a:t>
                          </a:r>
                        </a:p>
                      </a:txBody>
                      <a:tcPr/>
                    </a:tc>
                    <a:tc>
                      <a:txBody>
                        <a:bodyPr/>
                        <a:lstStyle/>
                        <a:p>
                          <a:r>
                            <a:rPr lang="en-US" dirty="0"/>
                            <a:t>RT-300S</a:t>
                          </a:r>
                        </a:p>
                      </a:txBody>
                      <a:tcPr/>
                    </a:tc>
                    <a:extLst>
                      <a:ext uri="{0D108BD9-81ED-4DB2-BD59-A6C34878D82A}">
                        <a16:rowId xmlns:a16="http://schemas.microsoft.com/office/drawing/2014/main" val="892119945"/>
                      </a:ext>
                    </a:extLst>
                  </a:tr>
                  <a:tr h="370840">
                    <a:tc>
                      <a:txBody>
                        <a:bodyPr/>
                        <a:lstStyle/>
                        <a:p>
                          <a:endParaRPr lang="en-US"/>
                        </a:p>
                      </a:txBody>
                      <a:tcPr>
                        <a:blipFill>
                          <a:blip r:embed="rId2"/>
                          <a:stretch>
                            <a:fillRect l="-794" t="-101639" r="-433333" b="-350820"/>
                          </a:stretch>
                        </a:blipFill>
                      </a:tcPr>
                    </a:tc>
                    <a:tc>
                      <a:txBody>
                        <a:bodyPr/>
                        <a:lstStyle/>
                        <a:p>
                          <a:endParaRPr lang="en-US"/>
                        </a:p>
                      </a:txBody>
                      <a:tcPr>
                        <a:blipFill>
                          <a:blip r:embed="rId2"/>
                          <a:stretch>
                            <a:fillRect l="-23432" t="-101639" r="-738" b="-350820"/>
                          </a:stretch>
                        </a:blipFill>
                      </a:tcPr>
                    </a:tc>
                    <a:extLst>
                      <a:ext uri="{0D108BD9-81ED-4DB2-BD59-A6C34878D82A}">
                        <a16:rowId xmlns:a16="http://schemas.microsoft.com/office/drawing/2014/main" val="577335726"/>
                      </a:ext>
                    </a:extLst>
                  </a:tr>
                  <a:tr h="370840">
                    <a:tc>
                      <a:txBody>
                        <a:bodyPr/>
                        <a:lstStyle/>
                        <a:p>
                          <a:endParaRPr lang="en-US"/>
                        </a:p>
                      </a:txBody>
                      <a:tcPr>
                        <a:blipFill>
                          <a:blip r:embed="rId2"/>
                          <a:stretch>
                            <a:fillRect l="-794" t="-201639" r="-433333" b="-250820"/>
                          </a:stretch>
                        </a:blipFill>
                      </a:tcPr>
                    </a:tc>
                    <a:tc>
                      <a:txBody>
                        <a:bodyPr/>
                        <a:lstStyle/>
                        <a:p>
                          <a:endParaRPr lang="en-US"/>
                        </a:p>
                      </a:txBody>
                      <a:tcPr>
                        <a:blipFill>
                          <a:blip r:embed="rId2"/>
                          <a:stretch>
                            <a:fillRect l="-23432" t="-201639" r="-738" b="-250820"/>
                          </a:stretch>
                        </a:blipFill>
                      </a:tcPr>
                    </a:tc>
                    <a:extLst>
                      <a:ext uri="{0D108BD9-81ED-4DB2-BD59-A6C34878D82A}">
                        <a16:rowId xmlns:a16="http://schemas.microsoft.com/office/drawing/2014/main" val="2758660130"/>
                      </a:ext>
                    </a:extLst>
                  </a:tr>
                  <a:tr h="370840">
                    <a:tc>
                      <a:txBody>
                        <a:bodyPr/>
                        <a:lstStyle/>
                        <a:p>
                          <a:endParaRPr lang="en-US"/>
                        </a:p>
                      </a:txBody>
                      <a:tcPr>
                        <a:blipFill>
                          <a:blip r:embed="rId2"/>
                          <a:stretch>
                            <a:fillRect l="-794" t="-301639" r="-433333" b="-150820"/>
                          </a:stretch>
                        </a:blipFill>
                      </a:tcPr>
                    </a:tc>
                    <a:tc>
                      <a:txBody>
                        <a:bodyPr/>
                        <a:lstStyle/>
                        <a:p>
                          <a:endParaRPr lang="en-US"/>
                        </a:p>
                      </a:txBody>
                      <a:tcPr>
                        <a:blipFill>
                          <a:blip r:embed="rId2"/>
                          <a:stretch>
                            <a:fillRect l="-23432" t="-301639" r="-738" b="-150820"/>
                          </a:stretch>
                        </a:blipFill>
                      </a:tcPr>
                    </a:tc>
                    <a:extLst>
                      <a:ext uri="{0D108BD9-81ED-4DB2-BD59-A6C34878D82A}">
                        <a16:rowId xmlns:a16="http://schemas.microsoft.com/office/drawing/2014/main" val="642669507"/>
                      </a:ext>
                    </a:extLst>
                  </a:tr>
                  <a:tr h="545592">
                    <a:tc>
                      <a:txBody>
                        <a:bodyPr/>
                        <a:lstStyle/>
                        <a:p>
                          <a:endParaRPr lang="en-US"/>
                        </a:p>
                      </a:txBody>
                      <a:tcPr>
                        <a:blipFill>
                          <a:blip r:embed="rId2"/>
                          <a:stretch>
                            <a:fillRect l="-794" t="-272222" r="-433333" b="-2222"/>
                          </a:stretch>
                        </a:blipFill>
                      </a:tcPr>
                    </a:tc>
                    <a:tc>
                      <a:txBody>
                        <a:bodyPr/>
                        <a:lstStyle/>
                        <a:p>
                          <a:endParaRPr lang="en-US"/>
                        </a:p>
                      </a:txBody>
                      <a:tcPr>
                        <a:blipFill>
                          <a:blip r:embed="rId2"/>
                          <a:stretch>
                            <a:fillRect l="-23432" t="-272222" r="-738" b="-2222"/>
                          </a:stretch>
                        </a:blipFill>
                      </a:tcPr>
                    </a:tc>
                    <a:extLst>
                      <a:ext uri="{0D108BD9-81ED-4DB2-BD59-A6C34878D82A}">
                        <a16:rowId xmlns:a16="http://schemas.microsoft.com/office/drawing/2014/main" val="1636304136"/>
                      </a:ext>
                    </a:extLst>
                  </a:tr>
                </a:tbl>
              </a:graphicData>
            </a:graphic>
          </p:graphicFrame>
        </mc:Fallback>
      </mc:AlternateContent>
      <p:pic>
        <p:nvPicPr>
          <p:cNvPr id="7" name="Picture 6">
            <a:extLst>
              <a:ext uri="{FF2B5EF4-FFF2-40B4-BE49-F238E27FC236}">
                <a16:creationId xmlns:a16="http://schemas.microsoft.com/office/drawing/2014/main" id="{A89A2469-1B38-6FFF-5A4F-4F2F1A75E4D2}"/>
              </a:ext>
            </a:extLst>
          </p:cNvPr>
          <p:cNvPicPr>
            <a:picLocks noChangeAspect="1"/>
          </p:cNvPicPr>
          <p:nvPr/>
        </p:nvPicPr>
        <p:blipFill>
          <a:blip r:embed="rId3"/>
          <a:stretch>
            <a:fillRect/>
          </a:stretch>
        </p:blipFill>
        <p:spPr>
          <a:xfrm>
            <a:off x="7968861" y="838518"/>
            <a:ext cx="3746921" cy="3953933"/>
          </a:xfrm>
          <a:prstGeom prst="rect">
            <a:avLst/>
          </a:prstGeom>
        </p:spPr>
      </p:pic>
    </p:spTree>
    <p:extLst>
      <p:ext uri="{BB962C8B-B14F-4D97-AF65-F5344CB8AC3E}">
        <p14:creationId xmlns:p14="http://schemas.microsoft.com/office/powerpoint/2010/main" val="408306044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9BDD6-B322-D8DE-5A45-3A9E75C93B88}"/>
              </a:ext>
            </a:extLst>
          </p:cNvPr>
          <p:cNvSpPr>
            <a:spLocks noGrp="1"/>
          </p:cNvSpPr>
          <p:nvPr>
            <p:ph type="title"/>
          </p:nvPr>
        </p:nvSpPr>
        <p:spPr/>
        <p:txBody>
          <a:bodyPr/>
          <a:lstStyle/>
          <a:p>
            <a:r>
              <a:rPr lang="en-US" dirty="0"/>
              <a:t>Validation checks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A777C65-78F6-2929-60F6-64C903C9C137}"/>
                  </a:ext>
                </a:extLst>
              </p:cNvPr>
              <p:cNvSpPr>
                <a:spLocks noGrp="1"/>
              </p:cNvSpPr>
              <p:nvPr>
                <p:ph type="body" idx="1"/>
              </p:nvPr>
            </p:nvSpPr>
            <p:spPr>
              <a:xfrm>
                <a:off x="609600" y="1752601"/>
                <a:ext cx="10160000" cy="4732866"/>
              </a:xfrm>
            </p:spPr>
            <p:txBody>
              <a:bodyPr>
                <a:normAutofit fontScale="92500" lnSpcReduction="10000"/>
              </a:bodyPr>
              <a:lstStyle/>
              <a:p>
                <a:r>
                  <a:rPr lang="en-US" sz="2400" b="0" dirty="0"/>
                  <a:t>For constant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𝜙</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𝜙</m:t>
                        </m:r>
                      </m:e>
                      <m:sub>
                        <m:r>
                          <a:rPr lang="en-US" sz="2400" b="0" i="1" smtClean="0">
                            <a:latin typeface="Cambria Math" panose="02040503050406030204" pitchFamily="18" charset="0"/>
                          </a:rPr>
                          <m:t>𝑠</m:t>
                        </m:r>
                      </m:sub>
                    </m:sSub>
                  </m:oMath>
                </a14:m>
                <a:r>
                  <a:rPr lang="en-US" sz="2400" b="0" dirty="0"/>
                  <a:t>, BRDF(</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𝜃</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𝜃</m:t>
                        </m:r>
                      </m:e>
                      <m:sub>
                        <m:r>
                          <a:rPr lang="en-US" sz="2400" b="0" i="1" smtClean="0">
                            <a:latin typeface="Cambria Math" panose="02040503050406030204" pitchFamily="18" charset="0"/>
                          </a:rPr>
                          <m:t>𝑠</m:t>
                        </m:r>
                      </m:sub>
                    </m:sSub>
                  </m:oMath>
                </a14:m>
                <a:r>
                  <a:rPr lang="en-US" sz="2400" b="0" dirty="0"/>
                  <a:t>) values should always be equal</a:t>
                </a:r>
              </a:p>
              <a:p>
                <a:pPr lvl="1"/>
                <a:r>
                  <a:rPr lang="en-US" sz="2000" dirty="0"/>
                  <a:t>This is isotropic condition applied in FRED format – I am not sure if there is another way to do it so I made the txt file like anisotropic (full angle definitions) and copied measurements according to iso plane symmetry</a:t>
                </a:r>
              </a:p>
              <a:p>
                <a:r>
                  <a:rPr lang="en-US" sz="2400" b="0" dirty="0"/>
                  <a:t>Can create RT-300S in FRED, and for each (I = 10:10:70, A = -90:10:90) source position measure received rays at each R = -80:5:80</a:t>
                </a:r>
              </a:p>
              <a:p>
                <a:pPr lvl="1"/>
                <a:r>
                  <a:rPr lang="en-US" sz="2000" dirty="0"/>
                  <a:t>In excel format to:</a:t>
                </a:r>
              </a:p>
              <a:p>
                <a:pPr marL="533400" lvl="1" indent="0">
                  <a:buNone/>
                </a:pPr>
                <a:endParaRPr lang="en-US" sz="2000" dirty="0"/>
              </a:p>
              <a:p>
                <a:pPr lvl="1"/>
                <a:endParaRPr lang="en-US" sz="2000" b="0" dirty="0"/>
              </a:p>
              <a:p>
                <a:pPr lvl="1"/>
                <a:endParaRPr lang="en-US" sz="2000" dirty="0"/>
              </a:p>
              <a:p>
                <a:pPr lvl="1"/>
                <a:endParaRPr lang="en-US" sz="2000" b="0" dirty="0"/>
              </a:p>
              <a:p>
                <a:pPr lvl="1"/>
                <a:endParaRPr lang="en-US" sz="2000" dirty="0"/>
              </a:p>
              <a:p>
                <a:pPr lvl="1"/>
                <a:r>
                  <a:rPr lang="en-US" sz="2000" dirty="0"/>
                  <a:t>Then normalize and scale #rays, and compare RMS deviation or something compared to measured RT or processed BRDF</a:t>
                </a:r>
                <a:endParaRPr lang="en-US" sz="2000" b="0" dirty="0"/>
              </a:p>
            </p:txBody>
          </p:sp>
        </mc:Choice>
        <mc:Fallback xmlns="">
          <p:sp>
            <p:nvSpPr>
              <p:cNvPr id="3" name="Text Placeholder 2">
                <a:extLst>
                  <a:ext uri="{FF2B5EF4-FFF2-40B4-BE49-F238E27FC236}">
                    <a16:creationId xmlns:a16="http://schemas.microsoft.com/office/drawing/2014/main" id="{EA777C65-78F6-2929-60F6-64C903C9C137}"/>
                  </a:ext>
                </a:extLst>
              </p:cNvPr>
              <p:cNvSpPr>
                <a:spLocks noGrp="1" noRot="1" noChangeAspect="1" noMove="1" noResize="1" noEditPoints="1" noAdjustHandles="1" noChangeArrowheads="1" noChangeShapeType="1" noTextEdit="1"/>
              </p:cNvSpPr>
              <p:nvPr>
                <p:ph type="body" idx="1"/>
              </p:nvPr>
            </p:nvSpPr>
            <p:spPr>
              <a:xfrm>
                <a:off x="609600" y="1752601"/>
                <a:ext cx="10160000" cy="4732866"/>
              </a:xfrm>
              <a:blipFill>
                <a:blip r:embed="rId2"/>
                <a:stretch>
                  <a:fillRect l="-600" t="-1418"/>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491DAD0E-46D4-BFC7-691E-5C0D1D521FED}"/>
              </a:ext>
            </a:extLst>
          </p:cNvPr>
          <p:cNvGraphicFramePr>
            <a:graphicFrameLocks noGrp="1"/>
          </p:cNvGraphicFramePr>
          <p:nvPr>
            <p:extLst>
              <p:ext uri="{D42A27DB-BD31-4B8C-83A1-F6EECF244321}">
                <p14:modId xmlns:p14="http://schemas.microsoft.com/office/powerpoint/2010/main" val="4209218229"/>
              </p:ext>
            </p:extLst>
          </p:nvPr>
        </p:nvGraphicFramePr>
        <p:xfrm>
          <a:off x="855130" y="4100937"/>
          <a:ext cx="9668940" cy="1483360"/>
        </p:xfrm>
        <a:graphic>
          <a:graphicData uri="http://schemas.openxmlformats.org/drawingml/2006/table">
            <a:tbl>
              <a:tblPr firstRow="1" bandRow="1">
                <a:tableStyleId>{5C22544A-7EE6-4342-B048-85BDC9FD1C3A}</a:tableStyleId>
              </a:tblPr>
              <a:tblGrid>
                <a:gridCol w="644596">
                  <a:extLst>
                    <a:ext uri="{9D8B030D-6E8A-4147-A177-3AD203B41FA5}">
                      <a16:colId xmlns:a16="http://schemas.microsoft.com/office/drawing/2014/main" val="3300327401"/>
                    </a:ext>
                  </a:extLst>
                </a:gridCol>
                <a:gridCol w="644596">
                  <a:extLst>
                    <a:ext uri="{9D8B030D-6E8A-4147-A177-3AD203B41FA5}">
                      <a16:colId xmlns:a16="http://schemas.microsoft.com/office/drawing/2014/main" val="2076014402"/>
                    </a:ext>
                  </a:extLst>
                </a:gridCol>
                <a:gridCol w="644596">
                  <a:extLst>
                    <a:ext uri="{9D8B030D-6E8A-4147-A177-3AD203B41FA5}">
                      <a16:colId xmlns:a16="http://schemas.microsoft.com/office/drawing/2014/main" val="3589934564"/>
                    </a:ext>
                  </a:extLst>
                </a:gridCol>
                <a:gridCol w="644596">
                  <a:extLst>
                    <a:ext uri="{9D8B030D-6E8A-4147-A177-3AD203B41FA5}">
                      <a16:colId xmlns:a16="http://schemas.microsoft.com/office/drawing/2014/main" val="1816662061"/>
                    </a:ext>
                  </a:extLst>
                </a:gridCol>
                <a:gridCol w="644596">
                  <a:extLst>
                    <a:ext uri="{9D8B030D-6E8A-4147-A177-3AD203B41FA5}">
                      <a16:colId xmlns:a16="http://schemas.microsoft.com/office/drawing/2014/main" val="3362350482"/>
                    </a:ext>
                  </a:extLst>
                </a:gridCol>
                <a:gridCol w="644596">
                  <a:extLst>
                    <a:ext uri="{9D8B030D-6E8A-4147-A177-3AD203B41FA5}">
                      <a16:colId xmlns:a16="http://schemas.microsoft.com/office/drawing/2014/main" val="3987172490"/>
                    </a:ext>
                  </a:extLst>
                </a:gridCol>
                <a:gridCol w="644596">
                  <a:extLst>
                    <a:ext uri="{9D8B030D-6E8A-4147-A177-3AD203B41FA5}">
                      <a16:colId xmlns:a16="http://schemas.microsoft.com/office/drawing/2014/main" val="1230549838"/>
                    </a:ext>
                  </a:extLst>
                </a:gridCol>
                <a:gridCol w="644596">
                  <a:extLst>
                    <a:ext uri="{9D8B030D-6E8A-4147-A177-3AD203B41FA5}">
                      <a16:colId xmlns:a16="http://schemas.microsoft.com/office/drawing/2014/main" val="519161108"/>
                    </a:ext>
                  </a:extLst>
                </a:gridCol>
                <a:gridCol w="644596">
                  <a:extLst>
                    <a:ext uri="{9D8B030D-6E8A-4147-A177-3AD203B41FA5}">
                      <a16:colId xmlns:a16="http://schemas.microsoft.com/office/drawing/2014/main" val="2299578925"/>
                    </a:ext>
                  </a:extLst>
                </a:gridCol>
                <a:gridCol w="644596">
                  <a:extLst>
                    <a:ext uri="{9D8B030D-6E8A-4147-A177-3AD203B41FA5}">
                      <a16:colId xmlns:a16="http://schemas.microsoft.com/office/drawing/2014/main" val="2821172883"/>
                    </a:ext>
                  </a:extLst>
                </a:gridCol>
                <a:gridCol w="644596">
                  <a:extLst>
                    <a:ext uri="{9D8B030D-6E8A-4147-A177-3AD203B41FA5}">
                      <a16:colId xmlns:a16="http://schemas.microsoft.com/office/drawing/2014/main" val="549266706"/>
                    </a:ext>
                  </a:extLst>
                </a:gridCol>
                <a:gridCol w="644596">
                  <a:extLst>
                    <a:ext uri="{9D8B030D-6E8A-4147-A177-3AD203B41FA5}">
                      <a16:colId xmlns:a16="http://schemas.microsoft.com/office/drawing/2014/main" val="2766319790"/>
                    </a:ext>
                  </a:extLst>
                </a:gridCol>
                <a:gridCol w="644596">
                  <a:extLst>
                    <a:ext uri="{9D8B030D-6E8A-4147-A177-3AD203B41FA5}">
                      <a16:colId xmlns:a16="http://schemas.microsoft.com/office/drawing/2014/main" val="2782334905"/>
                    </a:ext>
                  </a:extLst>
                </a:gridCol>
                <a:gridCol w="644596">
                  <a:extLst>
                    <a:ext uri="{9D8B030D-6E8A-4147-A177-3AD203B41FA5}">
                      <a16:colId xmlns:a16="http://schemas.microsoft.com/office/drawing/2014/main" val="604961445"/>
                    </a:ext>
                  </a:extLst>
                </a:gridCol>
                <a:gridCol w="644596">
                  <a:extLst>
                    <a:ext uri="{9D8B030D-6E8A-4147-A177-3AD203B41FA5}">
                      <a16:colId xmlns:a16="http://schemas.microsoft.com/office/drawing/2014/main" val="678476287"/>
                    </a:ext>
                  </a:extLst>
                </a:gridCol>
              </a:tblGrid>
              <a:tr h="370840">
                <a:tc>
                  <a:txBody>
                    <a:bodyPr/>
                    <a:lstStyle/>
                    <a:p>
                      <a:r>
                        <a:rPr lang="en-US" dirty="0"/>
                        <a:t>A</a:t>
                      </a:r>
                    </a:p>
                  </a:txBody>
                  <a:tcPr/>
                </a:tc>
                <a:tc>
                  <a:txBody>
                    <a:bodyPr/>
                    <a:lstStyle/>
                    <a:p>
                      <a:r>
                        <a:rPr lang="en-US" dirty="0"/>
                        <a:t>-90</a:t>
                      </a:r>
                    </a:p>
                  </a:txBody>
                  <a:tcPr/>
                </a:tc>
                <a:tc>
                  <a:txBody>
                    <a:bodyPr/>
                    <a:lstStyle/>
                    <a:p>
                      <a:r>
                        <a:rPr lang="en-US" dirty="0"/>
                        <a:t>-90</a:t>
                      </a:r>
                    </a:p>
                  </a:txBody>
                  <a:tcPr/>
                </a:tc>
                <a:tc>
                  <a:txBody>
                    <a:bodyPr/>
                    <a:lstStyle/>
                    <a:p>
                      <a:r>
                        <a:rPr lang="en-US" dirty="0"/>
                        <a:t>…</a:t>
                      </a:r>
                    </a:p>
                  </a:txBody>
                  <a:tcPr/>
                </a:tc>
                <a:tc>
                  <a:txBody>
                    <a:bodyPr/>
                    <a:lstStyle/>
                    <a:p>
                      <a:r>
                        <a:rPr lang="en-US" dirty="0"/>
                        <a:t>-90</a:t>
                      </a:r>
                    </a:p>
                  </a:txBody>
                  <a:tcPr/>
                </a:tc>
                <a:tc>
                  <a:txBody>
                    <a:bodyPr/>
                    <a:lstStyle/>
                    <a:p>
                      <a:r>
                        <a:rPr lang="en-US" dirty="0"/>
                        <a:t>-80</a:t>
                      </a:r>
                    </a:p>
                  </a:txBody>
                  <a:tcPr/>
                </a:tc>
                <a:tc>
                  <a:txBody>
                    <a:bodyPr/>
                    <a:lstStyle/>
                    <a:p>
                      <a:r>
                        <a:rPr lang="en-US" dirty="0"/>
                        <a:t>-80</a:t>
                      </a:r>
                    </a:p>
                  </a:txBody>
                  <a:tcPr/>
                </a:tc>
                <a:tc>
                  <a:txBody>
                    <a:bodyPr/>
                    <a:lstStyle/>
                    <a:p>
                      <a:r>
                        <a:rPr lang="en-US" dirty="0"/>
                        <a:t>…</a:t>
                      </a:r>
                    </a:p>
                  </a:txBody>
                  <a:tcPr/>
                </a:tc>
                <a:tc>
                  <a:txBody>
                    <a:bodyPr/>
                    <a:lstStyle/>
                    <a:p>
                      <a:r>
                        <a:rPr lang="en-US" dirty="0"/>
                        <a:t>-80</a:t>
                      </a:r>
                    </a:p>
                  </a:txBody>
                  <a:tcPr/>
                </a:tc>
                <a:tc>
                  <a:txBody>
                    <a:bodyPr/>
                    <a:lstStyle/>
                    <a:p>
                      <a:r>
                        <a:rPr lang="en-US" dirty="0"/>
                        <a:t>-70</a:t>
                      </a:r>
                    </a:p>
                  </a:txBody>
                  <a:tcPr/>
                </a:tc>
                <a:tc>
                  <a:txBody>
                    <a:bodyPr/>
                    <a:lstStyle/>
                    <a:p>
                      <a:r>
                        <a:rPr lang="en-US" dirty="0"/>
                        <a:t>…</a:t>
                      </a:r>
                    </a:p>
                  </a:txBody>
                  <a:tcPr/>
                </a:tc>
                <a:tc>
                  <a:txBody>
                    <a:bodyPr/>
                    <a:lstStyle/>
                    <a:p>
                      <a:r>
                        <a:rPr lang="en-US" dirty="0"/>
                        <a:t>90</a:t>
                      </a:r>
                    </a:p>
                  </a:txBody>
                  <a:tcPr/>
                </a:tc>
                <a:tc>
                  <a:txBody>
                    <a:bodyPr/>
                    <a:lstStyle/>
                    <a:p>
                      <a:r>
                        <a:rPr lang="en-US" dirty="0"/>
                        <a:t>-90</a:t>
                      </a:r>
                    </a:p>
                  </a:txBody>
                  <a:tcPr/>
                </a:tc>
                <a:tc>
                  <a:txBody>
                    <a:bodyPr/>
                    <a:lstStyle/>
                    <a:p>
                      <a:r>
                        <a:rPr lang="en-US" dirty="0"/>
                        <a:t>…</a:t>
                      </a:r>
                    </a:p>
                  </a:txBody>
                  <a:tcPr/>
                </a:tc>
                <a:tc>
                  <a:txBody>
                    <a:bodyPr/>
                    <a:lstStyle/>
                    <a:p>
                      <a:r>
                        <a:rPr lang="en-US" dirty="0"/>
                        <a:t>90</a:t>
                      </a:r>
                    </a:p>
                  </a:txBody>
                  <a:tcPr/>
                </a:tc>
                <a:extLst>
                  <a:ext uri="{0D108BD9-81ED-4DB2-BD59-A6C34878D82A}">
                    <a16:rowId xmlns:a16="http://schemas.microsoft.com/office/drawing/2014/main" val="4282366251"/>
                  </a:ext>
                </a:extLst>
              </a:tr>
              <a:tr h="370840">
                <a:tc>
                  <a:txBody>
                    <a:bodyPr/>
                    <a:lstStyle/>
                    <a:p>
                      <a:r>
                        <a:rPr lang="en-US" dirty="0"/>
                        <a:t>I</a:t>
                      </a:r>
                    </a:p>
                  </a:txBody>
                  <a:tcPr/>
                </a:tc>
                <a:tc>
                  <a:txBody>
                    <a:bodyPr/>
                    <a:lstStyle/>
                    <a:p>
                      <a:r>
                        <a:rPr lang="en-US" dirty="0"/>
                        <a:t>10</a:t>
                      </a:r>
                    </a:p>
                  </a:txBody>
                  <a:tcPr/>
                </a:tc>
                <a:tc>
                  <a:txBody>
                    <a:bodyPr/>
                    <a:lstStyle/>
                    <a:p>
                      <a:r>
                        <a:rPr lang="en-US" dirty="0"/>
                        <a:t>10</a:t>
                      </a:r>
                    </a:p>
                  </a:txBody>
                  <a:tcPr/>
                </a:tc>
                <a:tc>
                  <a:txBody>
                    <a:bodyPr/>
                    <a:lstStyle/>
                    <a:p>
                      <a:r>
                        <a:rPr lang="en-US" dirty="0"/>
                        <a:t>…</a:t>
                      </a:r>
                    </a:p>
                  </a:txBody>
                  <a:tcPr/>
                </a:tc>
                <a:tc>
                  <a:txBody>
                    <a:bodyPr/>
                    <a:lstStyle/>
                    <a:p>
                      <a:r>
                        <a:rPr lang="en-US" dirty="0"/>
                        <a:t>10</a:t>
                      </a:r>
                    </a:p>
                  </a:txBody>
                  <a:tcPr/>
                </a:tc>
                <a:tc>
                  <a:txBody>
                    <a:bodyPr/>
                    <a:lstStyle/>
                    <a:p>
                      <a:r>
                        <a:rPr lang="en-US" dirty="0"/>
                        <a:t>10</a:t>
                      </a:r>
                    </a:p>
                  </a:txBody>
                  <a:tcPr/>
                </a:tc>
                <a:tc>
                  <a:txBody>
                    <a:bodyPr/>
                    <a:lstStyle/>
                    <a:p>
                      <a:r>
                        <a:rPr lang="en-US" dirty="0"/>
                        <a:t>10</a:t>
                      </a:r>
                    </a:p>
                  </a:txBody>
                  <a:tcPr/>
                </a:tc>
                <a:tc>
                  <a:txBody>
                    <a:bodyPr/>
                    <a:lstStyle/>
                    <a:p>
                      <a:r>
                        <a:rPr lang="en-US" dirty="0"/>
                        <a:t>…</a:t>
                      </a:r>
                    </a:p>
                  </a:txBody>
                  <a:tcPr/>
                </a:tc>
                <a:tc>
                  <a:txBody>
                    <a:bodyPr/>
                    <a:lstStyle/>
                    <a:p>
                      <a:r>
                        <a:rPr lang="en-US" dirty="0"/>
                        <a:t>10</a:t>
                      </a:r>
                    </a:p>
                  </a:txBody>
                  <a:tcPr/>
                </a:tc>
                <a:tc>
                  <a:txBody>
                    <a:bodyPr/>
                    <a:lstStyle/>
                    <a:p>
                      <a:r>
                        <a:rPr lang="en-US" dirty="0"/>
                        <a:t>10</a:t>
                      </a:r>
                    </a:p>
                  </a:txBody>
                  <a:tcPr/>
                </a:tc>
                <a:tc>
                  <a:txBody>
                    <a:bodyPr/>
                    <a:lstStyle/>
                    <a:p>
                      <a:r>
                        <a:rPr lang="en-US" dirty="0"/>
                        <a:t>…</a:t>
                      </a:r>
                    </a:p>
                  </a:txBody>
                  <a:tcPr/>
                </a:tc>
                <a:tc>
                  <a:txBody>
                    <a:bodyPr/>
                    <a:lstStyle/>
                    <a:p>
                      <a:r>
                        <a:rPr lang="en-US" dirty="0"/>
                        <a:t>10</a:t>
                      </a:r>
                    </a:p>
                  </a:txBody>
                  <a:tcPr/>
                </a:tc>
                <a:tc>
                  <a:txBody>
                    <a:bodyPr/>
                    <a:lstStyle/>
                    <a:p>
                      <a:r>
                        <a:rPr lang="en-US" dirty="0"/>
                        <a:t>30</a:t>
                      </a:r>
                    </a:p>
                  </a:txBody>
                  <a:tcPr/>
                </a:tc>
                <a:tc>
                  <a:txBody>
                    <a:bodyPr/>
                    <a:lstStyle/>
                    <a:p>
                      <a:r>
                        <a:rPr lang="en-US" dirty="0"/>
                        <a:t>…</a:t>
                      </a:r>
                    </a:p>
                  </a:txBody>
                  <a:tcPr/>
                </a:tc>
                <a:tc>
                  <a:txBody>
                    <a:bodyPr/>
                    <a:lstStyle/>
                    <a:p>
                      <a:r>
                        <a:rPr lang="en-US" dirty="0"/>
                        <a:t>70</a:t>
                      </a:r>
                    </a:p>
                  </a:txBody>
                  <a:tcPr/>
                </a:tc>
                <a:extLst>
                  <a:ext uri="{0D108BD9-81ED-4DB2-BD59-A6C34878D82A}">
                    <a16:rowId xmlns:a16="http://schemas.microsoft.com/office/drawing/2014/main" val="3031612265"/>
                  </a:ext>
                </a:extLst>
              </a:tr>
              <a:tr h="370840">
                <a:tc>
                  <a:txBody>
                    <a:bodyPr/>
                    <a:lstStyle/>
                    <a:p>
                      <a:r>
                        <a:rPr lang="en-US" dirty="0"/>
                        <a:t>R</a:t>
                      </a:r>
                    </a:p>
                  </a:txBody>
                  <a:tcPr/>
                </a:tc>
                <a:tc>
                  <a:txBody>
                    <a:bodyPr/>
                    <a:lstStyle/>
                    <a:p>
                      <a:r>
                        <a:rPr lang="en-US" dirty="0"/>
                        <a:t>-80</a:t>
                      </a:r>
                    </a:p>
                  </a:txBody>
                  <a:tcPr/>
                </a:tc>
                <a:tc>
                  <a:txBody>
                    <a:bodyPr/>
                    <a:lstStyle/>
                    <a:p>
                      <a:r>
                        <a:rPr lang="en-US" dirty="0"/>
                        <a:t>-75</a:t>
                      </a:r>
                    </a:p>
                  </a:txBody>
                  <a:tcPr/>
                </a:tc>
                <a:tc>
                  <a:txBody>
                    <a:bodyPr/>
                    <a:lstStyle/>
                    <a:p>
                      <a:r>
                        <a:rPr lang="en-US" dirty="0"/>
                        <a:t>…</a:t>
                      </a:r>
                    </a:p>
                  </a:txBody>
                  <a:tcPr/>
                </a:tc>
                <a:tc>
                  <a:txBody>
                    <a:bodyPr/>
                    <a:lstStyle/>
                    <a:p>
                      <a:r>
                        <a:rPr lang="en-US" dirty="0"/>
                        <a:t>80</a:t>
                      </a:r>
                    </a:p>
                  </a:txBody>
                  <a:tcPr/>
                </a:tc>
                <a:tc>
                  <a:txBody>
                    <a:bodyPr/>
                    <a:lstStyle/>
                    <a:p>
                      <a:r>
                        <a:rPr lang="en-US" dirty="0"/>
                        <a:t>-80</a:t>
                      </a:r>
                    </a:p>
                  </a:txBody>
                  <a:tcPr/>
                </a:tc>
                <a:tc>
                  <a:txBody>
                    <a:bodyPr/>
                    <a:lstStyle/>
                    <a:p>
                      <a:r>
                        <a:rPr lang="en-US" dirty="0"/>
                        <a:t>-75</a:t>
                      </a:r>
                    </a:p>
                  </a:txBody>
                  <a:tcPr/>
                </a:tc>
                <a:tc>
                  <a:txBody>
                    <a:bodyPr/>
                    <a:lstStyle/>
                    <a:p>
                      <a:r>
                        <a:rPr lang="en-US" dirty="0"/>
                        <a:t>…</a:t>
                      </a:r>
                    </a:p>
                  </a:txBody>
                  <a:tcPr/>
                </a:tc>
                <a:tc>
                  <a:txBody>
                    <a:bodyPr/>
                    <a:lstStyle/>
                    <a:p>
                      <a:r>
                        <a:rPr lang="en-US" dirty="0"/>
                        <a:t>80</a:t>
                      </a:r>
                    </a:p>
                  </a:txBody>
                  <a:tcPr/>
                </a:tc>
                <a:tc>
                  <a:txBody>
                    <a:bodyPr/>
                    <a:lstStyle/>
                    <a:p>
                      <a:r>
                        <a:rPr lang="en-US" dirty="0"/>
                        <a:t>-80</a:t>
                      </a:r>
                    </a:p>
                  </a:txBody>
                  <a:tcPr/>
                </a:tc>
                <a:tc>
                  <a:txBody>
                    <a:bodyPr/>
                    <a:lstStyle/>
                    <a:p>
                      <a:r>
                        <a:rPr lang="en-US" dirty="0"/>
                        <a:t>…</a:t>
                      </a:r>
                    </a:p>
                  </a:txBody>
                  <a:tcPr/>
                </a:tc>
                <a:tc>
                  <a:txBody>
                    <a:bodyPr/>
                    <a:lstStyle/>
                    <a:p>
                      <a:r>
                        <a:rPr lang="en-US" dirty="0"/>
                        <a:t>80</a:t>
                      </a:r>
                    </a:p>
                  </a:txBody>
                  <a:tcPr/>
                </a:tc>
                <a:tc>
                  <a:txBody>
                    <a:bodyPr/>
                    <a:lstStyle/>
                    <a:p>
                      <a:r>
                        <a:rPr lang="en-US" dirty="0"/>
                        <a:t>-80</a:t>
                      </a:r>
                    </a:p>
                  </a:txBody>
                  <a:tcPr/>
                </a:tc>
                <a:tc>
                  <a:txBody>
                    <a:bodyPr/>
                    <a:lstStyle/>
                    <a:p>
                      <a:r>
                        <a:rPr lang="en-US" dirty="0"/>
                        <a:t>…</a:t>
                      </a:r>
                    </a:p>
                  </a:txBody>
                  <a:tcPr/>
                </a:tc>
                <a:tc>
                  <a:txBody>
                    <a:bodyPr/>
                    <a:lstStyle/>
                    <a:p>
                      <a:r>
                        <a:rPr lang="en-US" dirty="0"/>
                        <a:t>80</a:t>
                      </a:r>
                    </a:p>
                  </a:txBody>
                  <a:tcPr/>
                </a:tc>
                <a:extLst>
                  <a:ext uri="{0D108BD9-81ED-4DB2-BD59-A6C34878D82A}">
                    <a16:rowId xmlns:a16="http://schemas.microsoft.com/office/drawing/2014/main" val="1695761313"/>
                  </a:ext>
                </a:extLst>
              </a:tr>
              <a:tr h="370840">
                <a:tc>
                  <a:txBody>
                    <a:bodyPr/>
                    <a:lstStyle/>
                    <a:p>
                      <a:r>
                        <a:rPr lang="en-US" dirty="0"/>
                        <a:t>#rays</a:t>
                      </a:r>
                    </a:p>
                  </a:txBody>
                  <a:tcPr/>
                </a:tc>
                <a:tc gridSpan="4">
                  <a:txBody>
                    <a:bodyPr/>
                    <a:lstStyle/>
                    <a:p>
                      <a:r>
                        <a:rPr lang="en-US" dirty="0"/>
                        <a:t>[FROM FRED SIMULATION]</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274077812"/>
                  </a:ext>
                </a:extLst>
              </a:tr>
            </a:tbl>
          </a:graphicData>
        </a:graphic>
      </p:graphicFrame>
    </p:spTree>
    <p:extLst>
      <p:ext uri="{BB962C8B-B14F-4D97-AF65-F5344CB8AC3E}">
        <p14:creationId xmlns:p14="http://schemas.microsoft.com/office/powerpoint/2010/main" val="97422008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6C2EC-D7E8-5161-585E-E7319BC8CE6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0BB40E0-A41A-E20A-865E-3B7A4F17E3E4}"/>
                  </a:ext>
                </a:extLst>
              </p:cNvPr>
              <p:cNvSpPr>
                <a:spLocks noGrp="1"/>
              </p:cNvSpPr>
              <p:nvPr>
                <p:ph type="ctrTitle"/>
              </p:nvPr>
            </p:nvSpPr>
            <p:spPr/>
            <p:txBody>
              <a:bodyPr/>
              <a:lstStyle/>
              <a:p>
                <a:r>
                  <a:rPr lang="en-US" sz="3600" dirty="0"/>
                  <a:t>Revising FRED format</a:t>
                </a:r>
                <a:br>
                  <a:rPr lang="en-US" sz="3600" dirty="0"/>
                </a:br>
                <a:r>
                  <a:rPr lang="en-US" sz="2400" dirty="0"/>
                  <a:t>(Applying isotropic plane symmetry, and </a:t>
                </a:r>
                <a14:m>
                  <m:oMath xmlns:m="http://schemas.openxmlformats.org/officeDocument/2006/math">
                    <m:sSub>
                      <m:sSubPr>
                        <m:ctrlPr>
                          <a:rPr lang="en-US" sz="2400" i="1" smtClean="0">
                            <a:latin typeface="Cambria Math" panose="02040503050406030204" pitchFamily="18" charset="0"/>
                            <a:ea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𝜃</m:t>
                        </m:r>
                      </m:e>
                      <m:sub>
                        <m:r>
                          <a:rPr lang="en-US" sz="2400" b="0" i="1" smtClean="0">
                            <a:latin typeface="Cambria Math" panose="02040503050406030204" pitchFamily="18" charset="0"/>
                            <a:ea typeface="Cambria Math" panose="02040503050406030204" pitchFamily="18" charset="0"/>
                          </a:rPr>
                          <m:t>𝑠</m:t>
                        </m:r>
                      </m:sub>
                    </m:sSub>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0</m:t>
                        </m:r>
                      </m:e>
                      <m:sup>
                        <m:r>
                          <a:rPr lang="en-US" sz="2400" b="0" i="1" smtClean="0">
                            <a:latin typeface="Cambria Math" panose="02040503050406030204" pitchFamily="18" charset="0"/>
                            <a:ea typeface="Cambria Math" panose="02040503050406030204" pitchFamily="18" charset="0"/>
                          </a:rPr>
                          <m:t>∘</m:t>
                        </m:r>
                      </m:sup>
                    </m:sSup>
                  </m:oMath>
                </a14:m>
                <a:r>
                  <a:rPr lang="en-US" sz="2400" dirty="0"/>
                  <a:t> with only one azimuth angle)</a:t>
                </a:r>
                <a:endParaRPr lang="en-US" sz="3600" dirty="0">
                  <a:solidFill>
                    <a:schemeClr val="bg2"/>
                  </a:solidFill>
                </a:endParaRPr>
              </a:p>
            </p:txBody>
          </p:sp>
        </mc:Choice>
        <mc:Fallback xmlns="">
          <p:sp>
            <p:nvSpPr>
              <p:cNvPr id="2" name="Title 1">
                <a:extLst>
                  <a:ext uri="{FF2B5EF4-FFF2-40B4-BE49-F238E27FC236}">
                    <a16:creationId xmlns:a16="http://schemas.microsoft.com/office/drawing/2014/main" id="{60BB40E0-A41A-E20A-865E-3B7A4F17E3E4}"/>
                  </a:ext>
                </a:extLst>
              </p:cNvPr>
              <p:cNvSpPr>
                <a:spLocks noGrp="1" noRot="1" noChangeAspect="1" noMove="1" noResize="1" noEditPoints="1" noAdjustHandles="1" noChangeArrowheads="1" noChangeShapeType="1" noTextEdit="1"/>
              </p:cNvSpPr>
              <p:nvPr>
                <p:ph type="ctrTitle"/>
              </p:nvPr>
            </p:nvSpPr>
            <p:spPr>
              <a:blipFill>
                <a:blip r:embed="rId2"/>
                <a:stretch>
                  <a:fillRect l="-1824" r="-1059"/>
                </a:stretch>
              </a:blipFill>
            </p:spPr>
            <p:txBody>
              <a:bodyPr/>
              <a:lstStyle/>
              <a:p>
                <a:r>
                  <a:rPr lang="en-US">
                    <a:noFill/>
                  </a:rPr>
                  <a:t> </a:t>
                </a:r>
              </a:p>
            </p:txBody>
          </p:sp>
        </mc:Fallback>
      </mc:AlternateContent>
      <p:sp>
        <p:nvSpPr>
          <p:cNvPr id="3" name="Subtitle 2">
            <a:extLst>
              <a:ext uri="{FF2B5EF4-FFF2-40B4-BE49-F238E27FC236}">
                <a16:creationId xmlns:a16="http://schemas.microsoft.com/office/drawing/2014/main" id="{664109C5-D988-008B-36E1-01A3F7E52C6F}"/>
              </a:ext>
            </a:extLst>
          </p:cNvPr>
          <p:cNvSpPr>
            <a:spLocks noGrp="1"/>
          </p:cNvSpPr>
          <p:nvPr>
            <p:ph type="subTitle" idx="1"/>
          </p:nvPr>
        </p:nvSpPr>
        <p:spPr/>
        <p:txBody>
          <a:bodyPr>
            <a:normAutofit/>
          </a:bodyPr>
          <a:lstStyle/>
          <a:p>
            <a:endParaRPr lang="en-US" dirty="0"/>
          </a:p>
          <a:p>
            <a:r>
              <a:rPr lang="en-US" dirty="0"/>
              <a:t>2026/02/03</a:t>
            </a:r>
          </a:p>
        </p:txBody>
      </p:sp>
    </p:spTree>
    <p:extLst>
      <p:ext uri="{BB962C8B-B14F-4D97-AF65-F5344CB8AC3E}">
        <p14:creationId xmlns:p14="http://schemas.microsoft.com/office/powerpoint/2010/main" val="134769053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84A81-0A96-9E11-13A4-65C60E0B8B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94C457-AB72-65E1-B8BF-956CA4C18E6B}"/>
              </a:ext>
            </a:extLst>
          </p:cNvPr>
          <p:cNvSpPr>
            <a:spLocks noGrp="1"/>
          </p:cNvSpPr>
          <p:nvPr>
            <p:ph type="title"/>
          </p:nvPr>
        </p:nvSpPr>
        <p:spPr/>
        <p:txBody>
          <a:bodyPr/>
          <a:lstStyle/>
          <a:p>
            <a:r>
              <a:rPr lang="en-US" dirty="0"/>
              <a:t>Corrections</a:t>
            </a:r>
          </a:p>
        </p:txBody>
      </p:sp>
      <p:sp>
        <p:nvSpPr>
          <p:cNvPr id="3" name="Text Placeholder 2">
            <a:extLst>
              <a:ext uri="{FF2B5EF4-FFF2-40B4-BE49-F238E27FC236}">
                <a16:creationId xmlns:a16="http://schemas.microsoft.com/office/drawing/2014/main" id="{EE532DBD-A9A3-4296-A6DA-DDBB374F5433}"/>
              </a:ext>
            </a:extLst>
          </p:cNvPr>
          <p:cNvSpPr>
            <a:spLocks noGrp="1"/>
          </p:cNvSpPr>
          <p:nvPr>
            <p:ph type="body" idx="1"/>
          </p:nvPr>
        </p:nvSpPr>
        <p:spPr>
          <a:xfrm>
            <a:off x="609600" y="1752601"/>
            <a:ext cx="3208867" cy="4373563"/>
          </a:xfrm>
        </p:spPr>
        <p:txBody>
          <a:bodyPr>
            <a:normAutofit/>
          </a:bodyPr>
          <a:lstStyle/>
          <a:p>
            <a:r>
              <a:rPr lang="en-US" sz="1400" b="0" dirty="0"/>
              <a:t>From Scott email 2026/02/03 </a:t>
            </a:r>
          </a:p>
          <a:p>
            <a:endParaRPr lang="en-US" sz="1400" b="0" dirty="0"/>
          </a:p>
          <a:p>
            <a:r>
              <a:rPr lang="en-US" sz="1400" b="0" dirty="0"/>
              <a:t>Note also, </a:t>
            </a:r>
            <a:r>
              <a:rPr lang="en-US" sz="1400" b="0" dirty="0" err="1"/>
              <a:t>scatter_azimuth</a:t>
            </a:r>
            <a:r>
              <a:rPr lang="en-US" sz="1400" b="0" dirty="0"/>
              <a:t> only needs to be defined on [0, 180] deg… because those values are mirrored across the incident plane to (180, 360)… I am not sure if FRED will properly interpolate with this redundancy removed</a:t>
            </a:r>
          </a:p>
        </p:txBody>
      </p:sp>
      <p:pic>
        <p:nvPicPr>
          <p:cNvPr id="5" name="Picture 4">
            <a:extLst>
              <a:ext uri="{FF2B5EF4-FFF2-40B4-BE49-F238E27FC236}">
                <a16:creationId xmlns:a16="http://schemas.microsoft.com/office/drawing/2014/main" id="{8AF450DD-5FAA-65BD-BC33-9EE412168C2D}"/>
              </a:ext>
            </a:extLst>
          </p:cNvPr>
          <p:cNvPicPr>
            <a:picLocks noChangeAspect="1"/>
          </p:cNvPicPr>
          <p:nvPr/>
        </p:nvPicPr>
        <p:blipFill>
          <a:blip r:embed="rId2"/>
          <a:stretch>
            <a:fillRect/>
          </a:stretch>
        </p:blipFill>
        <p:spPr>
          <a:xfrm>
            <a:off x="4402818" y="39903"/>
            <a:ext cx="6138182" cy="6787726"/>
          </a:xfrm>
          <a:prstGeom prst="rect">
            <a:avLst/>
          </a:prstGeom>
        </p:spPr>
      </p:pic>
    </p:spTree>
    <p:extLst>
      <p:ext uri="{BB962C8B-B14F-4D97-AF65-F5344CB8AC3E}">
        <p14:creationId xmlns:p14="http://schemas.microsoft.com/office/powerpoint/2010/main" val="281744143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DFFD5-F591-8791-AA2F-BAF4FBE29B46}"/>
              </a:ext>
            </a:extLst>
          </p:cNvPr>
          <p:cNvSpPr>
            <a:spLocks noGrp="1"/>
          </p:cNvSpPr>
          <p:nvPr>
            <p:ph type="title"/>
          </p:nvPr>
        </p:nvSpPr>
        <p:spPr/>
        <p:txBody>
          <a:bodyPr/>
          <a:lstStyle/>
          <a:p>
            <a:r>
              <a:rPr lang="en-US" dirty="0"/>
              <a:t>From FRED help article</a:t>
            </a:r>
          </a:p>
        </p:txBody>
      </p:sp>
      <p:sp>
        <p:nvSpPr>
          <p:cNvPr id="3" name="Text Placeholder 2">
            <a:extLst>
              <a:ext uri="{FF2B5EF4-FFF2-40B4-BE49-F238E27FC236}">
                <a16:creationId xmlns:a16="http://schemas.microsoft.com/office/drawing/2014/main" id="{4D39B1C7-4BD3-5472-7BE9-605484AF2AE4}"/>
              </a:ext>
            </a:extLst>
          </p:cNvPr>
          <p:cNvSpPr>
            <a:spLocks noGrp="1"/>
          </p:cNvSpPr>
          <p:nvPr>
            <p:ph type="body" idx="1"/>
          </p:nvPr>
        </p:nvSpPr>
        <p:spPr/>
        <p:txBody>
          <a:bodyPr>
            <a:normAutofit/>
          </a:bodyPr>
          <a:lstStyle/>
          <a:p>
            <a:r>
              <a:rPr lang="en-US" sz="2400" b="0" dirty="0"/>
              <a:t>“FRED tabular BSDF format.PDF”</a:t>
            </a:r>
          </a:p>
        </p:txBody>
      </p:sp>
      <p:pic>
        <p:nvPicPr>
          <p:cNvPr id="5" name="Picture 4">
            <a:extLst>
              <a:ext uri="{FF2B5EF4-FFF2-40B4-BE49-F238E27FC236}">
                <a16:creationId xmlns:a16="http://schemas.microsoft.com/office/drawing/2014/main" id="{99F31CCE-0712-BCB4-1936-2CDEB8A6554D}"/>
              </a:ext>
            </a:extLst>
          </p:cNvPr>
          <p:cNvPicPr>
            <a:picLocks noChangeAspect="1"/>
          </p:cNvPicPr>
          <p:nvPr/>
        </p:nvPicPr>
        <p:blipFill>
          <a:blip r:embed="rId2"/>
          <a:stretch>
            <a:fillRect/>
          </a:stretch>
        </p:blipFill>
        <p:spPr>
          <a:xfrm>
            <a:off x="1422400" y="2316433"/>
            <a:ext cx="7840169" cy="3715268"/>
          </a:xfrm>
          <a:prstGeom prst="rect">
            <a:avLst/>
          </a:prstGeom>
        </p:spPr>
      </p:pic>
    </p:spTree>
    <p:extLst>
      <p:ext uri="{BB962C8B-B14F-4D97-AF65-F5344CB8AC3E}">
        <p14:creationId xmlns:p14="http://schemas.microsoft.com/office/powerpoint/2010/main" val="263127765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C7FB3-DC97-9C98-6642-DFDA5831BC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12D6D3-08DF-A6DB-8E5B-734E7B0B1087}"/>
              </a:ext>
            </a:extLst>
          </p:cNvPr>
          <p:cNvSpPr>
            <a:spLocks noGrp="1"/>
          </p:cNvSpPr>
          <p:nvPr>
            <p:ph type="ctrTitle"/>
          </p:nvPr>
        </p:nvSpPr>
        <p:spPr/>
        <p:txBody>
          <a:bodyPr/>
          <a:lstStyle/>
          <a:p>
            <a:r>
              <a:rPr lang="en-US" sz="3600" dirty="0"/>
              <a:t>Refactor from </a:t>
            </a:r>
            <a:br>
              <a:rPr lang="en-US" sz="3600" dirty="0"/>
            </a:br>
            <a:r>
              <a:rPr lang="en-US" sz="3600" dirty="0"/>
              <a:t>RT-300S </a:t>
            </a:r>
            <a:r>
              <a:rPr lang="en-US" sz="3600" dirty="0">
                <a:sym typeface="Wingdings" panose="05000000000000000000" pitchFamily="2" charset="2"/>
              </a:rPr>
              <a:t> </a:t>
            </a:r>
            <a:r>
              <a:rPr lang="en-US" sz="3600" dirty="0" err="1">
                <a:sym typeface="Wingdings" panose="05000000000000000000" pitchFamily="2" charset="2"/>
              </a:rPr>
              <a:t>Zemax</a:t>
            </a:r>
            <a:r>
              <a:rPr lang="en-US" sz="3600" dirty="0">
                <a:sym typeface="Wingdings" panose="05000000000000000000" pitchFamily="2" charset="2"/>
              </a:rPr>
              <a:t>  FRED</a:t>
            </a:r>
            <a:br>
              <a:rPr lang="en-US" sz="3600" dirty="0">
                <a:sym typeface="Wingdings" panose="05000000000000000000" pitchFamily="2" charset="2"/>
              </a:rPr>
            </a:br>
            <a:r>
              <a:rPr lang="en-US" sz="3600" dirty="0">
                <a:sym typeface="Wingdings" panose="05000000000000000000" pitchFamily="2" charset="2"/>
              </a:rPr>
              <a:t>to</a:t>
            </a:r>
            <a:br>
              <a:rPr lang="en-US" sz="3600" dirty="0">
                <a:sym typeface="Wingdings" panose="05000000000000000000" pitchFamily="2" charset="2"/>
              </a:rPr>
            </a:br>
            <a:r>
              <a:rPr lang="en-US" sz="3600" dirty="0">
                <a:sym typeface="Wingdings" panose="05000000000000000000" pitchFamily="2" charset="2"/>
              </a:rPr>
              <a:t>RT-300S  FRED  </a:t>
            </a:r>
            <a:r>
              <a:rPr lang="en-US" sz="3600" dirty="0" err="1">
                <a:sym typeface="Wingdings" panose="05000000000000000000" pitchFamily="2" charset="2"/>
              </a:rPr>
              <a:t>Zemax</a:t>
            </a:r>
            <a:endParaRPr lang="en-US" sz="3600" dirty="0">
              <a:solidFill>
                <a:schemeClr val="bg2"/>
              </a:solidFill>
            </a:endParaRPr>
          </a:p>
        </p:txBody>
      </p:sp>
      <p:sp>
        <p:nvSpPr>
          <p:cNvPr id="3" name="Subtitle 2">
            <a:extLst>
              <a:ext uri="{FF2B5EF4-FFF2-40B4-BE49-F238E27FC236}">
                <a16:creationId xmlns:a16="http://schemas.microsoft.com/office/drawing/2014/main" id="{B89AE3AC-F379-97DE-CC63-F2E529422E86}"/>
              </a:ext>
            </a:extLst>
          </p:cNvPr>
          <p:cNvSpPr>
            <a:spLocks noGrp="1"/>
          </p:cNvSpPr>
          <p:nvPr>
            <p:ph type="subTitle" idx="1"/>
          </p:nvPr>
        </p:nvSpPr>
        <p:spPr/>
        <p:txBody>
          <a:bodyPr>
            <a:normAutofit/>
          </a:bodyPr>
          <a:lstStyle/>
          <a:p>
            <a:endParaRPr lang="en-US" dirty="0"/>
          </a:p>
          <a:p>
            <a:r>
              <a:rPr lang="en-US" dirty="0"/>
              <a:t>2026/03/21</a:t>
            </a:r>
          </a:p>
        </p:txBody>
      </p:sp>
    </p:spTree>
    <p:extLst>
      <p:ext uri="{BB962C8B-B14F-4D97-AF65-F5344CB8AC3E}">
        <p14:creationId xmlns:p14="http://schemas.microsoft.com/office/powerpoint/2010/main" val="201964231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89018-570D-170E-7AE2-54EE5B46FE37}"/>
              </a:ext>
            </a:extLst>
          </p:cNvPr>
          <p:cNvSpPr>
            <a:spLocks noGrp="1"/>
          </p:cNvSpPr>
          <p:nvPr>
            <p:ph type="title"/>
          </p:nvPr>
        </p:nvSpPr>
        <p:spPr/>
        <p:txBody>
          <a:bodyPr/>
          <a:lstStyle/>
          <a:p>
            <a:r>
              <a:rPr lang="en-US" dirty="0"/>
              <a:t>Motivation</a:t>
            </a:r>
          </a:p>
        </p:txBody>
      </p:sp>
      <p:sp>
        <p:nvSpPr>
          <p:cNvPr id="3" name="Text Placeholder 2">
            <a:extLst>
              <a:ext uri="{FF2B5EF4-FFF2-40B4-BE49-F238E27FC236}">
                <a16:creationId xmlns:a16="http://schemas.microsoft.com/office/drawing/2014/main" id="{10E39028-60F3-9118-B5DA-BE50B2EBDD0B}"/>
              </a:ext>
            </a:extLst>
          </p:cNvPr>
          <p:cNvSpPr>
            <a:spLocks noGrp="1"/>
          </p:cNvSpPr>
          <p:nvPr>
            <p:ph type="body" idx="1"/>
          </p:nvPr>
        </p:nvSpPr>
        <p:spPr/>
        <p:txBody>
          <a:bodyPr>
            <a:normAutofit/>
          </a:bodyPr>
          <a:lstStyle/>
          <a:p>
            <a:r>
              <a:rPr lang="en-US" sz="2000" b="0" dirty="0"/>
              <a:t>In general, want code to be more modular (not single script(s), but various functions)</a:t>
            </a:r>
          </a:p>
          <a:p>
            <a:pPr lvl="1"/>
            <a:r>
              <a:rPr lang="en-US" sz="1600" b="0" dirty="0"/>
              <a:t>Makes far more readable</a:t>
            </a:r>
            <a:r>
              <a:rPr lang="en-US" sz="1600" dirty="0"/>
              <a:t> and </a:t>
            </a:r>
            <a:r>
              <a:rPr lang="en-US" sz="1600" dirty="0" err="1"/>
              <a:t>debuggable</a:t>
            </a:r>
            <a:endParaRPr lang="en-US" sz="1600" dirty="0"/>
          </a:p>
          <a:p>
            <a:r>
              <a:rPr lang="en-US" sz="2000" b="0" dirty="0"/>
              <a:t>But, really want anisotropic in FRED, and other than cross-checking (in </a:t>
            </a:r>
            <a:r>
              <a:rPr lang="en-US" sz="2000" b="0" dirty="0" err="1"/>
              <a:t>Zemax</a:t>
            </a:r>
            <a:r>
              <a:rPr lang="en-US" sz="2000" b="0" dirty="0"/>
              <a:t>) the IMX455 data for RT-300S </a:t>
            </a:r>
            <a:r>
              <a:rPr lang="en-US" sz="2000" b="0" dirty="0">
                <a:sym typeface="Wingdings" panose="05000000000000000000" pitchFamily="2" charset="2"/>
              </a:rPr>
              <a:t></a:t>
            </a:r>
            <a:r>
              <a:rPr lang="en-US" sz="2000" b="0" dirty="0"/>
              <a:t> </a:t>
            </a:r>
            <a:r>
              <a:rPr lang="en-US" sz="2000" b="0" dirty="0" err="1"/>
              <a:t>Zemax</a:t>
            </a:r>
            <a:r>
              <a:rPr lang="en-US" sz="2000" b="0" dirty="0"/>
              <a:t> </a:t>
            </a:r>
            <a:r>
              <a:rPr lang="en-US" sz="2000" b="0" dirty="0">
                <a:sym typeface="Wingdings" panose="05000000000000000000" pitchFamily="2" charset="2"/>
              </a:rPr>
              <a:t> FRED with RT-300S  FRED  </a:t>
            </a:r>
            <a:r>
              <a:rPr lang="en-US" sz="2000" b="0" dirty="0" err="1">
                <a:sym typeface="Wingdings" panose="05000000000000000000" pitchFamily="2" charset="2"/>
              </a:rPr>
              <a:t>Zemax</a:t>
            </a:r>
            <a:r>
              <a:rPr lang="en-US" sz="2000" b="0" dirty="0">
                <a:sym typeface="Wingdings" panose="05000000000000000000" pitchFamily="2" charset="2"/>
              </a:rPr>
              <a:t> can RT-300S  FRED be confidently trusted, since RT-300S  </a:t>
            </a:r>
            <a:r>
              <a:rPr lang="en-US" sz="2000" b="0" dirty="0" err="1">
                <a:sym typeface="Wingdings" panose="05000000000000000000" pitchFamily="2" charset="2"/>
              </a:rPr>
              <a:t>Zemax</a:t>
            </a:r>
            <a:r>
              <a:rPr lang="en-US" sz="2000" b="0" dirty="0">
                <a:sym typeface="Wingdings" panose="05000000000000000000" pitchFamily="2" charset="2"/>
              </a:rPr>
              <a:t> is already trusted</a:t>
            </a:r>
          </a:p>
          <a:p>
            <a:pPr lvl="1"/>
            <a:r>
              <a:rPr lang="en-US" sz="1600" dirty="0">
                <a:sym typeface="Wingdings" panose="05000000000000000000" pitchFamily="2" charset="2"/>
              </a:rPr>
              <a:t>Not sure how to validate </a:t>
            </a:r>
            <a:r>
              <a:rPr lang="en-US" sz="1600" dirty="0" err="1">
                <a:sym typeface="Wingdings" panose="05000000000000000000" pitchFamily="2" charset="2"/>
              </a:rPr>
              <a:t>Zemax</a:t>
            </a:r>
            <a:r>
              <a:rPr lang="en-US" sz="1600" dirty="0">
                <a:sym typeface="Wingdings" panose="05000000000000000000" pitchFamily="2" charset="2"/>
              </a:rPr>
              <a:t>  FRED for anisotropic, so this refactor bypasses that</a:t>
            </a:r>
            <a:endParaRPr lang="en-US" sz="1600" b="0" dirty="0"/>
          </a:p>
        </p:txBody>
      </p:sp>
    </p:spTree>
    <p:extLst>
      <p:ext uri="{BB962C8B-B14F-4D97-AF65-F5344CB8AC3E}">
        <p14:creationId xmlns:p14="http://schemas.microsoft.com/office/powerpoint/2010/main" val="12702867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4FA5-C67B-7C23-2169-340D00889F59}"/>
              </a:ext>
            </a:extLst>
          </p:cNvPr>
          <p:cNvSpPr>
            <a:spLocks noGrp="1"/>
          </p:cNvSpPr>
          <p:nvPr>
            <p:ph type="title"/>
          </p:nvPr>
        </p:nvSpPr>
        <p:spPr/>
        <p:txBody>
          <a:bodyPr/>
          <a:lstStyle/>
          <a:p>
            <a:r>
              <a:rPr lang="en-US" dirty="0"/>
              <a:t>Results</a:t>
            </a:r>
          </a:p>
        </p:txBody>
      </p:sp>
      <p:sp>
        <p:nvSpPr>
          <p:cNvPr id="3" name="Text Placeholder 2">
            <a:extLst>
              <a:ext uri="{FF2B5EF4-FFF2-40B4-BE49-F238E27FC236}">
                <a16:creationId xmlns:a16="http://schemas.microsoft.com/office/drawing/2014/main" id="{23EBA3B7-E7BA-5942-57E4-935E2FBA7AA8}"/>
              </a:ext>
            </a:extLst>
          </p:cNvPr>
          <p:cNvSpPr>
            <a:spLocks noGrp="1"/>
          </p:cNvSpPr>
          <p:nvPr>
            <p:ph type="body" idx="1"/>
          </p:nvPr>
        </p:nvSpPr>
        <p:spPr/>
        <p:txBody>
          <a:bodyPr>
            <a:normAutofit/>
          </a:bodyPr>
          <a:lstStyle/>
          <a:p>
            <a:r>
              <a:rPr lang="en-US" sz="2000" b="0" dirty="0"/>
              <a:t>Refactor seems to work well</a:t>
            </a:r>
          </a:p>
          <a:p>
            <a:pPr lvl="1"/>
            <a:r>
              <a:rPr lang="en-US" sz="1600" dirty="0"/>
              <a:t>All coordinate transformations seem fine</a:t>
            </a:r>
          </a:p>
          <a:p>
            <a:pPr lvl="1"/>
            <a:r>
              <a:rPr lang="en-US" sz="1600" dirty="0" err="1"/>
              <a:t>Zemax</a:t>
            </a:r>
            <a:r>
              <a:rPr lang="en-US" sz="1600" dirty="0"/>
              <a:t> comparison is very similar</a:t>
            </a:r>
            <a:endParaRPr lang="en-US" sz="1000" dirty="0"/>
          </a:p>
          <a:p>
            <a:pPr lvl="2"/>
            <a:r>
              <a:rPr lang="en-US" sz="1400" dirty="0"/>
              <a:t>Main limitation currently is the </a:t>
            </a:r>
            <a:r>
              <a:rPr lang="en-US" sz="1400" dirty="0" err="1"/>
              <a:t>zemax</a:t>
            </a:r>
            <a:r>
              <a:rPr lang="en-US" sz="1400" dirty="0"/>
              <a:t> interpolation assumptions, but the goal here was to validate RT-300S </a:t>
            </a:r>
            <a:r>
              <a:rPr lang="en-US" sz="1400" dirty="0">
                <a:sym typeface="Wingdings" panose="05000000000000000000" pitchFamily="2" charset="2"/>
              </a:rPr>
              <a:t> FRED, so improving that interpolation is a future work</a:t>
            </a:r>
            <a:endParaRPr lang="en-US" sz="1000" dirty="0"/>
          </a:p>
        </p:txBody>
      </p:sp>
    </p:spTree>
    <p:extLst>
      <p:ext uri="{BB962C8B-B14F-4D97-AF65-F5344CB8AC3E}">
        <p14:creationId xmlns:p14="http://schemas.microsoft.com/office/powerpoint/2010/main" val="36340262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B2CE7-0975-88AB-657F-3412664FAFD6}"/>
              </a:ext>
            </a:extLst>
          </p:cNvPr>
          <p:cNvSpPr>
            <a:spLocks noGrp="1"/>
          </p:cNvSpPr>
          <p:nvPr>
            <p:ph type="title"/>
          </p:nvPr>
        </p:nvSpPr>
        <p:spPr/>
        <p:txBody>
          <a:bodyPr/>
          <a:lstStyle/>
          <a:p>
            <a:r>
              <a:rPr lang="en-US" dirty="0"/>
              <a:t>Interpolation to </a:t>
            </a:r>
            <a:r>
              <a:rPr lang="en-US" dirty="0" err="1"/>
              <a:t>Zemax</a:t>
            </a:r>
            <a:r>
              <a:rPr lang="en-US" dirty="0"/>
              <a:t> grid</a:t>
            </a:r>
          </a:p>
        </p:txBody>
      </p:sp>
      <p:sp>
        <p:nvSpPr>
          <p:cNvPr id="3" name="Text Placeholder 2">
            <a:extLst>
              <a:ext uri="{FF2B5EF4-FFF2-40B4-BE49-F238E27FC236}">
                <a16:creationId xmlns:a16="http://schemas.microsoft.com/office/drawing/2014/main" id="{5A314C3D-C796-5C09-B70E-FF320FE0C539}"/>
              </a:ext>
            </a:extLst>
          </p:cNvPr>
          <p:cNvSpPr>
            <a:spLocks noGrp="1"/>
          </p:cNvSpPr>
          <p:nvPr>
            <p:ph type="body" idx="1"/>
          </p:nvPr>
        </p:nvSpPr>
        <p:spPr/>
        <p:txBody>
          <a:bodyPr>
            <a:normAutofit/>
          </a:bodyPr>
          <a:lstStyle/>
          <a:p>
            <a:r>
              <a:rPr lang="en-US" sz="2000" b="0" dirty="0" err="1"/>
              <a:t>Zemax</a:t>
            </a:r>
            <a:r>
              <a:rPr lang="en-US" sz="2000" b="0" dirty="0"/>
              <a:t> interpolation assumptions still need to be worked out</a:t>
            </a:r>
          </a:p>
          <a:p>
            <a:pPr lvl="1"/>
            <a:r>
              <a:rPr lang="en-US" sz="1600" dirty="0"/>
              <a:t>Here, we see that assuming max BRDF as the specular value causes bug (left) at large incidence</a:t>
            </a:r>
            <a:endParaRPr lang="en-US" sz="1600" b="0" dirty="0"/>
          </a:p>
        </p:txBody>
      </p:sp>
      <p:pic>
        <p:nvPicPr>
          <p:cNvPr id="5" name="Picture 4">
            <a:extLst>
              <a:ext uri="{FF2B5EF4-FFF2-40B4-BE49-F238E27FC236}">
                <a16:creationId xmlns:a16="http://schemas.microsoft.com/office/drawing/2014/main" id="{E158132D-3F3F-329D-A1D4-8682B6F4B49A}"/>
              </a:ext>
            </a:extLst>
          </p:cNvPr>
          <p:cNvPicPr>
            <a:picLocks noChangeAspect="1"/>
          </p:cNvPicPr>
          <p:nvPr/>
        </p:nvPicPr>
        <p:blipFill>
          <a:blip r:embed="rId2"/>
          <a:stretch>
            <a:fillRect/>
          </a:stretch>
        </p:blipFill>
        <p:spPr>
          <a:xfrm>
            <a:off x="1481667" y="2675466"/>
            <a:ext cx="7459133" cy="3881522"/>
          </a:xfrm>
          <a:prstGeom prst="rect">
            <a:avLst/>
          </a:prstGeom>
        </p:spPr>
      </p:pic>
    </p:spTree>
    <p:extLst>
      <p:ext uri="{BB962C8B-B14F-4D97-AF65-F5344CB8AC3E}">
        <p14:creationId xmlns:p14="http://schemas.microsoft.com/office/powerpoint/2010/main" val="3907832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3FDF7-710E-C77A-4BE6-FA415F9438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4F1356-F667-B554-5A90-7C0CE9D6577A}"/>
              </a:ext>
            </a:extLst>
          </p:cNvPr>
          <p:cNvSpPr>
            <a:spLocks noGrp="1"/>
          </p:cNvSpPr>
          <p:nvPr>
            <p:ph type="title"/>
          </p:nvPr>
        </p:nvSpPr>
        <p:spPr/>
        <p:txBody>
          <a:bodyPr/>
          <a:lstStyle/>
          <a:p>
            <a:r>
              <a:rPr lang="en-US" dirty="0"/>
              <a:t>Validation test of anisotropic FRED</a:t>
            </a:r>
          </a:p>
        </p:txBody>
      </p:sp>
      <p:sp>
        <p:nvSpPr>
          <p:cNvPr id="3" name="Text Placeholder 2">
            <a:extLst>
              <a:ext uri="{FF2B5EF4-FFF2-40B4-BE49-F238E27FC236}">
                <a16:creationId xmlns:a16="http://schemas.microsoft.com/office/drawing/2014/main" id="{9593C2F4-0589-154E-AEA7-BECE38F68F96}"/>
              </a:ext>
            </a:extLst>
          </p:cNvPr>
          <p:cNvSpPr>
            <a:spLocks noGrp="1"/>
          </p:cNvSpPr>
          <p:nvPr>
            <p:ph type="body" idx="1"/>
          </p:nvPr>
        </p:nvSpPr>
        <p:spPr/>
        <p:txBody>
          <a:bodyPr>
            <a:normAutofit/>
          </a:bodyPr>
          <a:lstStyle/>
          <a:p>
            <a:r>
              <a:rPr lang="en-US" sz="2000" b="0" dirty="0"/>
              <a:t>(1) To validate anisotropic RT-300S </a:t>
            </a:r>
            <a:r>
              <a:rPr lang="en-US" sz="2000" b="0" dirty="0">
                <a:sym typeface="Wingdings" panose="05000000000000000000" pitchFamily="2" charset="2"/>
              </a:rPr>
              <a:t> FRED, doing the following: </a:t>
            </a:r>
          </a:p>
          <a:p>
            <a:pPr lvl="1"/>
            <a:r>
              <a:rPr lang="en-US" sz="1600" dirty="0">
                <a:sym typeface="Wingdings" panose="05000000000000000000" pitchFamily="2" charset="2"/>
              </a:rPr>
              <a:t>(2) Anisotropic RT-300S  </a:t>
            </a:r>
            <a:r>
              <a:rPr lang="en-US" sz="1600" dirty="0" err="1">
                <a:sym typeface="Wingdings" panose="05000000000000000000" pitchFamily="2" charset="2"/>
              </a:rPr>
              <a:t>Zemax</a:t>
            </a:r>
            <a:r>
              <a:rPr lang="en-US" sz="1600" dirty="0">
                <a:sym typeface="Wingdings" panose="05000000000000000000" pitchFamily="2" charset="2"/>
              </a:rPr>
              <a:t> was considered “trusted enough” to move forward with</a:t>
            </a:r>
          </a:p>
          <a:p>
            <a:pPr lvl="1"/>
            <a:r>
              <a:rPr lang="en-US" sz="1600" dirty="0">
                <a:sym typeface="Wingdings" panose="05000000000000000000" pitchFamily="2" charset="2"/>
              </a:rPr>
              <a:t>(3) </a:t>
            </a:r>
            <a:r>
              <a:rPr lang="en-US" sz="1600" b="0" dirty="0">
                <a:sym typeface="Wingdings" panose="05000000000000000000" pitchFamily="2" charset="2"/>
              </a:rPr>
              <a:t>Anisotropic FRED  </a:t>
            </a:r>
            <a:r>
              <a:rPr lang="en-US" sz="1600" b="0" dirty="0" err="1">
                <a:sym typeface="Wingdings" panose="05000000000000000000" pitchFamily="2" charset="2"/>
              </a:rPr>
              <a:t>Zemax</a:t>
            </a:r>
            <a:r>
              <a:rPr lang="en-US" sz="1600" b="0" dirty="0">
                <a:sym typeface="Wingdings" panose="05000000000000000000" pitchFamily="2" charset="2"/>
              </a:rPr>
              <a:t> is not yet validated</a:t>
            </a:r>
          </a:p>
          <a:p>
            <a:pPr lvl="1"/>
            <a:r>
              <a:rPr lang="en-US" sz="1600" dirty="0"/>
              <a:t>Then, if (1) </a:t>
            </a:r>
            <a:r>
              <a:rPr lang="en-US" sz="1600" dirty="0">
                <a:sym typeface="Wingdings" panose="05000000000000000000" pitchFamily="2" charset="2"/>
              </a:rPr>
              <a:t> (3) yields similar result as (2), both (1) and (3) may be considered “trusted enough” to the degree that (2) is</a:t>
            </a:r>
          </a:p>
          <a:p>
            <a:pPr lvl="2"/>
            <a:r>
              <a:rPr lang="en-US" sz="1600" b="0" dirty="0">
                <a:sym typeface="Wingdings" panose="05000000000000000000" pitchFamily="2" charset="2"/>
              </a:rPr>
              <a:t>And this increases trust that (2) is correct as well, because convergence on cross check</a:t>
            </a:r>
            <a:endParaRPr lang="en-US" sz="600" b="0" dirty="0"/>
          </a:p>
        </p:txBody>
      </p:sp>
    </p:spTree>
    <p:extLst>
      <p:ext uri="{BB962C8B-B14F-4D97-AF65-F5344CB8AC3E}">
        <p14:creationId xmlns:p14="http://schemas.microsoft.com/office/powerpoint/2010/main" val="367538567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C224A-4D1C-B3CC-54BA-581866D88512}"/>
              </a:ext>
            </a:extLst>
          </p:cNvPr>
          <p:cNvSpPr>
            <a:spLocks noGrp="1"/>
          </p:cNvSpPr>
          <p:nvPr>
            <p:ph type="title"/>
          </p:nvPr>
        </p:nvSpPr>
        <p:spPr>
          <a:xfrm>
            <a:off x="609599" y="152718"/>
            <a:ext cx="9011323" cy="731520"/>
          </a:xfrm>
        </p:spPr>
        <p:txBody>
          <a:bodyPr>
            <a:normAutofit fontScale="90000"/>
          </a:bodyPr>
          <a:lstStyle/>
          <a:p>
            <a:r>
              <a:rPr lang="en-US" dirty="0"/>
              <a:t>Validation test of anisotropic FRED</a:t>
            </a:r>
            <a:br>
              <a:rPr lang="en-US" dirty="0"/>
            </a:br>
            <a:r>
              <a:rPr lang="en-US" sz="2000" dirty="0"/>
              <a:t>(recall prior IMX455 </a:t>
            </a:r>
            <a:r>
              <a:rPr lang="en-US" sz="2000" dirty="0" err="1"/>
              <a:t>Zemax</a:t>
            </a:r>
            <a:r>
              <a:rPr lang="en-US" sz="2000" dirty="0"/>
              <a:t> plots)</a:t>
            </a: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F763074-0B82-231E-304A-D03F67B37501}"/>
                  </a:ext>
                </a:extLst>
              </p:cNvPr>
              <p:cNvSpPr>
                <a:spLocks noGrp="1"/>
              </p:cNvSpPr>
              <p:nvPr>
                <p:ph type="body" idx="1"/>
              </p:nvPr>
            </p:nvSpPr>
            <p:spPr>
              <a:xfrm>
                <a:off x="0" y="1334500"/>
                <a:ext cx="2476158" cy="5192687"/>
              </a:xfrm>
            </p:spPr>
            <p:txBody>
              <a:bodyPr>
                <a:normAutofit fontScale="92500" lnSpcReduction="20000"/>
              </a:bodyPr>
              <a:lstStyle/>
              <a:p>
                <a:pPr marL="50800" indent="0">
                  <a:buNone/>
                </a:pPr>
                <a:r>
                  <a:rPr lang="en-US" sz="1600" b="0" dirty="0"/>
                  <a:t>If anything, suggests bug in </a:t>
                </a:r>
                <a:r>
                  <a:rPr lang="en-US" sz="1600" dirty="0"/>
                  <a:t>Prior</a:t>
                </a:r>
                <a:r>
                  <a:rPr lang="en-US" sz="1600" b="0" dirty="0"/>
                  <a:t> at </a:t>
                </a:r>
                <a14:m>
                  <m:oMath xmlns:m="http://schemas.openxmlformats.org/officeDocument/2006/math">
                    <m:r>
                      <a:rPr lang="en-US" sz="1600" b="0" i="1" smtClean="0">
                        <a:latin typeface="Cambria Math" panose="02040503050406030204" pitchFamily="18" charset="0"/>
                      </a:rPr>
                      <m:t>𝜙</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0</m:t>
                        </m:r>
                      </m:e>
                      <m:sup>
                        <m:r>
                          <a:rPr lang="en-US" sz="1600" b="0" i="1" smtClean="0">
                            <a:latin typeface="Cambria Math" panose="02040503050406030204" pitchFamily="18" charset="0"/>
                          </a:rPr>
                          <m:t>∘</m:t>
                        </m:r>
                      </m:sup>
                    </m:sSup>
                  </m:oMath>
                </a14:m>
                <a:r>
                  <a:rPr lang="en-US" sz="1600" b="0" dirty="0"/>
                  <a:t>.</a:t>
                </a:r>
              </a:p>
              <a:p>
                <a:pPr marL="50800" indent="0">
                  <a:buNone/>
                </a:pPr>
                <a:endParaRPr lang="en-US" sz="1600" b="0" dirty="0"/>
              </a:p>
              <a:p>
                <a:pPr marL="50800" indent="0">
                  <a:buNone/>
                </a:pPr>
                <a:r>
                  <a:rPr lang="en-US" sz="1600" b="0" dirty="0"/>
                  <a:t>But, that is explainable because raw measurements capture full hemisphere, and RT-300S </a:t>
                </a:r>
                <a:r>
                  <a:rPr lang="en-US" sz="1600" b="0" dirty="0">
                    <a:sym typeface="Wingdings" panose="05000000000000000000" pitchFamily="2" charset="2"/>
                  </a:rPr>
                  <a:t> </a:t>
                </a:r>
                <a:r>
                  <a:rPr lang="en-US" sz="1600" b="0" dirty="0" err="1">
                    <a:sym typeface="Wingdings" panose="05000000000000000000" pitchFamily="2" charset="2"/>
                  </a:rPr>
                  <a:t>Zemax</a:t>
                </a:r>
                <a:r>
                  <a:rPr lang="en-US" sz="1600" b="0" dirty="0">
                    <a:sym typeface="Wingdings" panose="05000000000000000000" pitchFamily="2" charset="2"/>
                  </a:rPr>
                  <a:t> may not have averaged across XZ</a:t>
                </a:r>
                <a:r>
                  <a:rPr lang="en-US" sz="1600" b="0" dirty="0"/>
                  <a:t>.</a:t>
                </a:r>
              </a:p>
              <a:p>
                <a:pPr marL="50800" indent="0">
                  <a:buNone/>
                </a:pPr>
                <a:endParaRPr lang="en-US" sz="1600" b="0" dirty="0"/>
              </a:p>
              <a:p>
                <a:pPr marL="50800" indent="0">
                  <a:buNone/>
                </a:pPr>
                <a:r>
                  <a:rPr lang="en-US" sz="1600" b="0" dirty="0"/>
                  <a:t>But, because assuming the sample has symmetry about its XZ plane, averaging the </a:t>
                </a:r>
                <a:r>
                  <a:rPr lang="en-US" sz="1600" dirty="0">
                    <a:solidFill>
                      <a:schemeClr val="tx1"/>
                    </a:solidFill>
                    <a:highlight>
                      <a:srgbClr val="00FF00"/>
                    </a:highlight>
                  </a:rPr>
                  <a:t>(1)</a:t>
                </a:r>
                <a:r>
                  <a:rPr lang="en-US" sz="1600" b="0" dirty="0"/>
                  <a:t> and </a:t>
                </a:r>
                <a:r>
                  <a:rPr lang="en-US" sz="1600" dirty="0">
                    <a:highlight>
                      <a:srgbClr val="00FFFF"/>
                    </a:highlight>
                  </a:rPr>
                  <a:t>(2)</a:t>
                </a:r>
                <a:r>
                  <a:rPr lang="en-US" sz="1600" b="0" dirty="0"/>
                  <a:t> regions is intentional for </a:t>
                </a:r>
                <a:r>
                  <a:rPr lang="en-US" sz="1600" dirty="0"/>
                  <a:t>New</a:t>
                </a:r>
                <a:r>
                  <a:rPr lang="en-US" sz="1600" b="0" dirty="0"/>
                  <a:t>.</a:t>
                </a:r>
              </a:p>
              <a:p>
                <a:pPr marL="50800" indent="0">
                  <a:buNone/>
                </a:pPr>
                <a:endParaRPr lang="en-US" sz="1600" b="0" dirty="0"/>
              </a:p>
              <a:p>
                <a:pPr marL="50800" indent="0">
                  <a:buNone/>
                </a:pPr>
                <a:r>
                  <a:rPr lang="en-US" sz="1600" b="0" dirty="0"/>
                  <a:t>Perhaps </a:t>
                </a:r>
                <a14:m>
                  <m:oMath xmlns:m="http://schemas.openxmlformats.org/officeDocument/2006/math">
                    <m:r>
                      <a:rPr lang="en-US" sz="1600" b="0" i="1" smtClean="0">
                        <a:latin typeface="Cambria Math" panose="02040503050406030204" pitchFamily="18" charset="0"/>
                      </a:rPr>
                      <m:t>𝜙</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0</m:t>
                        </m:r>
                      </m:e>
                      <m:sup>
                        <m:r>
                          <a:rPr lang="en-US" sz="1600" b="0" i="1" smtClean="0">
                            <a:latin typeface="Cambria Math" panose="02040503050406030204" pitchFamily="18" charset="0"/>
                          </a:rPr>
                          <m:t>∘</m:t>
                        </m:r>
                      </m:sup>
                    </m:sSup>
                  </m:oMath>
                </a14:m>
                <a:r>
                  <a:rPr lang="en-US" sz="1600" b="0" dirty="0"/>
                  <a:t> of </a:t>
                </a:r>
                <a:r>
                  <a:rPr lang="en-US" sz="1600" dirty="0"/>
                  <a:t>Prior</a:t>
                </a:r>
                <a:r>
                  <a:rPr lang="en-US" sz="1600" b="0" dirty="0"/>
                  <a:t> suggests the XZ symmetry assumption is poor for the IMX455, but that is a separate issue from the data processing validation test itself.</a:t>
                </a:r>
              </a:p>
            </p:txBody>
          </p:sp>
        </mc:Choice>
        <mc:Fallback xmlns="">
          <p:sp>
            <p:nvSpPr>
              <p:cNvPr id="3" name="Text Placeholder 2">
                <a:extLst>
                  <a:ext uri="{FF2B5EF4-FFF2-40B4-BE49-F238E27FC236}">
                    <a16:creationId xmlns:a16="http://schemas.microsoft.com/office/drawing/2014/main" id="{BF763074-0B82-231E-304A-D03F67B37501}"/>
                  </a:ext>
                </a:extLst>
              </p:cNvPr>
              <p:cNvSpPr>
                <a:spLocks noGrp="1" noRot="1" noChangeAspect="1" noMove="1" noResize="1" noEditPoints="1" noAdjustHandles="1" noChangeArrowheads="1" noChangeShapeType="1" noTextEdit="1"/>
              </p:cNvSpPr>
              <p:nvPr>
                <p:ph type="body" idx="1"/>
              </p:nvPr>
            </p:nvSpPr>
            <p:spPr>
              <a:xfrm>
                <a:off x="0" y="1334500"/>
                <a:ext cx="2476158" cy="5192687"/>
              </a:xfrm>
              <a:blipFill>
                <a:blip r:embed="rId2"/>
                <a:stretch>
                  <a:fillRect r="-493"/>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2BB901A8-7651-0584-E796-7D29C0649DF0}"/>
              </a:ext>
            </a:extLst>
          </p:cNvPr>
          <p:cNvCxnSpPr/>
          <p:nvPr/>
        </p:nvCxnSpPr>
        <p:spPr>
          <a:xfrm>
            <a:off x="287867" y="884238"/>
            <a:ext cx="1143846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0AA780F0-43A1-4EF9-2CF6-5650C62B41D1}"/>
              </a:ext>
            </a:extLst>
          </p:cNvPr>
          <p:cNvPicPr>
            <a:picLocks noChangeAspect="1"/>
          </p:cNvPicPr>
          <p:nvPr/>
        </p:nvPicPr>
        <p:blipFill>
          <a:blip r:embed="rId3"/>
          <a:srcRect l="65829"/>
          <a:stretch>
            <a:fillRect/>
          </a:stretch>
        </p:blipFill>
        <p:spPr>
          <a:xfrm>
            <a:off x="4770195" y="1179248"/>
            <a:ext cx="2292404" cy="5520267"/>
          </a:xfrm>
          <a:prstGeom prst="rect">
            <a:avLst/>
          </a:prstGeom>
        </p:spPr>
      </p:pic>
      <p:pic>
        <p:nvPicPr>
          <p:cNvPr id="13" name="Picture 12">
            <a:extLst>
              <a:ext uri="{FF2B5EF4-FFF2-40B4-BE49-F238E27FC236}">
                <a16:creationId xmlns:a16="http://schemas.microsoft.com/office/drawing/2014/main" id="{CDEB4E7F-64D9-4A61-7570-92B72E349B99}"/>
              </a:ext>
            </a:extLst>
          </p:cNvPr>
          <p:cNvPicPr>
            <a:picLocks noChangeAspect="1"/>
          </p:cNvPicPr>
          <p:nvPr/>
        </p:nvPicPr>
        <p:blipFill>
          <a:blip r:embed="rId3"/>
          <a:srcRect r="65829"/>
          <a:stretch>
            <a:fillRect/>
          </a:stretch>
        </p:blipFill>
        <p:spPr>
          <a:xfrm>
            <a:off x="2477792" y="1179248"/>
            <a:ext cx="2292403" cy="5520267"/>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373780A-D01E-A3DF-38CD-1183A15B1DC7}"/>
                  </a:ext>
                </a:extLst>
              </p:cNvPr>
              <p:cNvSpPr txBox="1"/>
              <p:nvPr/>
            </p:nvSpPr>
            <p:spPr>
              <a:xfrm>
                <a:off x="5775824"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𝟑𝟎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15" name="TextBox 14">
                <a:extLst>
                  <a:ext uri="{FF2B5EF4-FFF2-40B4-BE49-F238E27FC236}">
                    <a16:creationId xmlns:a16="http://schemas.microsoft.com/office/drawing/2014/main" id="{2373780A-D01E-A3DF-38CD-1183A15B1DC7}"/>
                  </a:ext>
                </a:extLst>
              </p:cNvPr>
              <p:cNvSpPr txBox="1">
                <a:spLocks noRot="1" noChangeAspect="1" noMove="1" noResize="1" noEditPoints="1" noAdjustHandles="1" noChangeArrowheads="1" noChangeShapeType="1" noTextEdit="1"/>
              </p:cNvSpPr>
              <p:nvPr/>
            </p:nvSpPr>
            <p:spPr>
              <a:xfrm>
                <a:off x="5775824" y="3373981"/>
                <a:ext cx="940490" cy="338554"/>
              </a:xfrm>
              <a:prstGeom prst="rect">
                <a:avLst/>
              </a:prstGeom>
              <a:blipFill>
                <a:blip r:embed="rId4"/>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317CF54-3073-3A7D-B575-96623FCDC155}"/>
                  </a:ext>
                </a:extLst>
              </p:cNvPr>
              <p:cNvSpPr txBox="1"/>
              <p:nvPr/>
            </p:nvSpPr>
            <p:spPr>
              <a:xfrm>
                <a:off x="3768764"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𝟔𝟎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16" name="TextBox 15">
                <a:extLst>
                  <a:ext uri="{FF2B5EF4-FFF2-40B4-BE49-F238E27FC236}">
                    <a16:creationId xmlns:a16="http://schemas.microsoft.com/office/drawing/2014/main" id="{3317CF54-3073-3A7D-B575-96623FCDC155}"/>
                  </a:ext>
                </a:extLst>
              </p:cNvPr>
              <p:cNvSpPr txBox="1">
                <a:spLocks noRot="1" noChangeAspect="1" noMove="1" noResize="1" noEditPoints="1" noAdjustHandles="1" noChangeArrowheads="1" noChangeShapeType="1" noTextEdit="1"/>
              </p:cNvSpPr>
              <p:nvPr/>
            </p:nvSpPr>
            <p:spPr>
              <a:xfrm>
                <a:off x="3768764" y="6188635"/>
                <a:ext cx="940490" cy="338554"/>
              </a:xfrm>
              <a:prstGeom prst="rect">
                <a:avLst/>
              </a:prstGeom>
              <a:blipFill>
                <a:blip r:embed="rId5"/>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BFF463C-0B8A-B180-50BF-642AFC6BBD4D}"/>
                  </a:ext>
                </a:extLst>
              </p:cNvPr>
              <p:cNvSpPr txBox="1"/>
              <p:nvPr/>
            </p:nvSpPr>
            <p:spPr>
              <a:xfrm>
                <a:off x="5775824"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𝟗𝟎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17" name="TextBox 16">
                <a:extLst>
                  <a:ext uri="{FF2B5EF4-FFF2-40B4-BE49-F238E27FC236}">
                    <a16:creationId xmlns:a16="http://schemas.microsoft.com/office/drawing/2014/main" id="{7BFF463C-0B8A-B180-50BF-642AFC6BBD4D}"/>
                  </a:ext>
                </a:extLst>
              </p:cNvPr>
              <p:cNvSpPr txBox="1">
                <a:spLocks noRot="1" noChangeAspect="1" noMove="1" noResize="1" noEditPoints="1" noAdjustHandles="1" noChangeArrowheads="1" noChangeShapeType="1" noTextEdit="1"/>
              </p:cNvSpPr>
              <p:nvPr/>
            </p:nvSpPr>
            <p:spPr>
              <a:xfrm>
                <a:off x="5775824" y="6188635"/>
                <a:ext cx="940490" cy="338554"/>
              </a:xfrm>
              <a:prstGeom prst="rect">
                <a:avLst/>
              </a:prstGeom>
              <a:blipFill>
                <a:blip r:embed="rId6"/>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B8608A-F40F-431D-BCE6-82506B014C97}"/>
                  </a:ext>
                </a:extLst>
              </p:cNvPr>
              <p:cNvSpPr txBox="1"/>
              <p:nvPr/>
            </p:nvSpPr>
            <p:spPr>
              <a:xfrm>
                <a:off x="3768764"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18" name="TextBox 17">
                <a:extLst>
                  <a:ext uri="{FF2B5EF4-FFF2-40B4-BE49-F238E27FC236}">
                    <a16:creationId xmlns:a16="http://schemas.microsoft.com/office/drawing/2014/main" id="{42B8608A-F40F-431D-BCE6-82506B014C97}"/>
                  </a:ext>
                </a:extLst>
              </p:cNvPr>
              <p:cNvSpPr txBox="1">
                <a:spLocks noRot="1" noChangeAspect="1" noMove="1" noResize="1" noEditPoints="1" noAdjustHandles="1" noChangeArrowheads="1" noChangeShapeType="1" noTextEdit="1"/>
              </p:cNvSpPr>
              <p:nvPr/>
            </p:nvSpPr>
            <p:spPr>
              <a:xfrm>
                <a:off x="3768764" y="3373981"/>
                <a:ext cx="940490" cy="338554"/>
              </a:xfrm>
              <a:prstGeom prst="rect">
                <a:avLst/>
              </a:prstGeom>
              <a:blipFill>
                <a:blip r:embed="rId7"/>
                <a:stretch>
                  <a:fillRect b="-8621"/>
                </a:stretch>
              </a:blipFill>
              <a:ln>
                <a:solidFill>
                  <a:schemeClr val="bg2"/>
                </a:solidFill>
              </a:ln>
            </p:spPr>
            <p:txBody>
              <a:bodyPr/>
              <a:lstStyle/>
              <a:p>
                <a:r>
                  <a:rPr lang="en-US">
                    <a:noFill/>
                  </a:rPr>
                  <a:t> </a:t>
                </a:r>
              </a:p>
            </p:txBody>
          </p:sp>
        </mc:Fallback>
      </mc:AlternateContent>
      <p:sp>
        <p:nvSpPr>
          <p:cNvPr id="20" name="TextBox 19">
            <a:extLst>
              <a:ext uri="{FF2B5EF4-FFF2-40B4-BE49-F238E27FC236}">
                <a16:creationId xmlns:a16="http://schemas.microsoft.com/office/drawing/2014/main" id="{2DB85EED-25CA-99FE-4207-62B10CB0D345}"/>
              </a:ext>
            </a:extLst>
          </p:cNvPr>
          <p:cNvSpPr txBox="1"/>
          <p:nvPr/>
        </p:nvSpPr>
        <p:spPr>
          <a:xfrm>
            <a:off x="2477791" y="1154093"/>
            <a:ext cx="1255231" cy="523220"/>
          </a:xfrm>
          <a:prstGeom prst="rect">
            <a:avLst/>
          </a:prstGeom>
          <a:solidFill>
            <a:schemeClr val="accent2"/>
          </a:solidFill>
          <a:ln w="38100">
            <a:solidFill>
              <a:schemeClr val="bg2"/>
            </a:solidFill>
          </a:ln>
        </p:spPr>
        <p:txBody>
          <a:bodyPr wrap="square" rtlCol="0">
            <a:spAutoFit/>
          </a:bodyPr>
          <a:lstStyle/>
          <a:p>
            <a:pPr algn="ctr"/>
            <a:r>
              <a:rPr lang="en-US" sz="2800" b="1" dirty="0">
                <a:solidFill>
                  <a:schemeClr val="bg2"/>
                </a:solidFill>
              </a:rPr>
              <a:t>Prior</a:t>
            </a:r>
          </a:p>
        </p:txBody>
      </p:sp>
      <p:sp>
        <p:nvSpPr>
          <p:cNvPr id="21" name="Rectangle 20">
            <a:extLst>
              <a:ext uri="{FF2B5EF4-FFF2-40B4-BE49-F238E27FC236}">
                <a16:creationId xmlns:a16="http://schemas.microsoft.com/office/drawing/2014/main" id="{6418F5DF-7EE2-9415-3519-3335BC5580B4}"/>
              </a:ext>
            </a:extLst>
          </p:cNvPr>
          <p:cNvSpPr/>
          <p:nvPr/>
        </p:nvSpPr>
        <p:spPr>
          <a:xfrm>
            <a:off x="2477790" y="1154093"/>
            <a:ext cx="4584808" cy="5570569"/>
          </a:xfrm>
          <a:prstGeom prst="rect">
            <a:avLst/>
          </a:prstGeom>
          <a:no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443DAB0F-DEB2-8C72-B78B-2D4D09536E2B}"/>
              </a:ext>
            </a:extLst>
          </p:cNvPr>
          <p:cNvPicPr>
            <a:picLocks noChangeAspect="1"/>
          </p:cNvPicPr>
          <p:nvPr/>
        </p:nvPicPr>
        <p:blipFill>
          <a:blip r:embed="rId8"/>
          <a:srcRect r="5391"/>
          <a:stretch>
            <a:fillRect/>
          </a:stretch>
        </p:blipFill>
        <p:spPr>
          <a:xfrm>
            <a:off x="7248564" y="1154094"/>
            <a:ext cx="2292402" cy="5570568"/>
          </a:xfrm>
          <a:prstGeom prst="rect">
            <a:avLst/>
          </a:prstGeom>
        </p:spPr>
      </p:pic>
      <p:pic>
        <p:nvPicPr>
          <p:cNvPr id="25" name="Picture 24">
            <a:extLst>
              <a:ext uri="{FF2B5EF4-FFF2-40B4-BE49-F238E27FC236}">
                <a16:creationId xmlns:a16="http://schemas.microsoft.com/office/drawing/2014/main" id="{C3AB63FE-C27B-581F-1F3D-DA08FD8157DB}"/>
              </a:ext>
            </a:extLst>
          </p:cNvPr>
          <p:cNvPicPr>
            <a:picLocks noChangeAspect="1"/>
          </p:cNvPicPr>
          <p:nvPr/>
        </p:nvPicPr>
        <p:blipFill>
          <a:blip r:embed="rId9"/>
          <a:stretch>
            <a:fillRect/>
          </a:stretch>
        </p:blipFill>
        <p:spPr>
          <a:xfrm>
            <a:off x="9542051" y="1154092"/>
            <a:ext cx="2302818" cy="5570569"/>
          </a:xfrm>
          <a:prstGeom prst="rect">
            <a:avLst/>
          </a:prstGeom>
        </p:spPr>
      </p:pic>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BAD79FF-2F87-7D60-FE91-514D8FBCDBB6}"/>
                  </a:ext>
                </a:extLst>
              </p:cNvPr>
              <p:cNvSpPr txBox="1"/>
              <p:nvPr/>
            </p:nvSpPr>
            <p:spPr>
              <a:xfrm>
                <a:off x="10533997"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𝟑𝟎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28" name="TextBox 27">
                <a:extLst>
                  <a:ext uri="{FF2B5EF4-FFF2-40B4-BE49-F238E27FC236}">
                    <a16:creationId xmlns:a16="http://schemas.microsoft.com/office/drawing/2014/main" id="{6BAD79FF-2F87-7D60-FE91-514D8FBCDBB6}"/>
                  </a:ext>
                </a:extLst>
              </p:cNvPr>
              <p:cNvSpPr txBox="1">
                <a:spLocks noRot="1" noChangeAspect="1" noMove="1" noResize="1" noEditPoints="1" noAdjustHandles="1" noChangeArrowheads="1" noChangeShapeType="1" noTextEdit="1"/>
              </p:cNvSpPr>
              <p:nvPr/>
            </p:nvSpPr>
            <p:spPr>
              <a:xfrm>
                <a:off x="10533997" y="3373981"/>
                <a:ext cx="940490" cy="338554"/>
              </a:xfrm>
              <a:prstGeom prst="rect">
                <a:avLst/>
              </a:prstGeom>
              <a:blipFill>
                <a:blip r:embed="rId10"/>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80D3E44-63D1-3619-74B9-CDA9F80C8A0A}"/>
                  </a:ext>
                </a:extLst>
              </p:cNvPr>
              <p:cNvSpPr txBox="1"/>
              <p:nvPr/>
            </p:nvSpPr>
            <p:spPr>
              <a:xfrm>
                <a:off x="8526937"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𝟔𝟎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29" name="TextBox 28">
                <a:extLst>
                  <a:ext uri="{FF2B5EF4-FFF2-40B4-BE49-F238E27FC236}">
                    <a16:creationId xmlns:a16="http://schemas.microsoft.com/office/drawing/2014/main" id="{780D3E44-63D1-3619-74B9-CDA9F80C8A0A}"/>
                  </a:ext>
                </a:extLst>
              </p:cNvPr>
              <p:cNvSpPr txBox="1">
                <a:spLocks noRot="1" noChangeAspect="1" noMove="1" noResize="1" noEditPoints="1" noAdjustHandles="1" noChangeArrowheads="1" noChangeShapeType="1" noTextEdit="1"/>
              </p:cNvSpPr>
              <p:nvPr/>
            </p:nvSpPr>
            <p:spPr>
              <a:xfrm>
                <a:off x="8526937" y="6188635"/>
                <a:ext cx="940490" cy="338554"/>
              </a:xfrm>
              <a:prstGeom prst="rect">
                <a:avLst/>
              </a:prstGeom>
              <a:blipFill>
                <a:blip r:embed="rId11"/>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41BC17F-B897-57B0-2C6E-38852D36817B}"/>
                  </a:ext>
                </a:extLst>
              </p:cNvPr>
              <p:cNvSpPr txBox="1"/>
              <p:nvPr/>
            </p:nvSpPr>
            <p:spPr>
              <a:xfrm>
                <a:off x="10533997"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𝟗𝟎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30" name="TextBox 29">
                <a:extLst>
                  <a:ext uri="{FF2B5EF4-FFF2-40B4-BE49-F238E27FC236}">
                    <a16:creationId xmlns:a16="http://schemas.microsoft.com/office/drawing/2014/main" id="{A41BC17F-B897-57B0-2C6E-38852D36817B}"/>
                  </a:ext>
                </a:extLst>
              </p:cNvPr>
              <p:cNvSpPr txBox="1">
                <a:spLocks noRot="1" noChangeAspect="1" noMove="1" noResize="1" noEditPoints="1" noAdjustHandles="1" noChangeArrowheads="1" noChangeShapeType="1" noTextEdit="1"/>
              </p:cNvSpPr>
              <p:nvPr/>
            </p:nvSpPr>
            <p:spPr>
              <a:xfrm>
                <a:off x="10533997" y="6188635"/>
                <a:ext cx="940490" cy="338554"/>
              </a:xfrm>
              <a:prstGeom prst="rect">
                <a:avLst/>
              </a:prstGeom>
              <a:blipFill>
                <a:blip r:embed="rId12"/>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D53095D-6979-0C93-48FB-442E8A73788E}"/>
                  </a:ext>
                </a:extLst>
              </p:cNvPr>
              <p:cNvSpPr txBox="1"/>
              <p:nvPr/>
            </p:nvSpPr>
            <p:spPr>
              <a:xfrm>
                <a:off x="8526937"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31" name="TextBox 30">
                <a:extLst>
                  <a:ext uri="{FF2B5EF4-FFF2-40B4-BE49-F238E27FC236}">
                    <a16:creationId xmlns:a16="http://schemas.microsoft.com/office/drawing/2014/main" id="{3D53095D-6979-0C93-48FB-442E8A73788E}"/>
                  </a:ext>
                </a:extLst>
              </p:cNvPr>
              <p:cNvSpPr txBox="1">
                <a:spLocks noRot="1" noChangeAspect="1" noMove="1" noResize="1" noEditPoints="1" noAdjustHandles="1" noChangeArrowheads="1" noChangeShapeType="1" noTextEdit="1"/>
              </p:cNvSpPr>
              <p:nvPr/>
            </p:nvSpPr>
            <p:spPr>
              <a:xfrm>
                <a:off x="8526937" y="3373981"/>
                <a:ext cx="940490" cy="338554"/>
              </a:xfrm>
              <a:prstGeom prst="rect">
                <a:avLst/>
              </a:prstGeom>
              <a:blipFill>
                <a:blip r:embed="rId13"/>
                <a:stretch>
                  <a:fillRect b="-8621"/>
                </a:stretch>
              </a:blipFill>
              <a:ln>
                <a:solidFill>
                  <a:schemeClr val="bg2"/>
                </a:solidFill>
              </a:ln>
            </p:spPr>
            <p:txBody>
              <a:bodyPr/>
              <a:lstStyle/>
              <a:p>
                <a:r>
                  <a:rPr lang="en-US">
                    <a:noFill/>
                  </a:rPr>
                  <a:t> </a:t>
                </a:r>
              </a:p>
            </p:txBody>
          </p:sp>
        </mc:Fallback>
      </mc:AlternateContent>
      <p:sp>
        <p:nvSpPr>
          <p:cNvPr id="32" name="TextBox 31">
            <a:extLst>
              <a:ext uri="{FF2B5EF4-FFF2-40B4-BE49-F238E27FC236}">
                <a16:creationId xmlns:a16="http://schemas.microsoft.com/office/drawing/2014/main" id="{05209A5D-2BF9-23E0-2303-3BC3EBA6B79E}"/>
              </a:ext>
            </a:extLst>
          </p:cNvPr>
          <p:cNvSpPr txBox="1"/>
          <p:nvPr/>
        </p:nvSpPr>
        <p:spPr>
          <a:xfrm>
            <a:off x="7235964" y="1154093"/>
            <a:ext cx="1255231" cy="523220"/>
          </a:xfrm>
          <a:prstGeom prst="rect">
            <a:avLst/>
          </a:prstGeom>
          <a:solidFill>
            <a:schemeClr val="accent2"/>
          </a:solidFill>
          <a:ln w="38100">
            <a:solidFill>
              <a:schemeClr val="bg2"/>
            </a:solidFill>
          </a:ln>
        </p:spPr>
        <p:txBody>
          <a:bodyPr wrap="square" rtlCol="0">
            <a:spAutoFit/>
          </a:bodyPr>
          <a:lstStyle/>
          <a:p>
            <a:pPr algn="ctr"/>
            <a:r>
              <a:rPr lang="en-US" sz="2800" b="1" dirty="0">
                <a:solidFill>
                  <a:schemeClr val="bg2"/>
                </a:solidFill>
              </a:rPr>
              <a:t>New</a:t>
            </a:r>
          </a:p>
        </p:txBody>
      </p:sp>
      <p:cxnSp>
        <p:nvCxnSpPr>
          <p:cNvPr id="34" name="Straight Connector 33">
            <a:extLst>
              <a:ext uri="{FF2B5EF4-FFF2-40B4-BE49-F238E27FC236}">
                <a16:creationId xmlns:a16="http://schemas.microsoft.com/office/drawing/2014/main" id="{4D559C0B-2D67-3B4E-FB32-64AB99F936CD}"/>
              </a:ext>
            </a:extLst>
          </p:cNvPr>
          <p:cNvCxnSpPr>
            <a:cxnSpLocks/>
            <a:stCxn id="26" idx="0"/>
            <a:endCxn id="26" idx="2"/>
          </p:cNvCxnSpPr>
          <p:nvPr/>
        </p:nvCxnSpPr>
        <p:spPr>
          <a:xfrm>
            <a:off x="9540417" y="1151474"/>
            <a:ext cx="0" cy="559834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1D4A5BAE-4B48-23F4-DB1B-8C50C29A9652}"/>
              </a:ext>
            </a:extLst>
          </p:cNvPr>
          <p:cNvSpPr/>
          <p:nvPr/>
        </p:nvSpPr>
        <p:spPr>
          <a:xfrm>
            <a:off x="7235965" y="1151474"/>
            <a:ext cx="4608904" cy="5598342"/>
          </a:xfrm>
          <a:prstGeom prst="rect">
            <a:avLst/>
          </a:prstGeom>
          <a:no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Chord 37">
            <a:extLst>
              <a:ext uri="{FF2B5EF4-FFF2-40B4-BE49-F238E27FC236}">
                <a16:creationId xmlns:a16="http://schemas.microsoft.com/office/drawing/2014/main" id="{7B43F724-1311-C158-0A6C-3A69573B8AA9}"/>
              </a:ext>
            </a:extLst>
          </p:cNvPr>
          <p:cNvSpPr>
            <a:spLocks noChangeAspect="1"/>
          </p:cNvSpPr>
          <p:nvPr/>
        </p:nvSpPr>
        <p:spPr>
          <a:xfrm>
            <a:off x="2578403" y="1624225"/>
            <a:ext cx="1733076" cy="1733076"/>
          </a:xfrm>
          <a:prstGeom prst="chord">
            <a:avLst>
              <a:gd name="adj1" fmla="val 5325818"/>
              <a:gd name="adj2" fmla="val 16200000"/>
            </a:avLst>
          </a:prstGeom>
          <a:solidFill>
            <a:srgbClr val="00FF00">
              <a:alpha val="20000"/>
            </a:srgbClr>
          </a:solidFill>
          <a:ln w="3810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Chord 38">
            <a:extLst>
              <a:ext uri="{FF2B5EF4-FFF2-40B4-BE49-F238E27FC236}">
                <a16:creationId xmlns:a16="http://schemas.microsoft.com/office/drawing/2014/main" id="{C34DAFDA-4518-B5E9-60D6-D2391C7FE8AA}"/>
              </a:ext>
            </a:extLst>
          </p:cNvPr>
          <p:cNvSpPr>
            <a:spLocks noChangeAspect="1"/>
          </p:cNvSpPr>
          <p:nvPr/>
        </p:nvSpPr>
        <p:spPr>
          <a:xfrm rot="10800000">
            <a:off x="2637105" y="1632565"/>
            <a:ext cx="1733076" cy="1733076"/>
          </a:xfrm>
          <a:prstGeom prst="chord">
            <a:avLst>
              <a:gd name="adj1" fmla="val 5325818"/>
              <a:gd name="adj2" fmla="val 16200000"/>
            </a:avLst>
          </a:prstGeom>
          <a:solidFill>
            <a:srgbClr val="33CCFF">
              <a:alpha val="20000"/>
            </a:srgbClr>
          </a:solidFill>
          <a:ln w="38100">
            <a:solidFill>
              <a:srgbClr val="33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46E12FF-316C-9F2B-1A6D-778FB3FFEB2F}"/>
                  </a:ext>
                </a:extLst>
              </p:cNvPr>
              <p:cNvSpPr txBox="1"/>
              <p:nvPr/>
            </p:nvSpPr>
            <p:spPr>
              <a:xfrm>
                <a:off x="8916284" y="1215648"/>
                <a:ext cx="1255231" cy="461665"/>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𝟏𝟎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40" name="TextBox 39">
                <a:extLst>
                  <a:ext uri="{FF2B5EF4-FFF2-40B4-BE49-F238E27FC236}">
                    <a16:creationId xmlns:a16="http://schemas.microsoft.com/office/drawing/2014/main" id="{846E12FF-316C-9F2B-1A6D-778FB3FFEB2F}"/>
                  </a:ext>
                </a:extLst>
              </p:cNvPr>
              <p:cNvSpPr txBox="1">
                <a:spLocks noRot="1" noChangeAspect="1" noMove="1" noResize="1" noEditPoints="1" noAdjustHandles="1" noChangeArrowheads="1" noChangeShapeType="1" noTextEdit="1"/>
              </p:cNvSpPr>
              <p:nvPr/>
            </p:nvSpPr>
            <p:spPr>
              <a:xfrm>
                <a:off x="8916284" y="1215648"/>
                <a:ext cx="1255231" cy="461665"/>
              </a:xfrm>
              <a:prstGeom prst="rect">
                <a:avLst/>
              </a:prstGeom>
              <a:blipFill>
                <a:blip r:embed="rId14"/>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6FC6670-19CB-E254-1346-D286AFC9182D}"/>
                  </a:ext>
                </a:extLst>
              </p:cNvPr>
              <p:cNvSpPr txBox="1"/>
              <p:nvPr/>
            </p:nvSpPr>
            <p:spPr>
              <a:xfrm>
                <a:off x="4142579" y="1215648"/>
                <a:ext cx="1255231" cy="461665"/>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𝟏𝟎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41" name="TextBox 40">
                <a:extLst>
                  <a:ext uri="{FF2B5EF4-FFF2-40B4-BE49-F238E27FC236}">
                    <a16:creationId xmlns:a16="http://schemas.microsoft.com/office/drawing/2014/main" id="{16FC6670-19CB-E254-1346-D286AFC9182D}"/>
                  </a:ext>
                </a:extLst>
              </p:cNvPr>
              <p:cNvSpPr txBox="1">
                <a:spLocks noRot="1" noChangeAspect="1" noMove="1" noResize="1" noEditPoints="1" noAdjustHandles="1" noChangeArrowheads="1" noChangeShapeType="1" noTextEdit="1"/>
              </p:cNvSpPr>
              <p:nvPr/>
            </p:nvSpPr>
            <p:spPr>
              <a:xfrm>
                <a:off x="4142579" y="1215648"/>
                <a:ext cx="1255231" cy="461665"/>
              </a:xfrm>
              <a:prstGeom prst="rect">
                <a:avLst/>
              </a:prstGeom>
              <a:blipFill>
                <a:blip r:embed="rId15"/>
                <a:stretch>
                  <a:fillRect/>
                </a:stretch>
              </a:blipFill>
              <a:ln>
                <a:solidFill>
                  <a:schemeClr val="bg2"/>
                </a:solidFill>
              </a:ln>
            </p:spPr>
            <p:txBody>
              <a:bodyPr/>
              <a:lstStyle/>
              <a:p>
                <a:r>
                  <a:rPr lang="en-US">
                    <a:noFill/>
                  </a:rPr>
                  <a:t> </a:t>
                </a:r>
              </a:p>
            </p:txBody>
          </p:sp>
        </mc:Fallback>
      </mc:AlternateContent>
    </p:spTree>
    <p:extLst>
      <p:ext uri="{BB962C8B-B14F-4D97-AF65-F5344CB8AC3E}">
        <p14:creationId xmlns:p14="http://schemas.microsoft.com/office/powerpoint/2010/main" val="78379311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DE1B2-971B-EE34-EAE9-187EBA4EE172}"/>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98EE9E50-1A89-1181-D0E0-23AAC45521EF}"/>
              </a:ext>
            </a:extLst>
          </p:cNvPr>
          <p:cNvPicPr>
            <a:picLocks noChangeAspect="1"/>
          </p:cNvPicPr>
          <p:nvPr/>
        </p:nvPicPr>
        <p:blipFill>
          <a:blip r:embed="rId2"/>
          <a:stretch>
            <a:fillRect/>
          </a:stretch>
        </p:blipFill>
        <p:spPr>
          <a:xfrm>
            <a:off x="7241183" y="1151472"/>
            <a:ext cx="2354667" cy="5598341"/>
          </a:xfrm>
          <a:prstGeom prst="rect">
            <a:avLst/>
          </a:prstGeom>
        </p:spPr>
      </p:pic>
      <p:pic>
        <p:nvPicPr>
          <p:cNvPr id="33" name="Picture 32">
            <a:extLst>
              <a:ext uri="{FF2B5EF4-FFF2-40B4-BE49-F238E27FC236}">
                <a16:creationId xmlns:a16="http://schemas.microsoft.com/office/drawing/2014/main" id="{99BD0933-A292-2105-48B2-FC91D144B411}"/>
              </a:ext>
            </a:extLst>
          </p:cNvPr>
          <p:cNvPicPr>
            <a:picLocks noChangeAspect="1"/>
          </p:cNvPicPr>
          <p:nvPr/>
        </p:nvPicPr>
        <p:blipFill>
          <a:blip r:embed="rId3"/>
          <a:stretch>
            <a:fillRect/>
          </a:stretch>
        </p:blipFill>
        <p:spPr>
          <a:xfrm>
            <a:off x="9524795" y="1151474"/>
            <a:ext cx="2320074" cy="5570563"/>
          </a:xfrm>
          <a:prstGeom prst="rect">
            <a:avLst/>
          </a:prstGeom>
        </p:spPr>
      </p:pic>
      <p:pic>
        <p:nvPicPr>
          <p:cNvPr id="8" name="Picture 7">
            <a:extLst>
              <a:ext uri="{FF2B5EF4-FFF2-40B4-BE49-F238E27FC236}">
                <a16:creationId xmlns:a16="http://schemas.microsoft.com/office/drawing/2014/main" id="{B50ACC5E-4F0F-B62D-3606-E74E1BE135B5}"/>
              </a:ext>
            </a:extLst>
          </p:cNvPr>
          <p:cNvPicPr>
            <a:picLocks noChangeAspect="1"/>
          </p:cNvPicPr>
          <p:nvPr/>
        </p:nvPicPr>
        <p:blipFill>
          <a:blip r:embed="rId4"/>
          <a:srcRect l="65872"/>
          <a:stretch>
            <a:fillRect/>
          </a:stretch>
        </p:blipFill>
        <p:spPr>
          <a:xfrm>
            <a:off x="4749307" y="1151474"/>
            <a:ext cx="2313292" cy="5570564"/>
          </a:xfrm>
          <a:prstGeom prst="rect">
            <a:avLst/>
          </a:prstGeom>
        </p:spPr>
      </p:pic>
      <p:pic>
        <p:nvPicPr>
          <p:cNvPr id="7" name="Picture 6">
            <a:extLst>
              <a:ext uri="{FF2B5EF4-FFF2-40B4-BE49-F238E27FC236}">
                <a16:creationId xmlns:a16="http://schemas.microsoft.com/office/drawing/2014/main" id="{4F60D7C4-20A6-847D-BA1C-9386EB70B532}"/>
              </a:ext>
            </a:extLst>
          </p:cNvPr>
          <p:cNvPicPr>
            <a:picLocks noChangeAspect="1"/>
          </p:cNvPicPr>
          <p:nvPr/>
        </p:nvPicPr>
        <p:blipFill>
          <a:blip r:embed="rId4"/>
          <a:srcRect l="649" r="65223"/>
          <a:stretch>
            <a:fillRect/>
          </a:stretch>
        </p:blipFill>
        <p:spPr>
          <a:xfrm>
            <a:off x="2476157" y="1151474"/>
            <a:ext cx="2313293" cy="5570567"/>
          </a:xfrm>
          <a:prstGeom prst="rect">
            <a:avLst/>
          </a:prstGeom>
        </p:spPr>
      </p:pic>
      <p:sp>
        <p:nvSpPr>
          <p:cNvPr id="2" name="Title 1">
            <a:extLst>
              <a:ext uri="{FF2B5EF4-FFF2-40B4-BE49-F238E27FC236}">
                <a16:creationId xmlns:a16="http://schemas.microsoft.com/office/drawing/2014/main" id="{92B198B7-E281-8AFB-1E56-9AC40FF4D18E}"/>
              </a:ext>
            </a:extLst>
          </p:cNvPr>
          <p:cNvSpPr>
            <a:spLocks noGrp="1"/>
          </p:cNvSpPr>
          <p:nvPr>
            <p:ph type="title"/>
          </p:nvPr>
        </p:nvSpPr>
        <p:spPr>
          <a:xfrm>
            <a:off x="609599" y="152718"/>
            <a:ext cx="9011323" cy="731520"/>
          </a:xfrm>
        </p:spPr>
        <p:txBody>
          <a:bodyPr>
            <a:normAutofit fontScale="90000"/>
          </a:bodyPr>
          <a:lstStyle/>
          <a:p>
            <a:r>
              <a:rPr lang="en-US" dirty="0"/>
              <a:t>Validation test of anisotropic FRED</a:t>
            </a:r>
            <a:br>
              <a:rPr lang="en-US" dirty="0"/>
            </a:br>
            <a:r>
              <a:rPr lang="en-US" sz="2000" dirty="0"/>
              <a:t>(recall prior IMX455 </a:t>
            </a:r>
            <a:r>
              <a:rPr lang="en-US" sz="2000" dirty="0" err="1"/>
              <a:t>Zemax</a:t>
            </a:r>
            <a:r>
              <a:rPr lang="en-US" sz="2000" dirty="0"/>
              <a:t> plots)</a:t>
            </a:r>
            <a:endParaRPr lang="en-US" dirty="0"/>
          </a:p>
        </p:txBody>
      </p:sp>
      <p:cxnSp>
        <p:nvCxnSpPr>
          <p:cNvPr id="5" name="Straight Connector 4">
            <a:extLst>
              <a:ext uri="{FF2B5EF4-FFF2-40B4-BE49-F238E27FC236}">
                <a16:creationId xmlns:a16="http://schemas.microsoft.com/office/drawing/2014/main" id="{B2779232-31FF-5A56-1C8C-3B09D8B40D66}"/>
              </a:ext>
            </a:extLst>
          </p:cNvPr>
          <p:cNvCxnSpPr/>
          <p:nvPr/>
        </p:nvCxnSpPr>
        <p:spPr>
          <a:xfrm>
            <a:off x="287867" y="884238"/>
            <a:ext cx="1143846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B4D6200-A93A-18D7-4535-E19D230D0DB7}"/>
                  </a:ext>
                </a:extLst>
              </p:cNvPr>
              <p:cNvSpPr txBox="1"/>
              <p:nvPr/>
            </p:nvSpPr>
            <p:spPr>
              <a:xfrm>
                <a:off x="5775824"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𝟑𝟎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15" name="TextBox 14">
                <a:extLst>
                  <a:ext uri="{FF2B5EF4-FFF2-40B4-BE49-F238E27FC236}">
                    <a16:creationId xmlns:a16="http://schemas.microsoft.com/office/drawing/2014/main" id="{8B4D6200-A93A-18D7-4535-E19D230D0DB7}"/>
                  </a:ext>
                </a:extLst>
              </p:cNvPr>
              <p:cNvSpPr txBox="1">
                <a:spLocks noRot="1" noChangeAspect="1" noMove="1" noResize="1" noEditPoints="1" noAdjustHandles="1" noChangeArrowheads="1" noChangeShapeType="1" noTextEdit="1"/>
              </p:cNvSpPr>
              <p:nvPr/>
            </p:nvSpPr>
            <p:spPr>
              <a:xfrm>
                <a:off x="5775824" y="3373981"/>
                <a:ext cx="940490" cy="338554"/>
              </a:xfrm>
              <a:prstGeom prst="rect">
                <a:avLst/>
              </a:prstGeom>
              <a:blipFill>
                <a:blip r:embed="rId5"/>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0D79EE4-6961-F880-342D-6F03CF4D2DA7}"/>
                  </a:ext>
                </a:extLst>
              </p:cNvPr>
              <p:cNvSpPr txBox="1"/>
              <p:nvPr/>
            </p:nvSpPr>
            <p:spPr>
              <a:xfrm>
                <a:off x="3768764"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𝟔𝟎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16" name="TextBox 15">
                <a:extLst>
                  <a:ext uri="{FF2B5EF4-FFF2-40B4-BE49-F238E27FC236}">
                    <a16:creationId xmlns:a16="http://schemas.microsoft.com/office/drawing/2014/main" id="{E0D79EE4-6961-F880-342D-6F03CF4D2DA7}"/>
                  </a:ext>
                </a:extLst>
              </p:cNvPr>
              <p:cNvSpPr txBox="1">
                <a:spLocks noRot="1" noChangeAspect="1" noMove="1" noResize="1" noEditPoints="1" noAdjustHandles="1" noChangeArrowheads="1" noChangeShapeType="1" noTextEdit="1"/>
              </p:cNvSpPr>
              <p:nvPr/>
            </p:nvSpPr>
            <p:spPr>
              <a:xfrm>
                <a:off x="3768764" y="6188635"/>
                <a:ext cx="940490" cy="338554"/>
              </a:xfrm>
              <a:prstGeom prst="rect">
                <a:avLst/>
              </a:prstGeom>
              <a:blipFill>
                <a:blip r:embed="rId6"/>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EF75BA9-9C66-C638-1F9A-BEB6593C5CEA}"/>
                  </a:ext>
                </a:extLst>
              </p:cNvPr>
              <p:cNvSpPr txBox="1"/>
              <p:nvPr/>
            </p:nvSpPr>
            <p:spPr>
              <a:xfrm>
                <a:off x="5775824"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𝟗𝟎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17" name="TextBox 16">
                <a:extLst>
                  <a:ext uri="{FF2B5EF4-FFF2-40B4-BE49-F238E27FC236}">
                    <a16:creationId xmlns:a16="http://schemas.microsoft.com/office/drawing/2014/main" id="{1EF75BA9-9C66-C638-1F9A-BEB6593C5CEA}"/>
                  </a:ext>
                </a:extLst>
              </p:cNvPr>
              <p:cNvSpPr txBox="1">
                <a:spLocks noRot="1" noChangeAspect="1" noMove="1" noResize="1" noEditPoints="1" noAdjustHandles="1" noChangeArrowheads="1" noChangeShapeType="1" noTextEdit="1"/>
              </p:cNvSpPr>
              <p:nvPr/>
            </p:nvSpPr>
            <p:spPr>
              <a:xfrm>
                <a:off x="5775824" y="6188635"/>
                <a:ext cx="940490" cy="338554"/>
              </a:xfrm>
              <a:prstGeom prst="rect">
                <a:avLst/>
              </a:prstGeom>
              <a:blipFill>
                <a:blip r:embed="rId7"/>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505CB2C-8458-AE63-8111-9D7C12F5B879}"/>
                  </a:ext>
                </a:extLst>
              </p:cNvPr>
              <p:cNvSpPr txBox="1"/>
              <p:nvPr/>
            </p:nvSpPr>
            <p:spPr>
              <a:xfrm>
                <a:off x="3768764"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18" name="TextBox 17">
                <a:extLst>
                  <a:ext uri="{FF2B5EF4-FFF2-40B4-BE49-F238E27FC236}">
                    <a16:creationId xmlns:a16="http://schemas.microsoft.com/office/drawing/2014/main" id="{4505CB2C-8458-AE63-8111-9D7C12F5B879}"/>
                  </a:ext>
                </a:extLst>
              </p:cNvPr>
              <p:cNvSpPr txBox="1">
                <a:spLocks noRot="1" noChangeAspect="1" noMove="1" noResize="1" noEditPoints="1" noAdjustHandles="1" noChangeArrowheads="1" noChangeShapeType="1" noTextEdit="1"/>
              </p:cNvSpPr>
              <p:nvPr/>
            </p:nvSpPr>
            <p:spPr>
              <a:xfrm>
                <a:off x="3768764" y="3373981"/>
                <a:ext cx="940490" cy="338554"/>
              </a:xfrm>
              <a:prstGeom prst="rect">
                <a:avLst/>
              </a:prstGeom>
              <a:blipFill>
                <a:blip r:embed="rId8"/>
                <a:stretch>
                  <a:fillRect b="-8621"/>
                </a:stretch>
              </a:blipFill>
              <a:ln>
                <a:solidFill>
                  <a:schemeClr val="bg2"/>
                </a:solidFill>
              </a:ln>
            </p:spPr>
            <p:txBody>
              <a:bodyPr/>
              <a:lstStyle/>
              <a:p>
                <a:r>
                  <a:rPr lang="en-US">
                    <a:noFill/>
                  </a:rPr>
                  <a:t> </a:t>
                </a:r>
              </a:p>
            </p:txBody>
          </p:sp>
        </mc:Fallback>
      </mc:AlternateContent>
      <p:sp>
        <p:nvSpPr>
          <p:cNvPr id="20" name="TextBox 19">
            <a:extLst>
              <a:ext uri="{FF2B5EF4-FFF2-40B4-BE49-F238E27FC236}">
                <a16:creationId xmlns:a16="http://schemas.microsoft.com/office/drawing/2014/main" id="{747C45D0-C497-AC0A-380F-D81C4383DB81}"/>
              </a:ext>
            </a:extLst>
          </p:cNvPr>
          <p:cNvSpPr txBox="1"/>
          <p:nvPr/>
        </p:nvSpPr>
        <p:spPr>
          <a:xfrm>
            <a:off x="2477791" y="1154093"/>
            <a:ext cx="1255231" cy="523220"/>
          </a:xfrm>
          <a:prstGeom prst="rect">
            <a:avLst/>
          </a:prstGeom>
          <a:solidFill>
            <a:schemeClr val="accent2"/>
          </a:solidFill>
          <a:ln w="38100">
            <a:solidFill>
              <a:schemeClr val="bg2"/>
            </a:solidFill>
          </a:ln>
        </p:spPr>
        <p:txBody>
          <a:bodyPr wrap="square" rtlCol="0">
            <a:spAutoFit/>
          </a:bodyPr>
          <a:lstStyle/>
          <a:p>
            <a:pPr algn="ctr"/>
            <a:r>
              <a:rPr lang="en-US" sz="2800" b="1" dirty="0">
                <a:solidFill>
                  <a:schemeClr val="bg2"/>
                </a:solidFill>
              </a:rPr>
              <a:t>Prior</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F3F108C-8B19-32A5-F70A-85E3219E6725}"/>
                  </a:ext>
                </a:extLst>
              </p:cNvPr>
              <p:cNvSpPr txBox="1"/>
              <p:nvPr/>
            </p:nvSpPr>
            <p:spPr>
              <a:xfrm>
                <a:off x="10533997"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𝟑𝟎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28" name="TextBox 27">
                <a:extLst>
                  <a:ext uri="{FF2B5EF4-FFF2-40B4-BE49-F238E27FC236}">
                    <a16:creationId xmlns:a16="http://schemas.microsoft.com/office/drawing/2014/main" id="{FF3F108C-8B19-32A5-F70A-85E3219E6725}"/>
                  </a:ext>
                </a:extLst>
              </p:cNvPr>
              <p:cNvSpPr txBox="1">
                <a:spLocks noRot="1" noChangeAspect="1" noMove="1" noResize="1" noEditPoints="1" noAdjustHandles="1" noChangeArrowheads="1" noChangeShapeType="1" noTextEdit="1"/>
              </p:cNvSpPr>
              <p:nvPr/>
            </p:nvSpPr>
            <p:spPr>
              <a:xfrm>
                <a:off x="10533997" y="3373981"/>
                <a:ext cx="940490" cy="338554"/>
              </a:xfrm>
              <a:prstGeom prst="rect">
                <a:avLst/>
              </a:prstGeom>
              <a:blipFill>
                <a:blip r:embed="rId9"/>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4755E97-4BFD-4A45-E5B2-28CA26ACDEA9}"/>
                  </a:ext>
                </a:extLst>
              </p:cNvPr>
              <p:cNvSpPr txBox="1"/>
              <p:nvPr/>
            </p:nvSpPr>
            <p:spPr>
              <a:xfrm>
                <a:off x="8526937"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𝟔𝟎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29" name="TextBox 28">
                <a:extLst>
                  <a:ext uri="{FF2B5EF4-FFF2-40B4-BE49-F238E27FC236}">
                    <a16:creationId xmlns:a16="http://schemas.microsoft.com/office/drawing/2014/main" id="{64755E97-4BFD-4A45-E5B2-28CA26ACDEA9}"/>
                  </a:ext>
                </a:extLst>
              </p:cNvPr>
              <p:cNvSpPr txBox="1">
                <a:spLocks noRot="1" noChangeAspect="1" noMove="1" noResize="1" noEditPoints="1" noAdjustHandles="1" noChangeArrowheads="1" noChangeShapeType="1" noTextEdit="1"/>
              </p:cNvSpPr>
              <p:nvPr/>
            </p:nvSpPr>
            <p:spPr>
              <a:xfrm>
                <a:off x="8526937" y="6188635"/>
                <a:ext cx="940490" cy="338554"/>
              </a:xfrm>
              <a:prstGeom prst="rect">
                <a:avLst/>
              </a:prstGeom>
              <a:blipFill>
                <a:blip r:embed="rId10"/>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9B912761-F3B3-A238-4ED1-553ED2F24576}"/>
                  </a:ext>
                </a:extLst>
              </p:cNvPr>
              <p:cNvSpPr txBox="1"/>
              <p:nvPr/>
            </p:nvSpPr>
            <p:spPr>
              <a:xfrm>
                <a:off x="10533997"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𝟗𝟎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30" name="TextBox 29">
                <a:extLst>
                  <a:ext uri="{FF2B5EF4-FFF2-40B4-BE49-F238E27FC236}">
                    <a16:creationId xmlns:a16="http://schemas.microsoft.com/office/drawing/2014/main" id="{9B912761-F3B3-A238-4ED1-553ED2F24576}"/>
                  </a:ext>
                </a:extLst>
              </p:cNvPr>
              <p:cNvSpPr txBox="1">
                <a:spLocks noRot="1" noChangeAspect="1" noMove="1" noResize="1" noEditPoints="1" noAdjustHandles="1" noChangeArrowheads="1" noChangeShapeType="1" noTextEdit="1"/>
              </p:cNvSpPr>
              <p:nvPr/>
            </p:nvSpPr>
            <p:spPr>
              <a:xfrm>
                <a:off x="10533997" y="6188635"/>
                <a:ext cx="940490" cy="338554"/>
              </a:xfrm>
              <a:prstGeom prst="rect">
                <a:avLst/>
              </a:prstGeom>
              <a:blipFill>
                <a:blip r:embed="rId11"/>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CB66005-27E9-3CE8-4EE2-C3B70DB4FAF0}"/>
                  </a:ext>
                </a:extLst>
              </p:cNvPr>
              <p:cNvSpPr txBox="1"/>
              <p:nvPr/>
            </p:nvSpPr>
            <p:spPr>
              <a:xfrm>
                <a:off x="8526937"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31" name="TextBox 30">
                <a:extLst>
                  <a:ext uri="{FF2B5EF4-FFF2-40B4-BE49-F238E27FC236}">
                    <a16:creationId xmlns:a16="http://schemas.microsoft.com/office/drawing/2014/main" id="{9CB66005-27E9-3CE8-4EE2-C3B70DB4FAF0}"/>
                  </a:ext>
                </a:extLst>
              </p:cNvPr>
              <p:cNvSpPr txBox="1">
                <a:spLocks noRot="1" noChangeAspect="1" noMove="1" noResize="1" noEditPoints="1" noAdjustHandles="1" noChangeArrowheads="1" noChangeShapeType="1" noTextEdit="1"/>
              </p:cNvSpPr>
              <p:nvPr/>
            </p:nvSpPr>
            <p:spPr>
              <a:xfrm>
                <a:off x="8526937" y="3373981"/>
                <a:ext cx="940490" cy="338554"/>
              </a:xfrm>
              <a:prstGeom prst="rect">
                <a:avLst/>
              </a:prstGeom>
              <a:blipFill>
                <a:blip r:embed="rId12"/>
                <a:stretch>
                  <a:fillRect b="-8621"/>
                </a:stretch>
              </a:blipFill>
              <a:ln>
                <a:solidFill>
                  <a:schemeClr val="bg2"/>
                </a:solidFill>
              </a:ln>
            </p:spPr>
            <p:txBody>
              <a:bodyPr/>
              <a:lstStyle/>
              <a:p>
                <a:r>
                  <a:rPr lang="en-US">
                    <a:noFill/>
                  </a:rPr>
                  <a:t> </a:t>
                </a:r>
              </a:p>
            </p:txBody>
          </p:sp>
        </mc:Fallback>
      </mc:AlternateContent>
      <p:sp>
        <p:nvSpPr>
          <p:cNvPr id="32" name="TextBox 31">
            <a:extLst>
              <a:ext uri="{FF2B5EF4-FFF2-40B4-BE49-F238E27FC236}">
                <a16:creationId xmlns:a16="http://schemas.microsoft.com/office/drawing/2014/main" id="{35349B67-B904-3A82-748B-D9E4BBDF11A5}"/>
              </a:ext>
            </a:extLst>
          </p:cNvPr>
          <p:cNvSpPr txBox="1"/>
          <p:nvPr/>
        </p:nvSpPr>
        <p:spPr>
          <a:xfrm>
            <a:off x="7235964" y="1154093"/>
            <a:ext cx="1255231" cy="523220"/>
          </a:xfrm>
          <a:prstGeom prst="rect">
            <a:avLst/>
          </a:prstGeom>
          <a:solidFill>
            <a:schemeClr val="accent2"/>
          </a:solidFill>
          <a:ln w="38100">
            <a:solidFill>
              <a:schemeClr val="bg2"/>
            </a:solidFill>
          </a:ln>
        </p:spPr>
        <p:txBody>
          <a:bodyPr wrap="square" rtlCol="0">
            <a:spAutoFit/>
          </a:bodyPr>
          <a:lstStyle/>
          <a:p>
            <a:pPr algn="ctr"/>
            <a:r>
              <a:rPr lang="en-US" sz="2800" b="1" dirty="0">
                <a:solidFill>
                  <a:schemeClr val="bg2"/>
                </a:solidFill>
              </a:rPr>
              <a:t>New</a:t>
            </a:r>
          </a:p>
        </p:txBody>
      </p:sp>
      <p:cxnSp>
        <p:nvCxnSpPr>
          <p:cNvPr id="34" name="Straight Connector 33">
            <a:extLst>
              <a:ext uri="{FF2B5EF4-FFF2-40B4-BE49-F238E27FC236}">
                <a16:creationId xmlns:a16="http://schemas.microsoft.com/office/drawing/2014/main" id="{3F21B2E6-9466-1B34-95DC-8F0833E97E69}"/>
              </a:ext>
            </a:extLst>
          </p:cNvPr>
          <p:cNvCxnSpPr>
            <a:cxnSpLocks/>
            <a:stCxn id="26" idx="0"/>
            <a:endCxn id="26" idx="2"/>
          </p:cNvCxnSpPr>
          <p:nvPr/>
        </p:nvCxnSpPr>
        <p:spPr>
          <a:xfrm>
            <a:off x="9540417" y="1151474"/>
            <a:ext cx="0" cy="559834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189BB232-AFE5-0998-DDFF-59893702965D}"/>
              </a:ext>
            </a:extLst>
          </p:cNvPr>
          <p:cNvSpPr/>
          <p:nvPr/>
        </p:nvSpPr>
        <p:spPr>
          <a:xfrm>
            <a:off x="7235965" y="1151474"/>
            <a:ext cx="4608904" cy="5598342"/>
          </a:xfrm>
          <a:prstGeom prst="rect">
            <a:avLst/>
          </a:prstGeom>
          <a:no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C390CD1A-B409-0DB1-6C05-6DDF7C16B887}"/>
              </a:ext>
            </a:extLst>
          </p:cNvPr>
          <p:cNvCxnSpPr>
            <a:cxnSpLocks/>
            <a:stCxn id="21" idx="0"/>
            <a:endCxn id="21" idx="2"/>
          </p:cNvCxnSpPr>
          <p:nvPr/>
        </p:nvCxnSpPr>
        <p:spPr>
          <a:xfrm>
            <a:off x="4770194" y="1154093"/>
            <a:ext cx="0" cy="5570569"/>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BDD9118C-94BC-A7F0-140A-980AFC782B74}"/>
              </a:ext>
            </a:extLst>
          </p:cNvPr>
          <p:cNvSpPr/>
          <p:nvPr/>
        </p:nvSpPr>
        <p:spPr>
          <a:xfrm>
            <a:off x="2477790" y="1154093"/>
            <a:ext cx="4584808" cy="5570569"/>
          </a:xfrm>
          <a:prstGeom prst="rect">
            <a:avLst/>
          </a:prstGeom>
          <a:no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5" name="Text Placeholder 2">
                <a:extLst>
                  <a:ext uri="{FF2B5EF4-FFF2-40B4-BE49-F238E27FC236}">
                    <a16:creationId xmlns:a16="http://schemas.microsoft.com/office/drawing/2014/main" id="{7491DDFD-776A-FFED-D6A3-5039BD9894FA}"/>
                  </a:ext>
                </a:extLst>
              </p:cNvPr>
              <p:cNvSpPr>
                <a:spLocks noGrp="1"/>
              </p:cNvSpPr>
              <p:nvPr>
                <p:ph type="body" idx="1"/>
              </p:nvPr>
            </p:nvSpPr>
            <p:spPr>
              <a:xfrm>
                <a:off x="0" y="1334500"/>
                <a:ext cx="2476158" cy="5192687"/>
              </a:xfrm>
            </p:spPr>
            <p:txBody>
              <a:bodyPr>
                <a:normAutofit/>
              </a:bodyPr>
              <a:lstStyle/>
              <a:p>
                <a:pPr marL="50800" indent="0">
                  <a:buNone/>
                </a:pPr>
                <a:r>
                  <a:rPr lang="en-US" sz="1600" b="0" dirty="0"/>
                  <a:t>Same </a:t>
                </a:r>
                <a14:m>
                  <m:oMath xmlns:m="http://schemas.openxmlformats.org/officeDocument/2006/math">
                    <m:r>
                      <a:rPr lang="en-US" sz="1600" b="0" i="1" smtClean="0">
                        <a:latin typeface="Cambria Math" panose="02040503050406030204" pitchFamily="18" charset="0"/>
                      </a:rPr>
                      <m:t>𝜙</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0</m:t>
                        </m:r>
                      </m:e>
                      <m:sup>
                        <m:r>
                          <a:rPr lang="en-US" sz="1600" b="0" i="1" smtClean="0">
                            <a:latin typeface="Cambria Math" panose="02040503050406030204" pitchFamily="18" charset="0"/>
                          </a:rPr>
                          <m:t>∘</m:t>
                        </m:r>
                      </m:sup>
                    </m:sSup>
                  </m:oMath>
                </a14:m>
                <a:r>
                  <a:rPr lang="en-US" sz="1600" b="0" dirty="0"/>
                  <a:t> concern.</a:t>
                </a:r>
              </a:p>
              <a:p>
                <a:pPr marL="50800" indent="0">
                  <a:buNone/>
                </a:pPr>
                <a:endParaRPr lang="en-US" sz="1600" b="0" dirty="0"/>
              </a:p>
              <a:p>
                <a:pPr marL="50800" indent="0">
                  <a:buNone/>
                </a:pPr>
                <a:r>
                  <a:rPr lang="en-US" sz="1600" b="0" dirty="0"/>
                  <a:t>But now, also concern about </a:t>
                </a:r>
                <a14:m>
                  <m:oMath xmlns:m="http://schemas.openxmlformats.org/officeDocument/2006/math">
                    <m:r>
                      <a:rPr lang="en-US" sz="1600" b="0" i="1" smtClean="0">
                        <a:latin typeface="Cambria Math" panose="02040503050406030204" pitchFamily="18" charset="0"/>
                      </a:rPr>
                      <m:t>𝜙</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90</m:t>
                        </m:r>
                      </m:e>
                      <m:sup>
                        <m:r>
                          <a:rPr lang="en-US" sz="1600" b="0" i="1" smtClean="0">
                            <a:latin typeface="Cambria Math" panose="02040503050406030204" pitchFamily="18" charset="0"/>
                          </a:rPr>
                          <m:t>∘</m:t>
                        </m:r>
                      </m:sup>
                    </m:sSup>
                  </m:oMath>
                </a14:m>
                <a:r>
                  <a:rPr lang="en-US" sz="1600" b="0" dirty="0"/>
                  <a:t> </a:t>
                </a:r>
                <a:r>
                  <a:rPr lang="en-US" sz="1600" b="0" dirty="0">
                    <a:highlight>
                      <a:srgbClr val="00FF00"/>
                    </a:highlight>
                  </a:rPr>
                  <a:t>mirroring </a:t>
                </a:r>
                <a:r>
                  <a:rPr lang="en-US" sz="1600" dirty="0">
                    <a:highlight>
                      <a:srgbClr val="00FF00"/>
                    </a:highlight>
                  </a:rPr>
                  <a:t>Prior</a:t>
                </a:r>
                <a:r>
                  <a:rPr lang="en-US" sz="1600" b="0" dirty="0">
                    <a:highlight>
                      <a:srgbClr val="00FF00"/>
                    </a:highlight>
                  </a:rPr>
                  <a:t> </a:t>
                </a:r>
                <a:r>
                  <a:rPr lang="en-US" sz="1600" b="0" dirty="0">
                    <a:highlight>
                      <a:srgbClr val="00FF00"/>
                    </a:highlight>
                    <a:sym typeface="Wingdings" panose="05000000000000000000" pitchFamily="2" charset="2"/>
                  </a:rPr>
                  <a:t> </a:t>
                </a:r>
                <a:r>
                  <a:rPr lang="en-US" sz="1600" dirty="0">
                    <a:highlight>
                      <a:srgbClr val="00FF00"/>
                    </a:highlight>
                    <a:sym typeface="Wingdings" panose="05000000000000000000" pitchFamily="2" charset="2"/>
                  </a:rPr>
                  <a:t>New</a:t>
                </a:r>
                <a:r>
                  <a:rPr lang="en-US" sz="1600" b="0" dirty="0"/>
                  <a:t>.</a:t>
                </a:r>
              </a:p>
              <a:p>
                <a:pPr marL="50800" indent="0">
                  <a:buNone/>
                </a:pPr>
                <a:endParaRPr lang="en-US" sz="1600" b="0" dirty="0"/>
              </a:p>
              <a:p>
                <a:pPr marL="50800" indent="0">
                  <a:buNone/>
                </a:pPr>
                <a:r>
                  <a:rPr lang="en-US" sz="1600" b="0" dirty="0">
                    <a:sym typeface="Wingdings" panose="05000000000000000000" pitchFamily="2" charset="2"/>
                  </a:rPr>
                  <a:t>Meaning, </a:t>
                </a:r>
                <a14:m>
                  <m:oMath xmlns:m="http://schemas.openxmlformats.org/officeDocument/2006/math">
                    <m:sSub>
                      <m:sSubPr>
                        <m:ctrlPr>
                          <a:rPr lang="en-US" sz="1600" b="0" i="1" smtClean="0">
                            <a:latin typeface="Cambria Math" panose="02040503050406030204" pitchFamily="18" charset="0"/>
                            <a:sym typeface="Wingdings" panose="05000000000000000000" pitchFamily="2" charset="2"/>
                          </a:rPr>
                        </m:ctrlPr>
                      </m:sSubPr>
                      <m:e>
                        <m:r>
                          <a:rPr lang="en-US" sz="1600" b="0" i="1" smtClean="0">
                            <a:latin typeface="Cambria Math" panose="02040503050406030204" pitchFamily="18" charset="0"/>
                            <a:sym typeface="Wingdings" panose="05000000000000000000" pitchFamily="2" charset="2"/>
                          </a:rPr>
                          <m:t>𝜙</m:t>
                        </m:r>
                      </m:e>
                      <m:sub>
                        <m:r>
                          <a:rPr lang="en-US" sz="1600" b="0" i="1" smtClean="0">
                            <a:latin typeface="Cambria Math" panose="02040503050406030204" pitchFamily="18" charset="0"/>
                            <a:sym typeface="Wingdings" panose="05000000000000000000" pitchFamily="2" charset="2"/>
                          </a:rPr>
                          <m:t>𝑃𝑟𝑖𝑜𝑟</m:t>
                        </m:r>
                      </m:sub>
                    </m:sSub>
                    <m:r>
                      <a:rPr lang="en-US" sz="1600" b="0" i="1" smtClean="0">
                        <a:latin typeface="Cambria Math" panose="02040503050406030204" pitchFamily="18" charset="0"/>
                        <a:sym typeface="Wingdings" panose="05000000000000000000" pitchFamily="2" charset="2"/>
                      </a:rPr>
                      <m:t>=</m:t>
                    </m:r>
                    <m:sSub>
                      <m:sSubPr>
                        <m:ctrlPr>
                          <a:rPr lang="en-US" sz="1600" b="0" i="1" smtClean="0">
                            <a:latin typeface="Cambria Math" panose="02040503050406030204" pitchFamily="18" charset="0"/>
                            <a:sym typeface="Wingdings" panose="05000000000000000000" pitchFamily="2" charset="2"/>
                          </a:rPr>
                        </m:ctrlPr>
                      </m:sSubPr>
                      <m:e>
                        <m:r>
                          <a:rPr lang="en-US" sz="1600" b="0" i="1" smtClean="0">
                            <a:latin typeface="Cambria Math" panose="02040503050406030204" pitchFamily="18" charset="0"/>
                            <a:sym typeface="Wingdings" panose="05000000000000000000" pitchFamily="2" charset="2"/>
                          </a:rPr>
                          <m:t>𝜙</m:t>
                        </m:r>
                      </m:e>
                      <m:sub>
                        <m:r>
                          <a:rPr lang="en-US" sz="1600" b="0" i="1" smtClean="0">
                            <a:latin typeface="Cambria Math" panose="02040503050406030204" pitchFamily="18" charset="0"/>
                            <a:sym typeface="Wingdings" panose="05000000000000000000" pitchFamily="2" charset="2"/>
                          </a:rPr>
                          <m:t>𝑁𝑒𝑤</m:t>
                        </m:r>
                      </m:sub>
                    </m:sSub>
                  </m:oMath>
                </a14:m>
                <a:r>
                  <a:rPr lang="en-US" sz="1600" b="0" dirty="0"/>
                  <a:t>, except at </a:t>
                </a:r>
                <a14:m>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90</m:t>
                        </m:r>
                      </m:e>
                      <m:sup>
                        <m:r>
                          <a:rPr lang="en-US" sz="1600" b="0" i="1" smtClean="0">
                            <a:latin typeface="Cambria Math" panose="02040503050406030204" pitchFamily="18" charset="0"/>
                          </a:rPr>
                          <m:t>∘</m:t>
                        </m:r>
                      </m:sup>
                    </m:sSup>
                  </m:oMath>
                </a14:m>
                <a:r>
                  <a:rPr lang="en-US" sz="1600" b="0" dirty="0"/>
                  <a:t>, where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𝜙</m:t>
                        </m:r>
                      </m:e>
                      <m:sub>
                        <m:r>
                          <a:rPr lang="en-US" sz="1600" b="0" i="1" smtClean="0">
                            <a:latin typeface="Cambria Math" panose="02040503050406030204" pitchFamily="18" charset="0"/>
                          </a:rPr>
                          <m:t>𝑃𝑟𝑖𝑜𝑟</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𝜙</m:t>
                        </m:r>
                      </m:e>
                      <m:sub>
                        <m:r>
                          <a:rPr lang="en-US" sz="1600" b="0" i="1" smtClean="0">
                            <a:latin typeface="Cambria Math" panose="02040503050406030204" pitchFamily="18" charset="0"/>
                          </a:rPr>
                          <m:t>𝑁𝑒𝑤</m:t>
                        </m:r>
                      </m:sub>
                    </m:sSub>
                  </m:oMath>
                </a14:m>
                <a:r>
                  <a:rPr lang="en-US" sz="1600" b="0" dirty="0"/>
                  <a:t>. Not sure why.</a:t>
                </a:r>
              </a:p>
              <a:p>
                <a:pPr marL="50800" indent="0">
                  <a:buNone/>
                </a:pPr>
                <a:endParaRPr lang="en-US" sz="1600" b="0" dirty="0"/>
              </a:p>
              <a:p>
                <a:pPr marL="50800" indent="0">
                  <a:buNone/>
                </a:pPr>
                <a:r>
                  <a:rPr lang="en-US" sz="1600" b="0" dirty="0"/>
                  <a:t>Since </a:t>
                </a:r>
                <a14:m>
                  <m:oMath xmlns:m="http://schemas.openxmlformats.org/officeDocument/2006/math">
                    <m:r>
                      <a:rPr lang="en-US" sz="1600" b="0" i="1" smtClean="0">
                        <a:latin typeface="Cambria Math" panose="02040503050406030204" pitchFamily="18" charset="0"/>
                      </a:rPr>
                      <m:t>𝜙</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0</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90</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m:t>
                    </m:r>
                  </m:oMath>
                </a14:m>
                <a:r>
                  <a:rPr lang="en-US" sz="1600" b="0" dirty="0"/>
                  <a:t> agrees, and “specular” peak movement as </a:t>
                </a:r>
                <a14:m>
                  <m:oMath xmlns:m="http://schemas.openxmlformats.org/officeDocument/2006/math">
                    <m:r>
                      <a:rPr lang="en-US" sz="1600" b="0" i="1" smtClean="0">
                        <a:latin typeface="Cambria Math" panose="02040503050406030204" pitchFamily="18" charset="0"/>
                      </a:rPr>
                      <m:t>𝜙</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90</m:t>
                        </m:r>
                      </m:e>
                      <m:sup>
                        <m:r>
                          <a:rPr lang="en-US" sz="1600" b="0" i="1" smtClean="0">
                            <a:latin typeface="Cambria Math" panose="02040503050406030204" pitchFamily="18" charset="0"/>
                          </a:rPr>
                          <m:t>∘</m:t>
                        </m:r>
                      </m:sup>
                    </m:sSup>
                  </m:oMath>
                </a14:m>
                <a:r>
                  <a:rPr lang="en-US" sz="1600" b="0" dirty="0"/>
                  <a:t> seems to agree with </a:t>
                </a:r>
                <a:r>
                  <a:rPr lang="en-US" sz="1600" dirty="0"/>
                  <a:t>New</a:t>
                </a:r>
                <a:r>
                  <a:rPr lang="en-US" sz="1600" b="0" dirty="0"/>
                  <a:t> pattern, concluding </a:t>
                </a:r>
                <a:r>
                  <a:rPr lang="en-US" sz="1600" dirty="0"/>
                  <a:t>New </a:t>
                </a:r>
                <a:r>
                  <a:rPr lang="en-US" sz="1600" b="0" dirty="0"/>
                  <a:t>is actually correction to </a:t>
                </a:r>
                <a:r>
                  <a:rPr lang="en-US" sz="1600" dirty="0"/>
                  <a:t>Prior</a:t>
                </a:r>
                <a:r>
                  <a:rPr lang="en-US" sz="1600" b="0" dirty="0"/>
                  <a:t>.</a:t>
                </a:r>
              </a:p>
            </p:txBody>
          </p:sp>
        </mc:Choice>
        <mc:Fallback xmlns="">
          <p:sp>
            <p:nvSpPr>
              <p:cNvPr id="35" name="Text Placeholder 2">
                <a:extLst>
                  <a:ext uri="{FF2B5EF4-FFF2-40B4-BE49-F238E27FC236}">
                    <a16:creationId xmlns:a16="http://schemas.microsoft.com/office/drawing/2014/main" id="{7491DDFD-776A-FFED-D6A3-5039BD9894FA}"/>
                  </a:ext>
                </a:extLst>
              </p:cNvPr>
              <p:cNvSpPr>
                <a:spLocks noGrp="1" noRot="1" noChangeAspect="1" noMove="1" noResize="1" noEditPoints="1" noAdjustHandles="1" noChangeArrowheads="1" noChangeShapeType="1" noTextEdit="1"/>
              </p:cNvSpPr>
              <p:nvPr>
                <p:ph type="body" idx="1"/>
              </p:nvPr>
            </p:nvSpPr>
            <p:spPr>
              <a:xfrm>
                <a:off x="0" y="1334500"/>
                <a:ext cx="2476158" cy="5192687"/>
              </a:xfrm>
              <a:blipFill>
                <a:blip r:embed="rId13"/>
                <a:stretch>
                  <a:fillRect r="-2709"/>
                </a:stretch>
              </a:blipFill>
            </p:spPr>
            <p:txBody>
              <a:bodyPr/>
              <a:lstStyle/>
              <a:p>
                <a:r>
                  <a:rPr lang="en-US">
                    <a:noFill/>
                  </a:rPr>
                  <a:t> </a:t>
                </a:r>
              </a:p>
            </p:txBody>
          </p:sp>
        </mc:Fallback>
      </mc:AlternateContent>
      <p:sp>
        <p:nvSpPr>
          <p:cNvPr id="45" name="Oval 44">
            <a:extLst>
              <a:ext uri="{FF2B5EF4-FFF2-40B4-BE49-F238E27FC236}">
                <a16:creationId xmlns:a16="http://schemas.microsoft.com/office/drawing/2014/main" id="{8E6E19B9-D907-27B9-AB40-26BF9031D356}"/>
              </a:ext>
            </a:extLst>
          </p:cNvPr>
          <p:cNvSpPr>
            <a:spLocks noChangeAspect="1"/>
          </p:cNvSpPr>
          <p:nvPr/>
        </p:nvSpPr>
        <p:spPr>
          <a:xfrm>
            <a:off x="4829457" y="4409328"/>
            <a:ext cx="1828800" cy="1828800"/>
          </a:xfrm>
          <a:prstGeom prst="ellipse">
            <a:avLst/>
          </a:prstGeom>
          <a:solidFill>
            <a:srgbClr val="00FF00">
              <a:alpha val="20000"/>
            </a:srgbClr>
          </a:solid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Connector 42">
            <a:extLst>
              <a:ext uri="{FF2B5EF4-FFF2-40B4-BE49-F238E27FC236}">
                <a16:creationId xmlns:a16="http://schemas.microsoft.com/office/drawing/2014/main" id="{10F1C97F-2DF4-5311-26D9-C29CE5F75B8E}"/>
              </a:ext>
            </a:extLst>
          </p:cNvPr>
          <p:cNvCxnSpPr>
            <a:cxnSpLocks/>
            <a:stCxn id="45" idx="0"/>
            <a:endCxn id="45" idx="4"/>
          </p:cNvCxnSpPr>
          <p:nvPr/>
        </p:nvCxnSpPr>
        <p:spPr>
          <a:xfrm>
            <a:off x="5743857" y="4409328"/>
            <a:ext cx="0" cy="1828800"/>
          </a:xfrm>
          <a:prstGeom prst="line">
            <a:avLst/>
          </a:prstGeom>
          <a:ln w="57150">
            <a:solidFill>
              <a:srgbClr val="00FF00"/>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BF0FA52E-AD81-47F2-B72B-78DBBCFE08CE}"/>
                  </a:ext>
                </a:extLst>
              </p:cNvPr>
              <p:cNvSpPr txBox="1"/>
              <p:nvPr/>
            </p:nvSpPr>
            <p:spPr>
              <a:xfrm>
                <a:off x="8916284" y="1215648"/>
                <a:ext cx="1255231" cy="461665"/>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𝟑𝟎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49" name="TextBox 48">
                <a:extLst>
                  <a:ext uri="{FF2B5EF4-FFF2-40B4-BE49-F238E27FC236}">
                    <a16:creationId xmlns:a16="http://schemas.microsoft.com/office/drawing/2014/main" id="{BF0FA52E-AD81-47F2-B72B-78DBBCFE08CE}"/>
                  </a:ext>
                </a:extLst>
              </p:cNvPr>
              <p:cNvSpPr txBox="1">
                <a:spLocks noRot="1" noChangeAspect="1" noMove="1" noResize="1" noEditPoints="1" noAdjustHandles="1" noChangeArrowheads="1" noChangeShapeType="1" noTextEdit="1"/>
              </p:cNvSpPr>
              <p:nvPr/>
            </p:nvSpPr>
            <p:spPr>
              <a:xfrm>
                <a:off x="8916284" y="1215648"/>
                <a:ext cx="1255231" cy="461665"/>
              </a:xfrm>
              <a:prstGeom prst="rect">
                <a:avLst/>
              </a:prstGeom>
              <a:blipFill>
                <a:blip r:embed="rId14"/>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4B81D49-6DF9-1E83-18E5-32A053F0CD32}"/>
                  </a:ext>
                </a:extLst>
              </p:cNvPr>
              <p:cNvSpPr txBox="1"/>
              <p:nvPr/>
            </p:nvSpPr>
            <p:spPr>
              <a:xfrm>
                <a:off x="4142579" y="1215648"/>
                <a:ext cx="1255231" cy="461665"/>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𝟑𝟎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50" name="TextBox 49">
                <a:extLst>
                  <a:ext uri="{FF2B5EF4-FFF2-40B4-BE49-F238E27FC236}">
                    <a16:creationId xmlns:a16="http://schemas.microsoft.com/office/drawing/2014/main" id="{34B81D49-6DF9-1E83-18E5-32A053F0CD32}"/>
                  </a:ext>
                </a:extLst>
              </p:cNvPr>
              <p:cNvSpPr txBox="1">
                <a:spLocks noRot="1" noChangeAspect="1" noMove="1" noResize="1" noEditPoints="1" noAdjustHandles="1" noChangeArrowheads="1" noChangeShapeType="1" noTextEdit="1"/>
              </p:cNvSpPr>
              <p:nvPr/>
            </p:nvSpPr>
            <p:spPr>
              <a:xfrm>
                <a:off x="4142579" y="1215648"/>
                <a:ext cx="1255231" cy="461665"/>
              </a:xfrm>
              <a:prstGeom prst="rect">
                <a:avLst/>
              </a:prstGeom>
              <a:blipFill>
                <a:blip r:embed="rId15"/>
                <a:stretch>
                  <a:fillRect/>
                </a:stretch>
              </a:blipFill>
              <a:ln>
                <a:solidFill>
                  <a:schemeClr val="bg2"/>
                </a:solidFill>
              </a:ln>
            </p:spPr>
            <p:txBody>
              <a:bodyPr/>
              <a:lstStyle/>
              <a:p>
                <a:r>
                  <a:rPr lang="en-US">
                    <a:noFill/>
                  </a:rPr>
                  <a:t> </a:t>
                </a:r>
              </a:p>
            </p:txBody>
          </p:sp>
        </mc:Fallback>
      </mc:AlternateContent>
    </p:spTree>
    <p:extLst>
      <p:ext uri="{BB962C8B-B14F-4D97-AF65-F5344CB8AC3E}">
        <p14:creationId xmlns:p14="http://schemas.microsoft.com/office/powerpoint/2010/main" val="98938383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E0E81-C39E-8226-93F4-32D17C6D013D}"/>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86A179C5-7DFB-FA29-905C-717599334A4C}"/>
              </a:ext>
            </a:extLst>
          </p:cNvPr>
          <p:cNvPicPr>
            <a:picLocks noChangeAspect="1"/>
          </p:cNvPicPr>
          <p:nvPr/>
        </p:nvPicPr>
        <p:blipFill>
          <a:blip r:embed="rId2"/>
          <a:stretch>
            <a:fillRect/>
          </a:stretch>
        </p:blipFill>
        <p:spPr>
          <a:xfrm>
            <a:off x="7251494" y="1151473"/>
            <a:ext cx="2263022" cy="5568225"/>
          </a:xfrm>
          <a:prstGeom prst="rect">
            <a:avLst/>
          </a:prstGeom>
        </p:spPr>
      </p:pic>
      <p:pic>
        <p:nvPicPr>
          <p:cNvPr id="19" name="Picture 18">
            <a:extLst>
              <a:ext uri="{FF2B5EF4-FFF2-40B4-BE49-F238E27FC236}">
                <a16:creationId xmlns:a16="http://schemas.microsoft.com/office/drawing/2014/main" id="{9538C823-935A-A922-E9DD-EBC1A9BDD46C}"/>
              </a:ext>
            </a:extLst>
          </p:cNvPr>
          <p:cNvPicPr>
            <a:picLocks noChangeAspect="1"/>
          </p:cNvPicPr>
          <p:nvPr/>
        </p:nvPicPr>
        <p:blipFill>
          <a:blip r:embed="rId3"/>
          <a:stretch>
            <a:fillRect/>
          </a:stretch>
        </p:blipFill>
        <p:spPr>
          <a:xfrm>
            <a:off x="9514516" y="1151472"/>
            <a:ext cx="2330353" cy="5600073"/>
          </a:xfrm>
          <a:prstGeom prst="rect">
            <a:avLst/>
          </a:prstGeom>
        </p:spPr>
      </p:pic>
      <p:pic>
        <p:nvPicPr>
          <p:cNvPr id="4" name="Picture 3">
            <a:extLst>
              <a:ext uri="{FF2B5EF4-FFF2-40B4-BE49-F238E27FC236}">
                <a16:creationId xmlns:a16="http://schemas.microsoft.com/office/drawing/2014/main" id="{8570A91C-89F7-9C07-2C45-FF6AA09C1803}"/>
              </a:ext>
            </a:extLst>
          </p:cNvPr>
          <p:cNvPicPr>
            <a:picLocks noChangeAspect="1"/>
          </p:cNvPicPr>
          <p:nvPr/>
        </p:nvPicPr>
        <p:blipFill>
          <a:blip r:embed="rId4"/>
          <a:srcRect l="65385"/>
          <a:stretch>
            <a:fillRect/>
          </a:stretch>
        </p:blipFill>
        <p:spPr>
          <a:xfrm>
            <a:off x="4693185" y="1138637"/>
            <a:ext cx="2369413" cy="5598340"/>
          </a:xfrm>
          <a:prstGeom prst="rect">
            <a:avLst/>
          </a:prstGeom>
        </p:spPr>
      </p:pic>
      <p:pic>
        <p:nvPicPr>
          <p:cNvPr id="10" name="Picture 9">
            <a:extLst>
              <a:ext uri="{FF2B5EF4-FFF2-40B4-BE49-F238E27FC236}">
                <a16:creationId xmlns:a16="http://schemas.microsoft.com/office/drawing/2014/main" id="{ACF99E6D-9901-5B03-597A-34A5204652D5}"/>
              </a:ext>
            </a:extLst>
          </p:cNvPr>
          <p:cNvPicPr>
            <a:picLocks noChangeAspect="1"/>
          </p:cNvPicPr>
          <p:nvPr/>
        </p:nvPicPr>
        <p:blipFill>
          <a:blip r:embed="rId4"/>
          <a:srcRect r="66939"/>
          <a:stretch>
            <a:fillRect/>
          </a:stretch>
        </p:blipFill>
        <p:spPr>
          <a:xfrm>
            <a:off x="2477789" y="1151474"/>
            <a:ext cx="2263022" cy="5598341"/>
          </a:xfrm>
          <a:prstGeom prst="rect">
            <a:avLst/>
          </a:prstGeom>
        </p:spPr>
      </p:pic>
      <p:sp>
        <p:nvSpPr>
          <p:cNvPr id="2" name="Title 1">
            <a:extLst>
              <a:ext uri="{FF2B5EF4-FFF2-40B4-BE49-F238E27FC236}">
                <a16:creationId xmlns:a16="http://schemas.microsoft.com/office/drawing/2014/main" id="{473FAA1F-4BB7-A739-4FA8-198B41BA5B61}"/>
              </a:ext>
            </a:extLst>
          </p:cNvPr>
          <p:cNvSpPr>
            <a:spLocks noGrp="1"/>
          </p:cNvSpPr>
          <p:nvPr>
            <p:ph type="title"/>
          </p:nvPr>
        </p:nvSpPr>
        <p:spPr>
          <a:xfrm>
            <a:off x="609599" y="152718"/>
            <a:ext cx="9011323" cy="731520"/>
          </a:xfrm>
        </p:spPr>
        <p:txBody>
          <a:bodyPr>
            <a:normAutofit fontScale="90000"/>
          </a:bodyPr>
          <a:lstStyle/>
          <a:p>
            <a:r>
              <a:rPr lang="en-US" dirty="0"/>
              <a:t>Validation test of anisotropic FRED</a:t>
            </a:r>
            <a:br>
              <a:rPr lang="en-US" dirty="0"/>
            </a:br>
            <a:r>
              <a:rPr lang="en-US" sz="2000" dirty="0"/>
              <a:t>(recall prior IMX455 </a:t>
            </a:r>
            <a:r>
              <a:rPr lang="en-US" sz="2000" dirty="0" err="1"/>
              <a:t>Zemax</a:t>
            </a:r>
            <a:r>
              <a:rPr lang="en-US" sz="2000" dirty="0"/>
              <a:t> plots)</a:t>
            </a:r>
            <a:endParaRPr lang="en-US" dirty="0"/>
          </a:p>
        </p:txBody>
      </p:sp>
      <p:cxnSp>
        <p:nvCxnSpPr>
          <p:cNvPr id="5" name="Straight Connector 4">
            <a:extLst>
              <a:ext uri="{FF2B5EF4-FFF2-40B4-BE49-F238E27FC236}">
                <a16:creationId xmlns:a16="http://schemas.microsoft.com/office/drawing/2014/main" id="{98678C8F-6421-00B4-BF00-BC82D098D265}"/>
              </a:ext>
            </a:extLst>
          </p:cNvPr>
          <p:cNvCxnSpPr/>
          <p:nvPr/>
        </p:nvCxnSpPr>
        <p:spPr>
          <a:xfrm>
            <a:off x="287867" y="884238"/>
            <a:ext cx="1143846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14EAC53-3855-2B0E-4F96-DCD9FCD7ADEC}"/>
                  </a:ext>
                </a:extLst>
              </p:cNvPr>
              <p:cNvSpPr txBox="1"/>
              <p:nvPr/>
            </p:nvSpPr>
            <p:spPr>
              <a:xfrm>
                <a:off x="5775824"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𝟑𝟎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15" name="TextBox 14">
                <a:extLst>
                  <a:ext uri="{FF2B5EF4-FFF2-40B4-BE49-F238E27FC236}">
                    <a16:creationId xmlns:a16="http://schemas.microsoft.com/office/drawing/2014/main" id="{E14EAC53-3855-2B0E-4F96-DCD9FCD7ADEC}"/>
                  </a:ext>
                </a:extLst>
              </p:cNvPr>
              <p:cNvSpPr txBox="1">
                <a:spLocks noRot="1" noChangeAspect="1" noMove="1" noResize="1" noEditPoints="1" noAdjustHandles="1" noChangeArrowheads="1" noChangeShapeType="1" noTextEdit="1"/>
              </p:cNvSpPr>
              <p:nvPr/>
            </p:nvSpPr>
            <p:spPr>
              <a:xfrm>
                <a:off x="5775824" y="3373981"/>
                <a:ext cx="940490" cy="338554"/>
              </a:xfrm>
              <a:prstGeom prst="rect">
                <a:avLst/>
              </a:prstGeom>
              <a:blipFill>
                <a:blip r:embed="rId5"/>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022E1DC-65A8-86B2-AF1A-EA3174487FF1}"/>
                  </a:ext>
                </a:extLst>
              </p:cNvPr>
              <p:cNvSpPr txBox="1"/>
              <p:nvPr/>
            </p:nvSpPr>
            <p:spPr>
              <a:xfrm>
                <a:off x="3768764"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𝟔𝟎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16" name="TextBox 15">
                <a:extLst>
                  <a:ext uri="{FF2B5EF4-FFF2-40B4-BE49-F238E27FC236}">
                    <a16:creationId xmlns:a16="http://schemas.microsoft.com/office/drawing/2014/main" id="{F022E1DC-65A8-86B2-AF1A-EA3174487FF1}"/>
                  </a:ext>
                </a:extLst>
              </p:cNvPr>
              <p:cNvSpPr txBox="1">
                <a:spLocks noRot="1" noChangeAspect="1" noMove="1" noResize="1" noEditPoints="1" noAdjustHandles="1" noChangeArrowheads="1" noChangeShapeType="1" noTextEdit="1"/>
              </p:cNvSpPr>
              <p:nvPr/>
            </p:nvSpPr>
            <p:spPr>
              <a:xfrm>
                <a:off x="3768764" y="6188635"/>
                <a:ext cx="940490" cy="338554"/>
              </a:xfrm>
              <a:prstGeom prst="rect">
                <a:avLst/>
              </a:prstGeom>
              <a:blipFill>
                <a:blip r:embed="rId6"/>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EDCF048-F0A9-A807-5054-0B39A831526B}"/>
                  </a:ext>
                </a:extLst>
              </p:cNvPr>
              <p:cNvSpPr txBox="1"/>
              <p:nvPr/>
            </p:nvSpPr>
            <p:spPr>
              <a:xfrm>
                <a:off x="5775824"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𝟗𝟎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17" name="TextBox 16">
                <a:extLst>
                  <a:ext uri="{FF2B5EF4-FFF2-40B4-BE49-F238E27FC236}">
                    <a16:creationId xmlns:a16="http://schemas.microsoft.com/office/drawing/2014/main" id="{5EDCF048-F0A9-A807-5054-0B39A831526B}"/>
                  </a:ext>
                </a:extLst>
              </p:cNvPr>
              <p:cNvSpPr txBox="1">
                <a:spLocks noRot="1" noChangeAspect="1" noMove="1" noResize="1" noEditPoints="1" noAdjustHandles="1" noChangeArrowheads="1" noChangeShapeType="1" noTextEdit="1"/>
              </p:cNvSpPr>
              <p:nvPr/>
            </p:nvSpPr>
            <p:spPr>
              <a:xfrm>
                <a:off x="5775824" y="6188635"/>
                <a:ext cx="940490" cy="338554"/>
              </a:xfrm>
              <a:prstGeom prst="rect">
                <a:avLst/>
              </a:prstGeom>
              <a:blipFill>
                <a:blip r:embed="rId7"/>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17E3FA7-51F1-95F4-C5BF-8253AE71A7B9}"/>
                  </a:ext>
                </a:extLst>
              </p:cNvPr>
              <p:cNvSpPr txBox="1"/>
              <p:nvPr/>
            </p:nvSpPr>
            <p:spPr>
              <a:xfrm>
                <a:off x="3768764"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18" name="TextBox 17">
                <a:extLst>
                  <a:ext uri="{FF2B5EF4-FFF2-40B4-BE49-F238E27FC236}">
                    <a16:creationId xmlns:a16="http://schemas.microsoft.com/office/drawing/2014/main" id="{B17E3FA7-51F1-95F4-C5BF-8253AE71A7B9}"/>
                  </a:ext>
                </a:extLst>
              </p:cNvPr>
              <p:cNvSpPr txBox="1">
                <a:spLocks noRot="1" noChangeAspect="1" noMove="1" noResize="1" noEditPoints="1" noAdjustHandles="1" noChangeArrowheads="1" noChangeShapeType="1" noTextEdit="1"/>
              </p:cNvSpPr>
              <p:nvPr/>
            </p:nvSpPr>
            <p:spPr>
              <a:xfrm>
                <a:off x="3768764" y="3373981"/>
                <a:ext cx="940490" cy="338554"/>
              </a:xfrm>
              <a:prstGeom prst="rect">
                <a:avLst/>
              </a:prstGeom>
              <a:blipFill>
                <a:blip r:embed="rId8"/>
                <a:stretch>
                  <a:fillRect b="-8621"/>
                </a:stretch>
              </a:blipFill>
              <a:ln>
                <a:solidFill>
                  <a:schemeClr val="bg2"/>
                </a:solidFill>
              </a:ln>
            </p:spPr>
            <p:txBody>
              <a:bodyPr/>
              <a:lstStyle/>
              <a:p>
                <a:r>
                  <a:rPr lang="en-US">
                    <a:noFill/>
                  </a:rPr>
                  <a:t> </a:t>
                </a:r>
              </a:p>
            </p:txBody>
          </p:sp>
        </mc:Fallback>
      </mc:AlternateContent>
      <p:sp>
        <p:nvSpPr>
          <p:cNvPr id="20" name="TextBox 19">
            <a:extLst>
              <a:ext uri="{FF2B5EF4-FFF2-40B4-BE49-F238E27FC236}">
                <a16:creationId xmlns:a16="http://schemas.microsoft.com/office/drawing/2014/main" id="{0D293135-33F4-37AE-84F2-48D60D7E956B}"/>
              </a:ext>
            </a:extLst>
          </p:cNvPr>
          <p:cNvSpPr txBox="1"/>
          <p:nvPr/>
        </p:nvSpPr>
        <p:spPr>
          <a:xfrm>
            <a:off x="2477791" y="1154093"/>
            <a:ext cx="1255231" cy="523220"/>
          </a:xfrm>
          <a:prstGeom prst="rect">
            <a:avLst/>
          </a:prstGeom>
          <a:solidFill>
            <a:schemeClr val="accent2"/>
          </a:solidFill>
          <a:ln w="38100">
            <a:solidFill>
              <a:schemeClr val="bg2"/>
            </a:solidFill>
          </a:ln>
        </p:spPr>
        <p:txBody>
          <a:bodyPr wrap="square" rtlCol="0">
            <a:spAutoFit/>
          </a:bodyPr>
          <a:lstStyle/>
          <a:p>
            <a:pPr algn="ctr"/>
            <a:r>
              <a:rPr lang="en-US" sz="2800" b="1" dirty="0">
                <a:solidFill>
                  <a:schemeClr val="bg2"/>
                </a:solidFill>
              </a:rPr>
              <a:t>Prior</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9E9AFE2-20EC-F2D0-9510-44096C7005DA}"/>
                  </a:ext>
                </a:extLst>
              </p:cNvPr>
              <p:cNvSpPr txBox="1"/>
              <p:nvPr/>
            </p:nvSpPr>
            <p:spPr>
              <a:xfrm>
                <a:off x="10533997"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𝟑𝟎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28" name="TextBox 27">
                <a:extLst>
                  <a:ext uri="{FF2B5EF4-FFF2-40B4-BE49-F238E27FC236}">
                    <a16:creationId xmlns:a16="http://schemas.microsoft.com/office/drawing/2014/main" id="{29E9AFE2-20EC-F2D0-9510-44096C7005DA}"/>
                  </a:ext>
                </a:extLst>
              </p:cNvPr>
              <p:cNvSpPr txBox="1">
                <a:spLocks noRot="1" noChangeAspect="1" noMove="1" noResize="1" noEditPoints="1" noAdjustHandles="1" noChangeArrowheads="1" noChangeShapeType="1" noTextEdit="1"/>
              </p:cNvSpPr>
              <p:nvPr/>
            </p:nvSpPr>
            <p:spPr>
              <a:xfrm>
                <a:off x="10533997" y="3373981"/>
                <a:ext cx="940490" cy="338554"/>
              </a:xfrm>
              <a:prstGeom prst="rect">
                <a:avLst/>
              </a:prstGeom>
              <a:blipFill>
                <a:blip r:embed="rId9"/>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B2477B3-6D7E-101B-6338-F24FDB9F1085}"/>
                  </a:ext>
                </a:extLst>
              </p:cNvPr>
              <p:cNvSpPr txBox="1"/>
              <p:nvPr/>
            </p:nvSpPr>
            <p:spPr>
              <a:xfrm>
                <a:off x="8526937"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𝟔𝟎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29" name="TextBox 28">
                <a:extLst>
                  <a:ext uri="{FF2B5EF4-FFF2-40B4-BE49-F238E27FC236}">
                    <a16:creationId xmlns:a16="http://schemas.microsoft.com/office/drawing/2014/main" id="{5B2477B3-6D7E-101B-6338-F24FDB9F1085}"/>
                  </a:ext>
                </a:extLst>
              </p:cNvPr>
              <p:cNvSpPr txBox="1">
                <a:spLocks noRot="1" noChangeAspect="1" noMove="1" noResize="1" noEditPoints="1" noAdjustHandles="1" noChangeArrowheads="1" noChangeShapeType="1" noTextEdit="1"/>
              </p:cNvSpPr>
              <p:nvPr/>
            </p:nvSpPr>
            <p:spPr>
              <a:xfrm>
                <a:off x="8526937" y="6188635"/>
                <a:ext cx="940490" cy="338554"/>
              </a:xfrm>
              <a:prstGeom prst="rect">
                <a:avLst/>
              </a:prstGeom>
              <a:blipFill>
                <a:blip r:embed="rId10"/>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BE569AF8-D051-9D24-F8A4-4D0DCF514A09}"/>
                  </a:ext>
                </a:extLst>
              </p:cNvPr>
              <p:cNvSpPr txBox="1"/>
              <p:nvPr/>
            </p:nvSpPr>
            <p:spPr>
              <a:xfrm>
                <a:off x="10533997"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𝟗𝟎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30" name="TextBox 29">
                <a:extLst>
                  <a:ext uri="{FF2B5EF4-FFF2-40B4-BE49-F238E27FC236}">
                    <a16:creationId xmlns:a16="http://schemas.microsoft.com/office/drawing/2014/main" id="{BE569AF8-D051-9D24-F8A4-4D0DCF514A09}"/>
                  </a:ext>
                </a:extLst>
              </p:cNvPr>
              <p:cNvSpPr txBox="1">
                <a:spLocks noRot="1" noChangeAspect="1" noMove="1" noResize="1" noEditPoints="1" noAdjustHandles="1" noChangeArrowheads="1" noChangeShapeType="1" noTextEdit="1"/>
              </p:cNvSpPr>
              <p:nvPr/>
            </p:nvSpPr>
            <p:spPr>
              <a:xfrm>
                <a:off x="10533997" y="6188635"/>
                <a:ext cx="940490" cy="338554"/>
              </a:xfrm>
              <a:prstGeom prst="rect">
                <a:avLst/>
              </a:prstGeom>
              <a:blipFill>
                <a:blip r:embed="rId11"/>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84A58B5-5852-4A4C-3FBF-891AB2996CA3}"/>
                  </a:ext>
                </a:extLst>
              </p:cNvPr>
              <p:cNvSpPr txBox="1"/>
              <p:nvPr/>
            </p:nvSpPr>
            <p:spPr>
              <a:xfrm>
                <a:off x="8526937"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31" name="TextBox 30">
                <a:extLst>
                  <a:ext uri="{FF2B5EF4-FFF2-40B4-BE49-F238E27FC236}">
                    <a16:creationId xmlns:a16="http://schemas.microsoft.com/office/drawing/2014/main" id="{984A58B5-5852-4A4C-3FBF-891AB2996CA3}"/>
                  </a:ext>
                </a:extLst>
              </p:cNvPr>
              <p:cNvSpPr txBox="1">
                <a:spLocks noRot="1" noChangeAspect="1" noMove="1" noResize="1" noEditPoints="1" noAdjustHandles="1" noChangeArrowheads="1" noChangeShapeType="1" noTextEdit="1"/>
              </p:cNvSpPr>
              <p:nvPr/>
            </p:nvSpPr>
            <p:spPr>
              <a:xfrm>
                <a:off x="8526937" y="3373981"/>
                <a:ext cx="940490" cy="338554"/>
              </a:xfrm>
              <a:prstGeom prst="rect">
                <a:avLst/>
              </a:prstGeom>
              <a:blipFill>
                <a:blip r:embed="rId12"/>
                <a:stretch>
                  <a:fillRect b="-8621"/>
                </a:stretch>
              </a:blipFill>
              <a:ln>
                <a:solidFill>
                  <a:schemeClr val="bg2"/>
                </a:solidFill>
              </a:ln>
            </p:spPr>
            <p:txBody>
              <a:bodyPr/>
              <a:lstStyle/>
              <a:p>
                <a:r>
                  <a:rPr lang="en-US">
                    <a:noFill/>
                  </a:rPr>
                  <a:t> </a:t>
                </a:r>
              </a:p>
            </p:txBody>
          </p:sp>
        </mc:Fallback>
      </mc:AlternateContent>
      <p:sp>
        <p:nvSpPr>
          <p:cNvPr id="32" name="TextBox 31">
            <a:extLst>
              <a:ext uri="{FF2B5EF4-FFF2-40B4-BE49-F238E27FC236}">
                <a16:creationId xmlns:a16="http://schemas.microsoft.com/office/drawing/2014/main" id="{F71A3018-A0F5-7EB5-DD4A-54A80E871EBC}"/>
              </a:ext>
            </a:extLst>
          </p:cNvPr>
          <p:cNvSpPr txBox="1"/>
          <p:nvPr/>
        </p:nvSpPr>
        <p:spPr>
          <a:xfrm>
            <a:off x="7235964" y="1154093"/>
            <a:ext cx="1255231" cy="523220"/>
          </a:xfrm>
          <a:prstGeom prst="rect">
            <a:avLst/>
          </a:prstGeom>
          <a:solidFill>
            <a:schemeClr val="accent2"/>
          </a:solidFill>
          <a:ln w="38100">
            <a:solidFill>
              <a:schemeClr val="bg2"/>
            </a:solidFill>
          </a:ln>
        </p:spPr>
        <p:txBody>
          <a:bodyPr wrap="square" rtlCol="0">
            <a:spAutoFit/>
          </a:bodyPr>
          <a:lstStyle/>
          <a:p>
            <a:pPr algn="ctr"/>
            <a:r>
              <a:rPr lang="en-US" sz="2800" b="1" dirty="0">
                <a:solidFill>
                  <a:schemeClr val="bg2"/>
                </a:solidFill>
              </a:rPr>
              <a:t>New</a:t>
            </a:r>
          </a:p>
        </p:txBody>
      </p:sp>
      <p:cxnSp>
        <p:nvCxnSpPr>
          <p:cNvPr id="34" name="Straight Connector 33">
            <a:extLst>
              <a:ext uri="{FF2B5EF4-FFF2-40B4-BE49-F238E27FC236}">
                <a16:creationId xmlns:a16="http://schemas.microsoft.com/office/drawing/2014/main" id="{7345CCB1-1E29-1AFC-0155-6AE7CAE240A1}"/>
              </a:ext>
            </a:extLst>
          </p:cNvPr>
          <p:cNvCxnSpPr>
            <a:cxnSpLocks/>
            <a:stCxn id="26" idx="0"/>
            <a:endCxn id="26" idx="2"/>
          </p:cNvCxnSpPr>
          <p:nvPr/>
        </p:nvCxnSpPr>
        <p:spPr>
          <a:xfrm>
            <a:off x="9540417" y="1151474"/>
            <a:ext cx="0" cy="559834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E5E5BA40-8AC2-6211-F1BE-B4DFD575BFD9}"/>
              </a:ext>
            </a:extLst>
          </p:cNvPr>
          <p:cNvSpPr/>
          <p:nvPr/>
        </p:nvSpPr>
        <p:spPr>
          <a:xfrm>
            <a:off x="7235965" y="1151474"/>
            <a:ext cx="4608904" cy="5598342"/>
          </a:xfrm>
          <a:prstGeom prst="rect">
            <a:avLst/>
          </a:prstGeom>
          <a:no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764774E-E320-9EDB-FF0A-74D20E3E396A}"/>
                  </a:ext>
                </a:extLst>
              </p:cNvPr>
              <p:cNvSpPr txBox="1"/>
              <p:nvPr/>
            </p:nvSpPr>
            <p:spPr>
              <a:xfrm>
                <a:off x="8916284" y="1215648"/>
                <a:ext cx="1255231" cy="461665"/>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𝟓𝟎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27" name="TextBox 26">
                <a:extLst>
                  <a:ext uri="{FF2B5EF4-FFF2-40B4-BE49-F238E27FC236}">
                    <a16:creationId xmlns:a16="http://schemas.microsoft.com/office/drawing/2014/main" id="{A764774E-E320-9EDB-FF0A-74D20E3E396A}"/>
                  </a:ext>
                </a:extLst>
              </p:cNvPr>
              <p:cNvSpPr txBox="1">
                <a:spLocks noRot="1" noChangeAspect="1" noMove="1" noResize="1" noEditPoints="1" noAdjustHandles="1" noChangeArrowheads="1" noChangeShapeType="1" noTextEdit="1"/>
              </p:cNvSpPr>
              <p:nvPr/>
            </p:nvSpPr>
            <p:spPr>
              <a:xfrm>
                <a:off x="8916284" y="1215648"/>
                <a:ext cx="1255231" cy="461665"/>
              </a:xfrm>
              <a:prstGeom prst="rect">
                <a:avLst/>
              </a:prstGeom>
              <a:blipFill>
                <a:blip r:embed="rId13"/>
                <a:stretch>
                  <a:fillRect/>
                </a:stretch>
              </a:blipFill>
              <a:ln>
                <a:solidFill>
                  <a:schemeClr val="bg2"/>
                </a:solidFill>
              </a:ln>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56A8E541-5CCF-8944-F7BA-31BD69F9008E}"/>
              </a:ext>
            </a:extLst>
          </p:cNvPr>
          <p:cNvCxnSpPr>
            <a:cxnSpLocks/>
            <a:stCxn id="21" idx="0"/>
            <a:endCxn id="21" idx="2"/>
          </p:cNvCxnSpPr>
          <p:nvPr/>
        </p:nvCxnSpPr>
        <p:spPr>
          <a:xfrm>
            <a:off x="4770194" y="1154093"/>
            <a:ext cx="0" cy="5570569"/>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9E24BCE-8D37-5EE0-C752-E9C3175C6256}"/>
                  </a:ext>
                </a:extLst>
              </p:cNvPr>
              <p:cNvSpPr txBox="1"/>
              <p:nvPr/>
            </p:nvSpPr>
            <p:spPr>
              <a:xfrm>
                <a:off x="4142579" y="1215648"/>
                <a:ext cx="1255231" cy="461665"/>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𝟓𝟎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4" name="TextBox 13">
                <a:extLst>
                  <a:ext uri="{FF2B5EF4-FFF2-40B4-BE49-F238E27FC236}">
                    <a16:creationId xmlns:a16="http://schemas.microsoft.com/office/drawing/2014/main" id="{69E24BCE-8D37-5EE0-C752-E9C3175C6256}"/>
                  </a:ext>
                </a:extLst>
              </p:cNvPr>
              <p:cNvSpPr txBox="1">
                <a:spLocks noRot="1" noChangeAspect="1" noMove="1" noResize="1" noEditPoints="1" noAdjustHandles="1" noChangeArrowheads="1" noChangeShapeType="1" noTextEdit="1"/>
              </p:cNvSpPr>
              <p:nvPr/>
            </p:nvSpPr>
            <p:spPr>
              <a:xfrm>
                <a:off x="4142579" y="1215648"/>
                <a:ext cx="1255231" cy="461665"/>
              </a:xfrm>
              <a:prstGeom prst="rect">
                <a:avLst/>
              </a:prstGeom>
              <a:blipFill>
                <a:blip r:embed="rId14"/>
                <a:stretch>
                  <a:fillRect/>
                </a:stretch>
              </a:blipFill>
              <a:ln>
                <a:solidFill>
                  <a:schemeClr val="bg2"/>
                </a:solidFill>
              </a:ln>
            </p:spPr>
            <p:txBody>
              <a:bodyPr/>
              <a:lstStyle/>
              <a:p>
                <a:r>
                  <a:rPr lang="en-US">
                    <a:noFill/>
                  </a:rPr>
                  <a:t> </a:t>
                </a:r>
              </a:p>
            </p:txBody>
          </p:sp>
        </mc:Fallback>
      </mc:AlternateContent>
      <p:sp>
        <p:nvSpPr>
          <p:cNvPr id="21" name="Rectangle 20">
            <a:extLst>
              <a:ext uri="{FF2B5EF4-FFF2-40B4-BE49-F238E27FC236}">
                <a16:creationId xmlns:a16="http://schemas.microsoft.com/office/drawing/2014/main" id="{4AB7EBC8-AD0C-8B45-827F-DC36700781BD}"/>
              </a:ext>
            </a:extLst>
          </p:cNvPr>
          <p:cNvSpPr/>
          <p:nvPr/>
        </p:nvSpPr>
        <p:spPr>
          <a:xfrm>
            <a:off x="2477790" y="1154093"/>
            <a:ext cx="4584808" cy="5570569"/>
          </a:xfrm>
          <a:prstGeom prst="rect">
            <a:avLst/>
          </a:prstGeom>
          <a:no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2" name="Text Placeholder 2">
                <a:extLst>
                  <a:ext uri="{FF2B5EF4-FFF2-40B4-BE49-F238E27FC236}">
                    <a16:creationId xmlns:a16="http://schemas.microsoft.com/office/drawing/2014/main" id="{2431F6CD-782D-92BD-4FE7-9F51E324C8E7}"/>
                  </a:ext>
                </a:extLst>
              </p:cNvPr>
              <p:cNvSpPr>
                <a:spLocks noGrp="1"/>
              </p:cNvSpPr>
              <p:nvPr>
                <p:ph type="body" idx="1"/>
              </p:nvPr>
            </p:nvSpPr>
            <p:spPr>
              <a:xfrm>
                <a:off x="0" y="1334500"/>
                <a:ext cx="2476158" cy="5192687"/>
              </a:xfrm>
            </p:spPr>
            <p:txBody>
              <a:bodyPr>
                <a:normAutofit/>
              </a:bodyPr>
              <a:lstStyle/>
              <a:p>
                <a:pPr marL="50800" indent="0">
                  <a:buNone/>
                </a:pPr>
                <a14:m>
                  <m:oMath xmlns:m="http://schemas.openxmlformats.org/officeDocument/2006/math">
                    <m:r>
                      <a:rPr lang="en-US" sz="1600" b="0" i="1" smtClean="0">
                        <a:latin typeface="Cambria Math" panose="02040503050406030204" pitchFamily="18" charset="0"/>
                      </a:rPr>
                      <m:t>𝜙</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0</m:t>
                        </m:r>
                      </m:e>
                      <m:sup>
                        <m:r>
                          <a:rPr lang="en-US" sz="1600" b="0" i="1" smtClean="0">
                            <a:latin typeface="Cambria Math" panose="02040503050406030204" pitchFamily="18" charset="0"/>
                          </a:rPr>
                          <m:t>∘</m:t>
                        </m:r>
                      </m:sup>
                    </m:sSup>
                  </m:oMath>
                </a14:m>
                <a:r>
                  <a:rPr lang="en-US" sz="1600" b="0" dirty="0"/>
                  <a:t> here is good example of </a:t>
                </a:r>
                <a:r>
                  <a:rPr lang="en-US" sz="1600" b="0" dirty="0">
                    <a:highlight>
                      <a:srgbClr val="00FF00"/>
                    </a:highlight>
                  </a:rPr>
                  <a:t>averaging across XZ assumption</a:t>
                </a:r>
                <a:r>
                  <a:rPr lang="en-US" sz="1600" b="0" dirty="0"/>
                  <a:t> (again, separate issue from data processing itself). Note half BRDF scale.</a:t>
                </a:r>
              </a:p>
              <a:p>
                <a:pPr marL="50800" indent="0">
                  <a:buNone/>
                </a:pPr>
                <a:endParaRPr lang="en-US" sz="1600" b="0" dirty="0"/>
              </a:p>
              <a:p>
                <a:pPr marL="50800" indent="0">
                  <a:buNone/>
                </a:pPr>
                <a:r>
                  <a:rPr lang="en-US" sz="1600" b="0" dirty="0"/>
                  <a:t>Same </a:t>
                </a:r>
                <a14:m>
                  <m:oMath xmlns:m="http://schemas.openxmlformats.org/officeDocument/2006/math">
                    <m:r>
                      <a:rPr lang="en-US" sz="1600" b="0" i="1" smtClean="0">
                        <a:latin typeface="Cambria Math" panose="02040503050406030204" pitchFamily="18" charset="0"/>
                      </a:rPr>
                      <m:t>𝜙</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90</m:t>
                        </m:r>
                      </m:e>
                      <m:sup>
                        <m:r>
                          <a:rPr lang="en-US" sz="1600" b="0" i="1" smtClean="0">
                            <a:latin typeface="Cambria Math" panose="02040503050406030204" pitchFamily="18" charset="0"/>
                          </a:rPr>
                          <m:t>∘</m:t>
                        </m:r>
                      </m:sup>
                    </m:sSup>
                  </m:oMath>
                </a14:m>
                <a:r>
                  <a:rPr lang="en-US" sz="1600" b="0" dirty="0"/>
                  <a:t> concern.</a:t>
                </a:r>
              </a:p>
            </p:txBody>
          </p:sp>
        </mc:Choice>
        <mc:Fallback xmlns="">
          <p:sp>
            <p:nvSpPr>
              <p:cNvPr id="22" name="Text Placeholder 2">
                <a:extLst>
                  <a:ext uri="{FF2B5EF4-FFF2-40B4-BE49-F238E27FC236}">
                    <a16:creationId xmlns:a16="http://schemas.microsoft.com/office/drawing/2014/main" id="{2431F6CD-782D-92BD-4FE7-9F51E324C8E7}"/>
                  </a:ext>
                </a:extLst>
              </p:cNvPr>
              <p:cNvSpPr>
                <a:spLocks noGrp="1" noRot="1" noChangeAspect="1" noMove="1" noResize="1" noEditPoints="1" noAdjustHandles="1" noChangeArrowheads="1" noChangeShapeType="1" noTextEdit="1"/>
              </p:cNvSpPr>
              <p:nvPr>
                <p:ph type="body" idx="1"/>
              </p:nvPr>
            </p:nvSpPr>
            <p:spPr>
              <a:xfrm>
                <a:off x="0" y="1334500"/>
                <a:ext cx="2476158" cy="5192687"/>
              </a:xfrm>
              <a:blipFill>
                <a:blip r:embed="rId15"/>
                <a:stretch>
                  <a:fillRect/>
                </a:stretch>
              </a:blipFill>
            </p:spPr>
            <p:txBody>
              <a:bodyPr/>
              <a:lstStyle/>
              <a:p>
                <a:r>
                  <a:rPr lang="en-US">
                    <a:noFill/>
                  </a:rPr>
                  <a:t> </a:t>
                </a:r>
              </a:p>
            </p:txBody>
          </p:sp>
        </mc:Fallback>
      </mc:AlternateContent>
      <p:sp>
        <p:nvSpPr>
          <p:cNvPr id="24" name="Rectangle: Rounded Corners 23">
            <a:extLst>
              <a:ext uri="{FF2B5EF4-FFF2-40B4-BE49-F238E27FC236}">
                <a16:creationId xmlns:a16="http://schemas.microsoft.com/office/drawing/2014/main" id="{2AB2DC5F-1449-EC34-EC95-BE88FD80BAE3}"/>
              </a:ext>
            </a:extLst>
          </p:cNvPr>
          <p:cNvSpPr/>
          <p:nvPr/>
        </p:nvSpPr>
        <p:spPr>
          <a:xfrm>
            <a:off x="4427874" y="1612013"/>
            <a:ext cx="306848" cy="1294487"/>
          </a:xfrm>
          <a:prstGeom prst="roundRect">
            <a:avLst/>
          </a:prstGeom>
          <a:solidFill>
            <a:srgbClr val="00FF00">
              <a:alpha val="20000"/>
            </a:srgbClr>
          </a:solidFill>
          <a:ln w="3810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DB9F2ACC-6B55-41E6-7F74-D1DED2552EF6}"/>
              </a:ext>
            </a:extLst>
          </p:cNvPr>
          <p:cNvSpPr/>
          <p:nvPr/>
        </p:nvSpPr>
        <p:spPr>
          <a:xfrm>
            <a:off x="9141060" y="1612012"/>
            <a:ext cx="306848" cy="1294487"/>
          </a:xfrm>
          <a:prstGeom prst="roundRect">
            <a:avLst/>
          </a:prstGeom>
          <a:solidFill>
            <a:srgbClr val="00FF00">
              <a:alpha val="20000"/>
            </a:srgbClr>
          </a:solidFill>
          <a:ln w="3810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678626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17216-4E40-F4EF-7923-289BC47596F4}"/>
            </a:ext>
          </a:extLst>
        </p:cNvPr>
        <p:cNvGrpSpPr/>
        <p:nvPr/>
      </p:nvGrpSpPr>
      <p:grpSpPr>
        <a:xfrm>
          <a:off x="0" y="0"/>
          <a:ext cx="0" cy="0"/>
          <a:chOff x="0" y="0"/>
          <a:chExt cx="0" cy="0"/>
        </a:xfrm>
      </p:grpSpPr>
      <p:pic>
        <p:nvPicPr>
          <p:cNvPr id="23" name="Picture 22">
            <a:extLst>
              <a:ext uri="{FF2B5EF4-FFF2-40B4-BE49-F238E27FC236}">
                <a16:creationId xmlns:a16="http://schemas.microsoft.com/office/drawing/2014/main" id="{94D23CE1-037A-4A11-1693-6037B5EC3EAD}"/>
              </a:ext>
            </a:extLst>
          </p:cNvPr>
          <p:cNvPicPr>
            <a:picLocks noChangeAspect="1"/>
          </p:cNvPicPr>
          <p:nvPr/>
        </p:nvPicPr>
        <p:blipFill>
          <a:blip r:embed="rId2"/>
          <a:stretch>
            <a:fillRect/>
          </a:stretch>
        </p:blipFill>
        <p:spPr>
          <a:xfrm>
            <a:off x="9527034" y="1151473"/>
            <a:ext cx="2317836" cy="5589024"/>
          </a:xfrm>
          <a:prstGeom prst="rect">
            <a:avLst/>
          </a:prstGeom>
        </p:spPr>
      </p:pic>
      <p:pic>
        <p:nvPicPr>
          <p:cNvPr id="19" name="Picture 18">
            <a:extLst>
              <a:ext uri="{FF2B5EF4-FFF2-40B4-BE49-F238E27FC236}">
                <a16:creationId xmlns:a16="http://schemas.microsoft.com/office/drawing/2014/main" id="{1E3E1F86-ECD7-ABFE-B023-E2A3ED7A52D0}"/>
              </a:ext>
            </a:extLst>
          </p:cNvPr>
          <p:cNvPicPr>
            <a:picLocks noChangeAspect="1"/>
          </p:cNvPicPr>
          <p:nvPr/>
        </p:nvPicPr>
        <p:blipFill>
          <a:blip r:embed="rId3"/>
          <a:stretch>
            <a:fillRect/>
          </a:stretch>
        </p:blipFill>
        <p:spPr>
          <a:xfrm>
            <a:off x="7235298" y="1151473"/>
            <a:ext cx="2265569" cy="5598340"/>
          </a:xfrm>
          <a:prstGeom prst="rect">
            <a:avLst/>
          </a:prstGeom>
        </p:spPr>
      </p:pic>
      <p:pic>
        <p:nvPicPr>
          <p:cNvPr id="6" name="Picture 5">
            <a:extLst>
              <a:ext uri="{FF2B5EF4-FFF2-40B4-BE49-F238E27FC236}">
                <a16:creationId xmlns:a16="http://schemas.microsoft.com/office/drawing/2014/main" id="{807B3946-3F2D-D753-BD09-52088EAD2CA7}"/>
              </a:ext>
            </a:extLst>
          </p:cNvPr>
          <p:cNvPicPr>
            <a:picLocks noChangeAspect="1"/>
          </p:cNvPicPr>
          <p:nvPr/>
        </p:nvPicPr>
        <p:blipFill>
          <a:blip r:embed="rId4"/>
          <a:srcRect l="65847"/>
          <a:stretch>
            <a:fillRect/>
          </a:stretch>
        </p:blipFill>
        <p:spPr>
          <a:xfrm>
            <a:off x="4766485" y="1151473"/>
            <a:ext cx="2295446" cy="5553806"/>
          </a:xfrm>
          <a:prstGeom prst="rect">
            <a:avLst/>
          </a:prstGeom>
        </p:spPr>
      </p:pic>
      <p:pic>
        <p:nvPicPr>
          <p:cNvPr id="3" name="Picture 2">
            <a:extLst>
              <a:ext uri="{FF2B5EF4-FFF2-40B4-BE49-F238E27FC236}">
                <a16:creationId xmlns:a16="http://schemas.microsoft.com/office/drawing/2014/main" id="{B338CDDA-F39C-DDAE-C298-CE63E16D611D}"/>
              </a:ext>
            </a:extLst>
          </p:cNvPr>
          <p:cNvPicPr>
            <a:picLocks noChangeAspect="1"/>
          </p:cNvPicPr>
          <p:nvPr/>
        </p:nvPicPr>
        <p:blipFill>
          <a:blip r:embed="rId4"/>
          <a:srcRect l="-102" r="65949"/>
          <a:stretch>
            <a:fillRect/>
          </a:stretch>
        </p:blipFill>
        <p:spPr>
          <a:xfrm>
            <a:off x="2478459" y="1151474"/>
            <a:ext cx="2303785" cy="5573982"/>
          </a:xfrm>
          <a:prstGeom prst="rect">
            <a:avLst/>
          </a:prstGeom>
        </p:spPr>
      </p:pic>
      <p:sp>
        <p:nvSpPr>
          <p:cNvPr id="2" name="Title 1">
            <a:extLst>
              <a:ext uri="{FF2B5EF4-FFF2-40B4-BE49-F238E27FC236}">
                <a16:creationId xmlns:a16="http://schemas.microsoft.com/office/drawing/2014/main" id="{BC105B1B-FC84-E50E-9A8F-8AAFEFB9DF67}"/>
              </a:ext>
            </a:extLst>
          </p:cNvPr>
          <p:cNvSpPr>
            <a:spLocks noGrp="1"/>
          </p:cNvSpPr>
          <p:nvPr>
            <p:ph type="title"/>
          </p:nvPr>
        </p:nvSpPr>
        <p:spPr>
          <a:xfrm>
            <a:off x="609599" y="152718"/>
            <a:ext cx="9011323" cy="731520"/>
          </a:xfrm>
        </p:spPr>
        <p:txBody>
          <a:bodyPr>
            <a:normAutofit fontScale="90000"/>
          </a:bodyPr>
          <a:lstStyle/>
          <a:p>
            <a:r>
              <a:rPr lang="en-US" dirty="0"/>
              <a:t>Validation test of anisotropic FRED</a:t>
            </a:r>
            <a:br>
              <a:rPr lang="en-US" dirty="0"/>
            </a:br>
            <a:r>
              <a:rPr lang="en-US" sz="2000" dirty="0"/>
              <a:t>(recall prior IMX455 </a:t>
            </a:r>
            <a:r>
              <a:rPr lang="en-US" sz="2000" dirty="0" err="1"/>
              <a:t>Zemax</a:t>
            </a:r>
            <a:r>
              <a:rPr lang="en-US" sz="2000" dirty="0"/>
              <a:t> plots)</a:t>
            </a:r>
            <a:endParaRPr lang="en-US" dirty="0"/>
          </a:p>
        </p:txBody>
      </p:sp>
      <p:cxnSp>
        <p:nvCxnSpPr>
          <p:cNvPr id="5" name="Straight Connector 4">
            <a:extLst>
              <a:ext uri="{FF2B5EF4-FFF2-40B4-BE49-F238E27FC236}">
                <a16:creationId xmlns:a16="http://schemas.microsoft.com/office/drawing/2014/main" id="{B2D3DBB1-7DCA-F559-C809-89C364CC0859}"/>
              </a:ext>
            </a:extLst>
          </p:cNvPr>
          <p:cNvCxnSpPr/>
          <p:nvPr/>
        </p:nvCxnSpPr>
        <p:spPr>
          <a:xfrm>
            <a:off x="287867" y="884238"/>
            <a:ext cx="1143846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7443BA8-58D5-EE42-EA09-60D64B29581A}"/>
                  </a:ext>
                </a:extLst>
              </p:cNvPr>
              <p:cNvSpPr txBox="1"/>
              <p:nvPr/>
            </p:nvSpPr>
            <p:spPr>
              <a:xfrm>
                <a:off x="5775824"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𝟑𝟎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15" name="TextBox 14">
                <a:extLst>
                  <a:ext uri="{FF2B5EF4-FFF2-40B4-BE49-F238E27FC236}">
                    <a16:creationId xmlns:a16="http://schemas.microsoft.com/office/drawing/2014/main" id="{37443BA8-58D5-EE42-EA09-60D64B29581A}"/>
                  </a:ext>
                </a:extLst>
              </p:cNvPr>
              <p:cNvSpPr txBox="1">
                <a:spLocks noRot="1" noChangeAspect="1" noMove="1" noResize="1" noEditPoints="1" noAdjustHandles="1" noChangeArrowheads="1" noChangeShapeType="1" noTextEdit="1"/>
              </p:cNvSpPr>
              <p:nvPr/>
            </p:nvSpPr>
            <p:spPr>
              <a:xfrm>
                <a:off x="5775824" y="3373981"/>
                <a:ext cx="940490" cy="338554"/>
              </a:xfrm>
              <a:prstGeom prst="rect">
                <a:avLst/>
              </a:prstGeom>
              <a:blipFill>
                <a:blip r:embed="rId5"/>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E6D6EC8-4813-CD0F-3F39-C771F84242BB}"/>
                  </a:ext>
                </a:extLst>
              </p:cNvPr>
              <p:cNvSpPr txBox="1"/>
              <p:nvPr/>
            </p:nvSpPr>
            <p:spPr>
              <a:xfrm>
                <a:off x="3768764"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𝟔𝟎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16" name="TextBox 15">
                <a:extLst>
                  <a:ext uri="{FF2B5EF4-FFF2-40B4-BE49-F238E27FC236}">
                    <a16:creationId xmlns:a16="http://schemas.microsoft.com/office/drawing/2014/main" id="{1E6D6EC8-4813-CD0F-3F39-C771F84242BB}"/>
                  </a:ext>
                </a:extLst>
              </p:cNvPr>
              <p:cNvSpPr txBox="1">
                <a:spLocks noRot="1" noChangeAspect="1" noMove="1" noResize="1" noEditPoints="1" noAdjustHandles="1" noChangeArrowheads="1" noChangeShapeType="1" noTextEdit="1"/>
              </p:cNvSpPr>
              <p:nvPr/>
            </p:nvSpPr>
            <p:spPr>
              <a:xfrm>
                <a:off x="3768764" y="6188635"/>
                <a:ext cx="940490" cy="338554"/>
              </a:xfrm>
              <a:prstGeom prst="rect">
                <a:avLst/>
              </a:prstGeom>
              <a:blipFill>
                <a:blip r:embed="rId6"/>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B61E362-2007-C158-0B82-6D0FBA550D23}"/>
                  </a:ext>
                </a:extLst>
              </p:cNvPr>
              <p:cNvSpPr txBox="1"/>
              <p:nvPr/>
            </p:nvSpPr>
            <p:spPr>
              <a:xfrm>
                <a:off x="5775824"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𝟗𝟎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17" name="TextBox 16">
                <a:extLst>
                  <a:ext uri="{FF2B5EF4-FFF2-40B4-BE49-F238E27FC236}">
                    <a16:creationId xmlns:a16="http://schemas.microsoft.com/office/drawing/2014/main" id="{CB61E362-2007-C158-0B82-6D0FBA550D23}"/>
                  </a:ext>
                </a:extLst>
              </p:cNvPr>
              <p:cNvSpPr txBox="1">
                <a:spLocks noRot="1" noChangeAspect="1" noMove="1" noResize="1" noEditPoints="1" noAdjustHandles="1" noChangeArrowheads="1" noChangeShapeType="1" noTextEdit="1"/>
              </p:cNvSpPr>
              <p:nvPr/>
            </p:nvSpPr>
            <p:spPr>
              <a:xfrm>
                <a:off x="5775824" y="6188635"/>
                <a:ext cx="940490" cy="338554"/>
              </a:xfrm>
              <a:prstGeom prst="rect">
                <a:avLst/>
              </a:prstGeom>
              <a:blipFill>
                <a:blip r:embed="rId7"/>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3D79CCE-DFCC-16CA-F93C-72D2308DF37B}"/>
                  </a:ext>
                </a:extLst>
              </p:cNvPr>
              <p:cNvSpPr txBox="1"/>
              <p:nvPr/>
            </p:nvSpPr>
            <p:spPr>
              <a:xfrm>
                <a:off x="3768764"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18" name="TextBox 17">
                <a:extLst>
                  <a:ext uri="{FF2B5EF4-FFF2-40B4-BE49-F238E27FC236}">
                    <a16:creationId xmlns:a16="http://schemas.microsoft.com/office/drawing/2014/main" id="{B3D79CCE-DFCC-16CA-F93C-72D2308DF37B}"/>
                  </a:ext>
                </a:extLst>
              </p:cNvPr>
              <p:cNvSpPr txBox="1">
                <a:spLocks noRot="1" noChangeAspect="1" noMove="1" noResize="1" noEditPoints="1" noAdjustHandles="1" noChangeArrowheads="1" noChangeShapeType="1" noTextEdit="1"/>
              </p:cNvSpPr>
              <p:nvPr/>
            </p:nvSpPr>
            <p:spPr>
              <a:xfrm>
                <a:off x="3768764" y="3373981"/>
                <a:ext cx="940490" cy="338554"/>
              </a:xfrm>
              <a:prstGeom prst="rect">
                <a:avLst/>
              </a:prstGeom>
              <a:blipFill>
                <a:blip r:embed="rId8"/>
                <a:stretch>
                  <a:fillRect b="-8621"/>
                </a:stretch>
              </a:blipFill>
              <a:ln>
                <a:solidFill>
                  <a:schemeClr val="bg2"/>
                </a:solidFill>
              </a:ln>
            </p:spPr>
            <p:txBody>
              <a:bodyPr/>
              <a:lstStyle/>
              <a:p>
                <a:r>
                  <a:rPr lang="en-US">
                    <a:noFill/>
                  </a:rPr>
                  <a:t> </a:t>
                </a:r>
              </a:p>
            </p:txBody>
          </p:sp>
        </mc:Fallback>
      </mc:AlternateContent>
      <p:sp>
        <p:nvSpPr>
          <p:cNvPr id="20" name="TextBox 19">
            <a:extLst>
              <a:ext uri="{FF2B5EF4-FFF2-40B4-BE49-F238E27FC236}">
                <a16:creationId xmlns:a16="http://schemas.microsoft.com/office/drawing/2014/main" id="{B40C1383-990E-2E82-FC35-CBCB7AD11516}"/>
              </a:ext>
            </a:extLst>
          </p:cNvPr>
          <p:cNvSpPr txBox="1"/>
          <p:nvPr/>
        </p:nvSpPr>
        <p:spPr>
          <a:xfrm>
            <a:off x="2477791" y="1154093"/>
            <a:ext cx="1255231" cy="523220"/>
          </a:xfrm>
          <a:prstGeom prst="rect">
            <a:avLst/>
          </a:prstGeom>
          <a:solidFill>
            <a:schemeClr val="accent2"/>
          </a:solidFill>
          <a:ln w="38100">
            <a:solidFill>
              <a:schemeClr val="bg2"/>
            </a:solidFill>
          </a:ln>
        </p:spPr>
        <p:txBody>
          <a:bodyPr wrap="square" rtlCol="0">
            <a:spAutoFit/>
          </a:bodyPr>
          <a:lstStyle/>
          <a:p>
            <a:pPr algn="ctr"/>
            <a:r>
              <a:rPr lang="en-US" sz="2800" b="1" dirty="0">
                <a:solidFill>
                  <a:schemeClr val="bg2"/>
                </a:solidFill>
              </a:rPr>
              <a:t>Prior</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54C3C93-F962-85CF-CCF3-8C7F4253DB0F}"/>
                  </a:ext>
                </a:extLst>
              </p:cNvPr>
              <p:cNvSpPr txBox="1"/>
              <p:nvPr/>
            </p:nvSpPr>
            <p:spPr>
              <a:xfrm>
                <a:off x="10533997"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𝟑𝟎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28" name="TextBox 27">
                <a:extLst>
                  <a:ext uri="{FF2B5EF4-FFF2-40B4-BE49-F238E27FC236}">
                    <a16:creationId xmlns:a16="http://schemas.microsoft.com/office/drawing/2014/main" id="{254C3C93-F962-85CF-CCF3-8C7F4253DB0F}"/>
                  </a:ext>
                </a:extLst>
              </p:cNvPr>
              <p:cNvSpPr txBox="1">
                <a:spLocks noRot="1" noChangeAspect="1" noMove="1" noResize="1" noEditPoints="1" noAdjustHandles="1" noChangeArrowheads="1" noChangeShapeType="1" noTextEdit="1"/>
              </p:cNvSpPr>
              <p:nvPr/>
            </p:nvSpPr>
            <p:spPr>
              <a:xfrm>
                <a:off x="10533997" y="3373981"/>
                <a:ext cx="940490" cy="338554"/>
              </a:xfrm>
              <a:prstGeom prst="rect">
                <a:avLst/>
              </a:prstGeom>
              <a:blipFill>
                <a:blip r:embed="rId9"/>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E5DCE1B-D2C0-3A02-E1EB-DB8A620A890D}"/>
                  </a:ext>
                </a:extLst>
              </p:cNvPr>
              <p:cNvSpPr txBox="1"/>
              <p:nvPr/>
            </p:nvSpPr>
            <p:spPr>
              <a:xfrm>
                <a:off x="8526937"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𝟔𝟎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29" name="TextBox 28">
                <a:extLst>
                  <a:ext uri="{FF2B5EF4-FFF2-40B4-BE49-F238E27FC236}">
                    <a16:creationId xmlns:a16="http://schemas.microsoft.com/office/drawing/2014/main" id="{AE5DCE1B-D2C0-3A02-E1EB-DB8A620A890D}"/>
                  </a:ext>
                </a:extLst>
              </p:cNvPr>
              <p:cNvSpPr txBox="1">
                <a:spLocks noRot="1" noChangeAspect="1" noMove="1" noResize="1" noEditPoints="1" noAdjustHandles="1" noChangeArrowheads="1" noChangeShapeType="1" noTextEdit="1"/>
              </p:cNvSpPr>
              <p:nvPr/>
            </p:nvSpPr>
            <p:spPr>
              <a:xfrm>
                <a:off x="8526937" y="6188635"/>
                <a:ext cx="940490" cy="338554"/>
              </a:xfrm>
              <a:prstGeom prst="rect">
                <a:avLst/>
              </a:prstGeom>
              <a:blipFill>
                <a:blip r:embed="rId10"/>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B347A38F-EB9B-8F9E-AFE7-60C78D52224E}"/>
                  </a:ext>
                </a:extLst>
              </p:cNvPr>
              <p:cNvSpPr txBox="1"/>
              <p:nvPr/>
            </p:nvSpPr>
            <p:spPr>
              <a:xfrm>
                <a:off x="10533997"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𝟗𝟎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30" name="TextBox 29">
                <a:extLst>
                  <a:ext uri="{FF2B5EF4-FFF2-40B4-BE49-F238E27FC236}">
                    <a16:creationId xmlns:a16="http://schemas.microsoft.com/office/drawing/2014/main" id="{B347A38F-EB9B-8F9E-AFE7-60C78D52224E}"/>
                  </a:ext>
                </a:extLst>
              </p:cNvPr>
              <p:cNvSpPr txBox="1">
                <a:spLocks noRot="1" noChangeAspect="1" noMove="1" noResize="1" noEditPoints="1" noAdjustHandles="1" noChangeArrowheads="1" noChangeShapeType="1" noTextEdit="1"/>
              </p:cNvSpPr>
              <p:nvPr/>
            </p:nvSpPr>
            <p:spPr>
              <a:xfrm>
                <a:off x="10533997" y="6188635"/>
                <a:ext cx="940490" cy="338554"/>
              </a:xfrm>
              <a:prstGeom prst="rect">
                <a:avLst/>
              </a:prstGeom>
              <a:blipFill>
                <a:blip r:embed="rId11"/>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C02400F-FA67-E323-89FD-659E57C9E431}"/>
                  </a:ext>
                </a:extLst>
              </p:cNvPr>
              <p:cNvSpPr txBox="1"/>
              <p:nvPr/>
            </p:nvSpPr>
            <p:spPr>
              <a:xfrm>
                <a:off x="8526937"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31" name="TextBox 30">
                <a:extLst>
                  <a:ext uri="{FF2B5EF4-FFF2-40B4-BE49-F238E27FC236}">
                    <a16:creationId xmlns:a16="http://schemas.microsoft.com/office/drawing/2014/main" id="{BC02400F-FA67-E323-89FD-659E57C9E431}"/>
                  </a:ext>
                </a:extLst>
              </p:cNvPr>
              <p:cNvSpPr txBox="1">
                <a:spLocks noRot="1" noChangeAspect="1" noMove="1" noResize="1" noEditPoints="1" noAdjustHandles="1" noChangeArrowheads="1" noChangeShapeType="1" noTextEdit="1"/>
              </p:cNvSpPr>
              <p:nvPr/>
            </p:nvSpPr>
            <p:spPr>
              <a:xfrm>
                <a:off x="8526937" y="3373981"/>
                <a:ext cx="940490" cy="338554"/>
              </a:xfrm>
              <a:prstGeom prst="rect">
                <a:avLst/>
              </a:prstGeom>
              <a:blipFill>
                <a:blip r:embed="rId12"/>
                <a:stretch>
                  <a:fillRect b="-8621"/>
                </a:stretch>
              </a:blipFill>
              <a:ln>
                <a:solidFill>
                  <a:schemeClr val="bg2"/>
                </a:solidFill>
              </a:ln>
            </p:spPr>
            <p:txBody>
              <a:bodyPr/>
              <a:lstStyle/>
              <a:p>
                <a:r>
                  <a:rPr lang="en-US">
                    <a:noFill/>
                  </a:rPr>
                  <a:t> </a:t>
                </a:r>
              </a:p>
            </p:txBody>
          </p:sp>
        </mc:Fallback>
      </mc:AlternateContent>
      <p:sp>
        <p:nvSpPr>
          <p:cNvPr id="32" name="TextBox 31">
            <a:extLst>
              <a:ext uri="{FF2B5EF4-FFF2-40B4-BE49-F238E27FC236}">
                <a16:creationId xmlns:a16="http://schemas.microsoft.com/office/drawing/2014/main" id="{8F35806A-EED5-797D-3DB6-984AD01476DE}"/>
              </a:ext>
            </a:extLst>
          </p:cNvPr>
          <p:cNvSpPr txBox="1"/>
          <p:nvPr/>
        </p:nvSpPr>
        <p:spPr>
          <a:xfrm>
            <a:off x="7235964" y="1154093"/>
            <a:ext cx="1255231" cy="523220"/>
          </a:xfrm>
          <a:prstGeom prst="rect">
            <a:avLst/>
          </a:prstGeom>
          <a:solidFill>
            <a:schemeClr val="accent2"/>
          </a:solidFill>
          <a:ln w="38100">
            <a:solidFill>
              <a:schemeClr val="bg2"/>
            </a:solidFill>
          </a:ln>
        </p:spPr>
        <p:txBody>
          <a:bodyPr wrap="square" rtlCol="0">
            <a:spAutoFit/>
          </a:bodyPr>
          <a:lstStyle/>
          <a:p>
            <a:pPr algn="ctr"/>
            <a:r>
              <a:rPr lang="en-US" sz="2800" b="1" dirty="0">
                <a:solidFill>
                  <a:schemeClr val="bg2"/>
                </a:solidFill>
              </a:rPr>
              <a:t>New</a:t>
            </a:r>
          </a:p>
        </p:txBody>
      </p:sp>
      <p:cxnSp>
        <p:nvCxnSpPr>
          <p:cNvPr id="34" name="Straight Connector 33">
            <a:extLst>
              <a:ext uri="{FF2B5EF4-FFF2-40B4-BE49-F238E27FC236}">
                <a16:creationId xmlns:a16="http://schemas.microsoft.com/office/drawing/2014/main" id="{F7A4567C-57F0-4AA3-82EB-28550332D4B1}"/>
              </a:ext>
            </a:extLst>
          </p:cNvPr>
          <p:cNvCxnSpPr>
            <a:cxnSpLocks/>
            <a:stCxn id="26" idx="0"/>
            <a:endCxn id="26" idx="2"/>
          </p:cNvCxnSpPr>
          <p:nvPr/>
        </p:nvCxnSpPr>
        <p:spPr>
          <a:xfrm>
            <a:off x="9540417" y="1151474"/>
            <a:ext cx="0" cy="559834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65D5A8C5-7CBD-8EFD-A32F-A44A728CB307}"/>
              </a:ext>
            </a:extLst>
          </p:cNvPr>
          <p:cNvSpPr/>
          <p:nvPr/>
        </p:nvSpPr>
        <p:spPr>
          <a:xfrm>
            <a:off x="7235965" y="1151474"/>
            <a:ext cx="4608904" cy="5598342"/>
          </a:xfrm>
          <a:prstGeom prst="rect">
            <a:avLst/>
          </a:prstGeom>
          <a:no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16A5CCFB-48F9-D2EE-323F-FD951E4322DD}"/>
              </a:ext>
            </a:extLst>
          </p:cNvPr>
          <p:cNvCxnSpPr>
            <a:cxnSpLocks/>
            <a:stCxn id="21" idx="0"/>
            <a:endCxn id="21" idx="2"/>
          </p:cNvCxnSpPr>
          <p:nvPr/>
        </p:nvCxnSpPr>
        <p:spPr>
          <a:xfrm>
            <a:off x="4770194" y="1154093"/>
            <a:ext cx="0" cy="5570569"/>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2443F0DC-744C-CE94-9F20-60AEA8585B38}"/>
              </a:ext>
            </a:extLst>
          </p:cNvPr>
          <p:cNvSpPr/>
          <p:nvPr/>
        </p:nvSpPr>
        <p:spPr>
          <a:xfrm>
            <a:off x="2477790" y="1154093"/>
            <a:ext cx="4584808" cy="5570569"/>
          </a:xfrm>
          <a:prstGeom prst="rect">
            <a:avLst/>
          </a:prstGeom>
          <a:no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B108E5B-BC92-7378-5666-B530F777160B}"/>
                  </a:ext>
                </a:extLst>
              </p:cNvPr>
              <p:cNvSpPr txBox="1"/>
              <p:nvPr/>
            </p:nvSpPr>
            <p:spPr>
              <a:xfrm>
                <a:off x="8916284" y="1215648"/>
                <a:ext cx="1255231" cy="461665"/>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𝟕𝟎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1" name="TextBox 10">
                <a:extLst>
                  <a:ext uri="{FF2B5EF4-FFF2-40B4-BE49-F238E27FC236}">
                    <a16:creationId xmlns:a16="http://schemas.microsoft.com/office/drawing/2014/main" id="{9B108E5B-BC92-7378-5666-B530F777160B}"/>
                  </a:ext>
                </a:extLst>
              </p:cNvPr>
              <p:cNvSpPr txBox="1">
                <a:spLocks noRot="1" noChangeAspect="1" noMove="1" noResize="1" noEditPoints="1" noAdjustHandles="1" noChangeArrowheads="1" noChangeShapeType="1" noTextEdit="1"/>
              </p:cNvSpPr>
              <p:nvPr/>
            </p:nvSpPr>
            <p:spPr>
              <a:xfrm>
                <a:off x="8916284" y="1215648"/>
                <a:ext cx="1255231" cy="461665"/>
              </a:xfrm>
              <a:prstGeom prst="rect">
                <a:avLst/>
              </a:prstGeom>
              <a:blipFill>
                <a:blip r:embed="rId13"/>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01139C5-6585-C3DB-E84C-703FD78C38CE}"/>
                  </a:ext>
                </a:extLst>
              </p:cNvPr>
              <p:cNvSpPr txBox="1"/>
              <p:nvPr/>
            </p:nvSpPr>
            <p:spPr>
              <a:xfrm>
                <a:off x="4142579" y="1215648"/>
                <a:ext cx="1255231" cy="461665"/>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𝟕𝟎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2" name="TextBox 11">
                <a:extLst>
                  <a:ext uri="{FF2B5EF4-FFF2-40B4-BE49-F238E27FC236}">
                    <a16:creationId xmlns:a16="http://schemas.microsoft.com/office/drawing/2014/main" id="{D01139C5-6585-C3DB-E84C-703FD78C38CE}"/>
                  </a:ext>
                </a:extLst>
              </p:cNvPr>
              <p:cNvSpPr txBox="1">
                <a:spLocks noRot="1" noChangeAspect="1" noMove="1" noResize="1" noEditPoints="1" noAdjustHandles="1" noChangeArrowheads="1" noChangeShapeType="1" noTextEdit="1"/>
              </p:cNvSpPr>
              <p:nvPr/>
            </p:nvSpPr>
            <p:spPr>
              <a:xfrm>
                <a:off x="4142579" y="1215648"/>
                <a:ext cx="1255231" cy="461665"/>
              </a:xfrm>
              <a:prstGeom prst="rect">
                <a:avLst/>
              </a:prstGeom>
              <a:blipFill>
                <a:blip r:embed="rId14"/>
                <a:stretch>
                  <a:fillRect/>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 Placeholder 2">
                <a:extLst>
                  <a:ext uri="{FF2B5EF4-FFF2-40B4-BE49-F238E27FC236}">
                    <a16:creationId xmlns:a16="http://schemas.microsoft.com/office/drawing/2014/main" id="{E3D6F237-3153-0E5A-332E-0917C6D215AD}"/>
                  </a:ext>
                </a:extLst>
              </p:cNvPr>
              <p:cNvSpPr>
                <a:spLocks noGrp="1"/>
              </p:cNvSpPr>
              <p:nvPr>
                <p:ph type="body" idx="1"/>
              </p:nvPr>
            </p:nvSpPr>
            <p:spPr>
              <a:xfrm>
                <a:off x="0" y="1334500"/>
                <a:ext cx="2476158" cy="5192687"/>
              </a:xfrm>
            </p:spPr>
            <p:txBody>
              <a:bodyPr>
                <a:normAutofit/>
              </a:bodyPr>
              <a:lstStyle/>
              <a:p>
                <a:pPr marL="50800" indent="0">
                  <a:buNone/>
                </a:pPr>
                <a14:m>
                  <m:oMath xmlns:m="http://schemas.openxmlformats.org/officeDocument/2006/math">
                    <m:r>
                      <a:rPr lang="en-US" sz="1600" b="0" i="1" smtClean="0">
                        <a:latin typeface="Cambria Math" panose="02040503050406030204" pitchFamily="18" charset="0"/>
                      </a:rPr>
                      <m:t>𝜙</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0</m:t>
                        </m:r>
                      </m:e>
                      <m:sup>
                        <m:r>
                          <a:rPr lang="en-US" sz="1600" b="0" i="1" smtClean="0">
                            <a:latin typeface="Cambria Math" panose="02040503050406030204" pitchFamily="18" charset="0"/>
                          </a:rPr>
                          <m:t>∘</m:t>
                        </m:r>
                      </m:sup>
                    </m:sSup>
                  </m:oMath>
                </a14:m>
                <a:r>
                  <a:rPr lang="en-US" sz="1600" b="0" dirty="0"/>
                  <a:t> here is good example of </a:t>
                </a:r>
                <a:r>
                  <a:rPr lang="en-US" sz="1600" b="0" dirty="0">
                    <a:highlight>
                      <a:srgbClr val="00FF00"/>
                    </a:highlight>
                  </a:rPr>
                  <a:t>averaging across XZ assumption</a:t>
                </a:r>
                <a:r>
                  <a:rPr lang="en-US" sz="1600" b="0" dirty="0"/>
                  <a:t> (again, separate issue from data processing itself). Note half BRDF scale.</a:t>
                </a:r>
              </a:p>
              <a:p>
                <a:pPr marL="50800" indent="0">
                  <a:buNone/>
                </a:pPr>
                <a:endParaRPr lang="en-US" sz="1600" b="0" dirty="0"/>
              </a:p>
              <a:p>
                <a:pPr marL="50800" indent="0">
                  <a:buNone/>
                </a:pPr>
                <a:r>
                  <a:rPr lang="en-US" sz="1600" b="0" dirty="0"/>
                  <a:t>Same </a:t>
                </a:r>
                <a14:m>
                  <m:oMath xmlns:m="http://schemas.openxmlformats.org/officeDocument/2006/math">
                    <m:r>
                      <a:rPr lang="en-US" sz="1600" b="0" i="1" smtClean="0">
                        <a:latin typeface="Cambria Math" panose="02040503050406030204" pitchFamily="18" charset="0"/>
                      </a:rPr>
                      <m:t>𝜙</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90</m:t>
                        </m:r>
                      </m:e>
                      <m:sup>
                        <m:r>
                          <a:rPr lang="en-US" sz="1600" b="0" i="1" smtClean="0">
                            <a:latin typeface="Cambria Math" panose="02040503050406030204" pitchFamily="18" charset="0"/>
                          </a:rPr>
                          <m:t>∘</m:t>
                        </m:r>
                      </m:sup>
                    </m:sSup>
                  </m:oMath>
                </a14:m>
                <a:r>
                  <a:rPr lang="en-US" sz="1600" b="0" dirty="0"/>
                  <a:t> concern.</a:t>
                </a:r>
              </a:p>
            </p:txBody>
          </p:sp>
        </mc:Choice>
        <mc:Fallback xmlns="">
          <p:sp>
            <p:nvSpPr>
              <p:cNvPr id="24" name="Text Placeholder 2">
                <a:extLst>
                  <a:ext uri="{FF2B5EF4-FFF2-40B4-BE49-F238E27FC236}">
                    <a16:creationId xmlns:a16="http://schemas.microsoft.com/office/drawing/2014/main" id="{E3D6F237-3153-0E5A-332E-0917C6D215AD}"/>
                  </a:ext>
                </a:extLst>
              </p:cNvPr>
              <p:cNvSpPr>
                <a:spLocks noGrp="1" noRot="1" noChangeAspect="1" noMove="1" noResize="1" noEditPoints="1" noAdjustHandles="1" noChangeArrowheads="1" noChangeShapeType="1" noTextEdit="1"/>
              </p:cNvSpPr>
              <p:nvPr>
                <p:ph type="body" idx="1"/>
              </p:nvPr>
            </p:nvSpPr>
            <p:spPr>
              <a:xfrm>
                <a:off x="0" y="1334500"/>
                <a:ext cx="2476158" cy="5192687"/>
              </a:xfrm>
              <a:blipFill>
                <a:blip r:embed="rId15"/>
                <a:stretch>
                  <a:fillRect/>
                </a:stretch>
              </a:blipFill>
            </p:spPr>
            <p:txBody>
              <a:bodyPr/>
              <a:lstStyle/>
              <a:p>
                <a:r>
                  <a:rPr lang="en-US">
                    <a:noFill/>
                  </a:rPr>
                  <a:t> </a:t>
                </a:r>
              </a:p>
            </p:txBody>
          </p:sp>
        </mc:Fallback>
      </mc:AlternateContent>
      <p:sp>
        <p:nvSpPr>
          <p:cNvPr id="25" name="Rectangle: Rounded Corners 24">
            <a:extLst>
              <a:ext uri="{FF2B5EF4-FFF2-40B4-BE49-F238E27FC236}">
                <a16:creationId xmlns:a16="http://schemas.microsoft.com/office/drawing/2014/main" id="{BEC86E5B-B71D-5D28-5E27-3E1323C5602B}"/>
              </a:ext>
            </a:extLst>
          </p:cNvPr>
          <p:cNvSpPr/>
          <p:nvPr/>
        </p:nvSpPr>
        <p:spPr>
          <a:xfrm>
            <a:off x="4427874" y="1612013"/>
            <a:ext cx="306848" cy="1294487"/>
          </a:xfrm>
          <a:prstGeom prst="roundRect">
            <a:avLst/>
          </a:prstGeom>
          <a:solidFill>
            <a:srgbClr val="00FF00">
              <a:alpha val="20000"/>
            </a:srgbClr>
          </a:solidFill>
          <a:ln w="3810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5CEFC5C7-0CAC-7455-FEC9-FDB8944031FE}"/>
              </a:ext>
            </a:extLst>
          </p:cNvPr>
          <p:cNvSpPr/>
          <p:nvPr/>
        </p:nvSpPr>
        <p:spPr>
          <a:xfrm>
            <a:off x="9124126" y="1612012"/>
            <a:ext cx="306848" cy="1294487"/>
          </a:xfrm>
          <a:prstGeom prst="roundRect">
            <a:avLst/>
          </a:prstGeom>
          <a:solidFill>
            <a:srgbClr val="00FF00">
              <a:alpha val="20000"/>
            </a:srgbClr>
          </a:solidFill>
          <a:ln w="3810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961605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43778-D170-9FD0-C267-5EF12E42C0B6}"/>
            </a:ext>
          </a:extLst>
        </p:cNvPr>
        <p:cNvGrpSpPr/>
        <p:nvPr/>
      </p:nvGrpSpPr>
      <p:grpSpPr>
        <a:xfrm>
          <a:off x="0" y="0"/>
          <a:ext cx="0" cy="0"/>
          <a:chOff x="0" y="0"/>
          <a:chExt cx="0" cy="0"/>
        </a:xfrm>
      </p:grpSpPr>
      <p:pic>
        <p:nvPicPr>
          <p:cNvPr id="60" name="Picture 59">
            <a:extLst>
              <a:ext uri="{FF2B5EF4-FFF2-40B4-BE49-F238E27FC236}">
                <a16:creationId xmlns:a16="http://schemas.microsoft.com/office/drawing/2014/main" id="{648987B0-8F22-67AF-D6E8-864723756880}"/>
              </a:ext>
            </a:extLst>
          </p:cNvPr>
          <p:cNvPicPr>
            <a:picLocks noChangeAspect="1"/>
          </p:cNvPicPr>
          <p:nvPr/>
        </p:nvPicPr>
        <p:blipFill>
          <a:blip r:embed="rId2"/>
          <a:stretch>
            <a:fillRect/>
          </a:stretch>
        </p:blipFill>
        <p:spPr>
          <a:xfrm>
            <a:off x="2482586" y="1151472"/>
            <a:ext cx="2301068" cy="5555947"/>
          </a:xfrm>
          <a:prstGeom prst="rect">
            <a:avLst/>
          </a:prstGeom>
        </p:spPr>
      </p:pic>
      <p:pic>
        <p:nvPicPr>
          <p:cNvPr id="58" name="Picture 57">
            <a:extLst>
              <a:ext uri="{FF2B5EF4-FFF2-40B4-BE49-F238E27FC236}">
                <a16:creationId xmlns:a16="http://schemas.microsoft.com/office/drawing/2014/main" id="{72AA01DD-A2DC-9921-F903-D2F5CECE3074}"/>
              </a:ext>
            </a:extLst>
          </p:cNvPr>
          <p:cNvPicPr>
            <a:picLocks noChangeAspect="1"/>
          </p:cNvPicPr>
          <p:nvPr/>
        </p:nvPicPr>
        <p:blipFill>
          <a:blip r:embed="rId3"/>
          <a:stretch>
            <a:fillRect/>
          </a:stretch>
        </p:blipFill>
        <p:spPr>
          <a:xfrm>
            <a:off x="4795603" y="1151472"/>
            <a:ext cx="2266072" cy="5572990"/>
          </a:xfrm>
          <a:prstGeom prst="rect">
            <a:avLst/>
          </a:prstGeom>
        </p:spPr>
      </p:pic>
      <p:pic>
        <p:nvPicPr>
          <p:cNvPr id="44" name="Picture 43">
            <a:extLst>
              <a:ext uri="{FF2B5EF4-FFF2-40B4-BE49-F238E27FC236}">
                <a16:creationId xmlns:a16="http://schemas.microsoft.com/office/drawing/2014/main" id="{4756AD25-65CC-1AC7-F447-C2909F25A7C7}"/>
              </a:ext>
            </a:extLst>
          </p:cNvPr>
          <p:cNvPicPr>
            <a:picLocks noChangeAspect="1"/>
          </p:cNvPicPr>
          <p:nvPr/>
        </p:nvPicPr>
        <p:blipFill>
          <a:blip r:embed="rId4"/>
          <a:stretch>
            <a:fillRect/>
          </a:stretch>
        </p:blipFill>
        <p:spPr>
          <a:xfrm>
            <a:off x="9551927" y="1151473"/>
            <a:ext cx="2285521" cy="5568358"/>
          </a:xfrm>
          <a:prstGeom prst="rect">
            <a:avLst/>
          </a:prstGeom>
        </p:spPr>
      </p:pic>
      <p:pic>
        <p:nvPicPr>
          <p:cNvPr id="10" name="Picture 9">
            <a:extLst>
              <a:ext uri="{FF2B5EF4-FFF2-40B4-BE49-F238E27FC236}">
                <a16:creationId xmlns:a16="http://schemas.microsoft.com/office/drawing/2014/main" id="{806BBAD6-FF40-9536-1242-6CC8648A155F}"/>
              </a:ext>
            </a:extLst>
          </p:cNvPr>
          <p:cNvPicPr>
            <a:picLocks noChangeAspect="1"/>
          </p:cNvPicPr>
          <p:nvPr/>
        </p:nvPicPr>
        <p:blipFill>
          <a:blip r:embed="rId5"/>
          <a:stretch>
            <a:fillRect/>
          </a:stretch>
        </p:blipFill>
        <p:spPr>
          <a:xfrm>
            <a:off x="7229537" y="1185334"/>
            <a:ext cx="2322829" cy="5534497"/>
          </a:xfrm>
          <a:prstGeom prst="rect">
            <a:avLst/>
          </a:prstGeom>
        </p:spPr>
      </p:pic>
      <p:sp>
        <p:nvSpPr>
          <p:cNvPr id="2" name="Title 1">
            <a:extLst>
              <a:ext uri="{FF2B5EF4-FFF2-40B4-BE49-F238E27FC236}">
                <a16:creationId xmlns:a16="http://schemas.microsoft.com/office/drawing/2014/main" id="{19CA7564-F01B-D814-3BCB-6ADC6575FD6E}"/>
              </a:ext>
            </a:extLst>
          </p:cNvPr>
          <p:cNvSpPr>
            <a:spLocks noGrp="1"/>
          </p:cNvSpPr>
          <p:nvPr>
            <p:ph type="title"/>
          </p:nvPr>
        </p:nvSpPr>
        <p:spPr>
          <a:xfrm>
            <a:off x="609599" y="152718"/>
            <a:ext cx="9011323" cy="731520"/>
          </a:xfrm>
        </p:spPr>
        <p:txBody>
          <a:bodyPr>
            <a:normAutofit fontScale="90000"/>
          </a:bodyPr>
          <a:lstStyle/>
          <a:p>
            <a:r>
              <a:rPr lang="en-US" dirty="0"/>
              <a:t>Validation test of anisotropic FRED</a:t>
            </a:r>
            <a:br>
              <a:rPr lang="en-US" dirty="0"/>
            </a:br>
            <a:r>
              <a:rPr lang="en-US" sz="2000" dirty="0"/>
              <a:t>(recall prior IMX455 </a:t>
            </a:r>
            <a:r>
              <a:rPr lang="en-US" sz="2000" dirty="0" err="1"/>
              <a:t>Zemax</a:t>
            </a:r>
            <a:r>
              <a:rPr lang="en-US" sz="2000" dirty="0"/>
              <a:t> plots)</a:t>
            </a:r>
            <a:endParaRPr lang="en-US" dirty="0"/>
          </a:p>
        </p:txBody>
      </p:sp>
      <p:cxnSp>
        <p:nvCxnSpPr>
          <p:cNvPr id="5" name="Straight Connector 4">
            <a:extLst>
              <a:ext uri="{FF2B5EF4-FFF2-40B4-BE49-F238E27FC236}">
                <a16:creationId xmlns:a16="http://schemas.microsoft.com/office/drawing/2014/main" id="{90FAF3A0-9219-03F7-FEE3-B104918EA3EE}"/>
              </a:ext>
            </a:extLst>
          </p:cNvPr>
          <p:cNvCxnSpPr/>
          <p:nvPr/>
        </p:nvCxnSpPr>
        <p:spPr>
          <a:xfrm>
            <a:off x="287867" y="884238"/>
            <a:ext cx="1143846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0A74003-0A35-22A3-FD20-4BB1D58107DD}"/>
                  </a:ext>
                </a:extLst>
              </p:cNvPr>
              <p:cNvSpPr txBox="1"/>
              <p:nvPr/>
            </p:nvSpPr>
            <p:spPr>
              <a:xfrm>
                <a:off x="10533997"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27" name="TextBox 26">
                <a:extLst>
                  <a:ext uri="{FF2B5EF4-FFF2-40B4-BE49-F238E27FC236}">
                    <a16:creationId xmlns:a16="http://schemas.microsoft.com/office/drawing/2014/main" id="{20A74003-0A35-22A3-FD20-4BB1D58107DD}"/>
                  </a:ext>
                </a:extLst>
              </p:cNvPr>
              <p:cNvSpPr txBox="1">
                <a:spLocks noRot="1" noChangeAspect="1" noMove="1" noResize="1" noEditPoints="1" noAdjustHandles="1" noChangeArrowheads="1" noChangeShapeType="1" noTextEdit="1"/>
              </p:cNvSpPr>
              <p:nvPr/>
            </p:nvSpPr>
            <p:spPr>
              <a:xfrm>
                <a:off x="10533997" y="3373981"/>
                <a:ext cx="940490" cy="338554"/>
              </a:xfrm>
              <a:prstGeom prst="rect">
                <a:avLst/>
              </a:prstGeom>
              <a:blipFill>
                <a:blip r:embed="rId6"/>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47F43CE-E592-1084-6CD8-A2DE9DB1E798}"/>
                  </a:ext>
                </a:extLst>
              </p:cNvPr>
              <p:cNvSpPr txBox="1"/>
              <p:nvPr/>
            </p:nvSpPr>
            <p:spPr>
              <a:xfrm>
                <a:off x="8407400" y="6188635"/>
                <a:ext cx="1060027"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𝟏𝟖𝟎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35" name="TextBox 34">
                <a:extLst>
                  <a:ext uri="{FF2B5EF4-FFF2-40B4-BE49-F238E27FC236}">
                    <a16:creationId xmlns:a16="http://schemas.microsoft.com/office/drawing/2014/main" id="{C47F43CE-E592-1084-6CD8-A2DE9DB1E798}"/>
                  </a:ext>
                </a:extLst>
              </p:cNvPr>
              <p:cNvSpPr txBox="1">
                <a:spLocks noRot="1" noChangeAspect="1" noMove="1" noResize="1" noEditPoints="1" noAdjustHandles="1" noChangeArrowheads="1" noChangeShapeType="1" noTextEdit="1"/>
              </p:cNvSpPr>
              <p:nvPr/>
            </p:nvSpPr>
            <p:spPr>
              <a:xfrm>
                <a:off x="8407400" y="6188635"/>
                <a:ext cx="1060027" cy="338554"/>
              </a:xfrm>
              <a:prstGeom prst="rect">
                <a:avLst/>
              </a:prstGeom>
              <a:blipFill>
                <a:blip r:embed="rId7"/>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9DCFE74-B59E-D64F-BDD9-DDB6008212DC}"/>
                  </a:ext>
                </a:extLst>
              </p:cNvPr>
              <p:cNvSpPr txBox="1"/>
              <p:nvPr/>
            </p:nvSpPr>
            <p:spPr>
              <a:xfrm>
                <a:off x="10397067" y="6188635"/>
                <a:ext cx="107742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𝟏𝟖𝟎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36" name="TextBox 35">
                <a:extLst>
                  <a:ext uri="{FF2B5EF4-FFF2-40B4-BE49-F238E27FC236}">
                    <a16:creationId xmlns:a16="http://schemas.microsoft.com/office/drawing/2014/main" id="{09DCFE74-B59E-D64F-BDD9-DDB6008212DC}"/>
                  </a:ext>
                </a:extLst>
              </p:cNvPr>
              <p:cNvSpPr txBox="1">
                <a:spLocks noRot="1" noChangeAspect="1" noMove="1" noResize="1" noEditPoints="1" noAdjustHandles="1" noChangeArrowheads="1" noChangeShapeType="1" noTextEdit="1"/>
              </p:cNvSpPr>
              <p:nvPr/>
            </p:nvSpPr>
            <p:spPr>
              <a:xfrm>
                <a:off x="10397067" y="6188635"/>
                <a:ext cx="1077420" cy="338554"/>
              </a:xfrm>
              <a:prstGeom prst="rect">
                <a:avLst/>
              </a:prstGeom>
              <a:blipFill>
                <a:blip r:embed="rId8"/>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0B2A06C-A732-3CD9-80FF-041F8CFCA37B}"/>
                  </a:ext>
                </a:extLst>
              </p:cNvPr>
              <p:cNvSpPr txBox="1"/>
              <p:nvPr/>
            </p:nvSpPr>
            <p:spPr>
              <a:xfrm>
                <a:off x="8526937"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37" name="TextBox 36">
                <a:extLst>
                  <a:ext uri="{FF2B5EF4-FFF2-40B4-BE49-F238E27FC236}">
                    <a16:creationId xmlns:a16="http://schemas.microsoft.com/office/drawing/2014/main" id="{A0B2A06C-A732-3CD9-80FF-041F8CFCA37B}"/>
                  </a:ext>
                </a:extLst>
              </p:cNvPr>
              <p:cNvSpPr txBox="1">
                <a:spLocks noRot="1" noChangeAspect="1" noMove="1" noResize="1" noEditPoints="1" noAdjustHandles="1" noChangeArrowheads="1" noChangeShapeType="1" noTextEdit="1"/>
              </p:cNvSpPr>
              <p:nvPr/>
            </p:nvSpPr>
            <p:spPr>
              <a:xfrm>
                <a:off x="8526937" y="3373981"/>
                <a:ext cx="940490" cy="338554"/>
              </a:xfrm>
              <a:prstGeom prst="rect">
                <a:avLst/>
              </a:prstGeom>
              <a:blipFill>
                <a:blip r:embed="rId9"/>
                <a:stretch>
                  <a:fillRect b="-8621"/>
                </a:stretch>
              </a:blipFill>
              <a:ln>
                <a:solidFill>
                  <a:schemeClr val="bg2"/>
                </a:solidFill>
              </a:ln>
            </p:spPr>
            <p:txBody>
              <a:bodyPr/>
              <a:lstStyle/>
              <a:p>
                <a:r>
                  <a:rPr lang="en-US">
                    <a:noFill/>
                  </a:rPr>
                  <a:t> </a:t>
                </a:r>
              </a:p>
            </p:txBody>
          </p:sp>
        </mc:Fallback>
      </mc:AlternateContent>
      <p:sp>
        <p:nvSpPr>
          <p:cNvPr id="38" name="TextBox 37">
            <a:extLst>
              <a:ext uri="{FF2B5EF4-FFF2-40B4-BE49-F238E27FC236}">
                <a16:creationId xmlns:a16="http://schemas.microsoft.com/office/drawing/2014/main" id="{65A76BB0-3FD8-66A8-5E5B-06EFFC24E8E7}"/>
              </a:ext>
            </a:extLst>
          </p:cNvPr>
          <p:cNvSpPr txBox="1"/>
          <p:nvPr/>
        </p:nvSpPr>
        <p:spPr>
          <a:xfrm>
            <a:off x="9543899" y="1155007"/>
            <a:ext cx="1062579" cy="461664"/>
          </a:xfrm>
          <a:prstGeom prst="rect">
            <a:avLst/>
          </a:prstGeom>
          <a:solidFill>
            <a:schemeClr val="accent2"/>
          </a:solidFill>
          <a:ln w="38100">
            <a:solidFill>
              <a:schemeClr val="bg2"/>
            </a:solidFill>
          </a:ln>
        </p:spPr>
        <p:txBody>
          <a:bodyPr wrap="square" rtlCol="0">
            <a:spAutoFit/>
          </a:bodyPr>
          <a:lstStyle/>
          <a:p>
            <a:pPr algn="ctr"/>
            <a:r>
              <a:rPr lang="en-US" sz="2400" b="1" dirty="0">
                <a:solidFill>
                  <a:schemeClr val="bg2"/>
                </a:solidFill>
              </a:rPr>
              <a:t>New</a:t>
            </a:r>
          </a:p>
        </p:txBody>
      </p:sp>
      <p:sp>
        <p:nvSpPr>
          <p:cNvPr id="40" name="Rectangle 39">
            <a:extLst>
              <a:ext uri="{FF2B5EF4-FFF2-40B4-BE49-F238E27FC236}">
                <a16:creationId xmlns:a16="http://schemas.microsoft.com/office/drawing/2014/main" id="{20594BAB-06D8-4E7D-5DF4-D13382ABBEBE}"/>
              </a:ext>
            </a:extLst>
          </p:cNvPr>
          <p:cNvSpPr/>
          <p:nvPr/>
        </p:nvSpPr>
        <p:spPr>
          <a:xfrm>
            <a:off x="7235965" y="1151474"/>
            <a:ext cx="4608904" cy="5598342"/>
          </a:xfrm>
          <a:prstGeom prst="rect">
            <a:avLst/>
          </a:prstGeom>
          <a:no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545CBCBA-5184-ECF3-89ED-B83A61EA7DD4}"/>
              </a:ext>
            </a:extLst>
          </p:cNvPr>
          <p:cNvCxnSpPr>
            <a:cxnSpLocks/>
          </p:cNvCxnSpPr>
          <p:nvPr/>
        </p:nvCxnSpPr>
        <p:spPr>
          <a:xfrm>
            <a:off x="9540417" y="1151474"/>
            <a:ext cx="0" cy="559834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158D2186-60A8-F66D-9978-CF5C7863BDB4}"/>
              </a:ext>
            </a:extLst>
          </p:cNvPr>
          <p:cNvSpPr txBox="1"/>
          <p:nvPr/>
        </p:nvSpPr>
        <p:spPr>
          <a:xfrm>
            <a:off x="7232484" y="1151474"/>
            <a:ext cx="1062579" cy="461664"/>
          </a:xfrm>
          <a:prstGeom prst="rect">
            <a:avLst/>
          </a:prstGeom>
          <a:solidFill>
            <a:schemeClr val="accent2"/>
          </a:solidFill>
          <a:ln w="38100">
            <a:solidFill>
              <a:schemeClr val="bg2"/>
            </a:solidFill>
          </a:ln>
        </p:spPr>
        <p:txBody>
          <a:bodyPr wrap="square" rtlCol="0">
            <a:spAutoFit/>
          </a:bodyPr>
          <a:lstStyle/>
          <a:p>
            <a:pPr algn="ctr"/>
            <a:r>
              <a:rPr lang="en-US" sz="2400" b="1" dirty="0">
                <a:solidFill>
                  <a:schemeClr val="bg2"/>
                </a:solidFill>
              </a:rPr>
              <a:t>Prior</a:t>
            </a:r>
          </a:p>
        </p:txBody>
      </p:sp>
      <mc:AlternateContent xmlns:mc="http://schemas.openxmlformats.org/markup-compatibility/2006" xmlns:a14="http://schemas.microsoft.com/office/drawing/2010/main">
        <mc:Choice Requires="a14">
          <p:sp>
            <p:nvSpPr>
              <p:cNvPr id="47" name="Text Placeholder 2">
                <a:extLst>
                  <a:ext uri="{FF2B5EF4-FFF2-40B4-BE49-F238E27FC236}">
                    <a16:creationId xmlns:a16="http://schemas.microsoft.com/office/drawing/2014/main" id="{CC6B6F12-FBBD-2B2F-3157-BB6CDF085742}"/>
                  </a:ext>
                </a:extLst>
              </p:cNvPr>
              <p:cNvSpPr txBox="1">
                <a:spLocks/>
              </p:cNvSpPr>
              <p:nvPr/>
            </p:nvSpPr>
            <p:spPr>
              <a:xfrm>
                <a:off x="0" y="1334500"/>
                <a:ext cx="2476158" cy="5192687"/>
              </a:xfrm>
              <a:prstGeom prst="rect">
                <a:avLst/>
              </a:prstGeom>
              <a:noFill/>
              <a:ln>
                <a:noFill/>
              </a:ln>
            </p:spPr>
            <p:txBody>
              <a:bodyPr spcFirstLastPara="1" wrap="square" lIns="91425" tIns="45700" rIns="91425" bIns="45700" anchor="t" anchorCtr="0">
                <a:normAutofit fontScale="85000" lnSpcReduction="10000"/>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dk1"/>
                  </a:buClr>
                  <a:buSzPts val="2800"/>
                  <a:buFont typeface="Arial"/>
                  <a:buChar char="•"/>
                  <a:defRPr sz="2800" b="1" i="0" u="none" strike="noStrike" cap="none">
                    <a:solidFill>
                      <a:schemeClr val="dk1"/>
                    </a:solidFill>
                    <a:latin typeface="Arial"/>
                    <a:ea typeface="Arial"/>
                    <a:cs typeface="Arial"/>
                    <a:sym typeface="Arial"/>
                  </a:defRPr>
                </a:lvl1pPr>
                <a:lvl2pPr marL="914400" marR="0" lvl="1" indent="-381000" algn="l" rtl="0">
                  <a:lnSpc>
                    <a:spcPct val="100000"/>
                  </a:lnSpc>
                  <a:spcBef>
                    <a:spcPts val="600"/>
                  </a:spcBef>
                  <a:spcAft>
                    <a:spcPts val="0"/>
                  </a:spcAft>
                  <a:buClr>
                    <a:schemeClr val="dk2"/>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100000"/>
                  </a:lnSpc>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100000"/>
                  </a:lnSpc>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00000"/>
                  </a:lnSpc>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100000"/>
                  </a:lnSpc>
                  <a:spcBef>
                    <a:spcPts val="360"/>
                  </a:spcBef>
                  <a:spcAft>
                    <a:spcPts val="0"/>
                  </a:spcAft>
                  <a:buClr>
                    <a:schemeClr val="dk2"/>
                  </a:buClr>
                  <a:buSzPts val="1800"/>
                  <a:buFont typeface="Arial"/>
                  <a:buChar char="•"/>
                  <a:defRPr sz="16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2"/>
                  </a:buClr>
                  <a:buSzPts val="1800"/>
                  <a:buFont typeface="Arial"/>
                  <a:buChar char="•"/>
                  <a:defRPr sz="16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2"/>
                  </a:buClr>
                  <a:buSzPts val="1800"/>
                  <a:buFont typeface="Arial"/>
                  <a:buChar char="•"/>
                  <a:defRPr sz="16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2"/>
                  </a:buClr>
                  <a:buSzPts val="1800"/>
                  <a:buFont typeface="Arial"/>
                  <a:buChar char="•"/>
                  <a:defRPr sz="1600" b="0" i="0" u="none" strike="noStrike" cap="none">
                    <a:solidFill>
                      <a:schemeClr val="dk1"/>
                    </a:solidFill>
                    <a:latin typeface="Arial"/>
                    <a:ea typeface="Arial"/>
                    <a:cs typeface="Arial"/>
                    <a:sym typeface="Arial"/>
                  </a:defRPr>
                </a:lvl9pPr>
              </a:lstStyle>
              <a:p>
                <a:pPr marL="50800" indent="0">
                  <a:buFont typeface="Arial"/>
                  <a:buNone/>
                </a:pPr>
                <a:r>
                  <a:rPr lang="en-US" sz="1600" b="0" dirty="0"/>
                  <a:t>Understanding the </a:t>
                </a:r>
                <a:br>
                  <a:rPr lang="en-US" sz="1600" b="0" dirty="0"/>
                </a:br>
                <a14:m>
                  <m:oMath xmlns:m="http://schemas.openxmlformats.org/officeDocument/2006/math">
                    <m:r>
                      <a:rPr lang="en-US" sz="1600" b="0" i="1" smtClean="0">
                        <a:latin typeface="Cambria Math" panose="02040503050406030204" pitchFamily="18" charset="0"/>
                      </a:rPr>
                      <m:t>𝜙</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90</m:t>
                        </m:r>
                      </m:e>
                      <m:sup>
                        <m:r>
                          <a:rPr lang="en-US" sz="1600" b="0" i="1" smtClean="0">
                            <a:latin typeface="Cambria Math" panose="02040503050406030204" pitchFamily="18" charset="0"/>
                          </a:rPr>
                          <m:t>∘</m:t>
                        </m:r>
                      </m:sup>
                    </m:sSup>
                  </m:oMath>
                </a14:m>
                <a:r>
                  <a:rPr lang="en-US" sz="1600" b="0" dirty="0"/>
                  <a:t> concern:</a:t>
                </a:r>
              </a:p>
              <a:p>
                <a:pPr marL="50800" indent="0">
                  <a:buFont typeface="Arial"/>
                  <a:buNone/>
                </a:pPr>
                <a:endParaRPr lang="en-US" sz="1600" b="0" dirty="0"/>
              </a:p>
              <a:p>
                <a:pPr marL="50800" indent="0">
                  <a:buFont typeface="Arial"/>
                  <a:buNone/>
                </a:pPr>
                <a:r>
                  <a:rPr lang="en-US" sz="1600" b="0" dirty="0"/>
                  <a:t>Not obvious at first glance, but if visualizing </a:t>
                </a:r>
                <a14:m>
                  <m:oMath xmlns:m="http://schemas.openxmlformats.org/officeDocument/2006/math">
                    <m:r>
                      <a:rPr lang="en-US" sz="1600" b="0" i="1" smtClean="0">
                        <a:latin typeface="Cambria Math" panose="02040503050406030204" pitchFamily="18" charset="0"/>
                      </a:rPr>
                      <m:t>𝜙</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0</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180</m:t>
                        </m:r>
                      </m:e>
                      <m:sup>
                        <m:r>
                          <a:rPr lang="en-US" sz="1600" b="0" i="1" smtClean="0">
                            <a:latin typeface="Cambria Math" panose="02040503050406030204" pitchFamily="18" charset="0"/>
                          </a:rPr>
                          <m:t>∘</m:t>
                        </m:r>
                      </m:sup>
                    </m:sSup>
                  </m:oMath>
                </a14:m>
                <a:r>
                  <a:rPr lang="en-US" sz="1600" b="0" dirty="0"/>
                  <a:t> of </a:t>
                </a:r>
                <a:r>
                  <a:rPr lang="en-US" sz="1600" dirty="0"/>
                  <a:t>New</a:t>
                </a:r>
                <a:r>
                  <a:rPr lang="en-US" sz="1600" b="0" dirty="0"/>
                  <a:t>, it indeed is the expected result of the XZ sample symmetry assumption. (imagine a cylindrical XZ-symmetric optic as the sample, with tilt about Y axis).</a:t>
                </a:r>
              </a:p>
              <a:p>
                <a:pPr marL="50800" indent="0">
                  <a:buFont typeface="Arial"/>
                  <a:buNone/>
                </a:pPr>
                <a:endParaRPr lang="en-US" sz="1600" b="0" dirty="0"/>
              </a:p>
              <a:p>
                <a:pPr marL="50800" indent="0">
                  <a:buNone/>
                </a:pPr>
                <a:r>
                  <a:rPr lang="en-US" sz="1600" b="0" dirty="0"/>
                  <a:t>Similarly, </a:t>
                </a:r>
                <a14:m>
                  <m:oMath xmlns:m="http://schemas.openxmlformats.org/officeDocument/2006/math">
                    <m:r>
                      <a:rPr lang="en-US" sz="1600" b="0" i="1">
                        <a:latin typeface="Cambria Math" panose="02040503050406030204" pitchFamily="18" charset="0"/>
                      </a:rPr>
                      <m:t>𝜙</m:t>
                    </m:r>
                    <m:r>
                      <a:rPr lang="en-US" sz="1600" b="0" i="1">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±9</m:t>
                        </m:r>
                        <m:r>
                          <a:rPr lang="en-US" sz="1600" b="0" i="1">
                            <a:latin typeface="Cambria Math" panose="02040503050406030204" pitchFamily="18" charset="0"/>
                          </a:rPr>
                          <m:t>0</m:t>
                        </m:r>
                      </m:e>
                      <m:sup>
                        <m:r>
                          <a:rPr lang="en-US" sz="1600" b="0" i="1">
                            <a:latin typeface="Cambria Math" panose="02040503050406030204" pitchFamily="18" charset="0"/>
                          </a:rPr>
                          <m:t>∘</m:t>
                        </m:r>
                      </m:sup>
                    </m:sSup>
                  </m:oMath>
                </a14:m>
                <a:r>
                  <a:rPr lang="en-US" sz="1600" b="0" dirty="0"/>
                  <a:t> of </a:t>
                </a:r>
                <a:r>
                  <a:rPr lang="en-US" sz="1600" dirty="0"/>
                  <a:t>New</a:t>
                </a:r>
                <a:r>
                  <a:rPr lang="en-US" sz="1600" b="0" dirty="0"/>
                  <a:t> is the expected results of YZ symmetry assumption.</a:t>
                </a:r>
              </a:p>
              <a:p>
                <a:pPr marL="50800" indent="0">
                  <a:buNone/>
                </a:pPr>
                <a:endParaRPr lang="en-US" sz="1600" b="0" dirty="0"/>
              </a:p>
              <a:p>
                <a:pPr marL="50800" indent="0">
                  <a:buNone/>
                </a:pPr>
                <a:r>
                  <a:rPr lang="en-US" sz="1600" b="0" dirty="0"/>
                  <a:t>Visualizing from perspective of source helps, with scatter cone plane (plotted) seen from global 3D view. May generate clearer visualization in future.</a:t>
                </a:r>
              </a:p>
              <a:p>
                <a:pPr marL="50800" indent="0">
                  <a:buFont typeface="Arial"/>
                  <a:buNone/>
                </a:pPr>
                <a:endParaRPr lang="en-US" sz="1600" b="0" dirty="0"/>
              </a:p>
              <a:p>
                <a:pPr marL="50800" indent="0">
                  <a:buFont typeface="Arial"/>
                  <a:buNone/>
                </a:pPr>
                <a:endParaRPr lang="en-US" sz="1600" b="0" dirty="0"/>
              </a:p>
            </p:txBody>
          </p:sp>
        </mc:Choice>
        <mc:Fallback xmlns="">
          <p:sp>
            <p:nvSpPr>
              <p:cNvPr id="47" name="Text Placeholder 2">
                <a:extLst>
                  <a:ext uri="{FF2B5EF4-FFF2-40B4-BE49-F238E27FC236}">
                    <a16:creationId xmlns:a16="http://schemas.microsoft.com/office/drawing/2014/main" id="{CC6B6F12-FBBD-2B2F-3157-BB6CDF085742}"/>
                  </a:ext>
                </a:extLst>
              </p:cNvPr>
              <p:cNvSpPr txBox="1">
                <a:spLocks noRot="1" noChangeAspect="1" noMove="1" noResize="1" noEditPoints="1" noAdjustHandles="1" noChangeArrowheads="1" noChangeShapeType="1" noTextEdit="1"/>
              </p:cNvSpPr>
              <p:nvPr/>
            </p:nvSpPr>
            <p:spPr>
              <a:xfrm>
                <a:off x="0" y="1334500"/>
                <a:ext cx="2476158" cy="5192687"/>
              </a:xfrm>
              <a:prstGeom prst="rect">
                <a:avLst/>
              </a:prstGeom>
              <a:blipFill>
                <a:blip r:embed="rId10"/>
                <a:stretch>
                  <a:fillRect r="-246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D79F27F3-8365-1224-58BC-42E80B97D856}"/>
                  </a:ext>
                </a:extLst>
              </p:cNvPr>
              <p:cNvSpPr txBox="1"/>
              <p:nvPr/>
            </p:nvSpPr>
            <p:spPr>
              <a:xfrm>
                <a:off x="5775824"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𝟗𝟎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48" name="TextBox 47">
                <a:extLst>
                  <a:ext uri="{FF2B5EF4-FFF2-40B4-BE49-F238E27FC236}">
                    <a16:creationId xmlns:a16="http://schemas.microsoft.com/office/drawing/2014/main" id="{D79F27F3-8365-1224-58BC-42E80B97D856}"/>
                  </a:ext>
                </a:extLst>
              </p:cNvPr>
              <p:cNvSpPr txBox="1">
                <a:spLocks noRot="1" noChangeAspect="1" noMove="1" noResize="1" noEditPoints="1" noAdjustHandles="1" noChangeArrowheads="1" noChangeShapeType="1" noTextEdit="1"/>
              </p:cNvSpPr>
              <p:nvPr/>
            </p:nvSpPr>
            <p:spPr>
              <a:xfrm>
                <a:off x="5775824" y="3373981"/>
                <a:ext cx="940490" cy="338554"/>
              </a:xfrm>
              <a:prstGeom prst="rect">
                <a:avLst/>
              </a:prstGeom>
              <a:blipFill>
                <a:blip r:embed="rId11"/>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CAF32BA-1407-1292-42C2-473860258D66}"/>
                  </a:ext>
                </a:extLst>
              </p:cNvPr>
              <p:cNvSpPr txBox="1"/>
              <p:nvPr/>
            </p:nvSpPr>
            <p:spPr>
              <a:xfrm>
                <a:off x="3540370" y="6188635"/>
                <a:ext cx="1168884"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m:t>
                          </m:r>
                          <m:r>
                            <a:rPr lang="en-US" sz="1600" b="1" i="1" smtClean="0">
                              <a:solidFill>
                                <a:schemeClr val="bg2"/>
                              </a:solidFill>
                              <a:latin typeface="Cambria Math" panose="02040503050406030204" pitchFamily="18" charset="0"/>
                            </a:rPr>
                            <m:t>𝟗𝟎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49" name="TextBox 48">
                <a:extLst>
                  <a:ext uri="{FF2B5EF4-FFF2-40B4-BE49-F238E27FC236}">
                    <a16:creationId xmlns:a16="http://schemas.microsoft.com/office/drawing/2014/main" id="{9CAF32BA-1407-1292-42C2-473860258D66}"/>
                  </a:ext>
                </a:extLst>
              </p:cNvPr>
              <p:cNvSpPr txBox="1">
                <a:spLocks noRot="1" noChangeAspect="1" noMove="1" noResize="1" noEditPoints="1" noAdjustHandles="1" noChangeArrowheads="1" noChangeShapeType="1" noTextEdit="1"/>
              </p:cNvSpPr>
              <p:nvPr/>
            </p:nvSpPr>
            <p:spPr>
              <a:xfrm>
                <a:off x="3540370" y="6188635"/>
                <a:ext cx="1168884" cy="338554"/>
              </a:xfrm>
              <a:prstGeom prst="rect">
                <a:avLst/>
              </a:prstGeom>
              <a:blipFill>
                <a:blip r:embed="rId12"/>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0C1FD2C-D75F-05E9-6232-2E3FE5D28E0C}"/>
                  </a:ext>
                </a:extLst>
              </p:cNvPr>
              <p:cNvSpPr txBox="1"/>
              <p:nvPr/>
            </p:nvSpPr>
            <p:spPr>
              <a:xfrm>
                <a:off x="5614896" y="6188635"/>
                <a:ext cx="1101418"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𝟗𝟎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50" name="TextBox 49">
                <a:extLst>
                  <a:ext uri="{FF2B5EF4-FFF2-40B4-BE49-F238E27FC236}">
                    <a16:creationId xmlns:a16="http://schemas.microsoft.com/office/drawing/2014/main" id="{30C1FD2C-D75F-05E9-6232-2E3FE5D28E0C}"/>
                  </a:ext>
                </a:extLst>
              </p:cNvPr>
              <p:cNvSpPr txBox="1">
                <a:spLocks noRot="1" noChangeAspect="1" noMove="1" noResize="1" noEditPoints="1" noAdjustHandles="1" noChangeArrowheads="1" noChangeShapeType="1" noTextEdit="1"/>
              </p:cNvSpPr>
              <p:nvPr/>
            </p:nvSpPr>
            <p:spPr>
              <a:xfrm>
                <a:off x="5614896" y="6188635"/>
                <a:ext cx="1101418" cy="338554"/>
              </a:xfrm>
              <a:prstGeom prst="rect">
                <a:avLst/>
              </a:prstGeom>
              <a:blipFill>
                <a:blip r:embed="rId13"/>
                <a:stretch>
                  <a:fillRect b="-8621"/>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0E164E91-EEE5-CFEB-EBEC-EA75FA007B14}"/>
                  </a:ext>
                </a:extLst>
              </p:cNvPr>
              <p:cNvSpPr txBox="1"/>
              <p:nvPr/>
            </p:nvSpPr>
            <p:spPr>
              <a:xfrm>
                <a:off x="3768764"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𝟗𝟎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51" name="TextBox 50">
                <a:extLst>
                  <a:ext uri="{FF2B5EF4-FFF2-40B4-BE49-F238E27FC236}">
                    <a16:creationId xmlns:a16="http://schemas.microsoft.com/office/drawing/2014/main" id="{0E164E91-EEE5-CFEB-EBEC-EA75FA007B14}"/>
                  </a:ext>
                </a:extLst>
              </p:cNvPr>
              <p:cNvSpPr txBox="1">
                <a:spLocks noRot="1" noChangeAspect="1" noMove="1" noResize="1" noEditPoints="1" noAdjustHandles="1" noChangeArrowheads="1" noChangeShapeType="1" noTextEdit="1"/>
              </p:cNvSpPr>
              <p:nvPr/>
            </p:nvSpPr>
            <p:spPr>
              <a:xfrm>
                <a:off x="3768764" y="3373981"/>
                <a:ext cx="940490" cy="338554"/>
              </a:xfrm>
              <a:prstGeom prst="rect">
                <a:avLst/>
              </a:prstGeom>
              <a:blipFill>
                <a:blip r:embed="rId14"/>
                <a:stretch>
                  <a:fillRect b="-8621"/>
                </a:stretch>
              </a:blipFill>
              <a:ln>
                <a:solidFill>
                  <a:schemeClr val="bg2"/>
                </a:solidFill>
              </a:ln>
            </p:spPr>
            <p:txBody>
              <a:bodyPr/>
              <a:lstStyle/>
              <a:p>
                <a:r>
                  <a:rPr lang="en-US">
                    <a:noFill/>
                  </a:rPr>
                  <a:t> </a:t>
                </a:r>
              </a:p>
            </p:txBody>
          </p:sp>
        </mc:Fallback>
      </mc:AlternateContent>
      <p:sp>
        <p:nvSpPr>
          <p:cNvPr id="52" name="TextBox 51">
            <a:extLst>
              <a:ext uri="{FF2B5EF4-FFF2-40B4-BE49-F238E27FC236}">
                <a16:creationId xmlns:a16="http://schemas.microsoft.com/office/drawing/2014/main" id="{9894DEA2-8BE3-2AB7-CE7D-DEDD8811BE9D}"/>
              </a:ext>
            </a:extLst>
          </p:cNvPr>
          <p:cNvSpPr txBox="1"/>
          <p:nvPr/>
        </p:nvSpPr>
        <p:spPr>
          <a:xfrm>
            <a:off x="2477791" y="1154094"/>
            <a:ext cx="1062579" cy="461664"/>
          </a:xfrm>
          <a:prstGeom prst="rect">
            <a:avLst/>
          </a:prstGeom>
          <a:solidFill>
            <a:schemeClr val="accent2"/>
          </a:solidFill>
          <a:ln w="38100">
            <a:solidFill>
              <a:schemeClr val="bg2"/>
            </a:solidFill>
          </a:ln>
        </p:spPr>
        <p:txBody>
          <a:bodyPr wrap="square" rtlCol="0">
            <a:spAutoFit/>
          </a:bodyPr>
          <a:lstStyle/>
          <a:p>
            <a:pPr algn="ctr"/>
            <a:r>
              <a:rPr lang="en-US" sz="2400" b="1" dirty="0">
                <a:solidFill>
                  <a:schemeClr val="bg2"/>
                </a:solidFill>
              </a:rPr>
              <a:t>Prior</a:t>
            </a:r>
          </a:p>
        </p:txBody>
      </p:sp>
      <p:cxnSp>
        <p:nvCxnSpPr>
          <p:cNvPr id="53" name="Straight Connector 52">
            <a:extLst>
              <a:ext uri="{FF2B5EF4-FFF2-40B4-BE49-F238E27FC236}">
                <a16:creationId xmlns:a16="http://schemas.microsoft.com/office/drawing/2014/main" id="{AB6D3566-D403-47CD-30C8-09C0C9902138}"/>
              </a:ext>
            </a:extLst>
          </p:cNvPr>
          <p:cNvCxnSpPr>
            <a:cxnSpLocks/>
            <a:stCxn id="54" idx="0"/>
            <a:endCxn id="54" idx="2"/>
          </p:cNvCxnSpPr>
          <p:nvPr/>
        </p:nvCxnSpPr>
        <p:spPr>
          <a:xfrm>
            <a:off x="4770194" y="1154093"/>
            <a:ext cx="0" cy="5570569"/>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B5359991-ABB0-1DF4-6A5C-055038887720}"/>
              </a:ext>
            </a:extLst>
          </p:cNvPr>
          <p:cNvSpPr/>
          <p:nvPr/>
        </p:nvSpPr>
        <p:spPr>
          <a:xfrm>
            <a:off x="2477790" y="1154093"/>
            <a:ext cx="4584808" cy="5570569"/>
          </a:xfrm>
          <a:prstGeom prst="rect">
            <a:avLst/>
          </a:prstGeom>
          <a:no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D2883469-5BC6-75F1-F64F-EAFB4C09C045}"/>
                  </a:ext>
                </a:extLst>
              </p:cNvPr>
              <p:cNvSpPr txBox="1"/>
              <p:nvPr/>
            </p:nvSpPr>
            <p:spPr>
              <a:xfrm>
                <a:off x="5936109" y="624567"/>
                <a:ext cx="2415239" cy="461665"/>
              </a:xfrm>
              <a:prstGeom prst="rect">
                <a:avLst/>
              </a:prstGeom>
              <a:solidFill>
                <a:schemeClr val="bg1"/>
              </a:solidFill>
              <a:ln>
                <a:solidFill>
                  <a:schemeClr val="bg2"/>
                </a:solidFill>
              </a:ln>
            </p:spPr>
            <p:txBody>
              <a:bodyPr wrap="square" rtlCol="0">
                <a:spAutoFit/>
              </a:bodyPr>
              <a:lstStyle/>
              <a:p>
                <a:pPr algn="ctr"/>
                <a:r>
                  <a:rPr lang="en-US" sz="2400" b="1" dirty="0">
                    <a:solidFill>
                      <a:schemeClr val="bg2"/>
                    </a:solidFill>
                  </a:rPr>
                  <a:t>All at </a:t>
                </a:r>
                <a14:m>
                  <m:oMath xmlns:m="http://schemas.openxmlformats.org/officeDocument/2006/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𝟕𝟎</m:t>
                        </m:r>
                      </m:e>
                      <m:sup>
                        <m:r>
                          <a:rPr lang="en-US" sz="2400" b="1" i="1" smtClean="0">
                            <a:solidFill>
                              <a:schemeClr val="bg2"/>
                            </a:solidFill>
                            <a:latin typeface="Cambria Math" panose="02040503050406030204" pitchFamily="18" charset="0"/>
                          </a:rPr>
                          <m:t>∘</m:t>
                        </m:r>
                      </m:sup>
                    </m:sSup>
                  </m:oMath>
                </a14:m>
                <a:endParaRPr lang="en-US" sz="2400" b="1" dirty="0">
                  <a:solidFill>
                    <a:schemeClr val="bg2"/>
                  </a:solidFill>
                </a:endParaRPr>
              </a:p>
            </p:txBody>
          </p:sp>
        </mc:Choice>
        <mc:Fallback xmlns="">
          <p:sp>
            <p:nvSpPr>
              <p:cNvPr id="55" name="TextBox 54">
                <a:extLst>
                  <a:ext uri="{FF2B5EF4-FFF2-40B4-BE49-F238E27FC236}">
                    <a16:creationId xmlns:a16="http://schemas.microsoft.com/office/drawing/2014/main" id="{D2883469-5BC6-75F1-F64F-EAFB4C09C045}"/>
                  </a:ext>
                </a:extLst>
              </p:cNvPr>
              <p:cNvSpPr txBox="1">
                <a:spLocks noRot="1" noChangeAspect="1" noMove="1" noResize="1" noEditPoints="1" noAdjustHandles="1" noChangeArrowheads="1" noChangeShapeType="1" noTextEdit="1"/>
              </p:cNvSpPr>
              <p:nvPr/>
            </p:nvSpPr>
            <p:spPr>
              <a:xfrm>
                <a:off x="5936109" y="624567"/>
                <a:ext cx="2415239" cy="461665"/>
              </a:xfrm>
              <a:prstGeom prst="rect">
                <a:avLst/>
              </a:prstGeom>
              <a:blipFill>
                <a:blip r:embed="rId15"/>
                <a:stretch>
                  <a:fillRect t="-7692" b="-28205"/>
                </a:stretch>
              </a:blipFill>
              <a:ln>
                <a:solidFill>
                  <a:schemeClr val="bg2"/>
                </a:solidFill>
              </a:ln>
            </p:spPr>
            <p:txBody>
              <a:bodyPr/>
              <a:lstStyle/>
              <a:p>
                <a:r>
                  <a:rPr lang="en-US">
                    <a:noFill/>
                  </a:rPr>
                  <a:t> </a:t>
                </a:r>
              </a:p>
            </p:txBody>
          </p:sp>
        </mc:Fallback>
      </mc:AlternateContent>
      <p:sp>
        <p:nvSpPr>
          <p:cNvPr id="56" name="TextBox 55">
            <a:extLst>
              <a:ext uri="{FF2B5EF4-FFF2-40B4-BE49-F238E27FC236}">
                <a16:creationId xmlns:a16="http://schemas.microsoft.com/office/drawing/2014/main" id="{27E65DCE-A290-661B-2913-90A488D15045}"/>
              </a:ext>
            </a:extLst>
          </p:cNvPr>
          <p:cNvSpPr txBox="1"/>
          <p:nvPr/>
        </p:nvSpPr>
        <p:spPr>
          <a:xfrm>
            <a:off x="4788767" y="1151474"/>
            <a:ext cx="1062579" cy="461664"/>
          </a:xfrm>
          <a:prstGeom prst="rect">
            <a:avLst/>
          </a:prstGeom>
          <a:solidFill>
            <a:schemeClr val="accent2"/>
          </a:solidFill>
          <a:ln w="38100">
            <a:solidFill>
              <a:schemeClr val="bg2"/>
            </a:solidFill>
          </a:ln>
        </p:spPr>
        <p:txBody>
          <a:bodyPr wrap="square" rtlCol="0">
            <a:spAutoFit/>
          </a:bodyPr>
          <a:lstStyle/>
          <a:p>
            <a:pPr algn="ctr"/>
            <a:r>
              <a:rPr lang="en-US" sz="2400" b="1" dirty="0">
                <a:solidFill>
                  <a:schemeClr val="bg2"/>
                </a:solidFill>
              </a:rPr>
              <a:t>New</a:t>
            </a:r>
          </a:p>
        </p:txBody>
      </p:sp>
    </p:spTree>
    <p:extLst>
      <p:ext uri="{BB962C8B-B14F-4D97-AF65-F5344CB8AC3E}">
        <p14:creationId xmlns:p14="http://schemas.microsoft.com/office/powerpoint/2010/main" val="353419515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B9D7E-E794-D853-2643-0895852DBC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AC71E-E48D-0137-0C43-30684D14A243}"/>
              </a:ext>
            </a:extLst>
          </p:cNvPr>
          <p:cNvSpPr>
            <a:spLocks noGrp="1"/>
          </p:cNvSpPr>
          <p:nvPr>
            <p:ph type="title"/>
          </p:nvPr>
        </p:nvSpPr>
        <p:spPr>
          <a:xfrm>
            <a:off x="609599" y="152718"/>
            <a:ext cx="9011323" cy="731520"/>
          </a:xfrm>
        </p:spPr>
        <p:txBody>
          <a:bodyPr>
            <a:normAutofit fontScale="90000"/>
          </a:bodyPr>
          <a:lstStyle/>
          <a:p>
            <a:r>
              <a:rPr lang="en-US" dirty="0"/>
              <a:t>Validation test of anisotropic FRED</a:t>
            </a:r>
            <a:br>
              <a:rPr lang="en-US" dirty="0"/>
            </a:br>
            <a:r>
              <a:rPr lang="en-US" sz="2000" dirty="0"/>
              <a:t>(recall prior IMX455 </a:t>
            </a:r>
            <a:r>
              <a:rPr lang="en-US" sz="2000" dirty="0" err="1"/>
              <a:t>Zemax</a:t>
            </a:r>
            <a:r>
              <a:rPr lang="en-US" sz="2000" dirty="0"/>
              <a:t> plots)</a:t>
            </a:r>
            <a:endParaRPr lang="en-US" dirty="0"/>
          </a:p>
        </p:txBody>
      </p:sp>
      <p:cxnSp>
        <p:nvCxnSpPr>
          <p:cNvPr id="5" name="Straight Connector 4">
            <a:extLst>
              <a:ext uri="{FF2B5EF4-FFF2-40B4-BE49-F238E27FC236}">
                <a16:creationId xmlns:a16="http://schemas.microsoft.com/office/drawing/2014/main" id="{A1B67E92-CBEE-9A18-B3B9-75FA0D93E8EC}"/>
              </a:ext>
            </a:extLst>
          </p:cNvPr>
          <p:cNvCxnSpPr/>
          <p:nvPr/>
        </p:nvCxnSpPr>
        <p:spPr>
          <a:xfrm>
            <a:off x="287867" y="884238"/>
            <a:ext cx="1143846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280F875-8AE5-2FCD-B4A1-4643E0782318}"/>
                  </a:ext>
                </a:extLst>
              </p:cNvPr>
              <p:cNvSpPr>
                <a:spLocks noGrp="1"/>
              </p:cNvSpPr>
              <p:nvPr>
                <p:ph type="body" idx="1"/>
              </p:nvPr>
            </p:nvSpPr>
            <p:spPr>
              <a:xfrm>
                <a:off x="609600" y="1752601"/>
                <a:ext cx="10160000" cy="4373563"/>
              </a:xfrm>
            </p:spPr>
            <p:txBody>
              <a:bodyPr/>
              <a:lstStyle/>
              <a:p>
                <a:r>
                  <a:rPr lang="en-US" dirty="0"/>
                  <a:t>Conclusion:</a:t>
                </a:r>
              </a:p>
              <a:p>
                <a:pPr lvl="1"/>
                <a:r>
                  <a:rPr lang="en-US" dirty="0" err="1"/>
                  <a:t>Zemax</a:t>
                </a:r>
                <a:r>
                  <a:rPr lang="en-US" dirty="0"/>
                  <a:t> results </a:t>
                </a:r>
                <a:r>
                  <a:rPr lang="en-US" i="1" dirty="0"/>
                  <a:t>qualitatively</a:t>
                </a:r>
                <a:r>
                  <a:rPr lang="en-US" dirty="0"/>
                  <a:t> align very well, so RT-300S </a:t>
                </a:r>
                <a:r>
                  <a:rPr lang="en-US" dirty="0">
                    <a:sym typeface="Wingdings" panose="05000000000000000000" pitchFamily="2" charset="2"/>
                  </a:rPr>
                  <a:t> FRED is validated</a:t>
                </a:r>
              </a:p>
              <a:p>
                <a:pPr lvl="1"/>
                <a:r>
                  <a:rPr lang="en-US" dirty="0">
                    <a:sym typeface="Wingdings" panose="05000000000000000000" pitchFamily="2" charset="2"/>
                  </a:rPr>
                  <a:t>Explanation of discrepancies:</a:t>
                </a:r>
              </a:p>
              <a:p>
                <a:pPr lvl="2"/>
                <a:r>
                  <a:rPr lang="en-US" dirty="0">
                    <a:sym typeface="Wingdings" panose="05000000000000000000" pitchFamily="2" charset="2"/>
                  </a:rPr>
                  <a:t>Quantitative differences may mostly be attributed to differences in the data processing’s interpolation routine</a:t>
                </a:r>
                <a:endParaRPr lang="en-US" dirty="0"/>
              </a:p>
              <a:p>
                <a:pPr lvl="2"/>
                <a:r>
                  <a:rPr lang="en-US" dirty="0"/>
                  <a:t>Where results don’t qualitatively align (namely, </a:t>
                </a:r>
                <a14:m>
                  <m:oMath xmlns:m="http://schemas.openxmlformats.org/officeDocument/2006/math">
                    <m:r>
                      <a:rPr lang="en-US" b="0" i="1" smtClean="0">
                        <a:latin typeface="Cambria Math" panose="02040503050406030204" pitchFamily="18" charset="0"/>
                      </a:rPr>
                      <m:t>𝜙</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90</m:t>
                        </m:r>
                      </m:e>
                      <m:sup>
                        <m:r>
                          <a:rPr lang="en-US" b="0" i="1" smtClean="0">
                            <a:latin typeface="Cambria Math" panose="02040503050406030204" pitchFamily="18" charset="0"/>
                          </a:rPr>
                          <m:t>∘</m:t>
                        </m:r>
                      </m:sup>
                    </m:sSup>
                    <m:r>
                      <a:rPr lang="en-US" b="0" i="1" smtClean="0">
                        <a:latin typeface="Cambria Math" panose="02040503050406030204" pitchFamily="18" charset="0"/>
                      </a:rPr>
                      <m:t>𝑛</m:t>
                    </m:r>
                  </m:oMath>
                </a14:m>
                <a:r>
                  <a:rPr lang="en-US" dirty="0"/>
                  <a:t> where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∈0, ±1, ±2, …</m:t>
                    </m:r>
                  </m:oMath>
                </a14:m>
                <a:r>
                  <a:rPr lang="en-US" dirty="0"/>
                  <a:t>), we see a correction to unnoticed bugs in the RT-300S </a:t>
                </a:r>
                <a:r>
                  <a:rPr lang="en-US" dirty="0">
                    <a:sym typeface="Wingdings" panose="05000000000000000000" pitchFamily="2" charset="2"/>
                  </a:rPr>
                  <a:t> </a:t>
                </a:r>
                <a:r>
                  <a:rPr lang="en-US" dirty="0" err="1">
                    <a:sym typeface="Wingdings" panose="05000000000000000000" pitchFamily="2" charset="2"/>
                  </a:rPr>
                  <a:t>Zemax</a:t>
                </a:r>
                <a:r>
                  <a:rPr lang="en-US" dirty="0">
                    <a:sym typeface="Wingdings" panose="05000000000000000000" pitchFamily="2" charset="2"/>
                  </a:rPr>
                  <a:t> routine, by visualizing what the expected results of XZ and YZ sample symmetry are, and seeing RT-300S  FRED  </a:t>
                </a:r>
                <a:r>
                  <a:rPr lang="en-US" dirty="0" err="1">
                    <a:sym typeface="Wingdings" panose="05000000000000000000" pitchFamily="2" charset="2"/>
                  </a:rPr>
                  <a:t>Zemax</a:t>
                </a:r>
                <a:r>
                  <a:rPr lang="en-US" dirty="0">
                    <a:sym typeface="Wingdings" panose="05000000000000000000" pitchFamily="2" charset="2"/>
                  </a:rPr>
                  <a:t> results match those expectations</a:t>
                </a:r>
                <a:endParaRPr lang="en-US" dirty="0"/>
              </a:p>
            </p:txBody>
          </p:sp>
        </mc:Choice>
        <mc:Fallback xmlns="">
          <p:sp>
            <p:nvSpPr>
              <p:cNvPr id="3" name="Text Placeholder 2">
                <a:extLst>
                  <a:ext uri="{FF2B5EF4-FFF2-40B4-BE49-F238E27FC236}">
                    <a16:creationId xmlns:a16="http://schemas.microsoft.com/office/drawing/2014/main" id="{6280F875-8AE5-2FCD-B4A1-4643E0782318}"/>
                  </a:ext>
                </a:extLst>
              </p:cNvPr>
              <p:cNvSpPr>
                <a:spLocks noGrp="1" noRot="1" noChangeAspect="1" noMove="1" noResize="1" noEditPoints="1" noAdjustHandles="1" noChangeArrowheads="1" noChangeShapeType="1" noTextEdit="1"/>
              </p:cNvSpPr>
              <p:nvPr>
                <p:ph type="body" idx="1"/>
              </p:nvPr>
            </p:nvSpPr>
            <p:spPr>
              <a:xfrm>
                <a:off x="609600" y="1752601"/>
                <a:ext cx="10160000" cy="4373563"/>
              </a:xfrm>
              <a:blipFill>
                <a:blip r:embed="rId2"/>
                <a:stretch>
                  <a:fillRect l="-600" r="-240"/>
                </a:stretch>
              </a:blipFill>
            </p:spPr>
            <p:txBody>
              <a:bodyPr/>
              <a:lstStyle/>
              <a:p>
                <a:r>
                  <a:rPr lang="en-US">
                    <a:noFill/>
                  </a:rPr>
                  <a:t> </a:t>
                </a:r>
              </a:p>
            </p:txBody>
          </p:sp>
        </mc:Fallback>
      </mc:AlternateContent>
    </p:spTree>
    <p:extLst>
      <p:ext uri="{BB962C8B-B14F-4D97-AF65-F5344CB8AC3E}">
        <p14:creationId xmlns:p14="http://schemas.microsoft.com/office/powerpoint/2010/main" val="230841111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278E8-A848-FA9A-EBBC-B6419FDC5B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E3A918-444A-34B9-EC93-EC8938B820B1}"/>
              </a:ext>
            </a:extLst>
          </p:cNvPr>
          <p:cNvSpPr>
            <a:spLocks noGrp="1"/>
          </p:cNvSpPr>
          <p:nvPr>
            <p:ph type="ctrTitle"/>
          </p:nvPr>
        </p:nvSpPr>
        <p:spPr/>
        <p:txBody>
          <a:bodyPr/>
          <a:lstStyle/>
          <a:p>
            <a:r>
              <a:rPr lang="en-US" sz="3600" dirty="0"/>
              <a:t>Scatter plots of IMX455</a:t>
            </a:r>
            <a:br>
              <a:rPr lang="en-US" sz="3600" dirty="0"/>
            </a:br>
            <a:r>
              <a:rPr lang="en-US" sz="2400" dirty="0"/>
              <a:t>(just for visualization)</a:t>
            </a:r>
            <a:endParaRPr lang="en-US" sz="3600" dirty="0">
              <a:solidFill>
                <a:schemeClr val="bg2"/>
              </a:solidFill>
            </a:endParaRPr>
          </a:p>
        </p:txBody>
      </p:sp>
      <p:sp>
        <p:nvSpPr>
          <p:cNvPr id="3" name="Subtitle 2">
            <a:extLst>
              <a:ext uri="{FF2B5EF4-FFF2-40B4-BE49-F238E27FC236}">
                <a16:creationId xmlns:a16="http://schemas.microsoft.com/office/drawing/2014/main" id="{2F14B1A3-7706-1A87-A00B-FD52C40E7BDE}"/>
              </a:ext>
            </a:extLst>
          </p:cNvPr>
          <p:cNvSpPr>
            <a:spLocks noGrp="1"/>
          </p:cNvSpPr>
          <p:nvPr>
            <p:ph type="subTitle" idx="1"/>
          </p:nvPr>
        </p:nvSpPr>
        <p:spPr/>
        <p:txBody>
          <a:bodyPr>
            <a:normAutofit/>
          </a:bodyPr>
          <a:lstStyle/>
          <a:p>
            <a:endParaRPr lang="en-US" dirty="0"/>
          </a:p>
          <a:p>
            <a:r>
              <a:rPr lang="en-US" dirty="0"/>
              <a:t>2026/03/31</a:t>
            </a:r>
          </a:p>
        </p:txBody>
      </p:sp>
    </p:spTree>
    <p:extLst>
      <p:ext uri="{BB962C8B-B14F-4D97-AF65-F5344CB8AC3E}">
        <p14:creationId xmlns:p14="http://schemas.microsoft.com/office/powerpoint/2010/main" val="283605581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FC48F-E672-4015-3810-6BEA673F81C4}"/>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DFA473FA-847B-0581-726C-C5E94DB82CF9}"/>
              </a:ext>
            </a:extLst>
          </p:cNvPr>
          <p:cNvGrpSpPr>
            <a:grpSpLocks noChangeAspect="1"/>
          </p:cNvGrpSpPr>
          <p:nvPr/>
        </p:nvGrpSpPr>
        <p:grpSpPr>
          <a:xfrm>
            <a:off x="821705" y="863601"/>
            <a:ext cx="4842497" cy="5882082"/>
            <a:chOff x="7235965" y="1151474"/>
            <a:chExt cx="4608904" cy="5598342"/>
          </a:xfrm>
        </p:grpSpPr>
        <p:pic>
          <p:nvPicPr>
            <p:cNvPr id="23" name="Picture 22">
              <a:extLst>
                <a:ext uri="{FF2B5EF4-FFF2-40B4-BE49-F238E27FC236}">
                  <a16:creationId xmlns:a16="http://schemas.microsoft.com/office/drawing/2014/main" id="{571F1C89-9DD0-4F91-7728-E4978FD7223D}"/>
                </a:ext>
              </a:extLst>
            </p:cNvPr>
            <p:cNvPicPr>
              <a:picLocks noChangeAspect="1"/>
            </p:cNvPicPr>
            <p:nvPr/>
          </p:nvPicPr>
          <p:blipFill>
            <a:blip r:embed="rId2"/>
            <a:srcRect r="5391"/>
            <a:stretch>
              <a:fillRect/>
            </a:stretch>
          </p:blipFill>
          <p:spPr>
            <a:xfrm>
              <a:off x="7248564" y="1154094"/>
              <a:ext cx="2292402" cy="5570568"/>
            </a:xfrm>
            <a:prstGeom prst="rect">
              <a:avLst/>
            </a:prstGeom>
          </p:spPr>
        </p:pic>
        <p:pic>
          <p:nvPicPr>
            <p:cNvPr id="25" name="Picture 24">
              <a:extLst>
                <a:ext uri="{FF2B5EF4-FFF2-40B4-BE49-F238E27FC236}">
                  <a16:creationId xmlns:a16="http://schemas.microsoft.com/office/drawing/2014/main" id="{0999D1AD-4453-6FA5-F6B5-48F1E872BD34}"/>
                </a:ext>
              </a:extLst>
            </p:cNvPr>
            <p:cNvPicPr>
              <a:picLocks noChangeAspect="1"/>
            </p:cNvPicPr>
            <p:nvPr/>
          </p:nvPicPr>
          <p:blipFill>
            <a:blip r:embed="rId3"/>
            <a:stretch>
              <a:fillRect/>
            </a:stretch>
          </p:blipFill>
          <p:spPr>
            <a:xfrm>
              <a:off x="9542051" y="1154092"/>
              <a:ext cx="2302818" cy="5570569"/>
            </a:xfrm>
            <a:prstGeom prst="rect">
              <a:avLst/>
            </a:prstGeom>
          </p:spPr>
        </p:pic>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60DB01E-6D8D-D426-BC11-38DB0285363F}"/>
                    </a:ext>
                  </a:extLst>
                </p:cNvPr>
                <p:cNvSpPr txBox="1"/>
                <p:nvPr/>
              </p:nvSpPr>
              <p:spPr>
                <a:xfrm>
                  <a:off x="10533997"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𝟑𝟎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28" name="TextBox 27">
                  <a:extLst>
                    <a:ext uri="{FF2B5EF4-FFF2-40B4-BE49-F238E27FC236}">
                      <a16:creationId xmlns:a16="http://schemas.microsoft.com/office/drawing/2014/main" id="{260DB01E-6D8D-D426-BC11-38DB0285363F}"/>
                    </a:ext>
                  </a:extLst>
                </p:cNvPr>
                <p:cNvSpPr txBox="1">
                  <a:spLocks noRot="1" noChangeAspect="1" noMove="1" noResize="1" noEditPoints="1" noAdjustHandles="1" noChangeArrowheads="1" noChangeShapeType="1" noTextEdit="1"/>
                </p:cNvSpPr>
                <p:nvPr/>
              </p:nvSpPr>
              <p:spPr>
                <a:xfrm>
                  <a:off x="10533997" y="3373981"/>
                  <a:ext cx="940490" cy="338554"/>
                </a:xfrm>
                <a:prstGeom prst="rect">
                  <a:avLst/>
                </a:prstGeom>
                <a:blipFill>
                  <a:blip r:embed="rId4"/>
                  <a:stretch>
                    <a:fillRect b="-5000"/>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F963F7D1-5A87-D381-5FD2-D2D36C122CF2}"/>
                    </a:ext>
                  </a:extLst>
                </p:cNvPr>
                <p:cNvSpPr txBox="1"/>
                <p:nvPr/>
              </p:nvSpPr>
              <p:spPr>
                <a:xfrm>
                  <a:off x="8526937"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𝟔𝟎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29" name="TextBox 28">
                  <a:extLst>
                    <a:ext uri="{FF2B5EF4-FFF2-40B4-BE49-F238E27FC236}">
                      <a16:creationId xmlns:a16="http://schemas.microsoft.com/office/drawing/2014/main" id="{F963F7D1-5A87-D381-5FD2-D2D36C122CF2}"/>
                    </a:ext>
                  </a:extLst>
                </p:cNvPr>
                <p:cNvSpPr txBox="1">
                  <a:spLocks noRot="1" noChangeAspect="1" noMove="1" noResize="1" noEditPoints="1" noAdjustHandles="1" noChangeArrowheads="1" noChangeShapeType="1" noTextEdit="1"/>
                </p:cNvSpPr>
                <p:nvPr/>
              </p:nvSpPr>
              <p:spPr>
                <a:xfrm>
                  <a:off x="8526937" y="6188635"/>
                  <a:ext cx="940490" cy="338554"/>
                </a:xfrm>
                <a:prstGeom prst="rect">
                  <a:avLst/>
                </a:prstGeom>
                <a:blipFill>
                  <a:blip r:embed="rId5"/>
                  <a:stretch>
                    <a:fillRect b="-5000"/>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7488EE3-D26B-5C24-0677-89627A784770}"/>
                    </a:ext>
                  </a:extLst>
                </p:cNvPr>
                <p:cNvSpPr txBox="1"/>
                <p:nvPr/>
              </p:nvSpPr>
              <p:spPr>
                <a:xfrm>
                  <a:off x="10533997"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𝟗𝟎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30" name="TextBox 29">
                  <a:extLst>
                    <a:ext uri="{FF2B5EF4-FFF2-40B4-BE49-F238E27FC236}">
                      <a16:creationId xmlns:a16="http://schemas.microsoft.com/office/drawing/2014/main" id="{67488EE3-D26B-5C24-0677-89627A784770}"/>
                    </a:ext>
                  </a:extLst>
                </p:cNvPr>
                <p:cNvSpPr txBox="1">
                  <a:spLocks noRot="1" noChangeAspect="1" noMove="1" noResize="1" noEditPoints="1" noAdjustHandles="1" noChangeArrowheads="1" noChangeShapeType="1" noTextEdit="1"/>
                </p:cNvSpPr>
                <p:nvPr/>
              </p:nvSpPr>
              <p:spPr>
                <a:xfrm>
                  <a:off x="10533997" y="6188635"/>
                  <a:ext cx="940490" cy="338554"/>
                </a:xfrm>
                <a:prstGeom prst="rect">
                  <a:avLst/>
                </a:prstGeom>
                <a:blipFill>
                  <a:blip r:embed="rId6"/>
                  <a:stretch>
                    <a:fillRect b="-5000"/>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1AA7187-36E2-DC81-A0F1-065F131B4E11}"/>
                    </a:ext>
                  </a:extLst>
                </p:cNvPr>
                <p:cNvSpPr txBox="1"/>
                <p:nvPr/>
              </p:nvSpPr>
              <p:spPr>
                <a:xfrm>
                  <a:off x="8526937"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31" name="TextBox 30">
                  <a:extLst>
                    <a:ext uri="{FF2B5EF4-FFF2-40B4-BE49-F238E27FC236}">
                      <a16:creationId xmlns:a16="http://schemas.microsoft.com/office/drawing/2014/main" id="{E1AA7187-36E2-DC81-A0F1-065F131B4E11}"/>
                    </a:ext>
                  </a:extLst>
                </p:cNvPr>
                <p:cNvSpPr txBox="1">
                  <a:spLocks noRot="1" noChangeAspect="1" noMove="1" noResize="1" noEditPoints="1" noAdjustHandles="1" noChangeArrowheads="1" noChangeShapeType="1" noTextEdit="1"/>
                </p:cNvSpPr>
                <p:nvPr/>
              </p:nvSpPr>
              <p:spPr>
                <a:xfrm>
                  <a:off x="8526937" y="3373981"/>
                  <a:ext cx="940490" cy="338554"/>
                </a:xfrm>
                <a:prstGeom prst="rect">
                  <a:avLst/>
                </a:prstGeom>
                <a:blipFill>
                  <a:blip r:embed="rId7"/>
                  <a:stretch>
                    <a:fillRect b="-5000"/>
                  </a:stretch>
                </a:blipFill>
                <a:ln>
                  <a:solidFill>
                    <a:schemeClr val="bg2"/>
                  </a:solidFill>
                </a:ln>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2F8EC01E-79BE-92FF-CE71-F66E5CA7FD03}"/>
                </a:ext>
              </a:extLst>
            </p:cNvPr>
            <p:cNvCxnSpPr>
              <a:cxnSpLocks/>
              <a:stCxn id="26" idx="0"/>
              <a:endCxn id="26" idx="2"/>
            </p:cNvCxnSpPr>
            <p:nvPr/>
          </p:nvCxnSpPr>
          <p:spPr>
            <a:xfrm>
              <a:off x="9540417" y="1151474"/>
              <a:ext cx="0" cy="559834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0ED104C9-5856-998E-2330-36A656DC1A99}"/>
                </a:ext>
              </a:extLst>
            </p:cNvPr>
            <p:cNvSpPr/>
            <p:nvPr/>
          </p:nvSpPr>
          <p:spPr>
            <a:xfrm>
              <a:off x="7235965" y="1151474"/>
              <a:ext cx="4608904" cy="5598342"/>
            </a:xfrm>
            <a:prstGeom prst="rect">
              <a:avLst/>
            </a:prstGeom>
            <a:no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47D67F2E-23B8-E977-5829-9901FE1C3C3E}"/>
                    </a:ext>
                  </a:extLst>
                </p:cNvPr>
                <p:cNvSpPr txBox="1"/>
                <p:nvPr/>
              </p:nvSpPr>
              <p:spPr>
                <a:xfrm>
                  <a:off x="8916284" y="1215648"/>
                  <a:ext cx="1255231" cy="461665"/>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𝟏𝟎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40" name="TextBox 39">
                  <a:extLst>
                    <a:ext uri="{FF2B5EF4-FFF2-40B4-BE49-F238E27FC236}">
                      <a16:creationId xmlns:a16="http://schemas.microsoft.com/office/drawing/2014/main" id="{47D67F2E-23B8-E977-5829-9901FE1C3C3E}"/>
                    </a:ext>
                  </a:extLst>
                </p:cNvPr>
                <p:cNvSpPr txBox="1">
                  <a:spLocks noRot="1" noChangeAspect="1" noMove="1" noResize="1" noEditPoints="1" noAdjustHandles="1" noChangeArrowheads="1" noChangeShapeType="1" noTextEdit="1"/>
                </p:cNvSpPr>
                <p:nvPr/>
              </p:nvSpPr>
              <p:spPr>
                <a:xfrm>
                  <a:off x="8916284" y="1215648"/>
                  <a:ext cx="1255231" cy="461665"/>
                </a:xfrm>
                <a:prstGeom prst="rect">
                  <a:avLst/>
                </a:prstGeom>
                <a:blipFill>
                  <a:blip r:embed="rId8"/>
                  <a:stretch>
                    <a:fillRect/>
                  </a:stretch>
                </a:blipFill>
                <a:ln>
                  <a:solidFill>
                    <a:schemeClr val="bg2"/>
                  </a:solidFill>
                </a:ln>
              </p:spPr>
              <p:txBody>
                <a:bodyPr/>
                <a:lstStyle/>
                <a:p>
                  <a:r>
                    <a:rPr lang="en-US">
                      <a:noFill/>
                    </a:rPr>
                    <a:t> </a:t>
                  </a:r>
                </a:p>
              </p:txBody>
            </p:sp>
          </mc:Fallback>
        </mc:AlternateContent>
      </p:grpSp>
      <p:grpSp>
        <p:nvGrpSpPr>
          <p:cNvPr id="10" name="Group 9">
            <a:extLst>
              <a:ext uri="{FF2B5EF4-FFF2-40B4-BE49-F238E27FC236}">
                <a16:creationId xmlns:a16="http://schemas.microsoft.com/office/drawing/2014/main" id="{2179FF6C-B547-6A43-F8EE-F96714281942}"/>
              </a:ext>
            </a:extLst>
          </p:cNvPr>
          <p:cNvGrpSpPr>
            <a:grpSpLocks noChangeAspect="1"/>
          </p:cNvGrpSpPr>
          <p:nvPr/>
        </p:nvGrpSpPr>
        <p:grpSpPr>
          <a:xfrm>
            <a:off x="6527800" y="863601"/>
            <a:ext cx="4842495" cy="5882083"/>
            <a:chOff x="7235965" y="1151472"/>
            <a:chExt cx="4608904" cy="5598344"/>
          </a:xfrm>
        </p:grpSpPr>
        <p:pic>
          <p:nvPicPr>
            <p:cNvPr id="11" name="Picture 10">
              <a:extLst>
                <a:ext uri="{FF2B5EF4-FFF2-40B4-BE49-F238E27FC236}">
                  <a16:creationId xmlns:a16="http://schemas.microsoft.com/office/drawing/2014/main" id="{C3AF925A-453C-7B6A-1A05-BBD5017A63A6}"/>
                </a:ext>
              </a:extLst>
            </p:cNvPr>
            <p:cNvPicPr>
              <a:picLocks noChangeAspect="1"/>
            </p:cNvPicPr>
            <p:nvPr/>
          </p:nvPicPr>
          <p:blipFill>
            <a:blip r:embed="rId9"/>
            <a:stretch>
              <a:fillRect/>
            </a:stretch>
          </p:blipFill>
          <p:spPr>
            <a:xfrm>
              <a:off x="7241183" y="1151472"/>
              <a:ext cx="2354667" cy="5598341"/>
            </a:xfrm>
            <a:prstGeom prst="rect">
              <a:avLst/>
            </a:prstGeom>
          </p:spPr>
        </p:pic>
        <p:pic>
          <p:nvPicPr>
            <p:cNvPr id="14" name="Picture 13">
              <a:extLst>
                <a:ext uri="{FF2B5EF4-FFF2-40B4-BE49-F238E27FC236}">
                  <a16:creationId xmlns:a16="http://schemas.microsoft.com/office/drawing/2014/main" id="{AB4783E1-CD68-6D79-13DF-E4EF81DE33EC}"/>
                </a:ext>
              </a:extLst>
            </p:cNvPr>
            <p:cNvPicPr>
              <a:picLocks noChangeAspect="1"/>
            </p:cNvPicPr>
            <p:nvPr/>
          </p:nvPicPr>
          <p:blipFill>
            <a:blip r:embed="rId10"/>
            <a:stretch>
              <a:fillRect/>
            </a:stretch>
          </p:blipFill>
          <p:spPr>
            <a:xfrm>
              <a:off x="9524795" y="1151474"/>
              <a:ext cx="2320074" cy="5570563"/>
            </a:xfrm>
            <a:prstGeom prst="rect">
              <a:avLst/>
            </a:prstGeom>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84DF1C4-AB9E-ABEF-AB96-E02D6662A4F6}"/>
                    </a:ext>
                  </a:extLst>
                </p:cNvPr>
                <p:cNvSpPr txBox="1"/>
                <p:nvPr/>
              </p:nvSpPr>
              <p:spPr>
                <a:xfrm>
                  <a:off x="10533997"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𝟑𝟎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19" name="TextBox 18">
                  <a:extLst>
                    <a:ext uri="{FF2B5EF4-FFF2-40B4-BE49-F238E27FC236}">
                      <a16:creationId xmlns:a16="http://schemas.microsoft.com/office/drawing/2014/main" id="{384DF1C4-AB9E-ABEF-AB96-E02D6662A4F6}"/>
                    </a:ext>
                  </a:extLst>
                </p:cNvPr>
                <p:cNvSpPr txBox="1">
                  <a:spLocks noRot="1" noChangeAspect="1" noMove="1" noResize="1" noEditPoints="1" noAdjustHandles="1" noChangeArrowheads="1" noChangeShapeType="1" noTextEdit="1"/>
                </p:cNvSpPr>
                <p:nvPr/>
              </p:nvSpPr>
              <p:spPr>
                <a:xfrm>
                  <a:off x="10533997" y="3373981"/>
                  <a:ext cx="940490" cy="338554"/>
                </a:xfrm>
                <a:prstGeom prst="rect">
                  <a:avLst/>
                </a:prstGeom>
                <a:blipFill>
                  <a:blip r:embed="rId11"/>
                  <a:stretch>
                    <a:fillRect b="-5000"/>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29E670E-CF3A-39C0-40CF-8C441B3A2FF5}"/>
                    </a:ext>
                  </a:extLst>
                </p:cNvPr>
                <p:cNvSpPr txBox="1"/>
                <p:nvPr/>
              </p:nvSpPr>
              <p:spPr>
                <a:xfrm>
                  <a:off x="8526937"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𝟔𝟎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22" name="TextBox 21">
                  <a:extLst>
                    <a:ext uri="{FF2B5EF4-FFF2-40B4-BE49-F238E27FC236}">
                      <a16:creationId xmlns:a16="http://schemas.microsoft.com/office/drawing/2014/main" id="{629E670E-CF3A-39C0-40CF-8C441B3A2FF5}"/>
                    </a:ext>
                  </a:extLst>
                </p:cNvPr>
                <p:cNvSpPr txBox="1">
                  <a:spLocks noRot="1" noChangeAspect="1" noMove="1" noResize="1" noEditPoints="1" noAdjustHandles="1" noChangeArrowheads="1" noChangeShapeType="1" noTextEdit="1"/>
                </p:cNvSpPr>
                <p:nvPr/>
              </p:nvSpPr>
              <p:spPr>
                <a:xfrm>
                  <a:off x="8526937" y="6188635"/>
                  <a:ext cx="940490" cy="338554"/>
                </a:xfrm>
                <a:prstGeom prst="rect">
                  <a:avLst/>
                </a:prstGeom>
                <a:blipFill>
                  <a:blip r:embed="rId12"/>
                  <a:stretch>
                    <a:fillRect b="-5000"/>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8FE50D5-E06A-B37F-8BA0-9C882F8E046C}"/>
                    </a:ext>
                  </a:extLst>
                </p:cNvPr>
                <p:cNvSpPr txBox="1"/>
                <p:nvPr/>
              </p:nvSpPr>
              <p:spPr>
                <a:xfrm>
                  <a:off x="10533997"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𝟗𝟎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24" name="TextBox 23">
                  <a:extLst>
                    <a:ext uri="{FF2B5EF4-FFF2-40B4-BE49-F238E27FC236}">
                      <a16:creationId xmlns:a16="http://schemas.microsoft.com/office/drawing/2014/main" id="{B8FE50D5-E06A-B37F-8BA0-9C882F8E046C}"/>
                    </a:ext>
                  </a:extLst>
                </p:cNvPr>
                <p:cNvSpPr txBox="1">
                  <a:spLocks noRot="1" noChangeAspect="1" noMove="1" noResize="1" noEditPoints="1" noAdjustHandles="1" noChangeArrowheads="1" noChangeShapeType="1" noTextEdit="1"/>
                </p:cNvSpPr>
                <p:nvPr/>
              </p:nvSpPr>
              <p:spPr>
                <a:xfrm>
                  <a:off x="10533997" y="6188635"/>
                  <a:ext cx="940490" cy="338554"/>
                </a:xfrm>
                <a:prstGeom prst="rect">
                  <a:avLst/>
                </a:prstGeom>
                <a:blipFill>
                  <a:blip r:embed="rId13"/>
                  <a:stretch>
                    <a:fillRect b="-5000"/>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46AB525-0ED0-2391-15F4-83A790215EC9}"/>
                    </a:ext>
                  </a:extLst>
                </p:cNvPr>
                <p:cNvSpPr txBox="1"/>
                <p:nvPr/>
              </p:nvSpPr>
              <p:spPr>
                <a:xfrm>
                  <a:off x="8526937"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27" name="TextBox 26">
                  <a:extLst>
                    <a:ext uri="{FF2B5EF4-FFF2-40B4-BE49-F238E27FC236}">
                      <a16:creationId xmlns:a16="http://schemas.microsoft.com/office/drawing/2014/main" id="{946AB525-0ED0-2391-15F4-83A790215EC9}"/>
                    </a:ext>
                  </a:extLst>
                </p:cNvPr>
                <p:cNvSpPr txBox="1">
                  <a:spLocks noRot="1" noChangeAspect="1" noMove="1" noResize="1" noEditPoints="1" noAdjustHandles="1" noChangeArrowheads="1" noChangeShapeType="1" noTextEdit="1"/>
                </p:cNvSpPr>
                <p:nvPr/>
              </p:nvSpPr>
              <p:spPr>
                <a:xfrm>
                  <a:off x="8526937" y="3373981"/>
                  <a:ext cx="940490" cy="338554"/>
                </a:xfrm>
                <a:prstGeom prst="rect">
                  <a:avLst/>
                </a:prstGeom>
                <a:blipFill>
                  <a:blip r:embed="rId14"/>
                  <a:stretch>
                    <a:fillRect b="-5000"/>
                  </a:stretch>
                </a:blipFill>
                <a:ln>
                  <a:solidFill>
                    <a:schemeClr val="bg2"/>
                  </a:solidFill>
                </a:ln>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B87CB935-071B-2AAF-D9E2-3BC96F8B6767}"/>
                </a:ext>
              </a:extLst>
            </p:cNvPr>
            <p:cNvCxnSpPr>
              <a:cxnSpLocks/>
              <a:stCxn id="35" idx="0"/>
              <a:endCxn id="35" idx="2"/>
            </p:cNvCxnSpPr>
            <p:nvPr/>
          </p:nvCxnSpPr>
          <p:spPr>
            <a:xfrm>
              <a:off x="9540417" y="1151474"/>
              <a:ext cx="0" cy="559834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B7DF1875-D2EA-C034-E531-395C1C440F63}"/>
                </a:ext>
              </a:extLst>
            </p:cNvPr>
            <p:cNvSpPr/>
            <p:nvPr/>
          </p:nvSpPr>
          <p:spPr>
            <a:xfrm>
              <a:off x="7235965" y="1151474"/>
              <a:ext cx="4608904" cy="5598342"/>
            </a:xfrm>
            <a:prstGeom prst="rect">
              <a:avLst/>
            </a:prstGeom>
            <a:no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110008B7-FA46-9217-1A4E-E19E517299C0}"/>
                    </a:ext>
                  </a:extLst>
                </p:cNvPr>
                <p:cNvSpPr txBox="1"/>
                <p:nvPr/>
              </p:nvSpPr>
              <p:spPr>
                <a:xfrm>
                  <a:off x="8916284" y="1215648"/>
                  <a:ext cx="1255231" cy="461665"/>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𝟑𝟎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36" name="TextBox 35">
                  <a:extLst>
                    <a:ext uri="{FF2B5EF4-FFF2-40B4-BE49-F238E27FC236}">
                      <a16:creationId xmlns:a16="http://schemas.microsoft.com/office/drawing/2014/main" id="{110008B7-FA46-9217-1A4E-E19E517299C0}"/>
                    </a:ext>
                  </a:extLst>
                </p:cNvPr>
                <p:cNvSpPr txBox="1">
                  <a:spLocks noRot="1" noChangeAspect="1" noMove="1" noResize="1" noEditPoints="1" noAdjustHandles="1" noChangeArrowheads="1" noChangeShapeType="1" noTextEdit="1"/>
                </p:cNvSpPr>
                <p:nvPr/>
              </p:nvSpPr>
              <p:spPr>
                <a:xfrm>
                  <a:off x="8916284" y="1215648"/>
                  <a:ext cx="1255231" cy="461665"/>
                </a:xfrm>
                <a:prstGeom prst="rect">
                  <a:avLst/>
                </a:prstGeom>
                <a:blipFill>
                  <a:blip r:embed="rId15"/>
                  <a:stretch>
                    <a:fillRect/>
                  </a:stretch>
                </a:blipFill>
                <a:ln>
                  <a:solidFill>
                    <a:schemeClr val="bg2"/>
                  </a:solidFill>
                </a:ln>
              </p:spPr>
              <p:txBody>
                <a:bodyPr/>
                <a:lstStyle/>
                <a:p>
                  <a:r>
                    <a:rPr lang="en-US">
                      <a:noFill/>
                    </a:rPr>
                    <a:t> </a:t>
                  </a:r>
                </a:p>
              </p:txBody>
            </p:sp>
          </mc:Fallback>
        </mc:AlternateContent>
      </p:grpSp>
    </p:spTree>
    <p:extLst>
      <p:ext uri="{BB962C8B-B14F-4D97-AF65-F5344CB8AC3E}">
        <p14:creationId xmlns:p14="http://schemas.microsoft.com/office/powerpoint/2010/main" val="401549088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40157-B487-F776-F3C0-2925DFC72462}"/>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F1F801E3-7545-C64C-F5FE-7BB42BC25BF7}"/>
              </a:ext>
            </a:extLst>
          </p:cNvPr>
          <p:cNvGrpSpPr>
            <a:grpSpLocks noChangeAspect="1"/>
          </p:cNvGrpSpPr>
          <p:nvPr/>
        </p:nvGrpSpPr>
        <p:grpSpPr>
          <a:xfrm>
            <a:off x="817721" y="863600"/>
            <a:ext cx="4840998" cy="5882081"/>
            <a:chOff x="7235965" y="1151472"/>
            <a:chExt cx="4608904" cy="5600073"/>
          </a:xfrm>
        </p:grpSpPr>
        <p:pic>
          <p:nvPicPr>
            <p:cNvPr id="3" name="Picture 2">
              <a:extLst>
                <a:ext uri="{FF2B5EF4-FFF2-40B4-BE49-F238E27FC236}">
                  <a16:creationId xmlns:a16="http://schemas.microsoft.com/office/drawing/2014/main" id="{FFFA2A52-1A75-5A64-9C53-2462D9E531D8}"/>
                </a:ext>
              </a:extLst>
            </p:cNvPr>
            <p:cNvPicPr>
              <a:picLocks noChangeAspect="1"/>
            </p:cNvPicPr>
            <p:nvPr/>
          </p:nvPicPr>
          <p:blipFill>
            <a:blip r:embed="rId2"/>
            <a:stretch>
              <a:fillRect/>
            </a:stretch>
          </p:blipFill>
          <p:spPr>
            <a:xfrm>
              <a:off x="7251494" y="1151473"/>
              <a:ext cx="2263022" cy="5568225"/>
            </a:xfrm>
            <a:prstGeom prst="rect">
              <a:avLst/>
            </a:prstGeom>
          </p:spPr>
        </p:pic>
        <p:pic>
          <p:nvPicPr>
            <p:cNvPr id="4" name="Picture 3">
              <a:extLst>
                <a:ext uri="{FF2B5EF4-FFF2-40B4-BE49-F238E27FC236}">
                  <a16:creationId xmlns:a16="http://schemas.microsoft.com/office/drawing/2014/main" id="{3E8890CE-78C6-2F23-59FD-C8CF8AD65BD0}"/>
                </a:ext>
              </a:extLst>
            </p:cNvPr>
            <p:cNvPicPr>
              <a:picLocks noChangeAspect="1"/>
            </p:cNvPicPr>
            <p:nvPr/>
          </p:nvPicPr>
          <p:blipFill>
            <a:blip r:embed="rId3"/>
            <a:stretch>
              <a:fillRect/>
            </a:stretch>
          </p:blipFill>
          <p:spPr>
            <a:xfrm>
              <a:off x="9514516" y="1151472"/>
              <a:ext cx="2330353" cy="5600073"/>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473B2A1-8C3B-A302-CC78-7EAADD51C790}"/>
                    </a:ext>
                  </a:extLst>
                </p:cNvPr>
                <p:cNvSpPr txBox="1"/>
                <p:nvPr/>
              </p:nvSpPr>
              <p:spPr>
                <a:xfrm>
                  <a:off x="10533997"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𝟑𝟎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5" name="TextBox 4">
                  <a:extLst>
                    <a:ext uri="{FF2B5EF4-FFF2-40B4-BE49-F238E27FC236}">
                      <a16:creationId xmlns:a16="http://schemas.microsoft.com/office/drawing/2014/main" id="{5473B2A1-8C3B-A302-CC78-7EAADD51C790}"/>
                    </a:ext>
                  </a:extLst>
                </p:cNvPr>
                <p:cNvSpPr txBox="1">
                  <a:spLocks noRot="1" noChangeAspect="1" noMove="1" noResize="1" noEditPoints="1" noAdjustHandles="1" noChangeArrowheads="1" noChangeShapeType="1" noTextEdit="1"/>
                </p:cNvSpPr>
                <p:nvPr/>
              </p:nvSpPr>
              <p:spPr>
                <a:xfrm>
                  <a:off x="10533997" y="3373981"/>
                  <a:ext cx="940490" cy="338554"/>
                </a:xfrm>
                <a:prstGeom prst="rect">
                  <a:avLst/>
                </a:prstGeom>
                <a:blipFill>
                  <a:blip r:embed="rId4"/>
                  <a:stretch>
                    <a:fillRect b="-5000"/>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5C598CB-6779-4E63-9EBD-50B8DDE1F753}"/>
                    </a:ext>
                  </a:extLst>
                </p:cNvPr>
                <p:cNvSpPr txBox="1"/>
                <p:nvPr/>
              </p:nvSpPr>
              <p:spPr>
                <a:xfrm>
                  <a:off x="8526937"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𝟔𝟎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6" name="TextBox 5">
                  <a:extLst>
                    <a:ext uri="{FF2B5EF4-FFF2-40B4-BE49-F238E27FC236}">
                      <a16:creationId xmlns:a16="http://schemas.microsoft.com/office/drawing/2014/main" id="{E5C598CB-6779-4E63-9EBD-50B8DDE1F753}"/>
                    </a:ext>
                  </a:extLst>
                </p:cNvPr>
                <p:cNvSpPr txBox="1">
                  <a:spLocks noRot="1" noChangeAspect="1" noMove="1" noResize="1" noEditPoints="1" noAdjustHandles="1" noChangeArrowheads="1" noChangeShapeType="1" noTextEdit="1"/>
                </p:cNvSpPr>
                <p:nvPr/>
              </p:nvSpPr>
              <p:spPr>
                <a:xfrm>
                  <a:off x="8526937" y="6188635"/>
                  <a:ext cx="940490" cy="338554"/>
                </a:xfrm>
                <a:prstGeom prst="rect">
                  <a:avLst/>
                </a:prstGeom>
                <a:blipFill>
                  <a:blip r:embed="rId5"/>
                  <a:stretch>
                    <a:fillRect b="-5000"/>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EFB1D35-304D-C4BB-801D-25EF5548C459}"/>
                    </a:ext>
                  </a:extLst>
                </p:cNvPr>
                <p:cNvSpPr txBox="1"/>
                <p:nvPr/>
              </p:nvSpPr>
              <p:spPr>
                <a:xfrm>
                  <a:off x="10533997"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𝟗𝟎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7" name="TextBox 6">
                  <a:extLst>
                    <a:ext uri="{FF2B5EF4-FFF2-40B4-BE49-F238E27FC236}">
                      <a16:creationId xmlns:a16="http://schemas.microsoft.com/office/drawing/2014/main" id="{0EFB1D35-304D-C4BB-801D-25EF5548C459}"/>
                    </a:ext>
                  </a:extLst>
                </p:cNvPr>
                <p:cNvSpPr txBox="1">
                  <a:spLocks noRot="1" noChangeAspect="1" noMove="1" noResize="1" noEditPoints="1" noAdjustHandles="1" noChangeArrowheads="1" noChangeShapeType="1" noTextEdit="1"/>
                </p:cNvSpPr>
                <p:nvPr/>
              </p:nvSpPr>
              <p:spPr>
                <a:xfrm>
                  <a:off x="10533997" y="6188635"/>
                  <a:ext cx="940490" cy="338554"/>
                </a:xfrm>
                <a:prstGeom prst="rect">
                  <a:avLst/>
                </a:prstGeom>
                <a:blipFill>
                  <a:blip r:embed="rId6"/>
                  <a:stretch>
                    <a:fillRect b="-5000"/>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735F95C-D719-7EF8-74A1-1BD8CC878771}"/>
                    </a:ext>
                  </a:extLst>
                </p:cNvPr>
                <p:cNvSpPr txBox="1"/>
                <p:nvPr/>
              </p:nvSpPr>
              <p:spPr>
                <a:xfrm>
                  <a:off x="8526937"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8" name="TextBox 7">
                  <a:extLst>
                    <a:ext uri="{FF2B5EF4-FFF2-40B4-BE49-F238E27FC236}">
                      <a16:creationId xmlns:a16="http://schemas.microsoft.com/office/drawing/2014/main" id="{7735F95C-D719-7EF8-74A1-1BD8CC878771}"/>
                    </a:ext>
                  </a:extLst>
                </p:cNvPr>
                <p:cNvSpPr txBox="1">
                  <a:spLocks noRot="1" noChangeAspect="1" noMove="1" noResize="1" noEditPoints="1" noAdjustHandles="1" noChangeArrowheads="1" noChangeShapeType="1" noTextEdit="1"/>
                </p:cNvSpPr>
                <p:nvPr/>
              </p:nvSpPr>
              <p:spPr>
                <a:xfrm>
                  <a:off x="8526937" y="3373981"/>
                  <a:ext cx="940490" cy="338554"/>
                </a:xfrm>
                <a:prstGeom prst="rect">
                  <a:avLst/>
                </a:prstGeom>
                <a:blipFill>
                  <a:blip r:embed="rId7"/>
                  <a:stretch>
                    <a:fillRect b="-5000"/>
                  </a:stretch>
                </a:blipFill>
                <a:ln>
                  <a:solidFill>
                    <a:schemeClr val="bg2"/>
                  </a:solidFill>
                </a:ln>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01B18309-1B94-8D99-7097-556C9F74B92F}"/>
                </a:ext>
              </a:extLst>
            </p:cNvPr>
            <p:cNvCxnSpPr>
              <a:cxnSpLocks/>
              <a:stCxn id="13" idx="0"/>
              <a:endCxn id="13" idx="2"/>
            </p:cNvCxnSpPr>
            <p:nvPr/>
          </p:nvCxnSpPr>
          <p:spPr>
            <a:xfrm>
              <a:off x="9540417" y="1151474"/>
              <a:ext cx="0" cy="559834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71FBC5B7-00AC-B9A3-AF0F-F0A1225FBDAB}"/>
                </a:ext>
              </a:extLst>
            </p:cNvPr>
            <p:cNvSpPr/>
            <p:nvPr/>
          </p:nvSpPr>
          <p:spPr>
            <a:xfrm>
              <a:off x="7235965" y="1151474"/>
              <a:ext cx="4608904" cy="5598342"/>
            </a:xfrm>
            <a:prstGeom prst="rect">
              <a:avLst/>
            </a:prstGeom>
            <a:no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3FFF62A-B76D-8FA6-A928-E90FA5441128}"/>
                    </a:ext>
                  </a:extLst>
                </p:cNvPr>
                <p:cNvSpPr txBox="1"/>
                <p:nvPr/>
              </p:nvSpPr>
              <p:spPr>
                <a:xfrm>
                  <a:off x="8916284" y="1215648"/>
                  <a:ext cx="1255231" cy="461665"/>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𝟓𝟎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5" name="TextBox 14">
                  <a:extLst>
                    <a:ext uri="{FF2B5EF4-FFF2-40B4-BE49-F238E27FC236}">
                      <a16:creationId xmlns:a16="http://schemas.microsoft.com/office/drawing/2014/main" id="{F3FFF62A-B76D-8FA6-A928-E90FA5441128}"/>
                    </a:ext>
                  </a:extLst>
                </p:cNvPr>
                <p:cNvSpPr txBox="1">
                  <a:spLocks noRot="1" noChangeAspect="1" noMove="1" noResize="1" noEditPoints="1" noAdjustHandles="1" noChangeArrowheads="1" noChangeShapeType="1" noTextEdit="1"/>
                </p:cNvSpPr>
                <p:nvPr/>
              </p:nvSpPr>
              <p:spPr>
                <a:xfrm>
                  <a:off x="8916284" y="1215648"/>
                  <a:ext cx="1255231" cy="461665"/>
                </a:xfrm>
                <a:prstGeom prst="rect">
                  <a:avLst/>
                </a:prstGeom>
                <a:blipFill>
                  <a:blip r:embed="rId8"/>
                  <a:stretch>
                    <a:fillRect/>
                  </a:stretch>
                </a:blipFill>
                <a:ln>
                  <a:solidFill>
                    <a:schemeClr val="bg2"/>
                  </a:solidFill>
                </a:ln>
              </p:spPr>
              <p:txBody>
                <a:bodyPr/>
                <a:lstStyle/>
                <a:p>
                  <a:r>
                    <a:rPr lang="en-US">
                      <a:noFill/>
                    </a:rPr>
                    <a:t> </a:t>
                  </a:r>
                </a:p>
              </p:txBody>
            </p:sp>
          </mc:Fallback>
        </mc:AlternateContent>
      </p:grpSp>
      <p:grpSp>
        <p:nvGrpSpPr>
          <p:cNvPr id="17" name="Group 16">
            <a:extLst>
              <a:ext uri="{FF2B5EF4-FFF2-40B4-BE49-F238E27FC236}">
                <a16:creationId xmlns:a16="http://schemas.microsoft.com/office/drawing/2014/main" id="{836B1F54-239A-EE14-B44B-9AD89D45A1B5}"/>
              </a:ext>
            </a:extLst>
          </p:cNvPr>
          <p:cNvGrpSpPr>
            <a:grpSpLocks noChangeAspect="1"/>
          </p:cNvGrpSpPr>
          <p:nvPr/>
        </p:nvGrpSpPr>
        <p:grpSpPr>
          <a:xfrm>
            <a:off x="6600343" y="864455"/>
            <a:ext cx="4840997" cy="5879410"/>
            <a:chOff x="7235298" y="1151473"/>
            <a:chExt cx="4609572" cy="5598343"/>
          </a:xfrm>
        </p:grpSpPr>
        <p:pic>
          <p:nvPicPr>
            <p:cNvPr id="18" name="Picture 17">
              <a:extLst>
                <a:ext uri="{FF2B5EF4-FFF2-40B4-BE49-F238E27FC236}">
                  <a16:creationId xmlns:a16="http://schemas.microsoft.com/office/drawing/2014/main" id="{943A0A07-D3E4-3F69-4949-7FC09FCAD0B4}"/>
                </a:ext>
              </a:extLst>
            </p:cNvPr>
            <p:cNvPicPr>
              <a:picLocks noChangeAspect="1"/>
            </p:cNvPicPr>
            <p:nvPr/>
          </p:nvPicPr>
          <p:blipFill>
            <a:blip r:embed="rId9"/>
            <a:stretch>
              <a:fillRect/>
            </a:stretch>
          </p:blipFill>
          <p:spPr>
            <a:xfrm>
              <a:off x="9527034" y="1151473"/>
              <a:ext cx="2317836" cy="5589024"/>
            </a:xfrm>
            <a:prstGeom prst="rect">
              <a:avLst/>
            </a:prstGeom>
          </p:spPr>
        </p:pic>
        <p:pic>
          <p:nvPicPr>
            <p:cNvPr id="20" name="Picture 19">
              <a:extLst>
                <a:ext uri="{FF2B5EF4-FFF2-40B4-BE49-F238E27FC236}">
                  <a16:creationId xmlns:a16="http://schemas.microsoft.com/office/drawing/2014/main" id="{62A594F4-705C-30AA-1C48-BD9C31E54185}"/>
                </a:ext>
              </a:extLst>
            </p:cNvPr>
            <p:cNvPicPr>
              <a:picLocks noChangeAspect="1"/>
            </p:cNvPicPr>
            <p:nvPr/>
          </p:nvPicPr>
          <p:blipFill>
            <a:blip r:embed="rId10"/>
            <a:stretch>
              <a:fillRect/>
            </a:stretch>
          </p:blipFill>
          <p:spPr>
            <a:xfrm>
              <a:off x="7235298" y="1151473"/>
              <a:ext cx="2265569" cy="5598340"/>
            </a:xfrm>
            <a:prstGeom prst="rect">
              <a:avLst/>
            </a:prstGeom>
          </p:spPr>
        </p:pic>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A388CE0-2657-8DBA-CF77-A97716E61B78}"/>
                    </a:ext>
                  </a:extLst>
                </p:cNvPr>
                <p:cNvSpPr txBox="1"/>
                <p:nvPr/>
              </p:nvSpPr>
              <p:spPr>
                <a:xfrm>
                  <a:off x="10533997"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𝟑𝟎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21" name="TextBox 20">
                  <a:extLst>
                    <a:ext uri="{FF2B5EF4-FFF2-40B4-BE49-F238E27FC236}">
                      <a16:creationId xmlns:a16="http://schemas.microsoft.com/office/drawing/2014/main" id="{6A388CE0-2657-8DBA-CF77-A97716E61B78}"/>
                    </a:ext>
                  </a:extLst>
                </p:cNvPr>
                <p:cNvSpPr txBox="1">
                  <a:spLocks noRot="1" noChangeAspect="1" noMove="1" noResize="1" noEditPoints="1" noAdjustHandles="1" noChangeArrowheads="1" noChangeShapeType="1" noTextEdit="1"/>
                </p:cNvSpPr>
                <p:nvPr/>
              </p:nvSpPr>
              <p:spPr>
                <a:xfrm>
                  <a:off x="10533997" y="3373981"/>
                  <a:ext cx="940490" cy="338554"/>
                </a:xfrm>
                <a:prstGeom prst="rect">
                  <a:avLst/>
                </a:prstGeom>
                <a:blipFill>
                  <a:blip r:embed="rId11"/>
                  <a:stretch>
                    <a:fillRect b="-5000"/>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00812F1D-8570-8B87-8598-0A34B2B54EF7}"/>
                    </a:ext>
                  </a:extLst>
                </p:cNvPr>
                <p:cNvSpPr txBox="1"/>
                <p:nvPr/>
              </p:nvSpPr>
              <p:spPr>
                <a:xfrm>
                  <a:off x="8526937"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𝟔𝟎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32" name="TextBox 31">
                  <a:extLst>
                    <a:ext uri="{FF2B5EF4-FFF2-40B4-BE49-F238E27FC236}">
                      <a16:creationId xmlns:a16="http://schemas.microsoft.com/office/drawing/2014/main" id="{00812F1D-8570-8B87-8598-0A34B2B54EF7}"/>
                    </a:ext>
                  </a:extLst>
                </p:cNvPr>
                <p:cNvSpPr txBox="1">
                  <a:spLocks noRot="1" noChangeAspect="1" noMove="1" noResize="1" noEditPoints="1" noAdjustHandles="1" noChangeArrowheads="1" noChangeShapeType="1" noTextEdit="1"/>
                </p:cNvSpPr>
                <p:nvPr/>
              </p:nvSpPr>
              <p:spPr>
                <a:xfrm>
                  <a:off x="8526937" y="6188635"/>
                  <a:ext cx="940490" cy="338554"/>
                </a:xfrm>
                <a:prstGeom prst="rect">
                  <a:avLst/>
                </a:prstGeom>
                <a:blipFill>
                  <a:blip r:embed="rId12"/>
                  <a:stretch>
                    <a:fillRect b="-5000"/>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534071B-8ED3-C13F-F39B-D671F0EB412F}"/>
                    </a:ext>
                  </a:extLst>
                </p:cNvPr>
                <p:cNvSpPr txBox="1"/>
                <p:nvPr/>
              </p:nvSpPr>
              <p:spPr>
                <a:xfrm>
                  <a:off x="10533997" y="6188635"/>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𝟗𝟎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37" name="TextBox 36">
                  <a:extLst>
                    <a:ext uri="{FF2B5EF4-FFF2-40B4-BE49-F238E27FC236}">
                      <a16:creationId xmlns:a16="http://schemas.microsoft.com/office/drawing/2014/main" id="{4534071B-8ED3-C13F-F39B-D671F0EB412F}"/>
                    </a:ext>
                  </a:extLst>
                </p:cNvPr>
                <p:cNvSpPr txBox="1">
                  <a:spLocks noRot="1" noChangeAspect="1" noMove="1" noResize="1" noEditPoints="1" noAdjustHandles="1" noChangeArrowheads="1" noChangeShapeType="1" noTextEdit="1"/>
                </p:cNvSpPr>
                <p:nvPr/>
              </p:nvSpPr>
              <p:spPr>
                <a:xfrm>
                  <a:off x="10533997" y="6188635"/>
                  <a:ext cx="940490" cy="338554"/>
                </a:xfrm>
                <a:prstGeom prst="rect">
                  <a:avLst/>
                </a:prstGeom>
                <a:blipFill>
                  <a:blip r:embed="rId13"/>
                  <a:stretch>
                    <a:fillRect b="-5000"/>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49A2719-FED2-89B5-CE0D-DBCC84852BA1}"/>
                    </a:ext>
                  </a:extLst>
                </p:cNvPr>
                <p:cNvSpPr txBox="1"/>
                <p:nvPr/>
              </p:nvSpPr>
              <p:spPr>
                <a:xfrm>
                  <a:off x="8526937" y="3373981"/>
                  <a:ext cx="940490" cy="338554"/>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1600" b="1" i="1" smtClean="0">
                            <a:solidFill>
                              <a:schemeClr val="bg2"/>
                            </a:solidFill>
                            <a:latin typeface="Cambria Math" panose="02040503050406030204" pitchFamily="18" charset="0"/>
                          </a:rPr>
                          <m:t>𝝓</m:t>
                        </m:r>
                        <m:r>
                          <a:rPr lang="en-US" sz="1600" b="1" i="1" smtClean="0">
                            <a:solidFill>
                              <a:schemeClr val="bg2"/>
                            </a:solidFill>
                            <a:latin typeface="Cambria Math" panose="02040503050406030204" pitchFamily="18" charset="0"/>
                          </a:rPr>
                          <m:t>=</m:t>
                        </m:r>
                        <m:sSup>
                          <m:sSupPr>
                            <m:ctrlPr>
                              <a:rPr lang="en-US" sz="1600" b="1" i="1" smtClean="0">
                                <a:solidFill>
                                  <a:schemeClr val="bg2"/>
                                </a:solidFill>
                                <a:latin typeface="Cambria Math" panose="02040503050406030204" pitchFamily="18" charset="0"/>
                              </a:rPr>
                            </m:ctrlPr>
                          </m:sSupPr>
                          <m:e>
                            <m:r>
                              <a:rPr lang="en-US" sz="1600" b="1" i="1" smtClean="0">
                                <a:solidFill>
                                  <a:schemeClr val="bg2"/>
                                </a:solidFill>
                                <a:latin typeface="Cambria Math" panose="02040503050406030204" pitchFamily="18" charset="0"/>
                              </a:rPr>
                              <m:t>𝟎</m:t>
                            </m:r>
                          </m:e>
                          <m:sup>
                            <m:r>
                              <a:rPr lang="en-US" sz="1600" b="1" i="1" smtClean="0">
                                <a:solidFill>
                                  <a:schemeClr val="bg2"/>
                                </a:solidFill>
                                <a:latin typeface="Cambria Math" panose="02040503050406030204" pitchFamily="18" charset="0"/>
                              </a:rPr>
                              <m:t>∘</m:t>
                            </m:r>
                          </m:sup>
                        </m:sSup>
                      </m:oMath>
                    </m:oMathPara>
                  </a14:m>
                  <a:endParaRPr lang="en-US" sz="1600" b="1" dirty="0">
                    <a:solidFill>
                      <a:schemeClr val="bg2"/>
                    </a:solidFill>
                  </a:endParaRPr>
                </a:p>
              </p:txBody>
            </p:sp>
          </mc:Choice>
          <mc:Fallback xmlns="">
            <p:sp>
              <p:nvSpPr>
                <p:cNvPr id="38" name="TextBox 37">
                  <a:extLst>
                    <a:ext uri="{FF2B5EF4-FFF2-40B4-BE49-F238E27FC236}">
                      <a16:creationId xmlns:a16="http://schemas.microsoft.com/office/drawing/2014/main" id="{C49A2719-FED2-89B5-CE0D-DBCC84852BA1}"/>
                    </a:ext>
                  </a:extLst>
                </p:cNvPr>
                <p:cNvSpPr txBox="1">
                  <a:spLocks noRot="1" noChangeAspect="1" noMove="1" noResize="1" noEditPoints="1" noAdjustHandles="1" noChangeArrowheads="1" noChangeShapeType="1" noTextEdit="1"/>
                </p:cNvSpPr>
                <p:nvPr/>
              </p:nvSpPr>
              <p:spPr>
                <a:xfrm>
                  <a:off x="8526937" y="3373981"/>
                  <a:ext cx="940490" cy="338554"/>
                </a:xfrm>
                <a:prstGeom prst="rect">
                  <a:avLst/>
                </a:prstGeom>
                <a:blipFill>
                  <a:blip r:embed="rId14"/>
                  <a:stretch>
                    <a:fillRect b="-5000"/>
                  </a:stretch>
                </a:blipFill>
                <a:ln>
                  <a:solidFill>
                    <a:schemeClr val="bg2"/>
                  </a:solidFill>
                </a:ln>
              </p:spPr>
              <p:txBody>
                <a:bodyPr/>
                <a:lstStyle/>
                <a:p>
                  <a:r>
                    <a:rPr lang="en-US">
                      <a:noFill/>
                    </a:rPr>
                    <a:t> </a:t>
                  </a:r>
                </a:p>
              </p:txBody>
            </p:sp>
          </mc:Fallback>
        </mc:AlternateContent>
        <p:cxnSp>
          <p:nvCxnSpPr>
            <p:cNvPr id="39" name="Straight Connector 38">
              <a:extLst>
                <a:ext uri="{FF2B5EF4-FFF2-40B4-BE49-F238E27FC236}">
                  <a16:creationId xmlns:a16="http://schemas.microsoft.com/office/drawing/2014/main" id="{FADB3958-1C77-FE61-24B3-ACC9E69985D8}"/>
                </a:ext>
              </a:extLst>
            </p:cNvPr>
            <p:cNvCxnSpPr>
              <a:cxnSpLocks/>
              <a:stCxn id="41" idx="0"/>
              <a:endCxn id="41" idx="2"/>
            </p:cNvCxnSpPr>
            <p:nvPr/>
          </p:nvCxnSpPr>
          <p:spPr>
            <a:xfrm>
              <a:off x="9540417" y="1151474"/>
              <a:ext cx="0" cy="559834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454D0601-B87A-8BA1-5D67-5B0517C807A0}"/>
                </a:ext>
              </a:extLst>
            </p:cNvPr>
            <p:cNvSpPr/>
            <p:nvPr/>
          </p:nvSpPr>
          <p:spPr>
            <a:xfrm>
              <a:off x="7235965" y="1151474"/>
              <a:ext cx="4608904" cy="5598342"/>
            </a:xfrm>
            <a:prstGeom prst="rect">
              <a:avLst/>
            </a:prstGeom>
            <a:no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E0FC334F-8C99-6A67-73DA-9FC0B83DC7F2}"/>
                    </a:ext>
                  </a:extLst>
                </p:cNvPr>
                <p:cNvSpPr txBox="1"/>
                <p:nvPr/>
              </p:nvSpPr>
              <p:spPr>
                <a:xfrm>
                  <a:off x="8916284" y="1215648"/>
                  <a:ext cx="1255231" cy="461665"/>
                </a:xfrm>
                <a:prstGeom prst="rect">
                  <a:avLst/>
                </a:prstGeom>
                <a:solidFill>
                  <a:schemeClr val="bg1"/>
                </a:solidFill>
                <a:ln>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𝟕𝟎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42" name="TextBox 41">
                  <a:extLst>
                    <a:ext uri="{FF2B5EF4-FFF2-40B4-BE49-F238E27FC236}">
                      <a16:creationId xmlns:a16="http://schemas.microsoft.com/office/drawing/2014/main" id="{E0FC334F-8C99-6A67-73DA-9FC0B83DC7F2}"/>
                    </a:ext>
                  </a:extLst>
                </p:cNvPr>
                <p:cNvSpPr txBox="1">
                  <a:spLocks noRot="1" noChangeAspect="1" noMove="1" noResize="1" noEditPoints="1" noAdjustHandles="1" noChangeArrowheads="1" noChangeShapeType="1" noTextEdit="1"/>
                </p:cNvSpPr>
                <p:nvPr/>
              </p:nvSpPr>
              <p:spPr>
                <a:xfrm>
                  <a:off x="8916284" y="1215648"/>
                  <a:ext cx="1255231" cy="461665"/>
                </a:xfrm>
                <a:prstGeom prst="rect">
                  <a:avLst/>
                </a:prstGeom>
                <a:blipFill>
                  <a:blip r:embed="rId15"/>
                  <a:stretch>
                    <a:fillRect/>
                  </a:stretch>
                </a:blipFill>
                <a:ln>
                  <a:solidFill>
                    <a:schemeClr val="bg2"/>
                  </a:solidFill>
                </a:ln>
              </p:spPr>
              <p:txBody>
                <a:bodyPr/>
                <a:lstStyle/>
                <a:p>
                  <a:r>
                    <a:rPr lang="en-US">
                      <a:noFill/>
                    </a:rPr>
                    <a:t> </a:t>
                  </a:r>
                </a:p>
              </p:txBody>
            </p:sp>
          </mc:Fallback>
        </mc:AlternateContent>
      </p:grpSp>
    </p:spTree>
    <p:extLst>
      <p:ext uri="{BB962C8B-B14F-4D97-AF65-F5344CB8AC3E}">
        <p14:creationId xmlns:p14="http://schemas.microsoft.com/office/powerpoint/2010/main" val="67412166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4623A-B1E6-4C3C-D09B-BA5FEDB7BB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E22D70-D7A1-D265-EA22-697B66D1DB51}"/>
              </a:ext>
            </a:extLst>
          </p:cNvPr>
          <p:cNvSpPr>
            <a:spLocks noGrp="1"/>
          </p:cNvSpPr>
          <p:nvPr>
            <p:ph type="ctrTitle"/>
          </p:nvPr>
        </p:nvSpPr>
        <p:spPr/>
        <p:txBody>
          <a:bodyPr/>
          <a:lstStyle/>
          <a:p>
            <a:r>
              <a:rPr lang="en-US" sz="3600" dirty="0"/>
              <a:t>SPEOS format</a:t>
            </a:r>
            <a:endParaRPr lang="en-US" sz="3600" dirty="0">
              <a:solidFill>
                <a:schemeClr val="bg2"/>
              </a:solidFill>
            </a:endParaRPr>
          </a:p>
        </p:txBody>
      </p:sp>
      <p:sp>
        <p:nvSpPr>
          <p:cNvPr id="3" name="Subtitle 2">
            <a:extLst>
              <a:ext uri="{FF2B5EF4-FFF2-40B4-BE49-F238E27FC236}">
                <a16:creationId xmlns:a16="http://schemas.microsoft.com/office/drawing/2014/main" id="{EBB9CC90-6DA8-FB03-7858-E98961A4BD5A}"/>
              </a:ext>
            </a:extLst>
          </p:cNvPr>
          <p:cNvSpPr>
            <a:spLocks noGrp="1"/>
          </p:cNvSpPr>
          <p:nvPr>
            <p:ph type="subTitle" idx="1"/>
          </p:nvPr>
        </p:nvSpPr>
        <p:spPr/>
        <p:txBody>
          <a:bodyPr>
            <a:normAutofit/>
          </a:bodyPr>
          <a:lstStyle/>
          <a:p>
            <a:endParaRPr lang="en-US" dirty="0"/>
          </a:p>
          <a:p>
            <a:r>
              <a:rPr lang="en-US" dirty="0"/>
              <a:t>2026/04/04</a:t>
            </a:r>
          </a:p>
        </p:txBody>
      </p:sp>
    </p:spTree>
    <p:extLst>
      <p:ext uri="{BB962C8B-B14F-4D97-AF65-F5344CB8AC3E}">
        <p14:creationId xmlns:p14="http://schemas.microsoft.com/office/powerpoint/2010/main" val="195711949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45557-9F99-5C20-6FA3-DE8D6452263E}"/>
              </a:ext>
            </a:extLst>
          </p:cNvPr>
          <p:cNvSpPr>
            <a:spLocks noGrp="1"/>
          </p:cNvSpPr>
          <p:nvPr>
            <p:ph type="title"/>
          </p:nvPr>
        </p:nvSpPr>
        <p:spPr/>
        <p:txBody>
          <a:bodyPr/>
          <a:lstStyle/>
          <a:p>
            <a:r>
              <a:rPr lang="en-US" dirty="0"/>
              <a:t>First pass</a:t>
            </a:r>
          </a:p>
        </p:txBody>
      </p:sp>
      <p:sp>
        <p:nvSpPr>
          <p:cNvPr id="3" name="Text Placeholder 2">
            <a:extLst>
              <a:ext uri="{FF2B5EF4-FFF2-40B4-BE49-F238E27FC236}">
                <a16:creationId xmlns:a16="http://schemas.microsoft.com/office/drawing/2014/main" id="{67F1E010-F27A-9ECC-3B87-6E58585C531C}"/>
              </a:ext>
            </a:extLst>
          </p:cNvPr>
          <p:cNvSpPr>
            <a:spLocks noGrp="1"/>
          </p:cNvSpPr>
          <p:nvPr>
            <p:ph type="body" idx="1"/>
          </p:nvPr>
        </p:nvSpPr>
        <p:spPr/>
        <p:txBody>
          <a:bodyPr>
            <a:normAutofit/>
          </a:bodyPr>
          <a:lstStyle/>
          <a:p>
            <a:r>
              <a:rPr lang="en-US" sz="2000" b="0" dirty="0"/>
              <a:t>https://optics.ansys.com/hc/en-us/articles/18384793374227-Speos-BRDF-BTDF-and-BSDF-Formats</a:t>
            </a:r>
          </a:p>
        </p:txBody>
      </p:sp>
    </p:spTree>
    <p:extLst>
      <p:ext uri="{BB962C8B-B14F-4D97-AF65-F5344CB8AC3E}">
        <p14:creationId xmlns:p14="http://schemas.microsoft.com/office/powerpoint/2010/main" val="221674706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7B6A2-022D-B2D5-CAB1-64579DA9EE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C52F97-ECFB-36A1-EFCC-E3A109F661CA}"/>
              </a:ext>
            </a:extLst>
          </p:cNvPr>
          <p:cNvSpPr>
            <a:spLocks noGrp="1"/>
          </p:cNvSpPr>
          <p:nvPr>
            <p:ph type="ctrTitle"/>
          </p:nvPr>
        </p:nvSpPr>
        <p:spPr/>
        <p:txBody>
          <a:bodyPr/>
          <a:lstStyle/>
          <a:p>
            <a:r>
              <a:rPr lang="en-US" sz="3600" dirty="0"/>
              <a:t>TIS calculation for </a:t>
            </a:r>
            <a:r>
              <a:rPr lang="en-US" sz="3600" dirty="0" err="1"/>
              <a:t>Zemax</a:t>
            </a:r>
            <a:r>
              <a:rPr lang="en-US" sz="3600" dirty="0"/>
              <a:t>, </a:t>
            </a:r>
            <a:br>
              <a:rPr lang="en-US" sz="3600" dirty="0"/>
            </a:br>
            <a:r>
              <a:rPr lang="en-US" sz="3600" dirty="0"/>
              <a:t>in FRED frame</a:t>
            </a:r>
            <a:endParaRPr lang="en-US" sz="3600" dirty="0">
              <a:solidFill>
                <a:schemeClr val="bg2"/>
              </a:solidFill>
            </a:endParaRPr>
          </a:p>
        </p:txBody>
      </p:sp>
      <p:sp>
        <p:nvSpPr>
          <p:cNvPr id="3" name="Subtitle 2">
            <a:extLst>
              <a:ext uri="{FF2B5EF4-FFF2-40B4-BE49-F238E27FC236}">
                <a16:creationId xmlns:a16="http://schemas.microsoft.com/office/drawing/2014/main" id="{8DBC180D-9C12-CAEE-FCEC-48A217057C20}"/>
              </a:ext>
            </a:extLst>
          </p:cNvPr>
          <p:cNvSpPr>
            <a:spLocks noGrp="1"/>
          </p:cNvSpPr>
          <p:nvPr>
            <p:ph type="subTitle" idx="1"/>
          </p:nvPr>
        </p:nvSpPr>
        <p:spPr/>
        <p:txBody>
          <a:bodyPr>
            <a:normAutofit/>
          </a:bodyPr>
          <a:lstStyle/>
          <a:p>
            <a:endParaRPr lang="en-US" dirty="0"/>
          </a:p>
          <a:p>
            <a:r>
              <a:rPr lang="en-US" dirty="0"/>
              <a:t>2026/04/05</a:t>
            </a:r>
          </a:p>
        </p:txBody>
      </p:sp>
    </p:spTree>
    <p:extLst>
      <p:ext uri="{BB962C8B-B14F-4D97-AF65-F5344CB8AC3E}">
        <p14:creationId xmlns:p14="http://schemas.microsoft.com/office/powerpoint/2010/main" val="294812233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3758A-760F-B9F8-2EE8-0C6AFA4B95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D269C9-36F5-BE41-9C03-31CE1A22AE92}"/>
              </a:ext>
            </a:extLst>
          </p:cNvPr>
          <p:cNvSpPr>
            <a:spLocks noGrp="1"/>
          </p:cNvSpPr>
          <p:nvPr>
            <p:ph type="title"/>
          </p:nvPr>
        </p:nvSpPr>
        <p:spPr/>
        <p:txBody>
          <a:bodyPr/>
          <a:lstStyle/>
          <a:p>
            <a:r>
              <a:rPr lang="en-US" dirty="0"/>
              <a:t>Revisiting </a:t>
            </a:r>
            <a:r>
              <a:rPr lang="en-US" dirty="0" err="1"/>
              <a:t>Zemax’s</a:t>
            </a:r>
            <a:r>
              <a:rPr lang="en-US" dirty="0"/>
              <a:t> TIS definition</a:t>
            </a:r>
          </a:p>
        </p:txBody>
      </p:sp>
      <p:sp>
        <p:nvSpPr>
          <p:cNvPr id="3" name="Text Placeholder 2">
            <a:extLst>
              <a:ext uri="{FF2B5EF4-FFF2-40B4-BE49-F238E27FC236}">
                <a16:creationId xmlns:a16="http://schemas.microsoft.com/office/drawing/2014/main" id="{C776A60E-6E91-FE80-0A1A-C2C31DED51FB}"/>
              </a:ext>
            </a:extLst>
          </p:cNvPr>
          <p:cNvSpPr>
            <a:spLocks noGrp="1"/>
          </p:cNvSpPr>
          <p:nvPr>
            <p:ph type="body" idx="1"/>
          </p:nvPr>
        </p:nvSpPr>
        <p:spPr/>
        <p:txBody>
          <a:bodyPr>
            <a:normAutofit/>
          </a:bodyPr>
          <a:lstStyle/>
          <a:p>
            <a:r>
              <a:rPr lang="en-US" sz="2000" b="0" dirty="0"/>
              <a:t>Revisiting </a:t>
            </a:r>
            <a:r>
              <a:rPr lang="en-US" sz="2000" b="0" dirty="0" err="1"/>
              <a:t>Zemax’s</a:t>
            </a:r>
            <a:r>
              <a:rPr lang="en-US" sz="2000" b="0" dirty="0"/>
              <a:t> TIS definition, it appears some normalization constant is needed per RT-300S light source</a:t>
            </a:r>
          </a:p>
          <a:p>
            <a:pPr lvl="1"/>
            <a:r>
              <a:rPr lang="en-US" sz="1600" dirty="0"/>
              <a:t>Because, need to know how much integrated BRDF exists for 100% reflectance/scatter</a:t>
            </a:r>
          </a:p>
          <a:p>
            <a:pPr lvl="1"/>
            <a:r>
              <a:rPr lang="en-US" sz="1600" b="0" dirty="0"/>
              <a:t>Then, integrate full hemisphere of BRDF data (disregard the specular beam) and divide by that 100% reflectance/scatter integral result</a:t>
            </a:r>
          </a:p>
          <a:p>
            <a:r>
              <a:rPr lang="en-US" sz="2000" b="0" dirty="0"/>
              <a:t>https://optics.ansys.com/hc/en-us/articles/43071107687699-Zemax-Tabular-BSDF-data-file-format</a:t>
            </a:r>
          </a:p>
        </p:txBody>
      </p:sp>
      <p:pic>
        <p:nvPicPr>
          <p:cNvPr id="5" name="Picture 4">
            <a:extLst>
              <a:ext uri="{FF2B5EF4-FFF2-40B4-BE49-F238E27FC236}">
                <a16:creationId xmlns:a16="http://schemas.microsoft.com/office/drawing/2014/main" id="{E6790173-7364-F4AC-87B4-52F9E6A40D81}"/>
              </a:ext>
            </a:extLst>
          </p:cNvPr>
          <p:cNvPicPr>
            <a:picLocks noChangeAspect="1"/>
          </p:cNvPicPr>
          <p:nvPr/>
        </p:nvPicPr>
        <p:blipFill>
          <a:blip r:embed="rId2"/>
          <a:stretch>
            <a:fillRect/>
          </a:stretch>
        </p:blipFill>
        <p:spPr>
          <a:xfrm>
            <a:off x="983593" y="4481249"/>
            <a:ext cx="9412013" cy="1943371"/>
          </a:xfrm>
          <a:prstGeom prst="rect">
            <a:avLst/>
          </a:prstGeom>
        </p:spPr>
      </p:pic>
    </p:spTree>
    <p:extLst>
      <p:ext uri="{BB962C8B-B14F-4D97-AF65-F5344CB8AC3E}">
        <p14:creationId xmlns:p14="http://schemas.microsoft.com/office/powerpoint/2010/main" val="420542682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FD699-B2B3-7251-3664-42A360B10980}"/>
              </a:ext>
            </a:extLst>
          </p:cNvPr>
          <p:cNvSpPr>
            <a:spLocks noGrp="1"/>
          </p:cNvSpPr>
          <p:nvPr>
            <p:ph type="title"/>
          </p:nvPr>
        </p:nvSpPr>
        <p:spPr/>
        <p:txBody>
          <a:bodyPr/>
          <a:lstStyle/>
          <a:p>
            <a:r>
              <a:rPr lang="en-US" dirty="0"/>
              <a:t>Verifying new code fixing this</a:t>
            </a:r>
          </a:p>
        </p:txBody>
      </p:sp>
      <p:sp>
        <p:nvSpPr>
          <p:cNvPr id="3" name="Text Placeholder 2">
            <a:extLst>
              <a:ext uri="{FF2B5EF4-FFF2-40B4-BE49-F238E27FC236}">
                <a16:creationId xmlns:a16="http://schemas.microsoft.com/office/drawing/2014/main" id="{CA212949-B727-C3C4-5844-9E2B7B50D857}"/>
              </a:ext>
            </a:extLst>
          </p:cNvPr>
          <p:cNvSpPr>
            <a:spLocks noGrp="1"/>
          </p:cNvSpPr>
          <p:nvPr>
            <p:ph type="body" idx="1"/>
          </p:nvPr>
        </p:nvSpPr>
        <p:spPr/>
        <p:txBody>
          <a:bodyPr>
            <a:normAutofit/>
          </a:bodyPr>
          <a:lstStyle/>
          <a:p>
            <a:r>
              <a:rPr lang="en-US" sz="2000" b="0" dirty="0"/>
              <a:t>Most thorough way to verify is to get </a:t>
            </a:r>
            <a:r>
              <a:rPr lang="en-US" sz="2000" b="0" dirty="0" err="1"/>
              <a:t>Zemax’s</a:t>
            </a:r>
            <a:r>
              <a:rPr lang="en-US" sz="2000" b="0" dirty="0"/>
              <a:t> provided </a:t>
            </a:r>
            <a:r>
              <a:rPr lang="en-US" sz="2000" b="0" dirty="0" err="1"/>
              <a:t>BrownVinyl</a:t>
            </a:r>
            <a:r>
              <a:rPr lang="en-US" sz="2000" b="0" dirty="0"/>
              <a:t> BRDF data into FRED format</a:t>
            </a:r>
          </a:p>
          <a:p>
            <a:r>
              <a:rPr lang="en-US" sz="2000" b="0" dirty="0"/>
              <a:t>Then, calculate TIS with new code, and compare TIS values</a:t>
            </a:r>
          </a:p>
          <a:p>
            <a:r>
              <a:rPr lang="en-US" sz="2000" b="0" dirty="0"/>
              <a:t>However, that requires a “</a:t>
            </a:r>
            <a:r>
              <a:rPr lang="en-US" sz="2000" b="0" dirty="0" err="1"/>
              <a:t>Zemax</a:t>
            </a:r>
            <a:r>
              <a:rPr lang="en-US" sz="2000" b="0" dirty="0"/>
              <a:t>-to-FRED” routine… not worth developing (at least not now)</a:t>
            </a:r>
          </a:p>
          <a:p>
            <a:r>
              <a:rPr lang="en-US" sz="2000" b="0" dirty="0"/>
              <a:t>Instead, doing sanity checks</a:t>
            </a:r>
          </a:p>
          <a:p>
            <a:pPr lvl="1"/>
            <a:r>
              <a:rPr lang="en-US" sz="2000" b="0" dirty="0"/>
              <a:t>Aside from assuming BRDF values are properly normalized (following Max’s thesis method or the “t</a:t>
            </a:r>
            <a:r>
              <a:rPr lang="en-US" sz="2000" dirty="0"/>
              <a:t>hree correction” steps to get from RT-300S’s raw RT measurements to BRDF), only limitation is expected to be numerical implementation</a:t>
            </a:r>
            <a:endParaRPr lang="en-US" sz="2000" b="0" dirty="0"/>
          </a:p>
        </p:txBody>
      </p:sp>
    </p:spTree>
    <p:extLst>
      <p:ext uri="{BB962C8B-B14F-4D97-AF65-F5344CB8AC3E}">
        <p14:creationId xmlns:p14="http://schemas.microsoft.com/office/powerpoint/2010/main" val="343522675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A1B8A-0E23-FDCA-5559-2FCB355F02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D5A406-D23D-29BD-296C-A37A81214779}"/>
              </a:ext>
            </a:extLst>
          </p:cNvPr>
          <p:cNvSpPr>
            <a:spLocks noGrp="1"/>
          </p:cNvSpPr>
          <p:nvPr>
            <p:ph type="title"/>
          </p:nvPr>
        </p:nvSpPr>
        <p:spPr/>
        <p:txBody>
          <a:bodyPr/>
          <a:lstStyle/>
          <a:p>
            <a:r>
              <a:rPr lang="en-US" dirty="0"/>
              <a:t>Verifying new code fixing this</a:t>
            </a:r>
          </a:p>
        </p:txBody>
      </p:sp>
      <p:sp>
        <p:nvSpPr>
          <p:cNvPr id="3" name="Text Placeholder 2">
            <a:extLst>
              <a:ext uri="{FF2B5EF4-FFF2-40B4-BE49-F238E27FC236}">
                <a16:creationId xmlns:a16="http://schemas.microsoft.com/office/drawing/2014/main" id="{1ABE4B88-0E24-EED5-6987-746F4C6CA330}"/>
              </a:ext>
            </a:extLst>
          </p:cNvPr>
          <p:cNvSpPr>
            <a:spLocks noGrp="1"/>
          </p:cNvSpPr>
          <p:nvPr>
            <p:ph type="body" idx="1"/>
          </p:nvPr>
        </p:nvSpPr>
        <p:spPr/>
        <p:txBody>
          <a:bodyPr>
            <a:normAutofit lnSpcReduction="10000"/>
          </a:bodyPr>
          <a:lstStyle/>
          <a:p>
            <a:r>
              <a:rPr lang="en-US" sz="2000" b="0" dirty="0"/>
              <a:t>For isotropic, mirror about incident plane to get full hemisphere</a:t>
            </a:r>
          </a:p>
          <a:p>
            <a:r>
              <a:rPr lang="en-US" sz="2000" b="0" dirty="0"/>
              <a:t>Then, for either mirrored isotropic or for anisotropic, per incident angle polar and azimuth angles, mirror hemisphere about sample surface for sake of obtaining a full sphere</a:t>
            </a:r>
          </a:p>
          <a:p>
            <a:pPr lvl="1"/>
            <a:r>
              <a:rPr lang="en-US" sz="2000" dirty="0"/>
              <a:t>Then, fit convex hull to full sphere, such that triangle mesh outlines the sphere (without triangles trying to cut across some interior plane, such as would be the case without full-sphere </a:t>
            </a:r>
            <a:r>
              <a:rPr lang="en-US" sz="2000" dirty="0" err="1"/>
              <a:t>x,y,z</a:t>
            </a:r>
            <a:r>
              <a:rPr lang="en-US" sz="2000" dirty="0"/>
              <a:t> coordinates)</a:t>
            </a:r>
          </a:p>
          <a:p>
            <a:pPr lvl="1"/>
            <a:r>
              <a:rPr lang="en-US" sz="2000" dirty="0"/>
              <a:t>Get solid angle area of each mesh element (on unit sphere; not as flat triangle)</a:t>
            </a:r>
          </a:p>
          <a:p>
            <a:pPr lvl="1"/>
            <a:r>
              <a:rPr lang="en-US" sz="2000" b="0" dirty="0"/>
              <a:t>Sum </a:t>
            </a:r>
            <a:r>
              <a:rPr lang="en-US" sz="2000" dirty="0"/>
              <a:t>the products of solid angle area of with that mesh element’s average RT</a:t>
            </a:r>
          </a:p>
          <a:p>
            <a:pPr lvl="1"/>
            <a:r>
              <a:rPr lang="en-US" sz="2000" b="0" dirty="0"/>
              <a:t>Divide by 2 to get from full sphere to hemisphere</a:t>
            </a:r>
            <a:endParaRPr lang="en-US" sz="2000" dirty="0"/>
          </a:p>
          <a:p>
            <a:pPr lvl="2"/>
            <a:r>
              <a:rPr lang="en-US" sz="2000" b="0" dirty="0"/>
              <a:t>This </a:t>
            </a:r>
            <a:r>
              <a:rPr lang="en-US" sz="2000" dirty="0"/>
              <a:t>will be</a:t>
            </a:r>
            <a:r>
              <a:rPr lang="en-US" sz="2000" b="0" dirty="0"/>
              <a:t> TIS as defined by </a:t>
            </a:r>
            <a:r>
              <a:rPr lang="en-US" sz="2000" b="0" dirty="0" err="1"/>
              <a:t>Zemax</a:t>
            </a:r>
            <a:r>
              <a:rPr lang="en-US" sz="2000" b="0" dirty="0"/>
              <a:t>… after dividing by this same value obtained from a 100% reflecting/scattering sample… but assume that value would be 1 by assuming Max’s thesis method properl</a:t>
            </a:r>
            <a:r>
              <a:rPr lang="en-US" sz="2000" dirty="0"/>
              <a:t>y normalizes data</a:t>
            </a:r>
            <a:endParaRPr lang="en-US" sz="2000" b="0" dirty="0"/>
          </a:p>
        </p:txBody>
      </p:sp>
    </p:spTree>
    <p:extLst>
      <p:ext uri="{BB962C8B-B14F-4D97-AF65-F5344CB8AC3E}">
        <p14:creationId xmlns:p14="http://schemas.microsoft.com/office/powerpoint/2010/main" val="56812154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66EFA-79DF-998C-4FAB-9B79C4CF63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A69A19-7FD1-388C-B672-AC45F46AEA65}"/>
              </a:ext>
            </a:extLst>
          </p:cNvPr>
          <p:cNvSpPr>
            <a:spLocks noGrp="1"/>
          </p:cNvSpPr>
          <p:nvPr>
            <p:ph type="title"/>
          </p:nvPr>
        </p:nvSpPr>
        <p:spPr/>
        <p:txBody>
          <a:bodyPr/>
          <a:lstStyle/>
          <a:p>
            <a:r>
              <a:rPr lang="en-US" dirty="0"/>
              <a:t>Verifying new code fixing this</a:t>
            </a:r>
          </a:p>
        </p:txBody>
      </p:sp>
      <p:sp>
        <p:nvSpPr>
          <p:cNvPr id="3" name="Text Placeholder 2">
            <a:extLst>
              <a:ext uri="{FF2B5EF4-FFF2-40B4-BE49-F238E27FC236}">
                <a16:creationId xmlns:a16="http://schemas.microsoft.com/office/drawing/2014/main" id="{2152E960-A1E4-BCA9-87DF-4A40B0EB5016}"/>
              </a:ext>
            </a:extLst>
          </p:cNvPr>
          <p:cNvSpPr>
            <a:spLocks noGrp="1"/>
          </p:cNvSpPr>
          <p:nvPr>
            <p:ph type="body" idx="1"/>
          </p:nvPr>
        </p:nvSpPr>
        <p:spPr/>
        <p:txBody>
          <a:bodyPr>
            <a:normAutofit/>
          </a:bodyPr>
          <a:lstStyle/>
          <a:p>
            <a:r>
              <a:rPr lang="en-US" sz="2000" b="0" dirty="0"/>
              <a:t>This routine (at least for </a:t>
            </a:r>
            <a:r>
              <a:rPr lang="en-US" sz="2000" b="0" dirty="0" err="1"/>
              <a:t>NiTE</a:t>
            </a:r>
            <a:r>
              <a:rPr lang="en-US" sz="2000" b="0" dirty="0"/>
              <a:t> on INVAR, e.g.) shows same TIS (same absorption) for AOI = 10 deg and 30 deg</a:t>
            </a:r>
          </a:p>
          <a:p>
            <a:pPr lvl="1"/>
            <a:r>
              <a:rPr lang="en-US" sz="2000" dirty="0"/>
              <a:t>Was expecting at least some increase in absorption, at least enough to overcome measurement noise and numerical calculation error</a:t>
            </a:r>
          </a:p>
          <a:p>
            <a:pPr lvl="1"/>
            <a:r>
              <a:rPr lang="en-US" sz="2000" b="0" dirty="0"/>
              <a:t>But, the </a:t>
            </a:r>
            <a:r>
              <a:rPr lang="en-US" sz="2000" dirty="0"/>
              <a:t>TIS at 30 deg is 0.064649 and at 10 deg is 0.064817, so there is actually a slight increase in absorption from 10 to 30 deg (attributable to noise)</a:t>
            </a:r>
          </a:p>
          <a:p>
            <a:r>
              <a:rPr lang="en-US" sz="2000" b="0" dirty="0"/>
              <a:t>So, need to verify this “increase in absorption” is not a bug, and this new TIS calculation is correct</a:t>
            </a:r>
          </a:p>
          <a:p>
            <a:r>
              <a:rPr lang="en-US" sz="2000" b="0" dirty="0"/>
              <a:t>Inspecting MATLAB code, nothing stood out</a:t>
            </a:r>
          </a:p>
          <a:p>
            <a:pPr lvl="1"/>
            <a:r>
              <a:rPr lang="en-US" sz="2000" dirty="0"/>
              <a:t>So, </a:t>
            </a:r>
            <a:r>
              <a:rPr lang="en-US" sz="2000" dirty="0">
                <a:highlight>
                  <a:srgbClr val="FFFF00"/>
                </a:highlight>
              </a:rPr>
              <a:t>as long as nearly identical absorption at 10 and 30 deg AOI is not cause for concern, nothing appears to be a bug</a:t>
            </a:r>
            <a:endParaRPr lang="en-US" sz="2000" b="0" dirty="0">
              <a:highlight>
                <a:srgbClr val="FFFF00"/>
              </a:highlight>
            </a:endParaRPr>
          </a:p>
        </p:txBody>
      </p:sp>
    </p:spTree>
    <p:extLst>
      <p:ext uri="{BB962C8B-B14F-4D97-AF65-F5344CB8AC3E}">
        <p14:creationId xmlns:p14="http://schemas.microsoft.com/office/powerpoint/2010/main" val="190706164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4FDDA-0051-E0B8-D660-54410D0C75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4AA302-E90C-4386-2155-F97990008C8D}"/>
              </a:ext>
            </a:extLst>
          </p:cNvPr>
          <p:cNvSpPr>
            <a:spLocks noGrp="1"/>
          </p:cNvSpPr>
          <p:nvPr>
            <p:ph type="ctrTitle"/>
          </p:nvPr>
        </p:nvSpPr>
        <p:spPr/>
        <p:txBody>
          <a:bodyPr/>
          <a:lstStyle/>
          <a:p>
            <a:r>
              <a:rPr lang="en-US" sz="3600" dirty="0" err="1"/>
              <a:t>Aeroglaze</a:t>
            </a:r>
            <a:r>
              <a:rPr lang="en-US" sz="3600" dirty="0"/>
              <a:t> measurement</a:t>
            </a:r>
            <a:endParaRPr lang="en-US" sz="3600" dirty="0">
              <a:solidFill>
                <a:schemeClr val="bg2"/>
              </a:solidFill>
            </a:endParaRPr>
          </a:p>
        </p:txBody>
      </p:sp>
      <p:sp>
        <p:nvSpPr>
          <p:cNvPr id="3" name="Subtitle 2">
            <a:extLst>
              <a:ext uri="{FF2B5EF4-FFF2-40B4-BE49-F238E27FC236}">
                <a16:creationId xmlns:a16="http://schemas.microsoft.com/office/drawing/2014/main" id="{B5A13802-C03C-3095-FDFC-14E7728FEBD9}"/>
              </a:ext>
            </a:extLst>
          </p:cNvPr>
          <p:cNvSpPr>
            <a:spLocks noGrp="1"/>
          </p:cNvSpPr>
          <p:nvPr>
            <p:ph type="subTitle" idx="1"/>
          </p:nvPr>
        </p:nvSpPr>
        <p:spPr/>
        <p:txBody>
          <a:bodyPr>
            <a:normAutofit/>
          </a:bodyPr>
          <a:lstStyle/>
          <a:p>
            <a:endParaRPr lang="en-US" dirty="0"/>
          </a:p>
          <a:p>
            <a:r>
              <a:rPr lang="en-US" dirty="0"/>
              <a:t>2026/04/08</a:t>
            </a:r>
          </a:p>
        </p:txBody>
      </p:sp>
    </p:spTree>
    <p:extLst>
      <p:ext uri="{BB962C8B-B14F-4D97-AF65-F5344CB8AC3E}">
        <p14:creationId xmlns:p14="http://schemas.microsoft.com/office/powerpoint/2010/main" val="249126626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6454E-5BDE-0AC4-5EEC-7B39C2CF0A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7CFC63-7968-F507-7BF1-56CB20ECF936}"/>
              </a:ext>
            </a:extLst>
          </p:cNvPr>
          <p:cNvSpPr>
            <a:spLocks noGrp="1"/>
          </p:cNvSpPr>
          <p:nvPr>
            <p:ph type="title"/>
          </p:nvPr>
        </p:nvSpPr>
        <p:spPr/>
        <p:txBody>
          <a:bodyPr/>
          <a:lstStyle/>
          <a:p>
            <a:r>
              <a:rPr lang="en-US" dirty="0"/>
              <a:t>Discussion on measurement result</a:t>
            </a:r>
          </a:p>
        </p:txBody>
      </p:sp>
      <p:sp>
        <p:nvSpPr>
          <p:cNvPr id="3" name="Text Placeholder 2">
            <a:extLst>
              <a:ext uri="{FF2B5EF4-FFF2-40B4-BE49-F238E27FC236}">
                <a16:creationId xmlns:a16="http://schemas.microsoft.com/office/drawing/2014/main" id="{7CD4C8FB-BAAB-0CFE-B999-47AA3D41593B}"/>
              </a:ext>
            </a:extLst>
          </p:cNvPr>
          <p:cNvSpPr>
            <a:spLocks noGrp="1"/>
          </p:cNvSpPr>
          <p:nvPr>
            <p:ph type="body" idx="1"/>
          </p:nvPr>
        </p:nvSpPr>
        <p:spPr/>
        <p:txBody>
          <a:bodyPr>
            <a:normAutofit/>
          </a:bodyPr>
          <a:lstStyle/>
          <a:p>
            <a:r>
              <a:rPr lang="en-US" sz="2000" b="0" dirty="0"/>
              <a:t>Initially, surface seems scratched, otherwise bug in code (but unexpected since code shown to work for </a:t>
            </a:r>
            <a:r>
              <a:rPr lang="en-US" sz="2000" b="0" dirty="0" err="1"/>
              <a:t>NiTE</a:t>
            </a:r>
            <a:r>
              <a:rPr lang="en-US" sz="2000" b="0" dirty="0"/>
              <a:t> samples and IMX455)</a:t>
            </a:r>
          </a:p>
          <a:p>
            <a:r>
              <a:rPr lang="en-US" sz="2000" b="0" dirty="0"/>
              <a:t>Or, might just be property of surface that “specular” beam splits into the two “upper” and “lower” regions seen in polar plots</a:t>
            </a:r>
          </a:p>
          <a:p>
            <a:endParaRPr lang="en-US" sz="2000" b="0" dirty="0"/>
          </a:p>
          <a:p>
            <a:r>
              <a:rPr lang="en-US" sz="2000" dirty="0">
                <a:highlight>
                  <a:srgbClr val="FFFF00"/>
                </a:highlight>
              </a:rPr>
              <a:t>CONCLUSION: </a:t>
            </a:r>
            <a:r>
              <a:rPr lang="en-US" sz="2000" b="0" dirty="0">
                <a:highlight>
                  <a:srgbClr val="FFFF00"/>
                </a:highlight>
              </a:rPr>
              <a:t>the new blank reference “blank_v3o0_20260407.xls” is what is off</a:t>
            </a:r>
          </a:p>
          <a:p>
            <a:r>
              <a:rPr lang="en-US" sz="2000" b="0" dirty="0"/>
              <a:t>Also, there was bug in how sample and blank datasets without identical angles were reduced to their overlapping angles… but this appears not to fix the initial observation hence why blank reference was concluded to be the source of error</a:t>
            </a:r>
          </a:p>
        </p:txBody>
      </p:sp>
    </p:spTree>
    <p:extLst>
      <p:ext uri="{BB962C8B-B14F-4D97-AF65-F5344CB8AC3E}">
        <p14:creationId xmlns:p14="http://schemas.microsoft.com/office/powerpoint/2010/main" val="2391746960"/>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F2A0302-2F2C-C1ED-3F17-8B0E16B696EE}"/>
              </a:ext>
            </a:extLst>
          </p:cNvPr>
          <p:cNvPicPr>
            <a:picLocks noChangeAspect="1"/>
          </p:cNvPicPr>
          <p:nvPr/>
        </p:nvPicPr>
        <p:blipFill>
          <a:blip r:embed="rId2"/>
          <a:srcRect l="1944" t="14939" r="13977" b="4692"/>
          <a:stretch>
            <a:fillRect/>
          </a:stretch>
        </p:blipFill>
        <p:spPr>
          <a:xfrm>
            <a:off x="354665" y="0"/>
            <a:ext cx="11482670" cy="6858000"/>
          </a:xfrm>
          <a:prstGeom prst="rect">
            <a:avLst/>
          </a:prstGeom>
        </p:spPr>
      </p:pic>
      <p:sp>
        <p:nvSpPr>
          <p:cNvPr id="6" name="Rectangle 5">
            <a:extLst>
              <a:ext uri="{FF2B5EF4-FFF2-40B4-BE49-F238E27FC236}">
                <a16:creationId xmlns:a16="http://schemas.microsoft.com/office/drawing/2014/main" id="{A26FB02C-BB34-07FE-3B36-01250DEF61DC}"/>
              </a:ext>
            </a:extLst>
          </p:cNvPr>
          <p:cNvSpPr/>
          <p:nvPr/>
        </p:nvSpPr>
        <p:spPr>
          <a:xfrm>
            <a:off x="67734" y="152718"/>
            <a:ext cx="11769602" cy="3157749"/>
          </a:xfrm>
          <a:prstGeom prst="rect">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CAC8F79-7C42-0694-90DF-AED718EA70BF}"/>
                  </a:ext>
                </a:extLst>
              </p:cNvPr>
              <p:cNvSpPr txBox="1"/>
              <p:nvPr/>
            </p:nvSpPr>
            <p:spPr>
              <a:xfrm>
                <a:off x="3420864" y="260162"/>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𝟏𝟎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7" name="TextBox 6">
                <a:extLst>
                  <a:ext uri="{FF2B5EF4-FFF2-40B4-BE49-F238E27FC236}">
                    <a16:creationId xmlns:a16="http://schemas.microsoft.com/office/drawing/2014/main" id="{FCAC8F79-7C42-0694-90DF-AED718EA70BF}"/>
                  </a:ext>
                </a:extLst>
              </p:cNvPr>
              <p:cNvSpPr txBox="1">
                <a:spLocks noRot="1" noChangeAspect="1" noMove="1" noResize="1" noEditPoints="1" noAdjustHandles="1" noChangeArrowheads="1" noChangeShapeType="1" noTextEdit="1"/>
              </p:cNvSpPr>
              <p:nvPr/>
            </p:nvSpPr>
            <p:spPr>
              <a:xfrm>
                <a:off x="3420864" y="260162"/>
                <a:ext cx="1318442" cy="461665"/>
              </a:xfrm>
              <a:prstGeom prst="rect">
                <a:avLst/>
              </a:prstGeom>
              <a:blipFill>
                <a:blip r:embed="rId3"/>
                <a:stretch>
                  <a:fillRect/>
                </a:stretch>
              </a:blipFill>
              <a:ln w="38100">
                <a:solidFill>
                  <a:schemeClr val="bg2"/>
                </a:solidFill>
              </a:ln>
            </p:spPr>
            <p:txBody>
              <a:bodyPr/>
              <a:lstStyle/>
              <a:p>
                <a:r>
                  <a:rPr lang="en-US">
                    <a:noFill/>
                  </a:rPr>
                  <a:t> </a:t>
                </a:r>
              </a:p>
            </p:txBody>
          </p:sp>
        </mc:Fallback>
      </mc:AlternateContent>
      <p:sp>
        <p:nvSpPr>
          <p:cNvPr id="8" name="Rectangle 7">
            <a:extLst>
              <a:ext uri="{FF2B5EF4-FFF2-40B4-BE49-F238E27FC236}">
                <a16:creationId xmlns:a16="http://schemas.microsoft.com/office/drawing/2014/main" id="{C30CDD53-913A-9438-58D8-5328287462BC}"/>
              </a:ext>
            </a:extLst>
          </p:cNvPr>
          <p:cNvSpPr/>
          <p:nvPr/>
        </p:nvSpPr>
        <p:spPr>
          <a:xfrm>
            <a:off x="67733" y="3529225"/>
            <a:ext cx="11769602" cy="3157749"/>
          </a:xfrm>
          <a:prstGeom prst="rect">
            <a:avLst/>
          </a:prstGeom>
          <a:noFill/>
          <a:ln w="762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261ED6C-AF1E-04EC-99E1-3488439DBCAD}"/>
                  </a:ext>
                </a:extLst>
              </p:cNvPr>
              <p:cNvSpPr txBox="1"/>
              <p:nvPr/>
            </p:nvSpPr>
            <p:spPr>
              <a:xfrm>
                <a:off x="3420863" y="3636669"/>
                <a:ext cx="1318442" cy="461665"/>
              </a:xfrm>
              <a:prstGeom prst="rect">
                <a:avLst/>
              </a:prstGeom>
              <a:solidFill>
                <a:schemeClr val="bg1"/>
              </a:solidFill>
              <a:ln w="38100">
                <a:solidFill>
                  <a:schemeClr val="accent3"/>
                </a:solidFill>
              </a:ln>
            </p:spPr>
            <p:txBody>
              <a:bodyPr wrap="square" rtlCol="0">
                <a:spAutoFit/>
              </a:bodyPr>
              <a:lstStyle/>
              <a:p>
                <a:pPr/>
                <a14:m>
                  <m:oMathPara xmlns:m="http://schemas.openxmlformats.org/officeDocument/2006/math">
                    <m:oMath>
                      <m:r>
                        <a:rPr lang="en-US" sz="2400" b="1" i="1" smtClean="0">
                          <a:solidFill>
                            <a:schemeClr val="accent3"/>
                          </a:solidFill>
                          <a:latin typeface="Cambria Math" panose="02040503050406030204" pitchFamily="18" charset="0"/>
                        </a:rPr>
                        <m:t>𝑰</m:t>
                      </m:r>
                      <m:r>
                        <a:rPr lang="en-US" sz="2400" b="1" i="1" smtClean="0">
                          <a:solidFill>
                            <a:schemeClr val="accent3"/>
                          </a:solidFill>
                          <a:latin typeface="Cambria Math" panose="02040503050406030204" pitchFamily="18" charset="0"/>
                        </a:rPr>
                        <m:t>=</m:t>
                      </m:r>
                      <m:sSup>
                        <m:sSupPr>
                          <m:ctrlPr>
                            <a:rPr lang="en-US" sz="2400" b="1" i="1" smtClean="0">
                              <a:solidFill>
                                <a:schemeClr val="accent3"/>
                              </a:solidFill>
                              <a:latin typeface="Cambria Math" panose="02040503050406030204" pitchFamily="18" charset="0"/>
                            </a:rPr>
                          </m:ctrlPr>
                        </m:sSupPr>
                        <m:e>
                          <m:r>
                            <a:rPr lang="en-US" sz="2400" b="1" i="1" smtClean="0">
                              <a:solidFill>
                                <a:schemeClr val="accent3"/>
                              </a:solidFill>
                              <a:latin typeface="Cambria Math" panose="02040503050406030204" pitchFamily="18" charset="0"/>
                            </a:rPr>
                            <m:t>𝟕𝟓</m:t>
                          </m:r>
                        </m:e>
                        <m:sup>
                          <m:r>
                            <a:rPr lang="en-US" sz="2400" b="1" i="1" smtClean="0">
                              <a:solidFill>
                                <a:schemeClr val="accent3"/>
                              </a:solidFill>
                              <a:latin typeface="Cambria Math" panose="02040503050406030204" pitchFamily="18" charset="0"/>
                            </a:rPr>
                            <m:t>∘</m:t>
                          </m:r>
                        </m:sup>
                      </m:sSup>
                    </m:oMath>
                  </m:oMathPara>
                </a14:m>
                <a:endParaRPr lang="en-US" sz="2400" b="1" dirty="0">
                  <a:solidFill>
                    <a:schemeClr val="accent3"/>
                  </a:solidFill>
                </a:endParaRPr>
              </a:p>
            </p:txBody>
          </p:sp>
        </mc:Choice>
        <mc:Fallback xmlns="">
          <p:sp>
            <p:nvSpPr>
              <p:cNvPr id="9" name="TextBox 8">
                <a:extLst>
                  <a:ext uri="{FF2B5EF4-FFF2-40B4-BE49-F238E27FC236}">
                    <a16:creationId xmlns:a16="http://schemas.microsoft.com/office/drawing/2014/main" id="{8261ED6C-AF1E-04EC-99E1-3488439DBCAD}"/>
                  </a:ext>
                </a:extLst>
              </p:cNvPr>
              <p:cNvSpPr txBox="1">
                <a:spLocks noRot="1" noChangeAspect="1" noMove="1" noResize="1" noEditPoints="1" noAdjustHandles="1" noChangeArrowheads="1" noChangeShapeType="1" noTextEdit="1"/>
              </p:cNvSpPr>
              <p:nvPr/>
            </p:nvSpPr>
            <p:spPr>
              <a:xfrm>
                <a:off x="3420863" y="3636669"/>
                <a:ext cx="1318442" cy="461665"/>
              </a:xfrm>
              <a:prstGeom prst="rect">
                <a:avLst/>
              </a:prstGeom>
              <a:blipFill>
                <a:blip r:embed="rId4"/>
                <a:stretch>
                  <a:fillRect/>
                </a:stretch>
              </a:blipFill>
              <a:ln w="38100">
                <a:solidFill>
                  <a:schemeClr val="accent3"/>
                </a:solidFill>
              </a:ln>
            </p:spPr>
            <p:txBody>
              <a:bodyPr/>
              <a:lstStyle/>
              <a:p>
                <a:r>
                  <a:rPr lang="en-US">
                    <a:noFill/>
                  </a:rPr>
                  <a:t> </a:t>
                </a:r>
              </a:p>
            </p:txBody>
          </p:sp>
        </mc:Fallback>
      </mc:AlternateContent>
      <p:sp>
        <p:nvSpPr>
          <p:cNvPr id="10" name="TextBox 9">
            <a:extLst>
              <a:ext uri="{FF2B5EF4-FFF2-40B4-BE49-F238E27FC236}">
                <a16:creationId xmlns:a16="http://schemas.microsoft.com/office/drawing/2014/main" id="{ECCD86CA-CE14-DCEE-E357-98B6E4C8270F}"/>
              </a:ext>
            </a:extLst>
          </p:cNvPr>
          <p:cNvSpPr txBox="1"/>
          <p:nvPr/>
        </p:nvSpPr>
        <p:spPr>
          <a:xfrm rot="5400000">
            <a:off x="1156093" y="3189014"/>
            <a:ext cx="1710855" cy="461665"/>
          </a:xfrm>
          <a:prstGeom prst="rect">
            <a:avLst/>
          </a:prstGeom>
          <a:solidFill>
            <a:schemeClr val="bg1"/>
          </a:solidFill>
          <a:ln w="38100">
            <a:solidFill>
              <a:schemeClr val="tx1"/>
            </a:solidFill>
          </a:ln>
        </p:spPr>
        <p:txBody>
          <a:bodyPr wrap="square" rtlCol="0">
            <a:spAutoFit/>
          </a:bodyPr>
          <a:lstStyle/>
          <a:p>
            <a:pPr algn="ctr"/>
            <a:r>
              <a:rPr lang="en-US" sz="2400" b="1" dirty="0">
                <a:solidFill>
                  <a:schemeClr val="tx1"/>
                </a:solidFill>
              </a:rPr>
              <a:t>A only</a:t>
            </a:r>
          </a:p>
        </p:txBody>
      </p:sp>
      <p:sp>
        <p:nvSpPr>
          <p:cNvPr id="11" name="TextBox 10">
            <a:extLst>
              <a:ext uri="{FF2B5EF4-FFF2-40B4-BE49-F238E27FC236}">
                <a16:creationId xmlns:a16="http://schemas.microsoft.com/office/drawing/2014/main" id="{0CDC842B-8C77-297B-AB4E-47B38EFFBF1C}"/>
              </a:ext>
            </a:extLst>
          </p:cNvPr>
          <p:cNvSpPr txBox="1"/>
          <p:nvPr/>
        </p:nvSpPr>
        <p:spPr>
          <a:xfrm rot="5400000">
            <a:off x="5558762" y="3185347"/>
            <a:ext cx="1710855" cy="461665"/>
          </a:xfrm>
          <a:prstGeom prst="rect">
            <a:avLst/>
          </a:prstGeom>
          <a:solidFill>
            <a:schemeClr val="bg1"/>
          </a:solidFill>
          <a:ln w="38100">
            <a:solidFill>
              <a:schemeClr val="tx1"/>
            </a:solidFill>
          </a:ln>
        </p:spPr>
        <p:txBody>
          <a:bodyPr wrap="square" rtlCol="0">
            <a:spAutoFit/>
          </a:bodyPr>
          <a:lstStyle/>
          <a:p>
            <a:pPr algn="ctr"/>
            <a:r>
              <a:rPr lang="en-US" sz="2400" b="1" dirty="0">
                <a:solidFill>
                  <a:schemeClr val="tx1"/>
                </a:solidFill>
              </a:rPr>
              <a:t>B only</a:t>
            </a:r>
          </a:p>
        </p:txBody>
      </p:sp>
      <p:sp>
        <p:nvSpPr>
          <p:cNvPr id="12" name="TextBox 11">
            <a:extLst>
              <a:ext uri="{FF2B5EF4-FFF2-40B4-BE49-F238E27FC236}">
                <a16:creationId xmlns:a16="http://schemas.microsoft.com/office/drawing/2014/main" id="{7BD0838B-05F2-5B01-967F-D8E058F40FA7}"/>
              </a:ext>
            </a:extLst>
          </p:cNvPr>
          <p:cNvSpPr txBox="1"/>
          <p:nvPr/>
        </p:nvSpPr>
        <p:spPr>
          <a:xfrm rot="5400000">
            <a:off x="10155711" y="3185346"/>
            <a:ext cx="1710855" cy="461665"/>
          </a:xfrm>
          <a:prstGeom prst="rect">
            <a:avLst/>
          </a:prstGeom>
          <a:solidFill>
            <a:schemeClr val="bg1"/>
          </a:solidFill>
          <a:ln w="38100">
            <a:solidFill>
              <a:schemeClr val="tx1"/>
            </a:solidFill>
          </a:ln>
        </p:spPr>
        <p:txBody>
          <a:bodyPr wrap="square" rtlCol="0">
            <a:spAutoFit/>
          </a:bodyPr>
          <a:lstStyle/>
          <a:p>
            <a:pPr algn="ctr"/>
            <a:r>
              <a:rPr lang="en-US" sz="2400" b="1" dirty="0">
                <a:solidFill>
                  <a:schemeClr val="tx1"/>
                </a:solidFill>
              </a:rPr>
              <a:t>A and B</a:t>
            </a:r>
          </a:p>
        </p:txBody>
      </p:sp>
      <p:sp>
        <p:nvSpPr>
          <p:cNvPr id="13" name="TextBox 12">
            <a:extLst>
              <a:ext uri="{FF2B5EF4-FFF2-40B4-BE49-F238E27FC236}">
                <a16:creationId xmlns:a16="http://schemas.microsoft.com/office/drawing/2014/main" id="{97A454BF-7624-D3AC-9FEB-C628870CFA4E}"/>
              </a:ext>
            </a:extLst>
          </p:cNvPr>
          <p:cNvSpPr txBox="1"/>
          <p:nvPr/>
        </p:nvSpPr>
        <p:spPr>
          <a:xfrm>
            <a:off x="7125093" y="350040"/>
            <a:ext cx="2476107" cy="1200329"/>
          </a:xfrm>
          <a:prstGeom prst="rect">
            <a:avLst/>
          </a:prstGeom>
          <a:solidFill>
            <a:schemeClr val="bg1"/>
          </a:solidFill>
          <a:ln w="38100">
            <a:solidFill>
              <a:schemeClr val="tx1"/>
            </a:solidFill>
          </a:ln>
        </p:spPr>
        <p:txBody>
          <a:bodyPr wrap="square" rtlCol="0">
            <a:spAutoFit/>
          </a:bodyPr>
          <a:lstStyle/>
          <a:p>
            <a:pPr algn="ctr"/>
            <a:r>
              <a:rPr lang="en-US" sz="2400" b="1" dirty="0" err="1">
                <a:solidFill>
                  <a:schemeClr val="tx1"/>
                </a:solidFill>
              </a:rPr>
              <a:t>Aeroglaze</a:t>
            </a:r>
            <a:r>
              <a:rPr lang="en-US" sz="2400" b="1" dirty="0">
                <a:solidFill>
                  <a:schemeClr val="tx1"/>
                </a:solidFill>
              </a:rPr>
              <a:t> with blank_v3 (prior to bug fix)</a:t>
            </a:r>
          </a:p>
        </p:txBody>
      </p:sp>
    </p:spTree>
    <p:extLst>
      <p:ext uri="{BB962C8B-B14F-4D97-AF65-F5344CB8AC3E}">
        <p14:creationId xmlns:p14="http://schemas.microsoft.com/office/powerpoint/2010/main" val="105649512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D2867-FA13-D879-0BAF-3DF8AC4BBD08}"/>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DF97A44E-F18E-E6CF-D349-0E296B993F84}"/>
              </a:ext>
            </a:extLst>
          </p:cNvPr>
          <p:cNvPicPr>
            <a:picLocks noChangeAspect="1"/>
          </p:cNvPicPr>
          <p:nvPr/>
        </p:nvPicPr>
        <p:blipFill>
          <a:blip r:embed="rId2"/>
          <a:stretch>
            <a:fillRect/>
          </a:stretch>
        </p:blipFill>
        <p:spPr>
          <a:xfrm>
            <a:off x="3842710" y="0"/>
            <a:ext cx="8350453" cy="685800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22042CF-3712-088C-A564-62FE0702617C}"/>
                  </a:ext>
                </a:extLst>
              </p:cNvPr>
              <p:cNvSpPr txBox="1"/>
              <p:nvPr/>
            </p:nvSpPr>
            <p:spPr>
              <a:xfrm>
                <a:off x="3933457" y="268629"/>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𝟏𝟎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7" name="TextBox 6">
                <a:extLst>
                  <a:ext uri="{FF2B5EF4-FFF2-40B4-BE49-F238E27FC236}">
                    <a16:creationId xmlns:a16="http://schemas.microsoft.com/office/drawing/2014/main" id="{422042CF-3712-088C-A564-62FE0702617C}"/>
                  </a:ext>
                </a:extLst>
              </p:cNvPr>
              <p:cNvSpPr txBox="1">
                <a:spLocks noRot="1" noChangeAspect="1" noMove="1" noResize="1" noEditPoints="1" noAdjustHandles="1" noChangeArrowheads="1" noChangeShapeType="1" noTextEdit="1"/>
              </p:cNvSpPr>
              <p:nvPr/>
            </p:nvSpPr>
            <p:spPr>
              <a:xfrm>
                <a:off x="3933457" y="268629"/>
                <a:ext cx="1318442" cy="461665"/>
              </a:xfrm>
              <a:prstGeom prst="rect">
                <a:avLst/>
              </a:prstGeom>
              <a:blipFill>
                <a:blip r:embed="rId3"/>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DE92929-8DC8-298B-E1B3-86314261288C}"/>
                  </a:ext>
                </a:extLst>
              </p:cNvPr>
              <p:cNvSpPr txBox="1"/>
              <p:nvPr/>
            </p:nvSpPr>
            <p:spPr>
              <a:xfrm>
                <a:off x="8607057" y="268629"/>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𝟑𝟎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4" name="TextBox 13">
                <a:extLst>
                  <a:ext uri="{FF2B5EF4-FFF2-40B4-BE49-F238E27FC236}">
                    <a16:creationId xmlns:a16="http://schemas.microsoft.com/office/drawing/2014/main" id="{5DE92929-8DC8-298B-E1B3-86314261288C}"/>
                  </a:ext>
                </a:extLst>
              </p:cNvPr>
              <p:cNvSpPr txBox="1">
                <a:spLocks noRot="1" noChangeAspect="1" noMove="1" noResize="1" noEditPoints="1" noAdjustHandles="1" noChangeArrowheads="1" noChangeShapeType="1" noTextEdit="1"/>
              </p:cNvSpPr>
              <p:nvPr/>
            </p:nvSpPr>
            <p:spPr>
              <a:xfrm>
                <a:off x="8607057" y="268629"/>
                <a:ext cx="1318442" cy="461665"/>
              </a:xfrm>
              <a:prstGeom prst="rect">
                <a:avLst/>
              </a:prstGeom>
              <a:blipFill>
                <a:blip r:embed="rId4"/>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2E987EF-146D-B4E6-F55A-0B3B8ADDF0C2}"/>
                  </a:ext>
                </a:extLst>
              </p:cNvPr>
              <p:cNvSpPr txBox="1"/>
              <p:nvPr/>
            </p:nvSpPr>
            <p:spPr>
              <a:xfrm>
                <a:off x="3933457" y="3706096"/>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𝟓𝟎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5" name="TextBox 14">
                <a:extLst>
                  <a:ext uri="{FF2B5EF4-FFF2-40B4-BE49-F238E27FC236}">
                    <a16:creationId xmlns:a16="http://schemas.microsoft.com/office/drawing/2014/main" id="{52E987EF-146D-B4E6-F55A-0B3B8ADDF0C2}"/>
                  </a:ext>
                </a:extLst>
              </p:cNvPr>
              <p:cNvSpPr txBox="1">
                <a:spLocks noRot="1" noChangeAspect="1" noMove="1" noResize="1" noEditPoints="1" noAdjustHandles="1" noChangeArrowheads="1" noChangeShapeType="1" noTextEdit="1"/>
              </p:cNvSpPr>
              <p:nvPr/>
            </p:nvSpPr>
            <p:spPr>
              <a:xfrm>
                <a:off x="3933457" y="3706096"/>
                <a:ext cx="1318442" cy="461665"/>
              </a:xfrm>
              <a:prstGeom prst="rect">
                <a:avLst/>
              </a:prstGeom>
              <a:blipFill>
                <a:blip r:embed="rId5"/>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65C5CEC-9072-A76E-803F-92973D954A31}"/>
                  </a:ext>
                </a:extLst>
              </p:cNvPr>
              <p:cNvSpPr txBox="1"/>
              <p:nvPr/>
            </p:nvSpPr>
            <p:spPr>
              <a:xfrm>
                <a:off x="8607057" y="3706096"/>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𝟕𝟎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6" name="TextBox 15">
                <a:extLst>
                  <a:ext uri="{FF2B5EF4-FFF2-40B4-BE49-F238E27FC236}">
                    <a16:creationId xmlns:a16="http://schemas.microsoft.com/office/drawing/2014/main" id="{E65C5CEC-9072-A76E-803F-92973D954A31}"/>
                  </a:ext>
                </a:extLst>
              </p:cNvPr>
              <p:cNvSpPr txBox="1">
                <a:spLocks noRot="1" noChangeAspect="1" noMove="1" noResize="1" noEditPoints="1" noAdjustHandles="1" noChangeArrowheads="1" noChangeShapeType="1" noTextEdit="1"/>
              </p:cNvSpPr>
              <p:nvPr/>
            </p:nvSpPr>
            <p:spPr>
              <a:xfrm>
                <a:off x="8607057" y="3706096"/>
                <a:ext cx="1318442" cy="461665"/>
              </a:xfrm>
              <a:prstGeom prst="rect">
                <a:avLst/>
              </a:prstGeom>
              <a:blipFill>
                <a:blip r:embed="rId6"/>
                <a:stretch>
                  <a:fillRect/>
                </a:stretch>
              </a:blipFill>
              <a:ln w="38100">
                <a:solidFill>
                  <a:schemeClr val="bg2"/>
                </a:solidFill>
              </a:ln>
            </p:spPr>
            <p:txBody>
              <a:bodyPr/>
              <a:lstStyle/>
              <a:p>
                <a:r>
                  <a:rPr lang="en-US">
                    <a:noFill/>
                  </a:rPr>
                  <a:t> </a:t>
                </a:r>
              </a:p>
            </p:txBody>
          </p:sp>
        </mc:Fallback>
      </mc:AlternateContent>
      <p:sp>
        <p:nvSpPr>
          <p:cNvPr id="17" name="Text Placeholder 2">
            <a:extLst>
              <a:ext uri="{FF2B5EF4-FFF2-40B4-BE49-F238E27FC236}">
                <a16:creationId xmlns:a16="http://schemas.microsoft.com/office/drawing/2014/main" id="{CC206442-533A-63AC-E8DD-DA2119E9F82E}"/>
              </a:ext>
            </a:extLst>
          </p:cNvPr>
          <p:cNvSpPr>
            <a:spLocks noGrp="1"/>
          </p:cNvSpPr>
          <p:nvPr>
            <p:ph type="body" idx="1"/>
          </p:nvPr>
        </p:nvSpPr>
        <p:spPr>
          <a:xfrm>
            <a:off x="0" y="1752601"/>
            <a:ext cx="3725333" cy="4373563"/>
          </a:xfrm>
        </p:spPr>
        <p:txBody>
          <a:bodyPr>
            <a:normAutofit/>
          </a:bodyPr>
          <a:lstStyle/>
          <a:p>
            <a:r>
              <a:rPr lang="en-US" sz="2000" b="0" dirty="0" err="1"/>
              <a:t>NiTE</a:t>
            </a:r>
            <a:r>
              <a:rPr lang="en-US" sz="2000" b="0" dirty="0"/>
              <a:t> on INVAR shows same pattern</a:t>
            </a:r>
          </a:p>
          <a:p>
            <a:pPr lvl="1"/>
            <a:r>
              <a:rPr lang="en-US" sz="1600" dirty="0"/>
              <a:t>Conclusion: </a:t>
            </a:r>
            <a:br>
              <a:rPr lang="en-US" sz="1600" dirty="0"/>
            </a:br>
            <a:r>
              <a:rPr lang="en-US" sz="1600" dirty="0"/>
              <a:t>this is result of “blank_v3o0_20260407.xls” data, not of sample data</a:t>
            </a:r>
          </a:p>
          <a:p>
            <a:pPr lvl="1"/>
            <a:endParaRPr lang="en-US" sz="1600" b="0" dirty="0"/>
          </a:p>
          <a:p>
            <a:r>
              <a:rPr lang="en-US" sz="2000" b="0" dirty="0"/>
              <a:t>So, reprocessing </a:t>
            </a:r>
            <a:r>
              <a:rPr lang="en-US" sz="2000" b="0" dirty="0" err="1"/>
              <a:t>Aeroglaze</a:t>
            </a:r>
            <a:r>
              <a:rPr lang="en-US" sz="2000" b="0" dirty="0"/>
              <a:t> with blank v2o0 data</a:t>
            </a:r>
          </a:p>
        </p:txBody>
      </p:sp>
      <p:sp>
        <p:nvSpPr>
          <p:cNvPr id="18" name="TextBox 17">
            <a:extLst>
              <a:ext uri="{FF2B5EF4-FFF2-40B4-BE49-F238E27FC236}">
                <a16:creationId xmlns:a16="http://schemas.microsoft.com/office/drawing/2014/main" id="{8795BF75-62DD-85C2-2DBD-45374CE14F24}"/>
              </a:ext>
            </a:extLst>
          </p:cNvPr>
          <p:cNvSpPr txBox="1"/>
          <p:nvPr/>
        </p:nvSpPr>
        <p:spPr>
          <a:xfrm>
            <a:off x="5973627" y="2288906"/>
            <a:ext cx="2476107" cy="1569660"/>
          </a:xfrm>
          <a:prstGeom prst="rect">
            <a:avLst/>
          </a:prstGeom>
          <a:solidFill>
            <a:schemeClr val="bg1"/>
          </a:solidFill>
          <a:ln w="38100">
            <a:solidFill>
              <a:schemeClr val="tx1"/>
            </a:solidFill>
          </a:ln>
        </p:spPr>
        <p:txBody>
          <a:bodyPr wrap="square" rtlCol="0">
            <a:spAutoFit/>
          </a:bodyPr>
          <a:lstStyle/>
          <a:p>
            <a:pPr algn="ctr"/>
            <a:r>
              <a:rPr lang="en-US" sz="2400" b="1" dirty="0" err="1">
                <a:solidFill>
                  <a:schemeClr val="tx1"/>
                </a:solidFill>
              </a:rPr>
              <a:t>NiTE</a:t>
            </a:r>
            <a:r>
              <a:rPr lang="en-US" sz="2400" b="1" dirty="0">
                <a:solidFill>
                  <a:schemeClr val="tx1"/>
                </a:solidFill>
              </a:rPr>
              <a:t> on INVAR with blank_v3 (prior to bug fix)</a:t>
            </a:r>
          </a:p>
        </p:txBody>
      </p:sp>
    </p:spTree>
    <p:extLst>
      <p:ext uri="{BB962C8B-B14F-4D97-AF65-F5344CB8AC3E}">
        <p14:creationId xmlns:p14="http://schemas.microsoft.com/office/powerpoint/2010/main" val="131582328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26F28-6432-442E-5A1B-82A417422E7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ACE6267-83D0-DF1C-3F75-C4C37F9387A7}"/>
              </a:ext>
            </a:extLst>
          </p:cNvPr>
          <p:cNvPicPr>
            <a:picLocks noChangeAspect="1"/>
          </p:cNvPicPr>
          <p:nvPr/>
        </p:nvPicPr>
        <p:blipFill>
          <a:blip r:embed="rId2"/>
          <a:srcRect l="2881" r="2881"/>
          <a:stretch/>
        </p:blipFill>
        <p:spPr>
          <a:xfrm>
            <a:off x="354665" y="0"/>
            <a:ext cx="11482670" cy="6858000"/>
          </a:xfrm>
          <a:prstGeom prst="rect">
            <a:avLst/>
          </a:prstGeom>
        </p:spPr>
      </p:pic>
      <p:sp>
        <p:nvSpPr>
          <p:cNvPr id="6" name="Rectangle 5">
            <a:extLst>
              <a:ext uri="{FF2B5EF4-FFF2-40B4-BE49-F238E27FC236}">
                <a16:creationId xmlns:a16="http://schemas.microsoft.com/office/drawing/2014/main" id="{2CEFA67E-A4F7-9955-0ED1-C4EF5B29326F}"/>
              </a:ext>
            </a:extLst>
          </p:cNvPr>
          <p:cNvSpPr/>
          <p:nvPr/>
        </p:nvSpPr>
        <p:spPr>
          <a:xfrm>
            <a:off x="67734" y="152718"/>
            <a:ext cx="11769602" cy="3157749"/>
          </a:xfrm>
          <a:prstGeom prst="rect">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9563E07-8530-4851-BE23-0A6175ADBBE0}"/>
                  </a:ext>
                </a:extLst>
              </p:cNvPr>
              <p:cNvSpPr txBox="1"/>
              <p:nvPr/>
            </p:nvSpPr>
            <p:spPr>
              <a:xfrm>
                <a:off x="3420864" y="260162"/>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𝟏𝟎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7" name="TextBox 6">
                <a:extLst>
                  <a:ext uri="{FF2B5EF4-FFF2-40B4-BE49-F238E27FC236}">
                    <a16:creationId xmlns:a16="http://schemas.microsoft.com/office/drawing/2014/main" id="{59563E07-8530-4851-BE23-0A6175ADBBE0}"/>
                  </a:ext>
                </a:extLst>
              </p:cNvPr>
              <p:cNvSpPr txBox="1">
                <a:spLocks noRot="1" noChangeAspect="1" noMove="1" noResize="1" noEditPoints="1" noAdjustHandles="1" noChangeArrowheads="1" noChangeShapeType="1" noTextEdit="1"/>
              </p:cNvSpPr>
              <p:nvPr/>
            </p:nvSpPr>
            <p:spPr>
              <a:xfrm>
                <a:off x="3420864" y="260162"/>
                <a:ext cx="1318442" cy="461665"/>
              </a:xfrm>
              <a:prstGeom prst="rect">
                <a:avLst/>
              </a:prstGeom>
              <a:blipFill>
                <a:blip r:embed="rId3"/>
                <a:stretch>
                  <a:fillRect/>
                </a:stretch>
              </a:blipFill>
              <a:ln w="38100">
                <a:solidFill>
                  <a:schemeClr val="bg2"/>
                </a:solidFill>
              </a:ln>
            </p:spPr>
            <p:txBody>
              <a:bodyPr/>
              <a:lstStyle/>
              <a:p>
                <a:r>
                  <a:rPr lang="en-US">
                    <a:noFill/>
                  </a:rPr>
                  <a:t> </a:t>
                </a:r>
              </a:p>
            </p:txBody>
          </p:sp>
        </mc:Fallback>
      </mc:AlternateContent>
      <p:sp>
        <p:nvSpPr>
          <p:cNvPr id="8" name="Rectangle 7">
            <a:extLst>
              <a:ext uri="{FF2B5EF4-FFF2-40B4-BE49-F238E27FC236}">
                <a16:creationId xmlns:a16="http://schemas.microsoft.com/office/drawing/2014/main" id="{68575076-D23A-66CB-272B-1E39278B6A05}"/>
              </a:ext>
            </a:extLst>
          </p:cNvPr>
          <p:cNvSpPr/>
          <p:nvPr/>
        </p:nvSpPr>
        <p:spPr>
          <a:xfrm>
            <a:off x="67733" y="3529225"/>
            <a:ext cx="11769602" cy="3157749"/>
          </a:xfrm>
          <a:prstGeom prst="rect">
            <a:avLst/>
          </a:prstGeom>
          <a:noFill/>
          <a:ln w="762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29CBD62-F2D1-E921-F7DF-B9C19E1CB5B8}"/>
                  </a:ext>
                </a:extLst>
              </p:cNvPr>
              <p:cNvSpPr txBox="1"/>
              <p:nvPr/>
            </p:nvSpPr>
            <p:spPr>
              <a:xfrm>
                <a:off x="3420863" y="3636669"/>
                <a:ext cx="1318442" cy="461665"/>
              </a:xfrm>
              <a:prstGeom prst="rect">
                <a:avLst/>
              </a:prstGeom>
              <a:solidFill>
                <a:schemeClr val="bg1"/>
              </a:solidFill>
              <a:ln w="38100">
                <a:solidFill>
                  <a:schemeClr val="accent3"/>
                </a:solidFill>
              </a:ln>
            </p:spPr>
            <p:txBody>
              <a:bodyPr wrap="square" rtlCol="0">
                <a:spAutoFit/>
              </a:bodyPr>
              <a:lstStyle/>
              <a:p>
                <a:pPr/>
                <a14:m>
                  <m:oMathPara xmlns:m="http://schemas.openxmlformats.org/officeDocument/2006/math">
                    <m:oMath>
                      <m:r>
                        <a:rPr lang="en-US" sz="2400" b="1" i="1" smtClean="0">
                          <a:solidFill>
                            <a:schemeClr val="accent3"/>
                          </a:solidFill>
                          <a:latin typeface="Cambria Math" panose="02040503050406030204" pitchFamily="18" charset="0"/>
                        </a:rPr>
                        <m:t>𝑰</m:t>
                      </m:r>
                      <m:r>
                        <a:rPr lang="en-US" sz="2400" b="1" i="1" smtClean="0">
                          <a:solidFill>
                            <a:schemeClr val="accent3"/>
                          </a:solidFill>
                          <a:latin typeface="Cambria Math" panose="02040503050406030204" pitchFamily="18" charset="0"/>
                        </a:rPr>
                        <m:t>=</m:t>
                      </m:r>
                      <m:sSup>
                        <m:sSupPr>
                          <m:ctrlPr>
                            <a:rPr lang="en-US" sz="2400" b="1" i="1" smtClean="0">
                              <a:solidFill>
                                <a:schemeClr val="accent3"/>
                              </a:solidFill>
                              <a:latin typeface="Cambria Math" panose="02040503050406030204" pitchFamily="18" charset="0"/>
                            </a:rPr>
                          </m:ctrlPr>
                        </m:sSupPr>
                        <m:e>
                          <m:r>
                            <a:rPr lang="en-US" sz="2400" b="1" i="1" smtClean="0">
                              <a:solidFill>
                                <a:schemeClr val="accent3"/>
                              </a:solidFill>
                              <a:latin typeface="Cambria Math" panose="02040503050406030204" pitchFamily="18" charset="0"/>
                            </a:rPr>
                            <m:t>𝟕𝟎</m:t>
                          </m:r>
                        </m:e>
                        <m:sup>
                          <m:r>
                            <a:rPr lang="en-US" sz="2400" b="1" i="1" smtClean="0">
                              <a:solidFill>
                                <a:schemeClr val="accent3"/>
                              </a:solidFill>
                              <a:latin typeface="Cambria Math" panose="02040503050406030204" pitchFamily="18" charset="0"/>
                            </a:rPr>
                            <m:t>∘</m:t>
                          </m:r>
                        </m:sup>
                      </m:sSup>
                    </m:oMath>
                  </m:oMathPara>
                </a14:m>
                <a:endParaRPr lang="en-US" sz="2400" b="1" dirty="0">
                  <a:solidFill>
                    <a:schemeClr val="accent3"/>
                  </a:solidFill>
                </a:endParaRPr>
              </a:p>
            </p:txBody>
          </p:sp>
        </mc:Choice>
        <mc:Fallback xmlns="">
          <p:sp>
            <p:nvSpPr>
              <p:cNvPr id="9" name="TextBox 8">
                <a:extLst>
                  <a:ext uri="{FF2B5EF4-FFF2-40B4-BE49-F238E27FC236}">
                    <a16:creationId xmlns:a16="http://schemas.microsoft.com/office/drawing/2014/main" id="{B29CBD62-F2D1-E921-F7DF-B9C19E1CB5B8}"/>
                  </a:ext>
                </a:extLst>
              </p:cNvPr>
              <p:cNvSpPr txBox="1">
                <a:spLocks noRot="1" noChangeAspect="1" noMove="1" noResize="1" noEditPoints="1" noAdjustHandles="1" noChangeArrowheads="1" noChangeShapeType="1" noTextEdit="1"/>
              </p:cNvSpPr>
              <p:nvPr/>
            </p:nvSpPr>
            <p:spPr>
              <a:xfrm>
                <a:off x="3420863" y="3636669"/>
                <a:ext cx="1318442" cy="461665"/>
              </a:xfrm>
              <a:prstGeom prst="rect">
                <a:avLst/>
              </a:prstGeom>
              <a:blipFill>
                <a:blip r:embed="rId4"/>
                <a:stretch>
                  <a:fillRect/>
                </a:stretch>
              </a:blipFill>
              <a:ln w="38100">
                <a:solidFill>
                  <a:schemeClr val="accent3"/>
                </a:solidFill>
              </a:ln>
            </p:spPr>
            <p:txBody>
              <a:bodyPr/>
              <a:lstStyle/>
              <a:p>
                <a:r>
                  <a:rPr lang="en-US">
                    <a:noFill/>
                  </a:rPr>
                  <a:t> </a:t>
                </a:r>
              </a:p>
            </p:txBody>
          </p:sp>
        </mc:Fallback>
      </mc:AlternateContent>
      <p:sp>
        <p:nvSpPr>
          <p:cNvPr id="10" name="TextBox 9">
            <a:extLst>
              <a:ext uri="{FF2B5EF4-FFF2-40B4-BE49-F238E27FC236}">
                <a16:creationId xmlns:a16="http://schemas.microsoft.com/office/drawing/2014/main" id="{9087AA33-CF5C-F822-A870-6600E19841D7}"/>
              </a:ext>
            </a:extLst>
          </p:cNvPr>
          <p:cNvSpPr txBox="1"/>
          <p:nvPr/>
        </p:nvSpPr>
        <p:spPr>
          <a:xfrm rot="5400000">
            <a:off x="1156093" y="3189014"/>
            <a:ext cx="1710855" cy="461665"/>
          </a:xfrm>
          <a:prstGeom prst="rect">
            <a:avLst/>
          </a:prstGeom>
          <a:solidFill>
            <a:schemeClr val="bg1"/>
          </a:solidFill>
          <a:ln w="38100">
            <a:solidFill>
              <a:schemeClr val="tx1"/>
            </a:solidFill>
          </a:ln>
        </p:spPr>
        <p:txBody>
          <a:bodyPr wrap="square" rtlCol="0">
            <a:spAutoFit/>
          </a:bodyPr>
          <a:lstStyle/>
          <a:p>
            <a:pPr algn="ctr"/>
            <a:r>
              <a:rPr lang="en-US" sz="2400" b="1" dirty="0">
                <a:solidFill>
                  <a:schemeClr val="tx1"/>
                </a:solidFill>
              </a:rPr>
              <a:t>A only</a:t>
            </a:r>
          </a:p>
        </p:txBody>
      </p:sp>
      <p:sp>
        <p:nvSpPr>
          <p:cNvPr id="11" name="TextBox 10">
            <a:extLst>
              <a:ext uri="{FF2B5EF4-FFF2-40B4-BE49-F238E27FC236}">
                <a16:creationId xmlns:a16="http://schemas.microsoft.com/office/drawing/2014/main" id="{009BD361-5492-89C1-DDF7-E3E1ABF7E6F9}"/>
              </a:ext>
            </a:extLst>
          </p:cNvPr>
          <p:cNvSpPr txBox="1"/>
          <p:nvPr/>
        </p:nvSpPr>
        <p:spPr>
          <a:xfrm rot="5400000">
            <a:off x="5558762" y="3185347"/>
            <a:ext cx="1710855" cy="461665"/>
          </a:xfrm>
          <a:prstGeom prst="rect">
            <a:avLst/>
          </a:prstGeom>
          <a:solidFill>
            <a:schemeClr val="bg1"/>
          </a:solidFill>
          <a:ln w="38100">
            <a:solidFill>
              <a:schemeClr val="tx1"/>
            </a:solidFill>
          </a:ln>
        </p:spPr>
        <p:txBody>
          <a:bodyPr wrap="square" rtlCol="0">
            <a:spAutoFit/>
          </a:bodyPr>
          <a:lstStyle/>
          <a:p>
            <a:pPr algn="ctr"/>
            <a:r>
              <a:rPr lang="en-US" sz="2400" b="1" dirty="0">
                <a:solidFill>
                  <a:schemeClr val="tx1"/>
                </a:solidFill>
              </a:rPr>
              <a:t>B only</a:t>
            </a:r>
          </a:p>
        </p:txBody>
      </p:sp>
      <p:sp>
        <p:nvSpPr>
          <p:cNvPr id="12" name="TextBox 11">
            <a:extLst>
              <a:ext uri="{FF2B5EF4-FFF2-40B4-BE49-F238E27FC236}">
                <a16:creationId xmlns:a16="http://schemas.microsoft.com/office/drawing/2014/main" id="{31D0BA21-7DED-D07F-3B9F-8BC2038C4F14}"/>
              </a:ext>
            </a:extLst>
          </p:cNvPr>
          <p:cNvSpPr txBox="1"/>
          <p:nvPr/>
        </p:nvSpPr>
        <p:spPr>
          <a:xfrm rot="5400000">
            <a:off x="10155711" y="3185346"/>
            <a:ext cx="1710855" cy="461665"/>
          </a:xfrm>
          <a:prstGeom prst="rect">
            <a:avLst/>
          </a:prstGeom>
          <a:solidFill>
            <a:schemeClr val="bg1"/>
          </a:solidFill>
          <a:ln w="38100">
            <a:solidFill>
              <a:schemeClr val="tx1"/>
            </a:solidFill>
          </a:ln>
        </p:spPr>
        <p:txBody>
          <a:bodyPr wrap="square" rtlCol="0">
            <a:spAutoFit/>
          </a:bodyPr>
          <a:lstStyle/>
          <a:p>
            <a:pPr algn="ctr"/>
            <a:r>
              <a:rPr lang="en-US" sz="2400" b="1" dirty="0">
                <a:solidFill>
                  <a:schemeClr val="tx1"/>
                </a:solidFill>
              </a:rPr>
              <a:t>A and B</a:t>
            </a:r>
          </a:p>
        </p:txBody>
      </p:sp>
      <p:sp>
        <p:nvSpPr>
          <p:cNvPr id="2" name="TextBox 1">
            <a:extLst>
              <a:ext uri="{FF2B5EF4-FFF2-40B4-BE49-F238E27FC236}">
                <a16:creationId xmlns:a16="http://schemas.microsoft.com/office/drawing/2014/main" id="{18F9C6F9-8E3E-B866-EB6A-7733952E15C8}"/>
              </a:ext>
            </a:extLst>
          </p:cNvPr>
          <p:cNvSpPr txBox="1"/>
          <p:nvPr/>
        </p:nvSpPr>
        <p:spPr>
          <a:xfrm>
            <a:off x="7125093" y="350040"/>
            <a:ext cx="2476107" cy="1200329"/>
          </a:xfrm>
          <a:prstGeom prst="rect">
            <a:avLst/>
          </a:prstGeom>
          <a:solidFill>
            <a:schemeClr val="bg1"/>
          </a:solidFill>
          <a:ln w="38100">
            <a:solidFill>
              <a:schemeClr val="tx1"/>
            </a:solidFill>
          </a:ln>
        </p:spPr>
        <p:txBody>
          <a:bodyPr wrap="square" rtlCol="0">
            <a:spAutoFit/>
          </a:bodyPr>
          <a:lstStyle/>
          <a:p>
            <a:pPr algn="ctr"/>
            <a:r>
              <a:rPr lang="en-US" sz="2400" b="1" dirty="0" err="1">
                <a:solidFill>
                  <a:schemeClr val="tx1"/>
                </a:solidFill>
              </a:rPr>
              <a:t>Aeroglaze</a:t>
            </a:r>
            <a:r>
              <a:rPr lang="en-US" sz="2400" b="1" dirty="0">
                <a:solidFill>
                  <a:schemeClr val="tx1"/>
                </a:solidFill>
              </a:rPr>
              <a:t> with blank_v2 (after bug fix)</a:t>
            </a:r>
          </a:p>
        </p:txBody>
      </p:sp>
    </p:spTree>
    <p:extLst>
      <p:ext uri="{BB962C8B-B14F-4D97-AF65-F5344CB8AC3E}">
        <p14:creationId xmlns:p14="http://schemas.microsoft.com/office/powerpoint/2010/main" val="334176556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E6D04-4556-9A21-CF45-82699EE56BE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B074061-17B8-9CAF-11D6-59C6A64EE49F}"/>
              </a:ext>
            </a:extLst>
          </p:cNvPr>
          <p:cNvPicPr>
            <a:picLocks noChangeAspect="1"/>
          </p:cNvPicPr>
          <p:nvPr/>
        </p:nvPicPr>
        <p:blipFill>
          <a:blip r:embed="rId2"/>
          <a:srcRect l="1892" r="1892"/>
          <a:stretch/>
        </p:blipFill>
        <p:spPr>
          <a:xfrm>
            <a:off x="354665" y="0"/>
            <a:ext cx="11482670" cy="6858000"/>
          </a:xfrm>
          <a:prstGeom prst="rect">
            <a:avLst/>
          </a:prstGeom>
        </p:spPr>
      </p:pic>
      <p:sp>
        <p:nvSpPr>
          <p:cNvPr id="6" name="Rectangle 5">
            <a:extLst>
              <a:ext uri="{FF2B5EF4-FFF2-40B4-BE49-F238E27FC236}">
                <a16:creationId xmlns:a16="http://schemas.microsoft.com/office/drawing/2014/main" id="{BFCCE5EA-6E3A-E11A-924E-6C23A36EA341}"/>
              </a:ext>
            </a:extLst>
          </p:cNvPr>
          <p:cNvSpPr/>
          <p:nvPr/>
        </p:nvSpPr>
        <p:spPr>
          <a:xfrm>
            <a:off x="67734" y="152718"/>
            <a:ext cx="11769602" cy="3157749"/>
          </a:xfrm>
          <a:prstGeom prst="rect">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65F5DDF-D792-2EC7-0482-683579200ED0}"/>
                  </a:ext>
                </a:extLst>
              </p:cNvPr>
              <p:cNvSpPr txBox="1"/>
              <p:nvPr/>
            </p:nvSpPr>
            <p:spPr>
              <a:xfrm>
                <a:off x="3420864" y="260162"/>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𝟏𝟎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7" name="TextBox 6">
                <a:extLst>
                  <a:ext uri="{FF2B5EF4-FFF2-40B4-BE49-F238E27FC236}">
                    <a16:creationId xmlns:a16="http://schemas.microsoft.com/office/drawing/2014/main" id="{065F5DDF-D792-2EC7-0482-683579200ED0}"/>
                  </a:ext>
                </a:extLst>
              </p:cNvPr>
              <p:cNvSpPr txBox="1">
                <a:spLocks noRot="1" noChangeAspect="1" noMove="1" noResize="1" noEditPoints="1" noAdjustHandles="1" noChangeArrowheads="1" noChangeShapeType="1" noTextEdit="1"/>
              </p:cNvSpPr>
              <p:nvPr/>
            </p:nvSpPr>
            <p:spPr>
              <a:xfrm>
                <a:off x="3420864" y="260162"/>
                <a:ext cx="1318442" cy="461665"/>
              </a:xfrm>
              <a:prstGeom prst="rect">
                <a:avLst/>
              </a:prstGeom>
              <a:blipFill>
                <a:blip r:embed="rId3"/>
                <a:stretch>
                  <a:fillRect/>
                </a:stretch>
              </a:blipFill>
              <a:ln w="38100">
                <a:solidFill>
                  <a:schemeClr val="bg2"/>
                </a:solidFill>
              </a:ln>
            </p:spPr>
            <p:txBody>
              <a:bodyPr/>
              <a:lstStyle/>
              <a:p>
                <a:r>
                  <a:rPr lang="en-US">
                    <a:noFill/>
                  </a:rPr>
                  <a:t> </a:t>
                </a:r>
              </a:p>
            </p:txBody>
          </p:sp>
        </mc:Fallback>
      </mc:AlternateContent>
      <p:sp>
        <p:nvSpPr>
          <p:cNvPr id="8" name="Rectangle 7">
            <a:extLst>
              <a:ext uri="{FF2B5EF4-FFF2-40B4-BE49-F238E27FC236}">
                <a16:creationId xmlns:a16="http://schemas.microsoft.com/office/drawing/2014/main" id="{A9305252-C68E-FCF4-FAEF-C2F621770E0C}"/>
              </a:ext>
            </a:extLst>
          </p:cNvPr>
          <p:cNvSpPr/>
          <p:nvPr/>
        </p:nvSpPr>
        <p:spPr>
          <a:xfrm>
            <a:off x="67733" y="3529225"/>
            <a:ext cx="11769602" cy="3157749"/>
          </a:xfrm>
          <a:prstGeom prst="rect">
            <a:avLst/>
          </a:prstGeom>
          <a:noFill/>
          <a:ln w="762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C3D0E07-8F2F-3BE7-90C4-A1E6F589B598}"/>
                  </a:ext>
                </a:extLst>
              </p:cNvPr>
              <p:cNvSpPr txBox="1"/>
              <p:nvPr/>
            </p:nvSpPr>
            <p:spPr>
              <a:xfrm>
                <a:off x="3420863" y="3636669"/>
                <a:ext cx="1318442" cy="461665"/>
              </a:xfrm>
              <a:prstGeom prst="rect">
                <a:avLst/>
              </a:prstGeom>
              <a:solidFill>
                <a:schemeClr val="bg1"/>
              </a:solidFill>
              <a:ln w="38100">
                <a:solidFill>
                  <a:schemeClr val="accent3"/>
                </a:solidFill>
              </a:ln>
            </p:spPr>
            <p:txBody>
              <a:bodyPr wrap="square" rtlCol="0">
                <a:spAutoFit/>
              </a:bodyPr>
              <a:lstStyle/>
              <a:p>
                <a:pPr/>
                <a14:m>
                  <m:oMathPara xmlns:m="http://schemas.openxmlformats.org/officeDocument/2006/math">
                    <m:oMath>
                      <m:r>
                        <a:rPr lang="en-US" sz="2400" b="1" i="1" smtClean="0">
                          <a:solidFill>
                            <a:schemeClr val="accent3"/>
                          </a:solidFill>
                          <a:latin typeface="Cambria Math" panose="02040503050406030204" pitchFamily="18" charset="0"/>
                        </a:rPr>
                        <m:t>𝑰</m:t>
                      </m:r>
                      <m:r>
                        <a:rPr lang="en-US" sz="2400" b="1" i="1" smtClean="0">
                          <a:solidFill>
                            <a:schemeClr val="accent3"/>
                          </a:solidFill>
                          <a:latin typeface="Cambria Math" panose="02040503050406030204" pitchFamily="18" charset="0"/>
                        </a:rPr>
                        <m:t>=</m:t>
                      </m:r>
                      <m:sSup>
                        <m:sSupPr>
                          <m:ctrlPr>
                            <a:rPr lang="en-US" sz="2400" b="1" i="1" smtClean="0">
                              <a:solidFill>
                                <a:schemeClr val="accent3"/>
                              </a:solidFill>
                              <a:latin typeface="Cambria Math" panose="02040503050406030204" pitchFamily="18" charset="0"/>
                            </a:rPr>
                          </m:ctrlPr>
                        </m:sSupPr>
                        <m:e>
                          <m:r>
                            <a:rPr lang="en-US" sz="2400" b="1" i="1" smtClean="0">
                              <a:solidFill>
                                <a:schemeClr val="accent3"/>
                              </a:solidFill>
                              <a:latin typeface="Cambria Math" panose="02040503050406030204" pitchFamily="18" charset="0"/>
                            </a:rPr>
                            <m:t>𝟕𝟎</m:t>
                          </m:r>
                        </m:e>
                        <m:sup>
                          <m:r>
                            <a:rPr lang="en-US" sz="2400" b="1" i="1" smtClean="0">
                              <a:solidFill>
                                <a:schemeClr val="accent3"/>
                              </a:solidFill>
                              <a:latin typeface="Cambria Math" panose="02040503050406030204" pitchFamily="18" charset="0"/>
                            </a:rPr>
                            <m:t>∘</m:t>
                          </m:r>
                        </m:sup>
                      </m:sSup>
                    </m:oMath>
                  </m:oMathPara>
                </a14:m>
                <a:endParaRPr lang="en-US" sz="2400" b="1" dirty="0">
                  <a:solidFill>
                    <a:schemeClr val="accent3"/>
                  </a:solidFill>
                </a:endParaRPr>
              </a:p>
            </p:txBody>
          </p:sp>
        </mc:Choice>
        <mc:Fallback xmlns="">
          <p:sp>
            <p:nvSpPr>
              <p:cNvPr id="9" name="TextBox 8">
                <a:extLst>
                  <a:ext uri="{FF2B5EF4-FFF2-40B4-BE49-F238E27FC236}">
                    <a16:creationId xmlns:a16="http://schemas.microsoft.com/office/drawing/2014/main" id="{9C3D0E07-8F2F-3BE7-90C4-A1E6F589B598}"/>
                  </a:ext>
                </a:extLst>
              </p:cNvPr>
              <p:cNvSpPr txBox="1">
                <a:spLocks noRot="1" noChangeAspect="1" noMove="1" noResize="1" noEditPoints="1" noAdjustHandles="1" noChangeArrowheads="1" noChangeShapeType="1" noTextEdit="1"/>
              </p:cNvSpPr>
              <p:nvPr/>
            </p:nvSpPr>
            <p:spPr>
              <a:xfrm>
                <a:off x="3420863" y="3636669"/>
                <a:ext cx="1318442" cy="461665"/>
              </a:xfrm>
              <a:prstGeom prst="rect">
                <a:avLst/>
              </a:prstGeom>
              <a:blipFill>
                <a:blip r:embed="rId4"/>
                <a:stretch>
                  <a:fillRect/>
                </a:stretch>
              </a:blipFill>
              <a:ln w="38100">
                <a:solidFill>
                  <a:schemeClr val="accent3"/>
                </a:solidFill>
              </a:ln>
            </p:spPr>
            <p:txBody>
              <a:bodyPr/>
              <a:lstStyle/>
              <a:p>
                <a:r>
                  <a:rPr lang="en-US">
                    <a:noFill/>
                  </a:rPr>
                  <a:t> </a:t>
                </a:r>
              </a:p>
            </p:txBody>
          </p:sp>
        </mc:Fallback>
      </mc:AlternateContent>
      <p:sp>
        <p:nvSpPr>
          <p:cNvPr id="10" name="TextBox 9">
            <a:extLst>
              <a:ext uri="{FF2B5EF4-FFF2-40B4-BE49-F238E27FC236}">
                <a16:creationId xmlns:a16="http://schemas.microsoft.com/office/drawing/2014/main" id="{BD5D1BEF-D7AC-DAE3-633A-5964E6CE2714}"/>
              </a:ext>
            </a:extLst>
          </p:cNvPr>
          <p:cNvSpPr txBox="1"/>
          <p:nvPr/>
        </p:nvSpPr>
        <p:spPr>
          <a:xfrm rot="5400000">
            <a:off x="1156093" y="3189014"/>
            <a:ext cx="1710855" cy="461665"/>
          </a:xfrm>
          <a:prstGeom prst="rect">
            <a:avLst/>
          </a:prstGeom>
          <a:solidFill>
            <a:schemeClr val="bg1"/>
          </a:solidFill>
          <a:ln w="38100">
            <a:solidFill>
              <a:schemeClr val="tx1"/>
            </a:solidFill>
          </a:ln>
        </p:spPr>
        <p:txBody>
          <a:bodyPr wrap="square" rtlCol="0">
            <a:spAutoFit/>
          </a:bodyPr>
          <a:lstStyle/>
          <a:p>
            <a:pPr algn="ctr"/>
            <a:r>
              <a:rPr lang="en-US" sz="2400" b="1" dirty="0">
                <a:solidFill>
                  <a:schemeClr val="tx1"/>
                </a:solidFill>
              </a:rPr>
              <a:t>A only</a:t>
            </a:r>
          </a:p>
        </p:txBody>
      </p:sp>
      <p:sp>
        <p:nvSpPr>
          <p:cNvPr id="11" name="TextBox 10">
            <a:extLst>
              <a:ext uri="{FF2B5EF4-FFF2-40B4-BE49-F238E27FC236}">
                <a16:creationId xmlns:a16="http://schemas.microsoft.com/office/drawing/2014/main" id="{A6B9C2CE-8415-5FCD-C486-909A5F224322}"/>
              </a:ext>
            </a:extLst>
          </p:cNvPr>
          <p:cNvSpPr txBox="1"/>
          <p:nvPr/>
        </p:nvSpPr>
        <p:spPr>
          <a:xfrm rot="5400000">
            <a:off x="5558762" y="3185347"/>
            <a:ext cx="1710855" cy="461665"/>
          </a:xfrm>
          <a:prstGeom prst="rect">
            <a:avLst/>
          </a:prstGeom>
          <a:solidFill>
            <a:schemeClr val="bg1"/>
          </a:solidFill>
          <a:ln w="38100">
            <a:solidFill>
              <a:schemeClr val="tx1"/>
            </a:solidFill>
          </a:ln>
        </p:spPr>
        <p:txBody>
          <a:bodyPr wrap="square" rtlCol="0">
            <a:spAutoFit/>
          </a:bodyPr>
          <a:lstStyle/>
          <a:p>
            <a:pPr algn="ctr"/>
            <a:r>
              <a:rPr lang="en-US" sz="2400" b="1" dirty="0">
                <a:solidFill>
                  <a:schemeClr val="tx1"/>
                </a:solidFill>
              </a:rPr>
              <a:t>B only</a:t>
            </a:r>
          </a:p>
        </p:txBody>
      </p:sp>
      <p:sp>
        <p:nvSpPr>
          <p:cNvPr id="12" name="TextBox 11">
            <a:extLst>
              <a:ext uri="{FF2B5EF4-FFF2-40B4-BE49-F238E27FC236}">
                <a16:creationId xmlns:a16="http://schemas.microsoft.com/office/drawing/2014/main" id="{6BFBFDFC-DE7B-4A95-0C21-1A69BA0D7594}"/>
              </a:ext>
            </a:extLst>
          </p:cNvPr>
          <p:cNvSpPr txBox="1"/>
          <p:nvPr/>
        </p:nvSpPr>
        <p:spPr>
          <a:xfrm rot="5400000">
            <a:off x="10155711" y="3185346"/>
            <a:ext cx="1710855" cy="461665"/>
          </a:xfrm>
          <a:prstGeom prst="rect">
            <a:avLst/>
          </a:prstGeom>
          <a:solidFill>
            <a:schemeClr val="bg1"/>
          </a:solidFill>
          <a:ln w="38100">
            <a:solidFill>
              <a:schemeClr val="tx1"/>
            </a:solidFill>
          </a:ln>
        </p:spPr>
        <p:txBody>
          <a:bodyPr wrap="square" rtlCol="0">
            <a:spAutoFit/>
          </a:bodyPr>
          <a:lstStyle/>
          <a:p>
            <a:pPr algn="ctr"/>
            <a:r>
              <a:rPr lang="en-US" sz="2400" b="1" dirty="0">
                <a:solidFill>
                  <a:schemeClr val="tx1"/>
                </a:solidFill>
              </a:rPr>
              <a:t>A and B</a:t>
            </a:r>
          </a:p>
        </p:txBody>
      </p:sp>
      <p:sp>
        <p:nvSpPr>
          <p:cNvPr id="2" name="TextBox 1">
            <a:extLst>
              <a:ext uri="{FF2B5EF4-FFF2-40B4-BE49-F238E27FC236}">
                <a16:creationId xmlns:a16="http://schemas.microsoft.com/office/drawing/2014/main" id="{EE9B7EA8-1BCA-0E58-FE91-45790D56B152}"/>
              </a:ext>
            </a:extLst>
          </p:cNvPr>
          <p:cNvSpPr txBox="1"/>
          <p:nvPr/>
        </p:nvSpPr>
        <p:spPr>
          <a:xfrm>
            <a:off x="7125093" y="350040"/>
            <a:ext cx="2476107" cy="1200329"/>
          </a:xfrm>
          <a:prstGeom prst="rect">
            <a:avLst/>
          </a:prstGeom>
          <a:solidFill>
            <a:schemeClr val="bg1"/>
          </a:solidFill>
          <a:ln w="38100">
            <a:solidFill>
              <a:schemeClr val="tx1"/>
            </a:solidFill>
          </a:ln>
        </p:spPr>
        <p:txBody>
          <a:bodyPr wrap="square" rtlCol="0">
            <a:spAutoFit/>
          </a:bodyPr>
          <a:lstStyle/>
          <a:p>
            <a:pPr algn="ctr"/>
            <a:r>
              <a:rPr lang="en-US" sz="2400" b="1" dirty="0" err="1">
                <a:solidFill>
                  <a:schemeClr val="tx1"/>
                </a:solidFill>
              </a:rPr>
              <a:t>Aeroglaze</a:t>
            </a:r>
            <a:r>
              <a:rPr lang="en-US" sz="2400" b="1" dirty="0">
                <a:solidFill>
                  <a:schemeClr val="tx1"/>
                </a:solidFill>
              </a:rPr>
              <a:t> with blank_v3 (after bug fix)</a:t>
            </a:r>
          </a:p>
        </p:txBody>
      </p:sp>
    </p:spTree>
    <p:extLst>
      <p:ext uri="{BB962C8B-B14F-4D97-AF65-F5344CB8AC3E}">
        <p14:creationId xmlns:p14="http://schemas.microsoft.com/office/powerpoint/2010/main" val="426215428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BFE56-7089-4087-8750-DE4ED048E4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F1B882-0ABF-29DC-96EE-2C908E5E94E0}"/>
              </a:ext>
            </a:extLst>
          </p:cNvPr>
          <p:cNvSpPr>
            <a:spLocks noGrp="1"/>
          </p:cNvSpPr>
          <p:nvPr>
            <p:ph type="title"/>
          </p:nvPr>
        </p:nvSpPr>
        <p:spPr/>
        <p:txBody>
          <a:bodyPr/>
          <a:lstStyle/>
          <a:p>
            <a:r>
              <a:rPr lang="en-US" dirty="0"/>
              <a:t>Discussion</a:t>
            </a:r>
          </a:p>
        </p:txBody>
      </p:sp>
      <p:sp>
        <p:nvSpPr>
          <p:cNvPr id="3" name="Text Placeholder 2">
            <a:extLst>
              <a:ext uri="{FF2B5EF4-FFF2-40B4-BE49-F238E27FC236}">
                <a16:creationId xmlns:a16="http://schemas.microsoft.com/office/drawing/2014/main" id="{DEFAF8A9-8782-5E87-DF8F-6E1A464465AF}"/>
              </a:ext>
            </a:extLst>
          </p:cNvPr>
          <p:cNvSpPr>
            <a:spLocks noGrp="1"/>
          </p:cNvSpPr>
          <p:nvPr>
            <p:ph type="body" idx="1"/>
          </p:nvPr>
        </p:nvSpPr>
        <p:spPr/>
        <p:txBody>
          <a:bodyPr>
            <a:normAutofit/>
          </a:bodyPr>
          <a:lstStyle/>
          <a:p>
            <a:r>
              <a:rPr lang="en-US" sz="2000" b="0" dirty="0"/>
              <a:t>The “bug” was that a new method in data processing (in ‘process_rt300s.m’ function) was implemented to allow for sample and blank measurement files to not have identical angles, by masking-out non-overlapping angles</a:t>
            </a:r>
          </a:p>
          <a:p>
            <a:pPr lvl="1"/>
            <a:r>
              <a:rPr lang="en-US" sz="2000" dirty="0"/>
              <a:t>However, this assumed the blank angles “encompassed” the sample angles, so only the extra blank angles were filtered out</a:t>
            </a:r>
          </a:p>
          <a:p>
            <a:pPr lvl="1"/>
            <a:r>
              <a:rPr lang="en-US" sz="2000" b="0" dirty="0"/>
              <a:t>The “bug fix” was doing this both ways… so it was thought maybe this was why the “blank_v3o0_20260407.xls” file produced weird polar plots</a:t>
            </a:r>
          </a:p>
          <a:p>
            <a:pPr lvl="2"/>
            <a:r>
              <a:rPr lang="en-US" sz="2000" dirty="0"/>
              <a:t>But, even after this fix, the plots look similar … so most likely it is this blank file itself that is inaccurate</a:t>
            </a:r>
            <a:endParaRPr lang="en-US" sz="2000" b="0" dirty="0"/>
          </a:p>
        </p:txBody>
      </p:sp>
    </p:spTree>
    <p:extLst>
      <p:ext uri="{BB962C8B-B14F-4D97-AF65-F5344CB8AC3E}">
        <p14:creationId xmlns:p14="http://schemas.microsoft.com/office/powerpoint/2010/main" val="177239190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D0C0C-CBB7-2C5E-1329-F632E01B3F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A68490-46F2-3569-53EF-6B54F2394857}"/>
              </a:ext>
            </a:extLst>
          </p:cNvPr>
          <p:cNvSpPr>
            <a:spLocks noGrp="1"/>
          </p:cNvSpPr>
          <p:nvPr>
            <p:ph type="title"/>
          </p:nvPr>
        </p:nvSpPr>
        <p:spPr/>
        <p:txBody>
          <a:bodyPr/>
          <a:lstStyle/>
          <a:p>
            <a:r>
              <a:rPr lang="en-US" dirty="0"/>
              <a:t>Conclusion</a:t>
            </a:r>
          </a:p>
        </p:txBody>
      </p:sp>
      <p:sp>
        <p:nvSpPr>
          <p:cNvPr id="3" name="Text Placeholder 2">
            <a:extLst>
              <a:ext uri="{FF2B5EF4-FFF2-40B4-BE49-F238E27FC236}">
                <a16:creationId xmlns:a16="http://schemas.microsoft.com/office/drawing/2014/main" id="{08951760-8589-0198-BBB7-8C5B3B206B60}"/>
              </a:ext>
            </a:extLst>
          </p:cNvPr>
          <p:cNvSpPr>
            <a:spLocks noGrp="1"/>
          </p:cNvSpPr>
          <p:nvPr>
            <p:ph type="body" idx="1"/>
          </p:nvPr>
        </p:nvSpPr>
        <p:spPr/>
        <p:txBody>
          <a:bodyPr>
            <a:normAutofit/>
          </a:bodyPr>
          <a:lstStyle/>
          <a:p>
            <a:r>
              <a:rPr lang="en-US" sz="2000" b="0" dirty="0"/>
              <a:t>Since “blank_v2o0_20250911.xls” is already trusted to behave well, using that for </a:t>
            </a:r>
            <a:r>
              <a:rPr lang="en-US" sz="2000" b="0" dirty="0" err="1"/>
              <a:t>Aeroglaze</a:t>
            </a:r>
            <a:r>
              <a:rPr lang="en-US" sz="2000" b="0" dirty="0"/>
              <a:t> (even though it is lower angular resolution)</a:t>
            </a:r>
          </a:p>
          <a:p>
            <a:r>
              <a:rPr lang="en-US" sz="2000" b="0" dirty="0"/>
              <a:t>But… should A, B, or (A and B) be used?</a:t>
            </a:r>
          </a:p>
          <a:p>
            <a:pPr lvl="1"/>
            <a:r>
              <a:rPr lang="en-US" sz="2000" b="0" dirty="0"/>
              <a:t>‘A’ is sample rotation of 0 deg</a:t>
            </a:r>
          </a:p>
          <a:p>
            <a:pPr lvl="1"/>
            <a:r>
              <a:rPr lang="en-US" sz="2000" dirty="0"/>
              <a:t>‘B’ is sample rotation of 45 deg</a:t>
            </a:r>
          </a:p>
          <a:p>
            <a:pPr lvl="1"/>
            <a:r>
              <a:rPr lang="en-US" sz="2000" b="0" dirty="0"/>
              <a:t>The thought was that the sample was isotropic and therefore these two measurements could be averaged to give a more accurate overall result</a:t>
            </a:r>
          </a:p>
        </p:txBody>
      </p:sp>
    </p:spTree>
    <p:extLst>
      <p:ext uri="{BB962C8B-B14F-4D97-AF65-F5344CB8AC3E}">
        <p14:creationId xmlns:p14="http://schemas.microsoft.com/office/powerpoint/2010/main" val="224222448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DF45E-DB53-33F8-9EA9-6A317F9E5EB1}"/>
              </a:ext>
            </a:extLst>
          </p:cNvPr>
          <p:cNvSpPr>
            <a:spLocks noGrp="1"/>
          </p:cNvSpPr>
          <p:nvPr>
            <p:ph type="title"/>
          </p:nvPr>
        </p:nvSpPr>
        <p:spPr/>
        <p:txBody>
          <a:bodyPr/>
          <a:lstStyle/>
          <a:p>
            <a:r>
              <a:rPr lang="en-US" dirty="0"/>
              <a:t>Measurement setup</a:t>
            </a:r>
          </a:p>
        </p:txBody>
      </p:sp>
      <p:pic>
        <p:nvPicPr>
          <p:cNvPr id="5" name="Picture 4">
            <a:extLst>
              <a:ext uri="{FF2B5EF4-FFF2-40B4-BE49-F238E27FC236}">
                <a16:creationId xmlns:a16="http://schemas.microsoft.com/office/drawing/2014/main" id="{87D2E9CC-2B47-0576-1527-4BDDFDC7312E}"/>
              </a:ext>
            </a:extLst>
          </p:cNvPr>
          <p:cNvPicPr>
            <a:picLocks noChangeAspect="1"/>
          </p:cNvPicPr>
          <p:nvPr/>
        </p:nvPicPr>
        <p:blipFill>
          <a:blip r:embed="rId2"/>
          <a:stretch>
            <a:fillRect/>
          </a:stretch>
        </p:blipFill>
        <p:spPr>
          <a:xfrm>
            <a:off x="1820819" y="1752601"/>
            <a:ext cx="3657600" cy="4873705"/>
          </a:xfrm>
          <a:prstGeom prst="rect">
            <a:avLst/>
          </a:prstGeom>
          <a:ln>
            <a:solidFill>
              <a:schemeClr val="tx1"/>
            </a:solidFill>
          </a:ln>
        </p:spPr>
      </p:pic>
      <p:pic>
        <p:nvPicPr>
          <p:cNvPr id="7" name="Picture 6">
            <a:extLst>
              <a:ext uri="{FF2B5EF4-FFF2-40B4-BE49-F238E27FC236}">
                <a16:creationId xmlns:a16="http://schemas.microsoft.com/office/drawing/2014/main" id="{630AC43C-F912-C4D9-110F-0B57E7A3B708}"/>
              </a:ext>
            </a:extLst>
          </p:cNvPr>
          <p:cNvPicPr>
            <a:picLocks noChangeAspect="1"/>
          </p:cNvPicPr>
          <p:nvPr/>
        </p:nvPicPr>
        <p:blipFill>
          <a:blip r:embed="rId3"/>
          <a:stretch>
            <a:fillRect/>
          </a:stretch>
        </p:blipFill>
        <p:spPr>
          <a:xfrm>
            <a:off x="6471324" y="1752600"/>
            <a:ext cx="3657600" cy="4873706"/>
          </a:xfrm>
          <a:prstGeom prst="rect">
            <a:avLst/>
          </a:prstGeom>
          <a:ln>
            <a:solidFill>
              <a:schemeClr val="tx1"/>
            </a:solidFill>
          </a:ln>
        </p:spPr>
      </p:pic>
      <p:sp>
        <p:nvSpPr>
          <p:cNvPr id="8" name="TextBox 7">
            <a:extLst>
              <a:ext uri="{FF2B5EF4-FFF2-40B4-BE49-F238E27FC236}">
                <a16:creationId xmlns:a16="http://schemas.microsoft.com/office/drawing/2014/main" id="{2BB4F53E-05FF-7653-CE9E-966D4B7CE890}"/>
              </a:ext>
            </a:extLst>
          </p:cNvPr>
          <p:cNvSpPr txBox="1"/>
          <p:nvPr/>
        </p:nvSpPr>
        <p:spPr>
          <a:xfrm>
            <a:off x="478852" y="1594639"/>
            <a:ext cx="2683934" cy="830997"/>
          </a:xfrm>
          <a:prstGeom prst="rect">
            <a:avLst/>
          </a:prstGeom>
          <a:solidFill>
            <a:schemeClr val="bg1"/>
          </a:solidFill>
          <a:ln w="38100">
            <a:solidFill>
              <a:schemeClr val="bg2"/>
            </a:solidFill>
          </a:ln>
        </p:spPr>
        <p:txBody>
          <a:bodyPr wrap="square" rtlCol="0">
            <a:spAutoFit/>
          </a:bodyPr>
          <a:lstStyle/>
          <a:p>
            <a:pPr algn="ctr"/>
            <a:r>
              <a:rPr lang="en-US" sz="2400" b="1" dirty="0">
                <a:solidFill>
                  <a:schemeClr val="bg2"/>
                </a:solidFill>
              </a:rPr>
              <a:t>A </a:t>
            </a:r>
            <a:r>
              <a:rPr lang="en-US" sz="2400" b="1" dirty="0">
                <a:solidFill>
                  <a:schemeClr val="bg2"/>
                </a:solidFill>
                <a:sym typeface="Wingdings" panose="05000000000000000000" pitchFamily="2" charset="2"/>
              </a:rPr>
              <a:t> 0 deg sample rotation</a:t>
            </a:r>
            <a:endParaRPr lang="en-US" sz="2400" b="1" dirty="0">
              <a:solidFill>
                <a:schemeClr val="bg2"/>
              </a:solidFill>
            </a:endParaRPr>
          </a:p>
        </p:txBody>
      </p:sp>
      <p:sp>
        <p:nvSpPr>
          <p:cNvPr id="10" name="TextBox 9">
            <a:extLst>
              <a:ext uri="{FF2B5EF4-FFF2-40B4-BE49-F238E27FC236}">
                <a16:creationId xmlns:a16="http://schemas.microsoft.com/office/drawing/2014/main" id="{C1EBDE85-E041-E7FB-C890-0324FA5A2014}"/>
              </a:ext>
            </a:extLst>
          </p:cNvPr>
          <p:cNvSpPr txBox="1"/>
          <p:nvPr/>
        </p:nvSpPr>
        <p:spPr>
          <a:xfrm>
            <a:off x="8786957" y="1594639"/>
            <a:ext cx="2683934" cy="830997"/>
          </a:xfrm>
          <a:prstGeom prst="rect">
            <a:avLst/>
          </a:prstGeom>
          <a:solidFill>
            <a:schemeClr val="bg1"/>
          </a:solidFill>
          <a:ln w="38100">
            <a:solidFill>
              <a:schemeClr val="bg2"/>
            </a:solidFill>
          </a:ln>
        </p:spPr>
        <p:txBody>
          <a:bodyPr wrap="square" rtlCol="0">
            <a:spAutoFit/>
          </a:bodyPr>
          <a:lstStyle/>
          <a:p>
            <a:pPr algn="ctr"/>
            <a:r>
              <a:rPr lang="en-US" sz="2400" b="1" dirty="0">
                <a:solidFill>
                  <a:schemeClr val="bg2"/>
                </a:solidFill>
              </a:rPr>
              <a:t>B </a:t>
            </a:r>
            <a:r>
              <a:rPr lang="en-US" sz="2400" b="1" dirty="0">
                <a:solidFill>
                  <a:schemeClr val="bg2"/>
                </a:solidFill>
                <a:sym typeface="Wingdings" panose="05000000000000000000" pitchFamily="2" charset="2"/>
              </a:rPr>
              <a:t> 45 deg sample rotation</a:t>
            </a:r>
            <a:endParaRPr lang="en-US" sz="2400" b="1" dirty="0">
              <a:solidFill>
                <a:schemeClr val="bg2"/>
              </a:solidFill>
            </a:endParaRPr>
          </a:p>
        </p:txBody>
      </p:sp>
    </p:spTree>
    <p:extLst>
      <p:ext uri="{BB962C8B-B14F-4D97-AF65-F5344CB8AC3E}">
        <p14:creationId xmlns:p14="http://schemas.microsoft.com/office/powerpoint/2010/main" val="360051200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ACFF8-5B1E-EE97-20AA-293164B1901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7EB3F63-9147-68D8-3F69-D085F069A95E}"/>
              </a:ext>
            </a:extLst>
          </p:cNvPr>
          <p:cNvPicPr>
            <a:picLocks noChangeAspect="1"/>
          </p:cNvPicPr>
          <p:nvPr/>
        </p:nvPicPr>
        <p:blipFill>
          <a:blip r:embed="rId2"/>
          <a:srcRect l="1767" r="1767"/>
          <a:stretch/>
        </p:blipFill>
        <p:spPr>
          <a:xfrm>
            <a:off x="354665" y="0"/>
            <a:ext cx="11482670" cy="685800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05E05FA-B074-B97F-4040-4E3CD202CB14}"/>
                  </a:ext>
                </a:extLst>
              </p:cNvPr>
              <p:cNvSpPr txBox="1"/>
              <p:nvPr/>
            </p:nvSpPr>
            <p:spPr>
              <a:xfrm>
                <a:off x="237397" y="350040"/>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𝟏𝟎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7" name="TextBox 6">
                <a:extLst>
                  <a:ext uri="{FF2B5EF4-FFF2-40B4-BE49-F238E27FC236}">
                    <a16:creationId xmlns:a16="http://schemas.microsoft.com/office/drawing/2014/main" id="{A05E05FA-B074-B97F-4040-4E3CD202CB14}"/>
                  </a:ext>
                </a:extLst>
              </p:cNvPr>
              <p:cNvSpPr txBox="1">
                <a:spLocks noRot="1" noChangeAspect="1" noMove="1" noResize="1" noEditPoints="1" noAdjustHandles="1" noChangeArrowheads="1" noChangeShapeType="1" noTextEdit="1"/>
              </p:cNvSpPr>
              <p:nvPr/>
            </p:nvSpPr>
            <p:spPr>
              <a:xfrm>
                <a:off x="237397" y="350040"/>
                <a:ext cx="1318442" cy="461665"/>
              </a:xfrm>
              <a:prstGeom prst="rect">
                <a:avLst/>
              </a:prstGeom>
              <a:blipFill>
                <a:blip r:embed="rId3"/>
                <a:stretch>
                  <a:fillRect/>
                </a:stretch>
              </a:blipFill>
              <a:ln w="38100">
                <a:solidFill>
                  <a:schemeClr val="bg2"/>
                </a:solid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3137556F-4988-6121-A0C6-72AB3C3C539A}"/>
              </a:ext>
            </a:extLst>
          </p:cNvPr>
          <p:cNvSpPr txBox="1"/>
          <p:nvPr/>
        </p:nvSpPr>
        <p:spPr>
          <a:xfrm>
            <a:off x="6710330" y="2228671"/>
            <a:ext cx="2856155" cy="1200329"/>
          </a:xfrm>
          <a:prstGeom prst="rect">
            <a:avLst/>
          </a:prstGeom>
          <a:solidFill>
            <a:schemeClr val="bg1"/>
          </a:solidFill>
          <a:ln w="38100">
            <a:solidFill>
              <a:schemeClr val="tx1"/>
            </a:solidFill>
          </a:ln>
        </p:spPr>
        <p:txBody>
          <a:bodyPr wrap="square" rtlCol="0">
            <a:spAutoFit/>
          </a:bodyPr>
          <a:lstStyle/>
          <a:p>
            <a:pPr algn="ctr"/>
            <a:r>
              <a:rPr lang="en-US" sz="2400" b="1" dirty="0" err="1">
                <a:solidFill>
                  <a:schemeClr val="tx1"/>
                </a:solidFill>
              </a:rPr>
              <a:t>Aeroglaze</a:t>
            </a:r>
            <a:r>
              <a:rPr lang="en-US" sz="2400" b="1" dirty="0">
                <a:solidFill>
                  <a:schemeClr val="tx1"/>
                </a:solidFill>
              </a:rPr>
              <a:t> with blank_v2 (after bug fix), A only</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8E64B33-2490-2F85-EB5B-DBE021844072}"/>
                  </a:ext>
                </a:extLst>
              </p:cNvPr>
              <p:cNvSpPr txBox="1"/>
              <p:nvPr/>
            </p:nvSpPr>
            <p:spPr>
              <a:xfrm>
                <a:off x="4513064" y="350040"/>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𝟐𝟐</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3" name="TextBox 2">
                <a:extLst>
                  <a:ext uri="{FF2B5EF4-FFF2-40B4-BE49-F238E27FC236}">
                    <a16:creationId xmlns:a16="http://schemas.microsoft.com/office/drawing/2014/main" id="{48E64B33-2490-2F85-EB5B-DBE021844072}"/>
                  </a:ext>
                </a:extLst>
              </p:cNvPr>
              <p:cNvSpPr txBox="1">
                <a:spLocks noRot="1" noChangeAspect="1" noMove="1" noResize="1" noEditPoints="1" noAdjustHandles="1" noChangeArrowheads="1" noChangeShapeType="1" noTextEdit="1"/>
              </p:cNvSpPr>
              <p:nvPr/>
            </p:nvSpPr>
            <p:spPr>
              <a:xfrm>
                <a:off x="4513064" y="350040"/>
                <a:ext cx="1318442" cy="461665"/>
              </a:xfrm>
              <a:prstGeom prst="rect">
                <a:avLst/>
              </a:prstGeom>
              <a:blipFill>
                <a:blip r:embed="rId4"/>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5DF490E-E5CE-B145-66DB-45E4038CFCC6}"/>
                  </a:ext>
                </a:extLst>
              </p:cNvPr>
              <p:cNvSpPr txBox="1"/>
              <p:nvPr/>
            </p:nvSpPr>
            <p:spPr>
              <a:xfrm>
                <a:off x="8907264" y="350040"/>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𝟑𝟒</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4" name="TextBox 3">
                <a:extLst>
                  <a:ext uri="{FF2B5EF4-FFF2-40B4-BE49-F238E27FC236}">
                    <a16:creationId xmlns:a16="http://schemas.microsoft.com/office/drawing/2014/main" id="{E5DF490E-E5CE-B145-66DB-45E4038CFCC6}"/>
                  </a:ext>
                </a:extLst>
              </p:cNvPr>
              <p:cNvSpPr txBox="1">
                <a:spLocks noRot="1" noChangeAspect="1" noMove="1" noResize="1" noEditPoints="1" noAdjustHandles="1" noChangeArrowheads="1" noChangeShapeType="1" noTextEdit="1"/>
              </p:cNvSpPr>
              <p:nvPr/>
            </p:nvSpPr>
            <p:spPr>
              <a:xfrm>
                <a:off x="8907264" y="350040"/>
                <a:ext cx="1318442" cy="461665"/>
              </a:xfrm>
              <a:prstGeom prst="rect">
                <a:avLst/>
              </a:prstGeom>
              <a:blipFill>
                <a:blip r:embed="rId5"/>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66BC1E5-1B3F-9736-1B3A-FC823FE7832F}"/>
                  </a:ext>
                </a:extLst>
              </p:cNvPr>
              <p:cNvSpPr txBox="1"/>
              <p:nvPr/>
            </p:nvSpPr>
            <p:spPr>
              <a:xfrm>
                <a:off x="237397" y="3744113"/>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𝟒𝟔</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3" name="TextBox 12">
                <a:extLst>
                  <a:ext uri="{FF2B5EF4-FFF2-40B4-BE49-F238E27FC236}">
                    <a16:creationId xmlns:a16="http://schemas.microsoft.com/office/drawing/2014/main" id="{566BC1E5-1B3F-9736-1B3A-FC823FE7832F}"/>
                  </a:ext>
                </a:extLst>
              </p:cNvPr>
              <p:cNvSpPr txBox="1">
                <a:spLocks noRot="1" noChangeAspect="1" noMove="1" noResize="1" noEditPoints="1" noAdjustHandles="1" noChangeArrowheads="1" noChangeShapeType="1" noTextEdit="1"/>
              </p:cNvSpPr>
              <p:nvPr/>
            </p:nvSpPr>
            <p:spPr>
              <a:xfrm>
                <a:off x="237397" y="3744113"/>
                <a:ext cx="1318442" cy="461665"/>
              </a:xfrm>
              <a:prstGeom prst="rect">
                <a:avLst/>
              </a:prstGeom>
              <a:blipFill>
                <a:blip r:embed="rId6"/>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3B65DA7-6F09-8C5A-FE94-42BB5E51A54A}"/>
                  </a:ext>
                </a:extLst>
              </p:cNvPr>
              <p:cNvSpPr txBox="1"/>
              <p:nvPr/>
            </p:nvSpPr>
            <p:spPr>
              <a:xfrm>
                <a:off x="4513064" y="3744113"/>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𝟓𝟖</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4" name="TextBox 13">
                <a:extLst>
                  <a:ext uri="{FF2B5EF4-FFF2-40B4-BE49-F238E27FC236}">
                    <a16:creationId xmlns:a16="http://schemas.microsoft.com/office/drawing/2014/main" id="{93B65DA7-6F09-8C5A-FE94-42BB5E51A54A}"/>
                  </a:ext>
                </a:extLst>
              </p:cNvPr>
              <p:cNvSpPr txBox="1">
                <a:spLocks noRot="1" noChangeAspect="1" noMove="1" noResize="1" noEditPoints="1" noAdjustHandles="1" noChangeArrowheads="1" noChangeShapeType="1" noTextEdit="1"/>
              </p:cNvSpPr>
              <p:nvPr/>
            </p:nvSpPr>
            <p:spPr>
              <a:xfrm>
                <a:off x="4513064" y="3744113"/>
                <a:ext cx="1318442" cy="461665"/>
              </a:xfrm>
              <a:prstGeom prst="rect">
                <a:avLst/>
              </a:prstGeom>
              <a:blipFill>
                <a:blip r:embed="rId7"/>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423487A-30BA-67A1-57D8-5F789913CE11}"/>
                  </a:ext>
                </a:extLst>
              </p:cNvPr>
              <p:cNvSpPr txBox="1"/>
              <p:nvPr/>
            </p:nvSpPr>
            <p:spPr>
              <a:xfrm>
                <a:off x="8907264" y="3744113"/>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𝟕𝟎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5" name="TextBox 14">
                <a:extLst>
                  <a:ext uri="{FF2B5EF4-FFF2-40B4-BE49-F238E27FC236}">
                    <a16:creationId xmlns:a16="http://schemas.microsoft.com/office/drawing/2014/main" id="{C423487A-30BA-67A1-57D8-5F789913CE11}"/>
                  </a:ext>
                </a:extLst>
              </p:cNvPr>
              <p:cNvSpPr txBox="1">
                <a:spLocks noRot="1" noChangeAspect="1" noMove="1" noResize="1" noEditPoints="1" noAdjustHandles="1" noChangeArrowheads="1" noChangeShapeType="1" noTextEdit="1"/>
              </p:cNvSpPr>
              <p:nvPr/>
            </p:nvSpPr>
            <p:spPr>
              <a:xfrm>
                <a:off x="8907264" y="3744113"/>
                <a:ext cx="1318442" cy="461665"/>
              </a:xfrm>
              <a:prstGeom prst="rect">
                <a:avLst/>
              </a:prstGeom>
              <a:blipFill>
                <a:blip r:embed="rId8"/>
                <a:stretch>
                  <a:fillRect/>
                </a:stretch>
              </a:blipFill>
              <a:ln w="38100">
                <a:solidFill>
                  <a:schemeClr val="bg2"/>
                </a:solidFill>
              </a:ln>
            </p:spPr>
            <p:txBody>
              <a:bodyPr/>
              <a:lstStyle/>
              <a:p>
                <a:r>
                  <a:rPr lang="en-US">
                    <a:noFill/>
                  </a:rPr>
                  <a:t> </a:t>
                </a:r>
              </a:p>
            </p:txBody>
          </p:sp>
        </mc:Fallback>
      </mc:AlternateContent>
    </p:spTree>
    <p:extLst>
      <p:ext uri="{BB962C8B-B14F-4D97-AF65-F5344CB8AC3E}">
        <p14:creationId xmlns:p14="http://schemas.microsoft.com/office/powerpoint/2010/main" val="311392117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C7282-5793-D3F7-3BDE-DA7E463A827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ADD31BA-95C5-A73C-BB3B-D250E7CF3AD0}"/>
              </a:ext>
            </a:extLst>
          </p:cNvPr>
          <p:cNvPicPr>
            <a:picLocks noChangeAspect="1"/>
          </p:cNvPicPr>
          <p:nvPr/>
        </p:nvPicPr>
        <p:blipFill>
          <a:blip r:embed="rId2"/>
          <a:srcRect l="2024" r="2024"/>
          <a:stretch/>
        </p:blipFill>
        <p:spPr>
          <a:xfrm>
            <a:off x="354665" y="0"/>
            <a:ext cx="11482670" cy="685800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4153CC6-1CDD-7DCB-6556-DA32DCFEEE0E}"/>
                  </a:ext>
                </a:extLst>
              </p:cNvPr>
              <p:cNvSpPr txBox="1"/>
              <p:nvPr/>
            </p:nvSpPr>
            <p:spPr>
              <a:xfrm>
                <a:off x="237397" y="350040"/>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𝟏𝟎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7" name="TextBox 6">
                <a:extLst>
                  <a:ext uri="{FF2B5EF4-FFF2-40B4-BE49-F238E27FC236}">
                    <a16:creationId xmlns:a16="http://schemas.microsoft.com/office/drawing/2014/main" id="{44153CC6-1CDD-7DCB-6556-DA32DCFEEE0E}"/>
                  </a:ext>
                </a:extLst>
              </p:cNvPr>
              <p:cNvSpPr txBox="1">
                <a:spLocks noRot="1" noChangeAspect="1" noMove="1" noResize="1" noEditPoints="1" noAdjustHandles="1" noChangeArrowheads="1" noChangeShapeType="1" noTextEdit="1"/>
              </p:cNvSpPr>
              <p:nvPr/>
            </p:nvSpPr>
            <p:spPr>
              <a:xfrm>
                <a:off x="237397" y="350040"/>
                <a:ext cx="1318442" cy="461665"/>
              </a:xfrm>
              <a:prstGeom prst="rect">
                <a:avLst/>
              </a:prstGeom>
              <a:blipFill>
                <a:blip r:embed="rId3"/>
                <a:stretch>
                  <a:fillRect/>
                </a:stretch>
              </a:blipFill>
              <a:ln w="38100">
                <a:solidFill>
                  <a:schemeClr val="bg2"/>
                </a:solid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C62FB6CD-32F0-EAD4-D399-FCE67B1E9B98}"/>
              </a:ext>
            </a:extLst>
          </p:cNvPr>
          <p:cNvSpPr txBox="1"/>
          <p:nvPr/>
        </p:nvSpPr>
        <p:spPr>
          <a:xfrm>
            <a:off x="6710330" y="2228671"/>
            <a:ext cx="2856155" cy="1200329"/>
          </a:xfrm>
          <a:prstGeom prst="rect">
            <a:avLst/>
          </a:prstGeom>
          <a:solidFill>
            <a:schemeClr val="bg1"/>
          </a:solidFill>
          <a:ln w="38100">
            <a:solidFill>
              <a:schemeClr val="tx1"/>
            </a:solidFill>
          </a:ln>
        </p:spPr>
        <p:txBody>
          <a:bodyPr wrap="square" rtlCol="0">
            <a:spAutoFit/>
          </a:bodyPr>
          <a:lstStyle/>
          <a:p>
            <a:pPr algn="ctr"/>
            <a:r>
              <a:rPr lang="en-US" sz="2400" b="1" dirty="0" err="1">
                <a:solidFill>
                  <a:schemeClr val="tx1"/>
                </a:solidFill>
              </a:rPr>
              <a:t>Aeroglaze</a:t>
            </a:r>
            <a:r>
              <a:rPr lang="en-US" sz="2400" b="1" dirty="0">
                <a:solidFill>
                  <a:schemeClr val="tx1"/>
                </a:solidFill>
              </a:rPr>
              <a:t> with blank_v2 (after bug fix), B only</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B5EB537-A6FA-ED66-6720-7F68A42BAC35}"/>
                  </a:ext>
                </a:extLst>
              </p:cNvPr>
              <p:cNvSpPr txBox="1"/>
              <p:nvPr/>
            </p:nvSpPr>
            <p:spPr>
              <a:xfrm>
                <a:off x="4513064" y="350040"/>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𝟐𝟐</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3" name="TextBox 2">
                <a:extLst>
                  <a:ext uri="{FF2B5EF4-FFF2-40B4-BE49-F238E27FC236}">
                    <a16:creationId xmlns:a16="http://schemas.microsoft.com/office/drawing/2014/main" id="{0B5EB537-A6FA-ED66-6720-7F68A42BAC35}"/>
                  </a:ext>
                </a:extLst>
              </p:cNvPr>
              <p:cNvSpPr txBox="1">
                <a:spLocks noRot="1" noChangeAspect="1" noMove="1" noResize="1" noEditPoints="1" noAdjustHandles="1" noChangeArrowheads="1" noChangeShapeType="1" noTextEdit="1"/>
              </p:cNvSpPr>
              <p:nvPr/>
            </p:nvSpPr>
            <p:spPr>
              <a:xfrm>
                <a:off x="4513064" y="350040"/>
                <a:ext cx="1318442" cy="461665"/>
              </a:xfrm>
              <a:prstGeom prst="rect">
                <a:avLst/>
              </a:prstGeom>
              <a:blipFill>
                <a:blip r:embed="rId4"/>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064A0BE-E095-6ABD-E37C-CF2DA0A367EB}"/>
                  </a:ext>
                </a:extLst>
              </p:cNvPr>
              <p:cNvSpPr txBox="1"/>
              <p:nvPr/>
            </p:nvSpPr>
            <p:spPr>
              <a:xfrm>
                <a:off x="8907264" y="350040"/>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𝟑𝟒</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4" name="TextBox 3">
                <a:extLst>
                  <a:ext uri="{FF2B5EF4-FFF2-40B4-BE49-F238E27FC236}">
                    <a16:creationId xmlns:a16="http://schemas.microsoft.com/office/drawing/2014/main" id="{5064A0BE-E095-6ABD-E37C-CF2DA0A367EB}"/>
                  </a:ext>
                </a:extLst>
              </p:cNvPr>
              <p:cNvSpPr txBox="1">
                <a:spLocks noRot="1" noChangeAspect="1" noMove="1" noResize="1" noEditPoints="1" noAdjustHandles="1" noChangeArrowheads="1" noChangeShapeType="1" noTextEdit="1"/>
              </p:cNvSpPr>
              <p:nvPr/>
            </p:nvSpPr>
            <p:spPr>
              <a:xfrm>
                <a:off x="8907264" y="350040"/>
                <a:ext cx="1318442" cy="461665"/>
              </a:xfrm>
              <a:prstGeom prst="rect">
                <a:avLst/>
              </a:prstGeom>
              <a:blipFill>
                <a:blip r:embed="rId5"/>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E4FA0D5-60AF-7A48-82A8-105968242E5B}"/>
                  </a:ext>
                </a:extLst>
              </p:cNvPr>
              <p:cNvSpPr txBox="1"/>
              <p:nvPr/>
            </p:nvSpPr>
            <p:spPr>
              <a:xfrm>
                <a:off x="237397" y="3744113"/>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𝟒𝟔</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3" name="TextBox 12">
                <a:extLst>
                  <a:ext uri="{FF2B5EF4-FFF2-40B4-BE49-F238E27FC236}">
                    <a16:creationId xmlns:a16="http://schemas.microsoft.com/office/drawing/2014/main" id="{1E4FA0D5-60AF-7A48-82A8-105968242E5B}"/>
                  </a:ext>
                </a:extLst>
              </p:cNvPr>
              <p:cNvSpPr txBox="1">
                <a:spLocks noRot="1" noChangeAspect="1" noMove="1" noResize="1" noEditPoints="1" noAdjustHandles="1" noChangeArrowheads="1" noChangeShapeType="1" noTextEdit="1"/>
              </p:cNvSpPr>
              <p:nvPr/>
            </p:nvSpPr>
            <p:spPr>
              <a:xfrm>
                <a:off x="237397" y="3744113"/>
                <a:ext cx="1318442" cy="461665"/>
              </a:xfrm>
              <a:prstGeom prst="rect">
                <a:avLst/>
              </a:prstGeom>
              <a:blipFill>
                <a:blip r:embed="rId6"/>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E3F5803-C697-E6AF-1894-FF7EBE43F9AC}"/>
                  </a:ext>
                </a:extLst>
              </p:cNvPr>
              <p:cNvSpPr txBox="1"/>
              <p:nvPr/>
            </p:nvSpPr>
            <p:spPr>
              <a:xfrm>
                <a:off x="4513064" y="3744113"/>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𝟓𝟖</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4" name="TextBox 13">
                <a:extLst>
                  <a:ext uri="{FF2B5EF4-FFF2-40B4-BE49-F238E27FC236}">
                    <a16:creationId xmlns:a16="http://schemas.microsoft.com/office/drawing/2014/main" id="{AE3F5803-C697-E6AF-1894-FF7EBE43F9AC}"/>
                  </a:ext>
                </a:extLst>
              </p:cNvPr>
              <p:cNvSpPr txBox="1">
                <a:spLocks noRot="1" noChangeAspect="1" noMove="1" noResize="1" noEditPoints="1" noAdjustHandles="1" noChangeArrowheads="1" noChangeShapeType="1" noTextEdit="1"/>
              </p:cNvSpPr>
              <p:nvPr/>
            </p:nvSpPr>
            <p:spPr>
              <a:xfrm>
                <a:off x="4513064" y="3744113"/>
                <a:ext cx="1318442" cy="461665"/>
              </a:xfrm>
              <a:prstGeom prst="rect">
                <a:avLst/>
              </a:prstGeom>
              <a:blipFill>
                <a:blip r:embed="rId7"/>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D18764C-2B4F-30A6-BC51-865F8466D915}"/>
                  </a:ext>
                </a:extLst>
              </p:cNvPr>
              <p:cNvSpPr txBox="1"/>
              <p:nvPr/>
            </p:nvSpPr>
            <p:spPr>
              <a:xfrm>
                <a:off x="8907264" y="3744113"/>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𝟕𝟎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5" name="TextBox 14">
                <a:extLst>
                  <a:ext uri="{FF2B5EF4-FFF2-40B4-BE49-F238E27FC236}">
                    <a16:creationId xmlns:a16="http://schemas.microsoft.com/office/drawing/2014/main" id="{5D18764C-2B4F-30A6-BC51-865F8466D915}"/>
                  </a:ext>
                </a:extLst>
              </p:cNvPr>
              <p:cNvSpPr txBox="1">
                <a:spLocks noRot="1" noChangeAspect="1" noMove="1" noResize="1" noEditPoints="1" noAdjustHandles="1" noChangeArrowheads="1" noChangeShapeType="1" noTextEdit="1"/>
              </p:cNvSpPr>
              <p:nvPr/>
            </p:nvSpPr>
            <p:spPr>
              <a:xfrm>
                <a:off x="8907264" y="3744113"/>
                <a:ext cx="1318442" cy="461665"/>
              </a:xfrm>
              <a:prstGeom prst="rect">
                <a:avLst/>
              </a:prstGeom>
              <a:blipFill>
                <a:blip r:embed="rId8"/>
                <a:stretch>
                  <a:fillRect/>
                </a:stretch>
              </a:blipFill>
              <a:ln w="38100">
                <a:solidFill>
                  <a:schemeClr val="bg2"/>
                </a:solidFill>
              </a:ln>
            </p:spPr>
            <p:txBody>
              <a:bodyPr/>
              <a:lstStyle/>
              <a:p>
                <a:r>
                  <a:rPr lang="en-US">
                    <a:noFill/>
                  </a:rPr>
                  <a:t> </a:t>
                </a:r>
              </a:p>
            </p:txBody>
          </p:sp>
        </mc:Fallback>
      </mc:AlternateContent>
    </p:spTree>
    <p:extLst>
      <p:ext uri="{BB962C8B-B14F-4D97-AF65-F5344CB8AC3E}">
        <p14:creationId xmlns:p14="http://schemas.microsoft.com/office/powerpoint/2010/main" val="184485467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22583-964E-3395-3928-D80F555EDDA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827A174-2255-58F9-5B4D-1301551EBFD1}"/>
              </a:ext>
            </a:extLst>
          </p:cNvPr>
          <p:cNvPicPr>
            <a:picLocks noChangeAspect="1"/>
          </p:cNvPicPr>
          <p:nvPr/>
        </p:nvPicPr>
        <p:blipFill>
          <a:blip r:embed="rId2"/>
          <a:srcRect l="2335" r="2335"/>
          <a:stretch/>
        </p:blipFill>
        <p:spPr>
          <a:xfrm>
            <a:off x="354665" y="0"/>
            <a:ext cx="11482670" cy="685800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41D6E5C-C603-B535-9455-51DE1F5C4907}"/>
                  </a:ext>
                </a:extLst>
              </p:cNvPr>
              <p:cNvSpPr txBox="1"/>
              <p:nvPr/>
            </p:nvSpPr>
            <p:spPr>
              <a:xfrm>
                <a:off x="237397" y="350040"/>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𝟏𝟎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7" name="TextBox 6">
                <a:extLst>
                  <a:ext uri="{FF2B5EF4-FFF2-40B4-BE49-F238E27FC236}">
                    <a16:creationId xmlns:a16="http://schemas.microsoft.com/office/drawing/2014/main" id="{D41D6E5C-C603-B535-9455-51DE1F5C4907}"/>
                  </a:ext>
                </a:extLst>
              </p:cNvPr>
              <p:cNvSpPr txBox="1">
                <a:spLocks noRot="1" noChangeAspect="1" noMove="1" noResize="1" noEditPoints="1" noAdjustHandles="1" noChangeArrowheads="1" noChangeShapeType="1" noTextEdit="1"/>
              </p:cNvSpPr>
              <p:nvPr/>
            </p:nvSpPr>
            <p:spPr>
              <a:xfrm>
                <a:off x="237397" y="350040"/>
                <a:ext cx="1318442" cy="461665"/>
              </a:xfrm>
              <a:prstGeom prst="rect">
                <a:avLst/>
              </a:prstGeom>
              <a:blipFill>
                <a:blip r:embed="rId3"/>
                <a:stretch>
                  <a:fillRect/>
                </a:stretch>
              </a:blipFill>
              <a:ln w="38100">
                <a:solidFill>
                  <a:schemeClr val="bg2"/>
                </a:solid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57DB9F4C-6625-164A-DAA8-42A41A00FFB0}"/>
              </a:ext>
            </a:extLst>
          </p:cNvPr>
          <p:cNvSpPr txBox="1"/>
          <p:nvPr/>
        </p:nvSpPr>
        <p:spPr>
          <a:xfrm>
            <a:off x="6710330" y="1974671"/>
            <a:ext cx="2856155" cy="1569660"/>
          </a:xfrm>
          <a:prstGeom prst="rect">
            <a:avLst/>
          </a:prstGeom>
          <a:solidFill>
            <a:schemeClr val="bg1"/>
          </a:solidFill>
          <a:ln w="38100">
            <a:solidFill>
              <a:schemeClr val="tx1"/>
            </a:solidFill>
          </a:ln>
        </p:spPr>
        <p:txBody>
          <a:bodyPr wrap="square" rtlCol="0">
            <a:spAutoFit/>
          </a:bodyPr>
          <a:lstStyle/>
          <a:p>
            <a:pPr algn="ctr"/>
            <a:r>
              <a:rPr lang="en-US" sz="2400" b="1" dirty="0" err="1">
                <a:solidFill>
                  <a:schemeClr val="tx1"/>
                </a:solidFill>
              </a:rPr>
              <a:t>Aeroglaze</a:t>
            </a:r>
            <a:r>
              <a:rPr lang="en-US" sz="2400" b="1" dirty="0">
                <a:solidFill>
                  <a:schemeClr val="tx1"/>
                </a:solidFill>
              </a:rPr>
              <a:t> with blank_v2 (after bug fix), A and B average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BF0988D-E290-9749-4489-65DDCE36729F}"/>
                  </a:ext>
                </a:extLst>
              </p:cNvPr>
              <p:cNvSpPr txBox="1"/>
              <p:nvPr/>
            </p:nvSpPr>
            <p:spPr>
              <a:xfrm>
                <a:off x="4513064" y="350040"/>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𝟐𝟐</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3" name="TextBox 2">
                <a:extLst>
                  <a:ext uri="{FF2B5EF4-FFF2-40B4-BE49-F238E27FC236}">
                    <a16:creationId xmlns:a16="http://schemas.microsoft.com/office/drawing/2014/main" id="{ABF0988D-E290-9749-4489-65DDCE36729F}"/>
                  </a:ext>
                </a:extLst>
              </p:cNvPr>
              <p:cNvSpPr txBox="1">
                <a:spLocks noRot="1" noChangeAspect="1" noMove="1" noResize="1" noEditPoints="1" noAdjustHandles="1" noChangeArrowheads="1" noChangeShapeType="1" noTextEdit="1"/>
              </p:cNvSpPr>
              <p:nvPr/>
            </p:nvSpPr>
            <p:spPr>
              <a:xfrm>
                <a:off x="4513064" y="350040"/>
                <a:ext cx="1318442" cy="461665"/>
              </a:xfrm>
              <a:prstGeom prst="rect">
                <a:avLst/>
              </a:prstGeom>
              <a:blipFill>
                <a:blip r:embed="rId4"/>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7631BF7-4C15-E452-493B-48881292B56A}"/>
                  </a:ext>
                </a:extLst>
              </p:cNvPr>
              <p:cNvSpPr txBox="1"/>
              <p:nvPr/>
            </p:nvSpPr>
            <p:spPr>
              <a:xfrm>
                <a:off x="8907264" y="350040"/>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𝟑𝟒</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4" name="TextBox 3">
                <a:extLst>
                  <a:ext uri="{FF2B5EF4-FFF2-40B4-BE49-F238E27FC236}">
                    <a16:creationId xmlns:a16="http://schemas.microsoft.com/office/drawing/2014/main" id="{B7631BF7-4C15-E452-493B-48881292B56A}"/>
                  </a:ext>
                </a:extLst>
              </p:cNvPr>
              <p:cNvSpPr txBox="1">
                <a:spLocks noRot="1" noChangeAspect="1" noMove="1" noResize="1" noEditPoints="1" noAdjustHandles="1" noChangeArrowheads="1" noChangeShapeType="1" noTextEdit="1"/>
              </p:cNvSpPr>
              <p:nvPr/>
            </p:nvSpPr>
            <p:spPr>
              <a:xfrm>
                <a:off x="8907264" y="350040"/>
                <a:ext cx="1318442" cy="461665"/>
              </a:xfrm>
              <a:prstGeom prst="rect">
                <a:avLst/>
              </a:prstGeom>
              <a:blipFill>
                <a:blip r:embed="rId5"/>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35797A2-BBBF-9BAC-6717-CD5266C861C1}"/>
                  </a:ext>
                </a:extLst>
              </p:cNvPr>
              <p:cNvSpPr txBox="1"/>
              <p:nvPr/>
            </p:nvSpPr>
            <p:spPr>
              <a:xfrm>
                <a:off x="237397" y="3744113"/>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𝟒𝟔</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3" name="TextBox 12">
                <a:extLst>
                  <a:ext uri="{FF2B5EF4-FFF2-40B4-BE49-F238E27FC236}">
                    <a16:creationId xmlns:a16="http://schemas.microsoft.com/office/drawing/2014/main" id="{B35797A2-BBBF-9BAC-6717-CD5266C861C1}"/>
                  </a:ext>
                </a:extLst>
              </p:cNvPr>
              <p:cNvSpPr txBox="1">
                <a:spLocks noRot="1" noChangeAspect="1" noMove="1" noResize="1" noEditPoints="1" noAdjustHandles="1" noChangeArrowheads="1" noChangeShapeType="1" noTextEdit="1"/>
              </p:cNvSpPr>
              <p:nvPr/>
            </p:nvSpPr>
            <p:spPr>
              <a:xfrm>
                <a:off x="237397" y="3744113"/>
                <a:ext cx="1318442" cy="461665"/>
              </a:xfrm>
              <a:prstGeom prst="rect">
                <a:avLst/>
              </a:prstGeom>
              <a:blipFill>
                <a:blip r:embed="rId6"/>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3341131-7FD6-B0F1-BCD4-2C6B318A6AE6}"/>
                  </a:ext>
                </a:extLst>
              </p:cNvPr>
              <p:cNvSpPr txBox="1"/>
              <p:nvPr/>
            </p:nvSpPr>
            <p:spPr>
              <a:xfrm>
                <a:off x="4513064" y="3744113"/>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𝟓𝟖</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4" name="TextBox 13">
                <a:extLst>
                  <a:ext uri="{FF2B5EF4-FFF2-40B4-BE49-F238E27FC236}">
                    <a16:creationId xmlns:a16="http://schemas.microsoft.com/office/drawing/2014/main" id="{63341131-7FD6-B0F1-BCD4-2C6B318A6AE6}"/>
                  </a:ext>
                </a:extLst>
              </p:cNvPr>
              <p:cNvSpPr txBox="1">
                <a:spLocks noRot="1" noChangeAspect="1" noMove="1" noResize="1" noEditPoints="1" noAdjustHandles="1" noChangeArrowheads="1" noChangeShapeType="1" noTextEdit="1"/>
              </p:cNvSpPr>
              <p:nvPr/>
            </p:nvSpPr>
            <p:spPr>
              <a:xfrm>
                <a:off x="4513064" y="3744113"/>
                <a:ext cx="1318442" cy="461665"/>
              </a:xfrm>
              <a:prstGeom prst="rect">
                <a:avLst/>
              </a:prstGeom>
              <a:blipFill>
                <a:blip r:embed="rId7"/>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B1CAE29-3A76-AF4E-A9C4-76FC52DC8CB8}"/>
                  </a:ext>
                </a:extLst>
              </p:cNvPr>
              <p:cNvSpPr txBox="1"/>
              <p:nvPr/>
            </p:nvSpPr>
            <p:spPr>
              <a:xfrm>
                <a:off x="8907264" y="3744113"/>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𝟕𝟎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5" name="TextBox 14">
                <a:extLst>
                  <a:ext uri="{FF2B5EF4-FFF2-40B4-BE49-F238E27FC236}">
                    <a16:creationId xmlns:a16="http://schemas.microsoft.com/office/drawing/2014/main" id="{BB1CAE29-3A76-AF4E-A9C4-76FC52DC8CB8}"/>
                  </a:ext>
                </a:extLst>
              </p:cNvPr>
              <p:cNvSpPr txBox="1">
                <a:spLocks noRot="1" noChangeAspect="1" noMove="1" noResize="1" noEditPoints="1" noAdjustHandles="1" noChangeArrowheads="1" noChangeShapeType="1" noTextEdit="1"/>
              </p:cNvSpPr>
              <p:nvPr/>
            </p:nvSpPr>
            <p:spPr>
              <a:xfrm>
                <a:off x="8907264" y="3744113"/>
                <a:ext cx="1318442" cy="461665"/>
              </a:xfrm>
              <a:prstGeom prst="rect">
                <a:avLst/>
              </a:prstGeom>
              <a:blipFill>
                <a:blip r:embed="rId8"/>
                <a:stretch>
                  <a:fillRect/>
                </a:stretch>
              </a:blipFill>
              <a:ln w="38100">
                <a:solidFill>
                  <a:schemeClr val="bg2"/>
                </a:solidFill>
              </a:ln>
            </p:spPr>
            <p:txBody>
              <a:bodyPr/>
              <a:lstStyle/>
              <a:p>
                <a:r>
                  <a:rPr lang="en-US">
                    <a:noFill/>
                  </a:rPr>
                  <a:t> </a:t>
                </a:r>
              </a:p>
            </p:txBody>
          </p:sp>
        </mc:Fallback>
      </mc:AlternateContent>
    </p:spTree>
    <p:extLst>
      <p:ext uri="{BB962C8B-B14F-4D97-AF65-F5344CB8AC3E}">
        <p14:creationId xmlns:p14="http://schemas.microsoft.com/office/powerpoint/2010/main" val="356982089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70E11-7DE5-5169-B89F-C4DBCF3808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D7A14C-B8A1-B824-51E1-2CE9B8D64917}"/>
              </a:ext>
            </a:extLst>
          </p:cNvPr>
          <p:cNvSpPr>
            <a:spLocks noGrp="1"/>
          </p:cNvSpPr>
          <p:nvPr>
            <p:ph type="title"/>
          </p:nvPr>
        </p:nvSpPr>
        <p:spPr/>
        <p:txBody>
          <a:bodyPr/>
          <a:lstStyle/>
          <a:p>
            <a:r>
              <a:rPr lang="en-US" dirty="0"/>
              <a:t>Conclusion</a:t>
            </a:r>
          </a:p>
        </p:txBody>
      </p:sp>
      <p:sp>
        <p:nvSpPr>
          <p:cNvPr id="3" name="Text Placeholder 2">
            <a:extLst>
              <a:ext uri="{FF2B5EF4-FFF2-40B4-BE49-F238E27FC236}">
                <a16:creationId xmlns:a16="http://schemas.microsoft.com/office/drawing/2014/main" id="{0D4E56A0-80D5-F975-7BCF-E43779EC975E}"/>
              </a:ext>
            </a:extLst>
          </p:cNvPr>
          <p:cNvSpPr>
            <a:spLocks noGrp="1"/>
          </p:cNvSpPr>
          <p:nvPr>
            <p:ph type="body" idx="1"/>
          </p:nvPr>
        </p:nvSpPr>
        <p:spPr/>
        <p:txBody>
          <a:bodyPr>
            <a:normAutofit fontScale="85000" lnSpcReduction="20000"/>
          </a:bodyPr>
          <a:lstStyle/>
          <a:p>
            <a:r>
              <a:rPr lang="en-US" sz="2000" b="0" dirty="0"/>
              <a:t>The </a:t>
            </a:r>
            <a:r>
              <a:rPr lang="en-US" sz="2000" b="0" dirty="0" err="1"/>
              <a:t>Aeroglaze</a:t>
            </a:r>
            <a:r>
              <a:rPr lang="en-US" sz="2000" b="0" dirty="0"/>
              <a:t> sample appears anisotropic</a:t>
            </a:r>
          </a:p>
          <a:p>
            <a:r>
              <a:rPr lang="en-US" sz="2000" b="0" dirty="0"/>
              <a:t>If assuming isotropic, probably want “A only”</a:t>
            </a:r>
          </a:p>
          <a:p>
            <a:r>
              <a:rPr lang="en-US" sz="2000" b="0" dirty="0"/>
              <a:t>“B only” looks like incident light is almost fully absorbed, and the red in the plot is driven more so from BRDF = RT/cos(R) </a:t>
            </a:r>
            <a:r>
              <a:rPr lang="en-US" sz="2000" b="0" dirty="0">
                <a:sym typeface="Wingdings" panose="05000000000000000000" pitchFamily="2" charset="2"/>
              </a:rPr>
              <a:t> 0 as R  90 deg, rather than driven by actual scattered light</a:t>
            </a:r>
          </a:p>
          <a:p>
            <a:endParaRPr lang="en-US" sz="2000" b="0" dirty="0">
              <a:sym typeface="Wingdings" panose="05000000000000000000" pitchFamily="2" charset="2"/>
            </a:endParaRPr>
          </a:p>
          <a:p>
            <a:r>
              <a:rPr lang="en-US" sz="2000" dirty="0">
                <a:sym typeface="Wingdings" panose="05000000000000000000" pitchFamily="2" charset="2"/>
              </a:rPr>
              <a:t>[OUTDATED] Use: </a:t>
            </a:r>
            <a:r>
              <a:rPr lang="en-US" sz="2000" b="0" dirty="0">
                <a:sym typeface="Wingdings" panose="05000000000000000000" pitchFamily="2" charset="2"/>
              </a:rPr>
              <a:t>“Aeroglaze_9924Primer_2307Black_onAlum_Aonly_blank2.bsdf”</a:t>
            </a:r>
          </a:p>
          <a:p>
            <a:endParaRPr lang="en-US" sz="2000" b="0" dirty="0">
              <a:sym typeface="Wingdings" panose="05000000000000000000" pitchFamily="2" charset="2"/>
            </a:endParaRPr>
          </a:p>
          <a:p>
            <a:r>
              <a:rPr lang="en-US" sz="2000" dirty="0">
                <a:sym typeface="Wingdings" panose="05000000000000000000" pitchFamily="2" charset="2"/>
              </a:rPr>
              <a:t>[CURRENT] </a:t>
            </a:r>
            <a:r>
              <a:rPr lang="en-US" sz="2000" b="0" dirty="0">
                <a:sym typeface="Wingdings" panose="05000000000000000000" pitchFamily="2" charset="2"/>
              </a:rPr>
              <a:t>2026/04/13: the new “blank_v3o2_20260412” data is correct (RT in v3.0 and v3.1 have wrong order of magnitude); and, the new B2 data is correct (same order of magnitude error)</a:t>
            </a:r>
          </a:p>
          <a:p>
            <a:pPr lvl="1"/>
            <a:r>
              <a:rPr lang="en-US" sz="2000" dirty="0">
                <a:sym typeface="Wingdings" panose="05000000000000000000" pitchFamily="2" charset="2"/>
              </a:rPr>
              <a:t>Therefore, use “Aeroglaze_9924Primer_2307Black_onAlum_AandB2_blank3o2.bsdf”</a:t>
            </a:r>
          </a:p>
          <a:p>
            <a:pPr lvl="2"/>
            <a:r>
              <a:rPr lang="en-US" sz="2000" dirty="0">
                <a:sym typeface="Wingdings" panose="05000000000000000000" pitchFamily="2" charset="2"/>
              </a:rPr>
              <a:t>== </a:t>
            </a:r>
            <a:r>
              <a:rPr lang="en-US" sz="2000" dirty="0">
                <a:highlight>
                  <a:srgbClr val="FFFF00"/>
                </a:highlight>
                <a:sym typeface="Wingdings" panose="05000000000000000000" pitchFamily="2" charset="2"/>
              </a:rPr>
              <a:t>“Aeroglaze_9924Primer_2307Black_onAlum.bsdf”</a:t>
            </a:r>
          </a:p>
          <a:p>
            <a:pPr lvl="2"/>
            <a:endParaRPr lang="en-US" sz="2000" dirty="0">
              <a:highlight>
                <a:srgbClr val="FFFF00"/>
              </a:highlight>
              <a:sym typeface="Wingdings" panose="05000000000000000000" pitchFamily="2" charset="2"/>
            </a:endParaRPr>
          </a:p>
          <a:p>
            <a:r>
              <a:rPr lang="en-US" sz="2100" b="0" dirty="0">
                <a:highlight>
                  <a:srgbClr val="00FFFF"/>
                </a:highlight>
                <a:sym typeface="Wingdings" panose="05000000000000000000" pitchFamily="2" charset="2"/>
              </a:rPr>
              <a:t>For v1.4.0, many of these files were deleted and only the final concluded result was preserved… see ‘dev’ or ‘refactor’ branches for different versions of </a:t>
            </a:r>
            <a:r>
              <a:rPr lang="en-US" sz="2100" b="0" dirty="0" err="1">
                <a:highlight>
                  <a:srgbClr val="00FFFF"/>
                </a:highlight>
                <a:sym typeface="Wingdings" panose="05000000000000000000" pitchFamily="2" charset="2"/>
              </a:rPr>
              <a:t>Aeroglaze</a:t>
            </a:r>
            <a:r>
              <a:rPr lang="en-US" sz="2100" b="0" dirty="0">
                <a:highlight>
                  <a:srgbClr val="00FFFF"/>
                </a:highlight>
                <a:sym typeface="Wingdings" panose="05000000000000000000" pitchFamily="2" charset="2"/>
              </a:rPr>
              <a:t> BSDF files and for the ‘blank’ (v3.0, v3.1) data referenced here</a:t>
            </a:r>
            <a:endParaRPr lang="en-US" sz="3000" b="0" dirty="0">
              <a:highlight>
                <a:srgbClr val="00FFFF"/>
              </a:highlight>
              <a:sym typeface="Wingdings" panose="05000000000000000000" pitchFamily="2" charset="2"/>
            </a:endParaRPr>
          </a:p>
          <a:p>
            <a:pPr marL="533400" lvl="1" indent="0">
              <a:buNone/>
            </a:pPr>
            <a:endParaRPr lang="en-US" sz="1600" b="0" dirty="0">
              <a:highlight>
                <a:srgbClr val="FFFF00"/>
              </a:highlight>
            </a:endParaRPr>
          </a:p>
        </p:txBody>
      </p:sp>
    </p:spTree>
    <p:extLst>
      <p:ext uri="{BB962C8B-B14F-4D97-AF65-F5344CB8AC3E}">
        <p14:creationId xmlns:p14="http://schemas.microsoft.com/office/powerpoint/2010/main" val="200084633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17949-10D4-9FAF-2395-8BDE4364D6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C54CFB-A229-A38F-041E-B5F834EAC457}"/>
              </a:ext>
            </a:extLst>
          </p:cNvPr>
          <p:cNvSpPr>
            <a:spLocks noGrp="1"/>
          </p:cNvSpPr>
          <p:nvPr>
            <p:ph type="ctrTitle"/>
          </p:nvPr>
        </p:nvSpPr>
        <p:spPr/>
        <p:txBody>
          <a:bodyPr/>
          <a:lstStyle/>
          <a:p>
            <a:r>
              <a:rPr lang="en-US" sz="3600" dirty="0"/>
              <a:t>IMX455 Plane Symmetry Validation</a:t>
            </a:r>
            <a:endParaRPr lang="en-US" sz="3600" dirty="0">
              <a:solidFill>
                <a:schemeClr val="bg2"/>
              </a:solidFill>
            </a:endParaRPr>
          </a:p>
        </p:txBody>
      </p:sp>
      <p:sp>
        <p:nvSpPr>
          <p:cNvPr id="3" name="Subtitle 2">
            <a:extLst>
              <a:ext uri="{FF2B5EF4-FFF2-40B4-BE49-F238E27FC236}">
                <a16:creationId xmlns:a16="http://schemas.microsoft.com/office/drawing/2014/main" id="{059BB230-CDF7-2D99-1A6A-FF420BE2355E}"/>
              </a:ext>
            </a:extLst>
          </p:cNvPr>
          <p:cNvSpPr>
            <a:spLocks noGrp="1"/>
          </p:cNvSpPr>
          <p:nvPr>
            <p:ph type="subTitle" idx="1"/>
          </p:nvPr>
        </p:nvSpPr>
        <p:spPr/>
        <p:txBody>
          <a:bodyPr>
            <a:normAutofit/>
          </a:bodyPr>
          <a:lstStyle/>
          <a:p>
            <a:endParaRPr lang="en-US" dirty="0"/>
          </a:p>
          <a:p>
            <a:r>
              <a:rPr lang="en-US" dirty="0"/>
              <a:t>2026/04/13</a:t>
            </a:r>
          </a:p>
        </p:txBody>
      </p:sp>
    </p:spTree>
    <p:extLst>
      <p:ext uri="{BB962C8B-B14F-4D97-AF65-F5344CB8AC3E}">
        <p14:creationId xmlns:p14="http://schemas.microsoft.com/office/powerpoint/2010/main" val="89558157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62CF7-2123-C03F-D038-6887D5F837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934408-ED59-6AC0-35A7-01AFBDF3621F}"/>
              </a:ext>
            </a:extLst>
          </p:cNvPr>
          <p:cNvSpPr>
            <a:spLocks noGrp="1"/>
          </p:cNvSpPr>
          <p:nvPr>
            <p:ph type="title"/>
          </p:nvPr>
        </p:nvSpPr>
        <p:spPr/>
        <p:txBody>
          <a:bodyPr/>
          <a:lstStyle/>
          <a:p>
            <a:r>
              <a:rPr lang="en-US" dirty="0"/>
              <a:t>Validation setup</a:t>
            </a:r>
          </a:p>
        </p:txBody>
      </p:sp>
      <p:sp>
        <p:nvSpPr>
          <p:cNvPr id="3" name="Text Placeholder 2">
            <a:extLst>
              <a:ext uri="{FF2B5EF4-FFF2-40B4-BE49-F238E27FC236}">
                <a16:creationId xmlns:a16="http://schemas.microsoft.com/office/drawing/2014/main" id="{59AAF3FC-CABE-416F-8431-09E2EB42C62D}"/>
              </a:ext>
            </a:extLst>
          </p:cNvPr>
          <p:cNvSpPr>
            <a:spLocks noGrp="1"/>
          </p:cNvSpPr>
          <p:nvPr>
            <p:ph type="body" idx="1"/>
          </p:nvPr>
        </p:nvSpPr>
        <p:spPr/>
        <p:txBody>
          <a:bodyPr>
            <a:normAutofit/>
          </a:bodyPr>
          <a:lstStyle/>
          <a:p>
            <a:r>
              <a:rPr lang="en-US" sz="2000" b="0" dirty="0"/>
              <a:t>IMX455 data measured 0-90 deg sample rotation, assuming both XZ and YZ plane symmetries on the sample surface</a:t>
            </a:r>
          </a:p>
          <a:p>
            <a:r>
              <a:rPr lang="en-US" sz="2000" b="0" dirty="0"/>
              <a:t>To validate this assumption, measured 210 deg (to compare with 30 deg for YZ) and 330 deg (to compare with 30 deg for XZ, with data expected to be flipped about incident plane)</a:t>
            </a:r>
          </a:p>
          <a:p>
            <a:endParaRPr lang="en-US" sz="2000" b="0" dirty="0"/>
          </a:p>
          <a:p>
            <a:r>
              <a:rPr lang="en-US" sz="2000" b="0" dirty="0"/>
              <a:t>XZ test: pair 30 with 360-30 = 330 and flip data about XZ</a:t>
            </a:r>
          </a:p>
          <a:p>
            <a:r>
              <a:rPr lang="en-US" sz="2000" b="0" dirty="0"/>
              <a:t>YZ test: pair 30 with 30+180 = 210 and do NOT flip data</a:t>
            </a:r>
          </a:p>
        </p:txBody>
      </p:sp>
    </p:spTree>
    <p:extLst>
      <p:ext uri="{BB962C8B-B14F-4D97-AF65-F5344CB8AC3E}">
        <p14:creationId xmlns:p14="http://schemas.microsoft.com/office/powerpoint/2010/main" val="2969321342"/>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BEC1F-2976-F052-3C55-BF6E9F8A213A}"/>
              </a:ext>
            </a:extLst>
          </p:cNvPr>
          <p:cNvSpPr>
            <a:spLocks noGrp="1"/>
          </p:cNvSpPr>
          <p:nvPr>
            <p:ph type="title"/>
          </p:nvPr>
        </p:nvSpPr>
        <p:spPr/>
        <p:txBody>
          <a:bodyPr/>
          <a:lstStyle/>
          <a:p>
            <a:r>
              <a:rPr lang="en-US" dirty="0"/>
              <a:t>Results</a:t>
            </a:r>
          </a:p>
        </p:txBody>
      </p:sp>
      <p:sp>
        <p:nvSpPr>
          <p:cNvPr id="3" name="Text Placeholder 2">
            <a:extLst>
              <a:ext uri="{FF2B5EF4-FFF2-40B4-BE49-F238E27FC236}">
                <a16:creationId xmlns:a16="http://schemas.microsoft.com/office/drawing/2014/main" id="{32CBE1F0-F262-DC2A-EB15-CEDFC7F79FB8}"/>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E4EB2661-3302-C5B7-72FF-AC9F9C383E87}"/>
              </a:ext>
            </a:extLst>
          </p:cNvPr>
          <p:cNvPicPr>
            <a:picLocks noChangeAspect="1"/>
          </p:cNvPicPr>
          <p:nvPr/>
        </p:nvPicPr>
        <p:blipFill>
          <a:blip r:embed="rId2"/>
          <a:stretch>
            <a:fillRect/>
          </a:stretch>
        </p:blipFill>
        <p:spPr>
          <a:xfrm>
            <a:off x="2499121" y="0"/>
            <a:ext cx="7193757" cy="685800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71C40DA-EECB-5986-2B00-36C96C1B952C}"/>
                  </a:ext>
                </a:extLst>
              </p:cNvPr>
              <p:cNvSpPr txBox="1"/>
              <p:nvPr/>
            </p:nvSpPr>
            <p:spPr>
              <a:xfrm>
                <a:off x="999397" y="1677036"/>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𝟑𝟎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6" name="TextBox 5">
                <a:extLst>
                  <a:ext uri="{FF2B5EF4-FFF2-40B4-BE49-F238E27FC236}">
                    <a16:creationId xmlns:a16="http://schemas.microsoft.com/office/drawing/2014/main" id="{C71C40DA-EECB-5986-2B00-36C96C1B952C}"/>
                  </a:ext>
                </a:extLst>
              </p:cNvPr>
              <p:cNvSpPr txBox="1">
                <a:spLocks noRot="1" noChangeAspect="1" noMove="1" noResize="1" noEditPoints="1" noAdjustHandles="1" noChangeArrowheads="1" noChangeShapeType="1" noTextEdit="1"/>
              </p:cNvSpPr>
              <p:nvPr/>
            </p:nvSpPr>
            <p:spPr>
              <a:xfrm>
                <a:off x="999397" y="1677036"/>
                <a:ext cx="1318442" cy="461665"/>
              </a:xfrm>
              <a:prstGeom prst="rect">
                <a:avLst/>
              </a:prstGeom>
              <a:blipFill>
                <a:blip r:embed="rId3"/>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BFC2BD0-730D-CD78-BF5F-1CA5CDDC0B80}"/>
                  </a:ext>
                </a:extLst>
              </p:cNvPr>
              <p:cNvSpPr txBox="1"/>
              <p:nvPr/>
            </p:nvSpPr>
            <p:spPr>
              <a:xfrm>
                <a:off x="999397" y="5065973"/>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𝟓𝟎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7" name="TextBox 6">
                <a:extLst>
                  <a:ext uri="{FF2B5EF4-FFF2-40B4-BE49-F238E27FC236}">
                    <a16:creationId xmlns:a16="http://schemas.microsoft.com/office/drawing/2014/main" id="{DBFC2BD0-730D-CD78-BF5F-1CA5CDDC0B80}"/>
                  </a:ext>
                </a:extLst>
              </p:cNvPr>
              <p:cNvSpPr txBox="1">
                <a:spLocks noRot="1" noChangeAspect="1" noMove="1" noResize="1" noEditPoints="1" noAdjustHandles="1" noChangeArrowheads="1" noChangeShapeType="1" noTextEdit="1"/>
              </p:cNvSpPr>
              <p:nvPr/>
            </p:nvSpPr>
            <p:spPr>
              <a:xfrm>
                <a:off x="999397" y="5065973"/>
                <a:ext cx="1318442" cy="461665"/>
              </a:xfrm>
              <a:prstGeom prst="rect">
                <a:avLst/>
              </a:prstGeom>
              <a:blipFill>
                <a:blip r:embed="rId4"/>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0D61581-AC53-F708-9A4E-B86824344B9F}"/>
                  </a:ext>
                </a:extLst>
              </p:cNvPr>
              <p:cNvSpPr txBox="1"/>
              <p:nvPr/>
            </p:nvSpPr>
            <p:spPr>
              <a:xfrm>
                <a:off x="3573262" y="152718"/>
                <a:ext cx="1794603"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𝝍</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𝟐𝟏𝟎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8" name="TextBox 7">
                <a:extLst>
                  <a:ext uri="{FF2B5EF4-FFF2-40B4-BE49-F238E27FC236}">
                    <a16:creationId xmlns:a16="http://schemas.microsoft.com/office/drawing/2014/main" id="{00D61581-AC53-F708-9A4E-B86824344B9F}"/>
                  </a:ext>
                </a:extLst>
              </p:cNvPr>
              <p:cNvSpPr txBox="1">
                <a:spLocks noRot="1" noChangeAspect="1" noMove="1" noResize="1" noEditPoints="1" noAdjustHandles="1" noChangeArrowheads="1" noChangeShapeType="1" noTextEdit="1"/>
              </p:cNvSpPr>
              <p:nvPr/>
            </p:nvSpPr>
            <p:spPr>
              <a:xfrm>
                <a:off x="3573262" y="152718"/>
                <a:ext cx="1794603" cy="461665"/>
              </a:xfrm>
              <a:prstGeom prst="rect">
                <a:avLst/>
              </a:prstGeom>
              <a:blipFill>
                <a:blip r:embed="rId5"/>
                <a:stretch>
                  <a:fillRect b="-14634"/>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CA979D7-250A-CC7B-304E-7B5B3327D27D}"/>
                  </a:ext>
                </a:extLst>
              </p:cNvPr>
              <p:cNvSpPr txBox="1"/>
              <p:nvPr/>
            </p:nvSpPr>
            <p:spPr>
              <a:xfrm>
                <a:off x="7257386" y="183803"/>
                <a:ext cx="1794603"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𝝍</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𝟑𝟎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9" name="TextBox 8">
                <a:extLst>
                  <a:ext uri="{FF2B5EF4-FFF2-40B4-BE49-F238E27FC236}">
                    <a16:creationId xmlns:a16="http://schemas.microsoft.com/office/drawing/2014/main" id="{2CA979D7-250A-CC7B-304E-7B5B3327D27D}"/>
                  </a:ext>
                </a:extLst>
              </p:cNvPr>
              <p:cNvSpPr txBox="1">
                <a:spLocks noRot="1" noChangeAspect="1" noMove="1" noResize="1" noEditPoints="1" noAdjustHandles="1" noChangeArrowheads="1" noChangeShapeType="1" noTextEdit="1"/>
              </p:cNvSpPr>
              <p:nvPr/>
            </p:nvSpPr>
            <p:spPr>
              <a:xfrm>
                <a:off x="7257386" y="183803"/>
                <a:ext cx="1794603" cy="461665"/>
              </a:xfrm>
              <a:prstGeom prst="rect">
                <a:avLst/>
              </a:prstGeom>
              <a:blipFill>
                <a:blip r:embed="rId6"/>
                <a:stretch>
                  <a:fillRect b="-14634"/>
                </a:stretch>
              </a:blipFill>
              <a:ln w="38100">
                <a:solidFill>
                  <a:schemeClr val="bg2"/>
                </a:solidFill>
              </a:ln>
            </p:spPr>
            <p:txBody>
              <a:bodyPr/>
              <a:lstStyle/>
              <a:p>
                <a:r>
                  <a:rPr lang="en-US">
                    <a:noFill/>
                  </a:rPr>
                  <a:t> </a:t>
                </a:r>
              </a:p>
            </p:txBody>
          </p:sp>
        </mc:Fallback>
      </mc:AlternateContent>
    </p:spTree>
    <p:extLst>
      <p:ext uri="{BB962C8B-B14F-4D97-AF65-F5344CB8AC3E}">
        <p14:creationId xmlns:p14="http://schemas.microsoft.com/office/powerpoint/2010/main" val="6606592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D6BFC-8CC2-918D-E6F5-214107A0B7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D46132-2A66-674B-7A0A-2BA8E09BB993}"/>
              </a:ext>
            </a:extLst>
          </p:cNvPr>
          <p:cNvSpPr>
            <a:spLocks noGrp="1"/>
          </p:cNvSpPr>
          <p:nvPr>
            <p:ph type="title"/>
          </p:nvPr>
        </p:nvSpPr>
        <p:spPr/>
        <p:txBody>
          <a:bodyPr/>
          <a:lstStyle/>
          <a:p>
            <a:r>
              <a:rPr lang="en-US" dirty="0"/>
              <a:t>Results</a:t>
            </a:r>
          </a:p>
        </p:txBody>
      </p:sp>
      <p:sp>
        <p:nvSpPr>
          <p:cNvPr id="3" name="Text Placeholder 2">
            <a:extLst>
              <a:ext uri="{FF2B5EF4-FFF2-40B4-BE49-F238E27FC236}">
                <a16:creationId xmlns:a16="http://schemas.microsoft.com/office/drawing/2014/main" id="{6EA81E01-CB8C-4E14-5488-1621A86FF840}"/>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7D4C41BE-9BA3-CFF3-EDE9-941FC2DDE0A4}"/>
              </a:ext>
            </a:extLst>
          </p:cNvPr>
          <p:cNvPicPr>
            <a:picLocks noChangeAspect="1"/>
          </p:cNvPicPr>
          <p:nvPr/>
        </p:nvPicPr>
        <p:blipFill>
          <a:blip r:embed="rId2"/>
          <a:srcRect/>
          <a:stretch/>
        </p:blipFill>
        <p:spPr>
          <a:xfrm>
            <a:off x="2522468" y="0"/>
            <a:ext cx="7147062" cy="685800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FC9378-D593-9134-E7A9-CE74989BB491}"/>
                  </a:ext>
                </a:extLst>
              </p:cNvPr>
              <p:cNvSpPr txBox="1"/>
              <p:nvPr/>
            </p:nvSpPr>
            <p:spPr>
              <a:xfrm>
                <a:off x="999397" y="1677036"/>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𝟑𝟎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6" name="TextBox 5">
                <a:extLst>
                  <a:ext uri="{FF2B5EF4-FFF2-40B4-BE49-F238E27FC236}">
                    <a16:creationId xmlns:a16="http://schemas.microsoft.com/office/drawing/2014/main" id="{6BFC9378-D593-9134-E7A9-CE74989BB491}"/>
                  </a:ext>
                </a:extLst>
              </p:cNvPr>
              <p:cNvSpPr txBox="1">
                <a:spLocks noRot="1" noChangeAspect="1" noMove="1" noResize="1" noEditPoints="1" noAdjustHandles="1" noChangeArrowheads="1" noChangeShapeType="1" noTextEdit="1"/>
              </p:cNvSpPr>
              <p:nvPr/>
            </p:nvSpPr>
            <p:spPr>
              <a:xfrm>
                <a:off x="999397" y="1677036"/>
                <a:ext cx="1318442" cy="461665"/>
              </a:xfrm>
              <a:prstGeom prst="rect">
                <a:avLst/>
              </a:prstGeom>
              <a:blipFill>
                <a:blip r:embed="rId3"/>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ABE74ED-1E01-2BC1-AB4A-D155BC510828}"/>
                  </a:ext>
                </a:extLst>
              </p:cNvPr>
              <p:cNvSpPr txBox="1"/>
              <p:nvPr/>
            </p:nvSpPr>
            <p:spPr>
              <a:xfrm>
                <a:off x="999397" y="5065973"/>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𝟓𝟎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7" name="TextBox 6">
                <a:extLst>
                  <a:ext uri="{FF2B5EF4-FFF2-40B4-BE49-F238E27FC236}">
                    <a16:creationId xmlns:a16="http://schemas.microsoft.com/office/drawing/2014/main" id="{FABE74ED-1E01-2BC1-AB4A-D155BC510828}"/>
                  </a:ext>
                </a:extLst>
              </p:cNvPr>
              <p:cNvSpPr txBox="1">
                <a:spLocks noRot="1" noChangeAspect="1" noMove="1" noResize="1" noEditPoints="1" noAdjustHandles="1" noChangeArrowheads="1" noChangeShapeType="1" noTextEdit="1"/>
              </p:cNvSpPr>
              <p:nvPr/>
            </p:nvSpPr>
            <p:spPr>
              <a:xfrm>
                <a:off x="999397" y="5065973"/>
                <a:ext cx="1318442" cy="461665"/>
              </a:xfrm>
              <a:prstGeom prst="rect">
                <a:avLst/>
              </a:prstGeom>
              <a:blipFill>
                <a:blip r:embed="rId4"/>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396F494-1E8A-CC2B-8719-81E60A4CA450}"/>
                  </a:ext>
                </a:extLst>
              </p:cNvPr>
              <p:cNvSpPr txBox="1"/>
              <p:nvPr/>
            </p:nvSpPr>
            <p:spPr>
              <a:xfrm>
                <a:off x="3573262" y="152718"/>
                <a:ext cx="1794603"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𝝍</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𝟑𝟑𝟎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8" name="TextBox 7">
                <a:extLst>
                  <a:ext uri="{FF2B5EF4-FFF2-40B4-BE49-F238E27FC236}">
                    <a16:creationId xmlns:a16="http://schemas.microsoft.com/office/drawing/2014/main" id="{7396F494-1E8A-CC2B-8719-81E60A4CA450}"/>
                  </a:ext>
                </a:extLst>
              </p:cNvPr>
              <p:cNvSpPr txBox="1">
                <a:spLocks noRot="1" noChangeAspect="1" noMove="1" noResize="1" noEditPoints="1" noAdjustHandles="1" noChangeArrowheads="1" noChangeShapeType="1" noTextEdit="1"/>
              </p:cNvSpPr>
              <p:nvPr/>
            </p:nvSpPr>
            <p:spPr>
              <a:xfrm>
                <a:off x="3573262" y="152718"/>
                <a:ext cx="1794603" cy="461665"/>
              </a:xfrm>
              <a:prstGeom prst="rect">
                <a:avLst/>
              </a:prstGeom>
              <a:blipFill>
                <a:blip r:embed="rId5"/>
                <a:stretch>
                  <a:fillRect b="-14634"/>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DFD2563-9C22-709F-7B85-F953DE5D8770}"/>
                  </a:ext>
                </a:extLst>
              </p:cNvPr>
              <p:cNvSpPr txBox="1"/>
              <p:nvPr/>
            </p:nvSpPr>
            <p:spPr>
              <a:xfrm>
                <a:off x="7257386" y="183803"/>
                <a:ext cx="1794603"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𝝍</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𝟑𝟎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9" name="TextBox 8">
                <a:extLst>
                  <a:ext uri="{FF2B5EF4-FFF2-40B4-BE49-F238E27FC236}">
                    <a16:creationId xmlns:a16="http://schemas.microsoft.com/office/drawing/2014/main" id="{EDFD2563-9C22-709F-7B85-F953DE5D8770}"/>
                  </a:ext>
                </a:extLst>
              </p:cNvPr>
              <p:cNvSpPr txBox="1">
                <a:spLocks noRot="1" noChangeAspect="1" noMove="1" noResize="1" noEditPoints="1" noAdjustHandles="1" noChangeArrowheads="1" noChangeShapeType="1" noTextEdit="1"/>
              </p:cNvSpPr>
              <p:nvPr/>
            </p:nvSpPr>
            <p:spPr>
              <a:xfrm>
                <a:off x="7257386" y="183803"/>
                <a:ext cx="1794603" cy="461665"/>
              </a:xfrm>
              <a:prstGeom prst="rect">
                <a:avLst/>
              </a:prstGeom>
              <a:blipFill>
                <a:blip r:embed="rId6"/>
                <a:stretch>
                  <a:fillRect b="-14634"/>
                </a:stretch>
              </a:blipFill>
              <a:ln w="38100">
                <a:solidFill>
                  <a:schemeClr val="bg2"/>
                </a:solidFill>
              </a:ln>
            </p:spPr>
            <p:txBody>
              <a:bodyPr/>
              <a:lstStyle/>
              <a:p>
                <a:r>
                  <a:rPr lang="en-US">
                    <a:noFill/>
                  </a:rPr>
                  <a:t> </a:t>
                </a:r>
              </a:p>
            </p:txBody>
          </p:sp>
        </mc:Fallback>
      </mc:AlternateContent>
    </p:spTree>
    <p:extLst>
      <p:ext uri="{BB962C8B-B14F-4D97-AF65-F5344CB8AC3E}">
        <p14:creationId xmlns:p14="http://schemas.microsoft.com/office/powerpoint/2010/main" val="78124136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AF067-0DE9-5650-9D1F-114BACAC14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7907E5-A38D-3106-BF29-987FDF5021E0}"/>
              </a:ext>
            </a:extLst>
          </p:cNvPr>
          <p:cNvSpPr>
            <a:spLocks noGrp="1"/>
          </p:cNvSpPr>
          <p:nvPr>
            <p:ph type="title"/>
          </p:nvPr>
        </p:nvSpPr>
        <p:spPr/>
        <p:txBody>
          <a:bodyPr/>
          <a:lstStyle/>
          <a:p>
            <a:r>
              <a:rPr lang="en-US" dirty="0"/>
              <a:t>Conclusion</a:t>
            </a:r>
          </a:p>
        </p:txBody>
      </p:sp>
      <p:sp>
        <p:nvSpPr>
          <p:cNvPr id="3" name="Text Placeholder 2">
            <a:extLst>
              <a:ext uri="{FF2B5EF4-FFF2-40B4-BE49-F238E27FC236}">
                <a16:creationId xmlns:a16="http://schemas.microsoft.com/office/drawing/2014/main" id="{27FB6159-FC73-61D3-7AEA-9AE594D62456}"/>
              </a:ext>
            </a:extLst>
          </p:cNvPr>
          <p:cNvSpPr>
            <a:spLocks noGrp="1"/>
          </p:cNvSpPr>
          <p:nvPr>
            <p:ph type="body" idx="1"/>
          </p:nvPr>
        </p:nvSpPr>
        <p:spPr/>
        <p:txBody>
          <a:bodyPr>
            <a:normAutofit/>
          </a:bodyPr>
          <a:lstStyle/>
          <a:p>
            <a:r>
              <a:rPr lang="en-US" sz="2000" b="0" dirty="0"/>
              <a:t>210 and 330 deg measurements don’t seem to show diffraction …….. Maybe need to re-measure ?</a:t>
            </a:r>
          </a:p>
          <a:p>
            <a:r>
              <a:rPr lang="en-US" sz="2000" b="0" dirty="0"/>
              <a:t>Otherwise, does not appear that the plane symmetry assumptions are good</a:t>
            </a:r>
          </a:p>
          <a:p>
            <a:pPr lvl="1"/>
            <a:r>
              <a:rPr lang="en-US" sz="2000" dirty="0"/>
              <a:t>But, it is surprising the results appear to be so reflective / specular</a:t>
            </a:r>
            <a:endParaRPr lang="en-US" sz="2000" b="0" dirty="0"/>
          </a:p>
        </p:txBody>
      </p:sp>
    </p:spTree>
    <p:extLst>
      <p:ext uri="{BB962C8B-B14F-4D97-AF65-F5344CB8AC3E}">
        <p14:creationId xmlns:p14="http://schemas.microsoft.com/office/powerpoint/2010/main" val="339366415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02581-E493-90C7-8375-F884E88D6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112778-AC6E-0663-66C5-508DC654F716}"/>
              </a:ext>
            </a:extLst>
          </p:cNvPr>
          <p:cNvSpPr>
            <a:spLocks noGrp="1"/>
          </p:cNvSpPr>
          <p:nvPr>
            <p:ph type="ctrTitle"/>
          </p:nvPr>
        </p:nvSpPr>
        <p:spPr/>
        <p:txBody>
          <a:bodyPr/>
          <a:lstStyle/>
          <a:p>
            <a:r>
              <a:rPr lang="en-US" sz="3600" dirty="0"/>
              <a:t>Correction to IMX455 error</a:t>
            </a:r>
            <a:br>
              <a:rPr lang="en-US" sz="3600" dirty="0"/>
            </a:br>
            <a:r>
              <a:rPr lang="en-US" sz="2400" dirty="0">
                <a:solidFill>
                  <a:schemeClr val="bg2"/>
                </a:solidFill>
              </a:rPr>
              <a:t>[the sample is actually IMX571]</a:t>
            </a:r>
          </a:p>
        </p:txBody>
      </p:sp>
      <p:sp>
        <p:nvSpPr>
          <p:cNvPr id="3" name="Subtitle 2">
            <a:extLst>
              <a:ext uri="{FF2B5EF4-FFF2-40B4-BE49-F238E27FC236}">
                <a16:creationId xmlns:a16="http://schemas.microsoft.com/office/drawing/2014/main" id="{BB30F685-E4E2-B65B-67BD-2E9F7B06CFB0}"/>
              </a:ext>
            </a:extLst>
          </p:cNvPr>
          <p:cNvSpPr>
            <a:spLocks noGrp="1"/>
          </p:cNvSpPr>
          <p:nvPr>
            <p:ph type="subTitle" idx="1"/>
          </p:nvPr>
        </p:nvSpPr>
        <p:spPr/>
        <p:txBody>
          <a:bodyPr>
            <a:normAutofit/>
          </a:bodyPr>
          <a:lstStyle/>
          <a:p>
            <a:endParaRPr lang="en-US" dirty="0"/>
          </a:p>
          <a:p>
            <a:r>
              <a:rPr lang="en-US" dirty="0"/>
              <a:t>2026/04/23</a:t>
            </a:r>
          </a:p>
        </p:txBody>
      </p:sp>
    </p:spTree>
    <p:extLst>
      <p:ext uri="{BB962C8B-B14F-4D97-AF65-F5344CB8AC3E}">
        <p14:creationId xmlns:p14="http://schemas.microsoft.com/office/powerpoint/2010/main" val="743773716"/>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3E7CC-EFD1-BDFE-93AE-D139A50DDE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516823-BDBB-F5BF-E4AD-C13C321898F5}"/>
              </a:ext>
            </a:extLst>
          </p:cNvPr>
          <p:cNvSpPr>
            <a:spLocks noGrp="1"/>
          </p:cNvSpPr>
          <p:nvPr>
            <p:ph type="title"/>
          </p:nvPr>
        </p:nvSpPr>
        <p:spPr/>
        <p:txBody>
          <a:bodyPr/>
          <a:lstStyle/>
          <a:p>
            <a:r>
              <a:rPr lang="en-US" dirty="0"/>
              <a:t>Comparison</a:t>
            </a:r>
          </a:p>
        </p:txBody>
      </p:sp>
      <p:graphicFrame>
        <p:nvGraphicFramePr>
          <p:cNvPr id="4" name="Table 3">
            <a:extLst>
              <a:ext uri="{FF2B5EF4-FFF2-40B4-BE49-F238E27FC236}">
                <a16:creationId xmlns:a16="http://schemas.microsoft.com/office/drawing/2014/main" id="{084DF230-FDEC-4F1F-9A09-269CA83887C1}"/>
              </a:ext>
            </a:extLst>
          </p:cNvPr>
          <p:cNvGraphicFramePr>
            <a:graphicFrameLocks noGrp="1"/>
          </p:cNvGraphicFramePr>
          <p:nvPr>
            <p:extLst>
              <p:ext uri="{D42A27DB-BD31-4B8C-83A1-F6EECF244321}">
                <p14:modId xmlns:p14="http://schemas.microsoft.com/office/powerpoint/2010/main" val="3203766806"/>
              </p:ext>
            </p:extLst>
          </p:nvPr>
        </p:nvGraphicFramePr>
        <p:xfrm>
          <a:off x="1422400" y="2743199"/>
          <a:ext cx="8127999" cy="3251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728246129"/>
                    </a:ext>
                  </a:extLst>
                </a:gridCol>
                <a:gridCol w="2709333">
                  <a:extLst>
                    <a:ext uri="{9D8B030D-6E8A-4147-A177-3AD203B41FA5}">
                      <a16:colId xmlns:a16="http://schemas.microsoft.com/office/drawing/2014/main" val="559485644"/>
                    </a:ext>
                  </a:extLst>
                </a:gridCol>
                <a:gridCol w="2709333">
                  <a:extLst>
                    <a:ext uri="{9D8B030D-6E8A-4147-A177-3AD203B41FA5}">
                      <a16:colId xmlns:a16="http://schemas.microsoft.com/office/drawing/2014/main" val="1580651979"/>
                    </a:ext>
                  </a:extLst>
                </a:gridCol>
              </a:tblGrid>
              <a:tr h="370840">
                <a:tc>
                  <a:txBody>
                    <a:bodyPr/>
                    <a:lstStyle/>
                    <a:p>
                      <a:r>
                        <a:rPr lang="en-US" dirty="0"/>
                        <a:t>Metric</a:t>
                      </a:r>
                    </a:p>
                  </a:txBody>
                  <a:tcPr/>
                </a:tc>
                <a:tc>
                  <a:txBody>
                    <a:bodyPr/>
                    <a:lstStyle/>
                    <a:p>
                      <a:r>
                        <a:rPr lang="en-US" dirty="0"/>
                        <a:t>IMX455AQK-C</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IMX455BQK-C</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IMX455ALK-C</a:t>
                      </a:r>
                    </a:p>
                  </a:txBody>
                  <a:tcPr/>
                </a:tc>
                <a:tc>
                  <a:txBody>
                    <a:bodyPr/>
                    <a:lstStyle/>
                    <a:p>
                      <a:r>
                        <a:rPr lang="en-US" dirty="0"/>
                        <a:t>IMX571BQR</a:t>
                      </a:r>
                    </a:p>
                  </a:txBody>
                  <a:tcPr/>
                </a:tc>
                <a:extLst>
                  <a:ext uri="{0D108BD9-81ED-4DB2-BD59-A6C34878D82A}">
                    <a16:rowId xmlns:a16="http://schemas.microsoft.com/office/drawing/2014/main" val="4248330398"/>
                  </a:ext>
                </a:extLst>
              </a:tr>
              <a:tr h="370840">
                <a:tc>
                  <a:txBody>
                    <a:bodyPr/>
                    <a:lstStyle/>
                    <a:p>
                      <a:r>
                        <a:rPr lang="en-US" dirty="0"/>
                        <a:t>CMOS active pixel type dots</a:t>
                      </a:r>
                    </a:p>
                  </a:txBody>
                  <a:tcPr/>
                </a:tc>
                <a:tc>
                  <a:txBody>
                    <a:bodyPr/>
                    <a:lstStyle/>
                    <a:p>
                      <a:r>
                        <a:rPr lang="en-US" dirty="0"/>
                        <a:t>35 mm full size</a:t>
                      </a:r>
                    </a:p>
                  </a:txBody>
                  <a:tcPr/>
                </a:tc>
                <a:tc>
                  <a:txBody>
                    <a:bodyPr/>
                    <a:lstStyle/>
                    <a:p>
                      <a:r>
                        <a:rPr lang="en-US" dirty="0"/>
                        <a:t>APS size</a:t>
                      </a:r>
                    </a:p>
                  </a:txBody>
                  <a:tcPr/>
                </a:tc>
                <a:extLst>
                  <a:ext uri="{0D108BD9-81ED-4DB2-BD59-A6C34878D82A}">
                    <a16:rowId xmlns:a16="http://schemas.microsoft.com/office/drawing/2014/main" val="2379839804"/>
                  </a:ext>
                </a:extLst>
              </a:tr>
              <a:tr h="370840">
                <a:tc>
                  <a:txBody>
                    <a:bodyPr/>
                    <a:lstStyle/>
                    <a:p>
                      <a:r>
                        <a:rPr lang="en-US" dirty="0"/>
                        <a:t>Type</a:t>
                      </a:r>
                    </a:p>
                  </a:txBody>
                  <a:tcPr/>
                </a:tc>
                <a:tc>
                  <a:txBody>
                    <a:bodyPr/>
                    <a:lstStyle/>
                    <a:p>
                      <a:r>
                        <a:rPr lang="en-US" dirty="0"/>
                        <a:t>Back-illuminated;</a:t>
                      </a:r>
                    </a:p>
                    <a:p>
                      <a:r>
                        <a:rPr lang="en-US" dirty="0"/>
                        <a:t>CMOS image sensor</a:t>
                      </a:r>
                    </a:p>
                  </a:txBody>
                  <a:tcPr/>
                </a:tc>
                <a:tc>
                  <a:txBody>
                    <a:bodyPr/>
                    <a:lstStyle/>
                    <a:p>
                      <a:r>
                        <a:rPr lang="en-US" dirty="0"/>
                        <a:t>(same)</a:t>
                      </a:r>
                    </a:p>
                  </a:txBody>
                  <a:tcPr/>
                </a:tc>
                <a:extLst>
                  <a:ext uri="{0D108BD9-81ED-4DB2-BD59-A6C34878D82A}">
                    <a16:rowId xmlns:a16="http://schemas.microsoft.com/office/drawing/2014/main" val="1487977338"/>
                  </a:ext>
                </a:extLst>
              </a:tr>
              <a:tr h="370840">
                <a:tc>
                  <a:txBody>
                    <a:bodyPr/>
                    <a:lstStyle/>
                    <a:p>
                      <a:r>
                        <a:rPr lang="en-US" dirty="0"/>
                        <a:t>Pixel shape</a:t>
                      </a:r>
                    </a:p>
                  </a:txBody>
                  <a:tcPr/>
                </a:tc>
                <a:tc>
                  <a:txBody>
                    <a:bodyPr/>
                    <a:lstStyle/>
                    <a:p>
                      <a:r>
                        <a:rPr lang="en-US" dirty="0"/>
                        <a:t>Square</a:t>
                      </a:r>
                    </a:p>
                  </a:txBody>
                  <a:tcPr/>
                </a:tc>
                <a:tc>
                  <a:txBody>
                    <a:bodyPr/>
                    <a:lstStyle/>
                    <a:p>
                      <a:r>
                        <a:rPr lang="en-US" dirty="0"/>
                        <a:t>(same)</a:t>
                      </a:r>
                    </a:p>
                  </a:txBody>
                  <a:tcPr/>
                </a:tc>
                <a:extLst>
                  <a:ext uri="{0D108BD9-81ED-4DB2-BD59-A6C34878D82A}">
                    <a16:rowId xmlns:a16="http://schemas.microsoft.com/office/drawing/2014/main" val="3897813241"/>
                  </a:ext>
                </a:extLst>
              </a:tr>
              <a:tr h="370840">
                <a:tc>
                  <a:txBody>
                    <a:bodyPr/>
                    <a:lstStyle/>
                    <a:p>
                      <a:r>
                        <a:rPr lang="en-US" dirty="0"/>
                        <a:t>Chip size [mm]</a:t>
                      </a:r>
                    </a:p>
                  </a:txBody>
                  <a:tcPr/>
                </a:tc>
                <a:tc>
                  <a:txBody>
                    <a:bodyPr/>
                    <a:lstStyle/>
                    <a:p>
                      <a:r>
                        <a:rPr lang="en-US" dirty="0"/>
                        <a:t>40.961 x 31.108</a:t>
                      </a:r>
                    </a:p>
                  </a:txBody>
                  <a:tcPr/>
                </a:tc>
                <a:tc>
                  <a:txBody>
                    <a:bodyPr/>
                    <a:lstStyle/>
                    <a:p>
                      <a:r>
                        <a:rPr lang="en-US" dirty="0"/>
                        <a:t>27.780 x 22.302</a:t>
                      </a:r>
                    </a:p>
                  </a:txBody>
                  <a:tcPr/>
                </a:tc>
                <a:extLst>
                  <a:ext uri="{0D108BD9-81ED-4DB2-BD59-A6C34878D82A}">
                    <a16:rowId xmlns:a16="http://schemas.microsoft.com/office/drawing/2014/main" val="3279181791"/>
                  </a:ext>
                </a:extLst>
              </a:tr>
              <a:tr h="370840">
                <a:tc>
                  <a:txBody>
                    <a:bodyPr/>
                    <a:lstStyle/>
                    <a:p>
                      <a:r>
                        <a:rPr lang="en-US" dirty="0"/>
                        <a:t>Unit cell size [</a:t>
                      </a:r>
                      <a:r>
                        <a:rPr lang="el-GR" dirty="0"/>
                        <a:t>μ</a:t>
                      </a:r>
                      <a:r>
                        <a:rPr lang="en-US" dirty="0"/>
                        <a:t>m]</a:t>
                      </a:r>
                    </a:p>
                  </a:txBody>
                  <a:tcPr/>
                </a:tc>
                <a:tc>
                  <a:txBody>
                    <a:bodyPr/>
                    <a:lstStyle/>
                    <a:p>
                      <a:r>
                        <a:rPr lang="en-US" dirty="0"/>
                        <a:t>3.76 x 3.76</a:t>
                      </a:r>
                    </a:p>
                  </a:txBody>
                  <a:tcPr/>
                </a:tc>
                <a:tc>
                  <a:txBody>
                    <a:bodyPr/>
                    <a:lstStyle/>
                    <a:p>
                      <a:r>
                        <a:rPr lang="en-US" dirty="0"/>
                        <a:t>(same)</a:t>
                      </a:r>
                    </a:p>
                  </a:txBody>
                  <a:tcPr/>
                </a:tc>
                <a:extLst>
                  <a:ext uri="{0D108BD9-81ED-4DB2-BD59-A6C34878D82A}">
                    <a16:rowId xmlns:a16="http://schemas.microsoft.com/office/drawing/2014/main" val="3883204078"/>
                  </a:ext>
                </a:extLst>
              </a:tr>
              <a:tr h="370840">
                <a:tc>
                  <a:txBody>
                    <a:bodyPr/>
                    <a:lstStyle/>
                    <a:p>
                      <a:r>
                        <a:rPr lang="en-US" dirty="0"/>
                        <a:t>Optical black</a:t>
                      </a:r>
                    </a:p>
                  </a:txBody>
                  <a:tcPr/>
                </a:tc>
                <a:tc>
                  <a:txBody>
                    <a:bodyPr/>
                    <a:lstStyle/>
                    <a:p>
                      <a:r>
                        <a:rPr lang="en-US" dirty="0"/>
                        <a:t>H: Front 16 px, Rear 0 px;</a:t>
                      </a:r>
                    </a:p>
                    <a:p>
                      <a:r>
                        <a:rPr lang="en-US" dirty="0"/>
                        <a:t>V: Front 22 px, Rear 0 px</a:t>
                      </a:r>
                    </a:p>
                  </a:txBody>
                  <a:tcPr/>
                </a:tc>
                <a:tc>
                  <a:txBody>
                    <a:bodyPr/>
                    <a:lstStyle/>
                    <a:p>
                      <a:r>
                        <a:rPr lang="en-US" dirty="0"/>
                        <a:t>(same)</a:t>
                      </a:r>
                    </a:p>
                  </a:txBody>
                  <a:tcPr/>
                </a:tc>
                <a:extLst>
                  <a:ext uri="{0D108BD9-81ED-4DB2-BD59-A6C34878D82A}">
                    <a16:rowId xmlns:a16="http://schemas.microsoft.com/office/drawing/2014/main" val="754779224"/>
                  </a:ext>
                </a:extLst>
              </a:tr>
            </a:tbl>
          </a:graphicData>
        </a:graphic>
      </p:graphicFrame>
    </p:spTree>
    <p:extLst>
      <p:ext uri="{BB962C8B-B14F-4D97-AF65-F5344CB8AC3E}">
        <p14:creationId xmlns:p14="http://schemas.microsoft.com/office/powerpoint/2010/main" val="400533787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72E15-B29E-2BD3-97C7-CEA2B6343F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0BA3AC-3D94-198C-F5F5-799389CAC500}"/>
              </a:ext>
            </a:extLst>
          </p:cNvPr>
          <p:cNvSpPr>
            <a:spLocks noGrp="1"/>
          </p:cNvSpPr>
          <p:nvPr>
            <p:ph type="ctrTitle"/>
          </p:nvPr>
        </p:nvSpPr>
        <p:spPr/>
        <p:txBody>
          <a:bodyPr/>
          <a:lstStyle/>
          <a:p>
            <a:r>
              <a:rPr lang="en-US" sz="3600" dirty="0"/>
              <a:t>Angles for </a:t>
            </a:r>
            <a:r>
              <a:rPr lang="en-US" sz="3600" dirty="0" err="1"/>
              <a:t>Blacklab</a:t>
            </a:r>
            <a:br>
              <a:rPr lang="en-US" sz="3600" dirty="0"/>
            </a:br>
            <a:r>
              <a:rPr lang="en-US" sz="2400" dirty="0">
                <a:solidFill>
                  <a:schemeClr val="bg2"/>
                </a:solidFill>
              </a:rPr>
              <a:t>[tradeoff between resolution and measurement time]</a:t>
            </a:r>
          </a:p>
        </p:txBody>
      </p:sp>
      <p:sp>
        <p:nvSpPr>
          <p:cNvPr id="3" name="Subtitle 2">
            <a:extLst>
              <a:ext uri="{FF2B5EF4-FFF2-40B4-BE49-F238E27FC236}">
                <a16:creationId xmlns:a16="http://schemas.microsoft.com/office/drawing/2014/main" id="{CDF3CCA6-CACB-58F6-2C1E-147F02D2A0C7}"/>
              </a:ext>
            </a:extLst>
          </p:cNvPr>
          <p:cNvSpPr>
            <a:spLocks noGrp="1"/>
          </p:cNvSpPr>
          <p:nvPr>
            <p:ph type="subTitle" idx="1"/>
          </p:nvPr>
        </p:nvSpPr>
        <p:spPr/>
        <p:txBody>
          <a:bodyPr>
            <a:normAutofit/>
          </a:bodyPr>
          <a:lstStyle/>
          <a:p>
            <a:endParaRPr lang="en-US" dirty="0"/>
          </a:p>
          <a:p>
            <a:r>
              <a:rPr lang="en-US" dirty="0"/>
              <a:t>2026/05/20</a:t>
            </a:r>
          </a:p>
        </p:txBody>
      </p:sp>
    </p:spTree>
    <p:extLst>
      <p:ext uri="{BB962C8B-B14F-4D97-AF65-F5344CB8AC3E}">
        <p14:creationId xmlns:p14="http://schemas.microsoft.com/office/powerpoint/2010/main" val="1003087513"/>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A9E92-AA74-3F40-736E-2B87737C65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39EF50-B409-5C6E-3898-6DB8448D344E}"/>
              </a:ext>
            </a:extLst>
          </p:cNvPr>
          <p:cNvSpPr>
            <a:spLocks noGrp="1"/>
          </p:cNvSpPr>
          <p:nvPr>
            <p:ph type="title"/>
          </p:nvPr>
        </p:nvSpPr>
        <p:spPr/>
        <p:txBody>
          <a:bodyPr/>
          <a:lstStyle/>
          <a:p>
            <a:r>
              <a:rPr lang="en-US" dirty="0"/>
              <a:t>Available filters</a:t>
            </a:r>
          </a:p>
        </p:txBody>
      </p:sp>
      <p:sp>
        <p:nvSpPr>
          <p:cNvPr id="3" name="Text Placeholder 2">
            <a:extLst>
              <a:ext uri="{FF2B5EF4-FFF2-40B4-BE49-F238E27FC236}">
                <a16:creationId xmlns:a16="http://schemas.microsoft.com/office/drawing/2014/main" id="{124DABDB-F616-8007-2FBD-094972CEBBB6}"/>
              </a:ext>
            </a:extLst>
          </p:cNvPr>
          <p:cNvSpPr>
            <a:spLocks noGrp="1"/>
          </p:cNvSpPr>
          <p:nvPr>
            <p:ph type="body" idx="1"/>
          </p:nvPr>
        </p:nvSpPr>
        <p:spPr>
          <a:xfrm>
            <a:off x="609600" y="1752601"/>
            <a:ext cx="5715000" cy="4373563"/>
          </a:xfrm>
        </p:spPr>
        <p:txBody>
          <a:bodyPr>
            <a:normAutofit/>
          </a:bodyPr>
          <a:lstStyle/>
          <a:p>
            <a:r>
              <a:rPr lang="en-US" sz="1600" b="0" dirty="0"/>
              <a:t>From “Blacklab_RSG_BRF_facility_overview_v4.pdf”</a:t>
            </a:r>
          </a:p>
        </p:txBody>
      </p:sp>
      <p:pic>
        <p:nvPicPr>
          <p:cNvPr id="5" name="Picture 4">
            <a:extLst>
              <a:ext uri="{FF2B5EF4-FFF2-40B4-BE49-F238E27FC236}">
                <a16:creationId xmlns:a16="http://schemas.microsoft.com/office/drawing/2014/main" id="{1C9AA2AD-BF78-AA66-0A20-CD32D1FBB2CD}"/>
              </a:ext>
            </a:extLst>
          </p:cNvPr>
          <p:cNvPicPr>
            <a:picLocks noChangeAspect="1"/>
          </p:cNvPicPr>
          <p:nvPr/>
        </p:nvPicPr>
        <p:blipFill>
          <a:blip r:embed="rId2"/>
          <a:stretch>
            <a:fillRect/>
          </a:stretch>
        </p:blipFill>
        <p:spPr>
          <a:xfrm>
            <a:off x="6384502" y="1071908"/>
            <a:ext cx="4892464" cy="5464013"/>
          </a:xfrm>
          <a:prstGeom prst="rect">
            <a:avLst/>
          </a:prstGeom>
        </p:spPr>
      </p:pic>
    </p:spTree>
    <p:extLst>
      <p:ext uri="{BB962C8B-B14F-4D97-AF65-F5344CB8AC3E}">
        <p14:creationId xmlns:p14="http://schemas.microsoft.com/office/powerpoint/2010/main" val="79793444"/>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68033-3A99-C482-4A5E-01BAC3F0C6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3E57BC-71FA-5C43-AC28-6682AD1638FE}"/>
              </a:ext>
            </a:extLst>
          </p:cNvPr>
          <p:cNvSpPr>
            <a:spLocks noGrp="1"/>
          </p:cNvSpPr>
          <p:nvPr>
            <p:ph type="ctrTitle"/>
          </p:nvPr>
        </p:nvSpPr>
        <p:spPr/>
        <p:txBody>
          <a:bodyPr/>
          <a:lstStyle/>
          <a:p>
            <a:r>
              <a:rPr lang="en-US" sz="3600" dirty="0"/>
              <a:t>SPEOS format</a:t>
            </a:r>
            <a:endParaRPr lang="en-US" sz="3600" dirty="0">
              <a:solidFill>
                <a:schemeClr val="bg2"/>
              </a:solidFill>
            </a:endParaRPr>
          </a:p>
        </p:txBody>
      </p:sp>
      <p:sp>
        <p:nvSpPr>
          <p:cNvPr id="3" name="Subtitle 2">
            <a:extLst>
              <a:ext uri="{FF2B5EF4-FFF2-40B4-BE49-F238E27FC236}">
                <a16:creationId xmlns:a16="http://schemas.microsoft.com/office/drawing/2014/main" id="{00FA4842-0E2E-1C11-2944-E145EE8C2947}"/>
              </a:ext>
            </a:extLst>
          </p:cNvPr>
          <p:cNvSpPr>
            <a:spLocks noGrp="1"/>
          </p:cNvSpPr>
          <p:nvPr>
            <p:ph type="subTitle" idx="1"/>
          </p:nvPr>
        </p:nvSpPr>
        <p:spPr/>
        <p:txBody>
          <a:bodyPr>
            <a:normAutofit/>
          </a:bodyPr>
          <a:lstStyle/>
          <a:p>
            <a:endParaRPr lang="en-US" dirty="0"/>
          </a:p>
          <a:p>
            <a:r>
              <a:rPr lang="en-US" dirty="0"/>
              <a:t>2026/05/21 – 05/30</a:t>
            </a:r>
          </a:p>
        </p:txBody>
      </p:sp>
    </p:spTree>
    <p:extLst>
      <p:ext uri="{BB962C8B-B14F-4D97-AF65-F5344CB8AC3E}">
        <p14:creationId xmlns:p14="http://schemas.microsoft.com/office/powerpoint/2010/main" val="375853303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E8A5B-ACAC-BCFF-E8EA-9ACBF20C09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C53EA3-A413-63C3-9794-A695209DF8CD}"/>
              </a:ext>
            </a:extLst>
          </p:cNvPr>
          <p:cNvSpPr>
            <a:spLocks noGrp="1"/>
          </p:cNvSpPr>
          <p:nvPr>
            <p:ph type="title"/>
          </p:nvPr>
        </p:nvSpPr>
        <p:spPr>
          <a:xfrm>
            <a:off x="609599" y="152718"/>
            <a:ext cx="9011323" cy="640080"/>
          </a:xfrm>
        </p:spPr>
        <p:txBody>
          <a:bodyPr/>
          <a:lstStyle/>
          <a:p>
            <a:r>
              <a:rPr lang="en-US" dirty="0"/>
              <a:t>Notes</a:t>
            </a:r>
          </a:p>
        </p:txBody>
      </p:sp>
      <p:sp>
        <p:nvSpPr>
          <p:cNvPr id="3" name="Text Placeholder 2">
            <a:extLst>
              <a:ext uri="{FF2B5EF4-FFF2-40B4-BE49-F238E27FC236}">
                <a16:creationId xmlns:a16="http://schemas.microsoft.com/office/drawing/2014/main" id="{9A4D27B5-E4D6-658A-BF97-E9B19DE26846}"/>
              </a:ext>
            </a:extLst>
          </p:cNvPr>
          <p:cNvSpPr>
            <a:spLocks noGrp="1"/>
          </p:cNvSpPr>
          <p:nvPr>
            <p:ph type="body" idx="1"/>
          </p:nvPr>
        </p:nvSpPr>
        <p:spPr>
          <a:xfrm>
            <a:off x="609600" y="1024128"/>
            <a:ext cx="10160000" cy="5833872"/>
          </a:xfrm>
        </p:spPr>
        <p:txBody>
          <a:bodyPr>
            <a:normAutofit fontScale="92500" lnSpcReduction="20000"/>
          </a:bodyPr>
          <a:lstStyle/>
          <a:p>
            <a:r>
              <a:rPr lang="en-US" sz="2000" b="0" dirty="0">
                <a:hlinkClick r:id="rId2"/>
              </a:rPr>
              <a:t>https://optics.ansys.com/hc/en-us/articles/18384793374227-Speos-BRDF-BTDF-and-BSDF-Formats</a:t>
            </a:r>
            <a:endParaRPr lang="en-US" sz="2000" b="0" dirty="0"/>
          </a:p>
          <a:p>
            <a:r>
              <a:rPr lang="en-US" sz="2000" b="0" dirty="0">
                <a:hlinkClick r:id="rId3"/>
              </a:rPr>
              <a:t>https://optics.ansys.com/hc/en-us/articles/35901706416019-Speos-Scattering-Surface-Format</a:t>
            </a:r>
            <a:endParaRPr lang="en-US" sz="2000" b="0" dirty="0"/>
          </a:p>
          <a:p>
            <a:endParaRPr lang="en-US" sz="2000" b="0" dirty="0"/>
          </a:p>
          <a:p>
            <a:r>
              <a:rPr lang="en-US" sz="2000" b="0" dirty="0"/>
              <a:t>For isotropic: *.</a:t>
            </a:r>
            <a:r>
              <a:rPr lang="en-US" sz="2000" b="0" dirty="0" err="1"/>
              <a:t>brdf</a:t>
            </a:r>
            <a:endParaRPr lang="en-US" sz="2000" b="0" dirty="0"/>
          </a:p>
          <a:p>
            <a:r>
              <a:rPr lang="en-US" sz="2000" b="0" dirty="0"/>
              <a:t>For anisotropic: *.</a:t>
            </a:r>
            <a:r>
              <a:rPr lang="en-US" sz="2000" b="0" dirty="0" err="1"/>
              <a:t>anisotropicbsdf</a:t>
            </a:r>
            <a:endParaRPr lang="en-US" sz="2000" b="0" dirty="0"/>
          </a:p>
          <a:p>
            <a:endParaRPr lang="en-US" sz="2000" b="0" dirty="0"/>
          </a:p>
          <a:p>
            <a:r>
              <a:rPr lang="en-US" sz="2000" b="0" dirty="0"/>
              <a:t>Python package for making files: </a:t>
            </a:r>
            <a:r>
              <a:rPr lang="en-US" sz="2000" b="0" dirty="0">
                <a:hlinkClick r:id="rId4"/>
              </a:rPr>
              <a:t>https://speos.docs.pyansys.com/version/stable/examples/core/bsdf.html</a:t>
            </a:r>
            <a:endParaRPr lang="en-US" sz="2000" b="0" dirty="0"/>
          </a:p>
          <a:p>
            <a:endParaRPr lang="en-US" sz="2000" b="0" dirty="0"/>
          </a:p>
          <a:p>
            <a:r>
              <a:rPr lang="en-US" sz="2000" b="0" dirty="0"/>
              <a:t>Other Python package for (</a:t>
            </a:r>
            <a:r>
              <a:rPr lang="en-US" sz="2000" b="0" dirty="0" err="1"/>
              <a:t>Zemax</a:t>
            </a:r>
            <a:r>
              <a:rPr lang="en-US" sz="2000" b="0" dirty="0"/>
              <a:t> </a:t>
            </a:r>
            <a:r>
              <a:rPr lang="en-US" sz="2000" b="0" dirty="0">
                <a:sym typeface="Wingdings" panose="05000000000000000000" pitchFamily="2" charset="2"/>
              </a:rPr>
              <a:t> SPEOS)</a:t>
            </a:r>
          </a:p>
          <a:p>
            <a:pPr lvl="1"/>
            <a:r>
              <a:rPr lang="en-US" sz="1600" dirty="0">
                <a:hlinkClick r:id="rId5"/>
              </a:rPr>
              <a:t>https://community.zemax.com/code-exchange-10/python-zemax-to-speos-bsdf-converter-version-in-progress-3760</a:t>
            </a:r>
            <a:endParaRPr lang="en-US" sz="1600" dirty="0"/>
          </a:p>
          <a:p>
            <a:pPr lvl="1"/>
            <a:r>
              <a:rPr lang="en-US" sz="1600" dirty="0"/>
              <a:t>https://github.com/ansys/optical-automation/blob/main/ansys_optical_automation/application/BSDF_converter_example.py</a:t>
            </a:r>
            <a:endParaRPr lang="en-US" sz="1600" b="0" dirty="0"/>
          </a:p>
          <a:p>
            <a:endParaRPr lang="en-US" sz="2000" b="0" dirty="0"/>
          </a:p>
          <a:p>
            <a:r>
              <a:rPr lang="en-US" sz="2000" b="0" dirty="0" err="1"/>
              <a:t>Zemax</a:t>
            </a:r>
            <a:r>
              <a:rPr lang="en-US" sz="2000" b="0" dirty="0"/>
              <a:t> has export option that should convert everything (including BRDF data files) to SPEOS format</a:t>
            </a:r>
          </a:p>
          <a:p>
            <a:pPr lvl="1"/>
            <a:r>
              <a:rPr lang="en-US" sz="1600" dirty="0"/>
              <a:t>[I TRIED… IT DID NOT SEEM TO GENERATE NEW BRDF FILE]</a:t>
            </a:r>
            <a:endParaRPr lang="en-US" sz="1600" b="0" dirty="0"/>
          </a:p>
        </p:txBody>
      </p:sp>
    </p:spTree>
    <p:extLst>
      <p:ext uri="{BB962C8B-B14F-4D97-AF65-F5344CB8AC3E}">
        <p14:creationId xmlns:p14="http://schemas.microsoft.com/office/powerpoint/2010/main" val="352557270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30BC8-8F8C-007A-BA11-0F47BF0EAD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BB03E8-B39C-8440-755E-D44DD1C74C1F}"/>
              </a:ext>
            </a:extLst>
          </p:cNvPr>
          <p:cNvSpPr>
            <a:spLocks noGrp="1"/>
          </p:cNvSpPr>
          <p:nvPr>
            <p:ph type="title"/>
          </p:nvPr>
        </p:nvSpPr>
        <p:spPr>
          <a:xfrm>
            <a:off x="609599" y="152718"/>
            <a:ext cx="9011323" cy="640080"/>
          </a:xfrm>
        </p:spPr>
        <p:txBody>
          <a:bodyPr/>
          <a:lstStyle/>
          <a:p>
            <a:r>
              <a:rPr lang="en-US" dirty="0"/>
              <a:t>Dev</a:t>
            </a:r>
          </a:p>
        </p:txBody>
      </p:sp>
      <p:sp>
        <p:nvSpPr>
          <p:cNvPr id="3" name="Text Placeholder 2">
            <a:extLst>
              <a:ext uri="{FF2B5EF4-FFF2-40B4-BE49-F238E27FC236}">
                <a16:creationId xmlns:a16="http://schemas.microsoft.com/office/drawing/2014/main" id="{4F9BB7DA-3CF8-DCAB-D300-7C80EACDE0E7}"/>
              </a:ext>
            </a:extLst>
          </p:cNvPr>
          <p:cNvSpPr>
            <a:spLocks noGrp="1"/>
          </p:cNvSpPr>
          <p:nvPr>
            <p:ph type="body" idx="1"/>
          </p:nvPr>
        </p:nvSpPr>
        <p:spPr>
          <a:xfrm>
            <a:off x="609600" y="1024128"/>
            <a:ext cx="10160000" cy="5833872"/>
          </a:xfrm>
        </p:spPr>
        <p:txBody>
          <a:bodyPr>
            <a:normAutofit/>
          </a:bodyPr>
          <a:lstStyle/>
          <a:p>
            <a:r>
              <a:rPr lang="en-US" sz="1600" b="0" dirty="0"/>
              <a:t>File example:</a:t>
            </a:r>
          </a:p>
          <a:p>
            <a:pPr lvl="1"/>
            <a:r>
              <a:rPr lang="en-US" sz="1200" dirty="0"/>
              <a:t>See 'Associated Files' of: https://optics.ansys.com/hc/en-us/articles/18384793374227-Speos-BRDF-BTDF-and-BSDF-Formats</a:t>
            </a:r>
            <a:endParaRPr lang="en-US" sz="1200" b="0" dirty="0"/>
          </a:p>
        </p:txBody>
      </p:sp>
      <p:pic>
        <p:nvPicPr>
          <p:cNvPr id="5" name="Picture 4">
            <a:extLst>
              <a:ext uri="{FF2B5EF4-FFF2-40B4-BE49-F238E27FC236}">
                <a16:creationId xmlns:a16="http://schemas.microsoft.com/office/drawing/2014/main" id="{F67827B4-9395-F9E1-B648-13399C5E1144}"/>
              </a:ext>
            </a:extLst>
          </p:cNvPr>
          <p:cNvPicPr>
            <a:picLocks noChangeAspect="1"/>
          </p:cNvPicPr>
          <p:nvPr/>
        </p:nvPicPr>
        <p:blipFill>
          <a:blip r:embed="rId2"/>
          <a:stretch>
            <a:fillRect/>
          </a:stretch>
        </p:blipFill>
        <p:spPr>
          <a:xfrm>
            <a:off x="1161134" y="1950574"/>
            <a:ext cx="5281999" cy="4754708"/>
          </a:xfrm>
          <a:prstGeom prst="rect">
            <a:avLst/>
          </a:prstGeom>
        </p:spPr>
      </p:pic>
      <p:sp>
        <p:nvSpPr>
          <p:cNvPr id="6" name="Right Bracket 5">
            <a:extLst>
              <a:ext uri="{FF2B5EF4-FFF2-40B4-BE49-F238E27FC236}">
                <a16:creationId xmlns:a16="http://schemas.microsoft.com/office/drawing/2014/main" id="{481C8F20-13F7-3428-CF37-24712E36256A}"/>
              </a:ext>
            </a:extLst>
          </p:cNvPr>
          <p:cNvSpPr/>
          <p:nvPr/>
        </p:nvSpPr>
        <p:spPr>
          <a:xfrm>
            <a:off x="6654800" y="2506133"/>
            <a:ext cx="465667" cy="575734"/>
          </a:xfrm>
          <a:prstGeom prst="rightBracket">
            <a:avLst>
              <a:gd name="adj" fmla="val 33788"/>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ight Bracket 7">
            <a:extLst>
              <a:ext uri="{FF2B5EF4-FFF2-40B4-BE49-F238E27FC236}">
                <a16:creationId xmlns:a16="http://schemas.microsoft.com/office/drawing/2014/main" id="{43C94698-4472-AFBD-4597-77AF876688A1}"/>
              </a:ext>
            </a:extLst>
          </p:cNvPr>
          <p:cNvSpPr/>
          <p:nvPr/>
        </p:nvSpPr>
        <p:spPr>
          <a:xfrm>
            <a:off x="6654800" y="3379662"/>
            <a:ext cx="465667" cy="1336272"/>
          </a:xfrm>
          <a:prstGeom prst="rightBracket">
            <a:avLst>
              <a:gd name="adj" fmla="val 33788"/>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Right Bracket 8">
            <a:extLst>
              <a:ext uri="{FF2B5EF4-FFF2-40B4-BE49-F238E27FC236}">
                <a16:creationId xmlns:a16="http://schemas.microsoft.com/office/drawing/2014/main" id="{23A3D036-2729-0A25-B909-EF7E3603CF6A}"/>
              </a:ext>
            </a:extLst>
          </p:cNvPr>
          <p:cNvSpPr/>
          <p:nvPr/>
        </p:nvSpPr>
        <p:spPr>
          <a:xfrm>
            <a:off x="6654800" y="2040466"/>
            <a:ext cx="465667" cy="316769"/>
          </a:xfrm>
          <a:prstGeom prst="rightBracket">
            <a:avLst>
              <a:gd name="adj" fmla="val 33788"/>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ight Bracket 9">
            <a:extLst>
              <a:ext uri="{FF2B5EF4-FFF2-40B4-BE49-F238E27FC236}">
                <a16:creationId xmlns:a16="http://schemas.microsoft.com/office/drawing/2014/main" id="{18EB0878-2870-2831-9470-0B10FEFFB654}"/>
              </a:ext>
            </a:extLst>
          </p:cNvPr>
          <p:cNvSpPr/>
          <p:nvPr/>
        </p:nvSpPr>
        <p:spPr>
          <a:xfrm>
            <a:off x="6654800" y="5165736"/>
            <a:ext cx="465667" cy="1539546"/>
          </a:xfrm>
          <a:prstGeom prst="rightBracket">
            <a:avLst>
              <a:gd name="adj" fmla="val 33788"/>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8FF2AD0B-CAF5-A46A-FEEB-8BBE8DCCDCEB}"/>
              </a:ext>
            </a:extLst>
          </p:cNvPr>
          <p:cNvSpPr txBox="1"/>
          <p:nvPr/>
        </p:nvSpPr>
        <p:spPr>
          <a:xfrm>
            <a:off x="7205133" y="2040466"/>
            <a:ext cx="3564467" cy="307777"/>
          </a:xfrm>
          <a:prstGeom prst="rect">
            <a:avLst/>
          </a:prstGeom>
          <a:noFill/>
        </p:spPr>
        <p:txBody>
          <a:bodyPr wrap="square" rtlCol="0">
            <a:spAutoFit/>
          </a:bodyPr>
          <a:lstStyle/>
          <a:p>
            <a:r>
              <a:rPr lang="en-US" dirty="0"/>
              <a:t>Seems to be title and 0 (for non-binary file)</a:t>
            </a:r>
          </a:p>
        </p:txBody>
      </p:sp>
      <p:sp>
        <p:nvSpPr>
          <p:cNvPr id="12" name="TextBox 11">
            <a:extLst>
              <a:ext uri="{FF2B5EF4-FFF2-40B4-BE49-F238E27FC236}">
                <a16:creationId xmlns:a16="http://schemas.microsoft.com/office/drawing/2014/main" id="{4F89AE2A-DF04-31B2-8DDF-BA57DA751EE0}"/>
              </a:ext>
            </a:extLst>
          </p:cNvPr>
          <p:cNvSpPr txBox="1"/>
          <p:nvPr/>
        </p:nvSpPr>
        <p:spPr>
          <a:xfrm>
            <a:off x="7205133" y="2640111"/>
            <a:ext cx="3564467" cy="523220"/>
          </a:xfrm>
          <a:prstGeom prst="rect">
            <a:avLst/>
          </a:prstGeom>
          <a:noFill/>
        </p:spPr>
        <p:txBody>
          <a:bodyPr wrap="square" rtlCol="0">
            <a:spAutoFit/>
          </a:bodyPr>
          <a:lstStyle/>
          <a:p>
            <a:r>
              <a:rPr lang="en-US" dirty="0"/>
              <a:t>Seems to be arbitrary comment of however many lines</a:t>
            </a:r>
          </a:p>
        </p:txBody>
      </p:sp>
      <p:sp>
        <p:nvSpPr>
          <p:cNvPr id="13" name="TextBox 12">
            <a:extLst>
              <a:ext uri="{FF2B5EF4-FFF2-40B4-BE49-F238E27FC236}">
                <a16:creationId xmlns:a16="http://schemas.microsoft.com/office/drawing/2014/main" id="{A8AF919E-123F-4E5B-C72F-FC9513C06ED2}"/>
              </a:ext>
            </a:extLst>
          </p:cNvPr>
          <p:cNvSpPr txBox="1"/>
          <p:nvPr/>
        </p:nvSpPr>
        <p:spPr>
          <a:xfrm>
            <a:off x="7205133" y="3786188"/>
            <a:ext cx="3361267" cy="523220"/>
          </a:xfrm>
          <a:prstGeom prst="rect">
            <a:avLst/>
          </a:prstGeom>
          <a:noFill/>
        </p:spPr>
        <p:txBody>
          <a:bodyPr wrap="square" rtlCol="0">
            <a:spAutoFit/>
          </a:bodyPr>
          <a:lstStyle/>
          <a:p>
            <a:r>
              <a:rPr lang="en-US" dirty="0"/>
              <a:t>Seems to be marker ending the “comment” header</a:t>
            </a:r>
          </a:p>
        </p:txBody>
      </p:sp>
      <p:sp>
        <p:nvSpPr>
          <p:cNvPr id="14" name="TextBox 13">
            <a:extLst>
              <a:ext uri="{FF2B5EF4-FFF2-40B4-BE49-F238E27FC236}">
                <a16:creationId xmlns:a16="http://schemas.microsoft.com/office/drawing/2014/main" id="{D7A9522F-33C2-6CDD-2520-82EE90D07AB9}"/>
              </a:ext>
            </a:extLst>
          </p:cNvPr>
          <p:cNvSpPr txBox="1"/>
          <p:nvPr/>
        </p:nvSpPr>
        <p:spPr>
          <a:xfrm>
            <a:off x="7264400" y="5673899"/>
            <a:ext cx="3361267" cy="307777"/>
          </a:xfrm>
          <a:prstGeom prst="rect">
            <a:avLst/>
          </a:prstGeom>
          <a:noFill/>
        </p:spPr>
        <p:txBody>
          <a:bodyPr wrap="square" rtlCol="0">
            <a:spAutoFit/>
          </a:bodyPr>
          <a:lstStyle/>
          <a:p>
            <a:r>
              <a:rPr lang="en-US" dirty="0"/>
              <a:t>data</a:t>
            </a:r>
          </a:p>
        </p:txBody>
      </p:sp>
    </p:spTree>
    <p:extLst>
      <p:ext uri="{BB962C8B-B14F-4D97-AF65-F5344CB8AC3E}">
        <p14:creationId xmlns:p14="http://schemas.microsoft.com/office/powerpoint/2010/main" val="396244829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61857-235E-892B-264F-7761C19F51E9}"/>
              </a:ext>
            </a:extLst>
          </p:cNvPr>
          <p:cNvSpPr>
            <a:spLocks noGrp="1"/>
          </p:cNvSpPr>
          <p:nvPr>
            <p:ph type="title"/>
          </p:nvPr>
        </p:nvSpPr>
        <p:spPr/>
        <p:txBody>
          <a:bodyPr/>
          <a:lstStyle/>
          <a:p>
            <a:r>
              <a:rPr lang="en-US" dirty="0"/>
              <a:t>USE PYTHON PACKAGE</a:t>
            </a:r>
          </a:p>
        </p:txBody>
      </p:sp>
      <p:sp>
        <p:nvSpPr>
          <p:cNvPr id="3" name="Text Placeholder 2">
            <a:extLst>
              <a:ext uri="{FF2B5EF4-FFF2-40B4-BE49-F238E27FC236}">
                <a16:creationId xmlns:a16="http://schemas.microsoft.com/office/drawing/2014/main" id="{FE726344-0234-5371-12A1-9E866833D105}"/>
              </a:ext>
            </a:extLst>
          </p:cNvPr>
          <p:cNvSpPr>
            <a:spLocks noGrp="1"/>
          </p:cNvSpPr>
          <p:nvPr>
            <p:ph type="body" idx="1"/>
          </p:nvPr>
        </p:nvSpPr>
        <p:spPr/>
        <p:txBody>
          <a:bodyPr>
            <a:normAutofit/>
          </a:bodyPr>
          <a:lstStyle/>
          <a:p>
            <a:r>
              <a:rPr lang="en-US" sz="2000" b="0" dirty="0"/>
              <a:t>Initial attempt in MATLAB proved too difficult / cumbersome</a:t>
            </a:r>
          </a:p>
          <a:p>
            <a:r>
              <a:rPr lang="en-US" sz="2000" b="0" dirty="0"/>
              <a:t>See Python example:</a:t>
            </a:r>
          </a:p>
          <a:p>
            <a:pPr lvl="1"/>
            <a:r>
              <a:rPr lang="en-US" sz="1600" dirty="0">
                <a:hlinkClick r:id="rId2"/>
              </a:rPr>
              <a:t>https://github.com/ansys/optical-automation/blob/main/ansys_optical_automation/application/BSDF_converter_example.py</a:t>
            </a:r>
            <a:endParaRPr lang="en-US" sz="1600" dirty="0"/>
          </a:p>
          <a:p>
            <a:pPr lvl="1"/>
            <a:endParaRPr lang="en-US" sz="1600" b="0" dirty="0"/>
          </a:p>
          <a:p>
            <a:r>
              <a:rPr lang="en-US" sz="2000" b="0" dirty="0"/>
              <a:t>My MATLAB dev was with goal of FRED </a:t>
            </a:r>
            <a:r>
              <a:rPr lang="en-US" sz="2000" b="0" dirty="0">
                <a:sym typeface="Wingdings" panose="05000000000000000000" pitchFamily="2" charset="2"/>
              </a:rPr>
              <a:t> SPEOS</a:t>
            </a:r>
          </a:p>
          <a:p>
            <a:r>
              <a:rPr lang="en-US" sz="2000" b="0" dirty="0">
                <a:sym typeface="Wingdings" panose="05000000000000000000" pitchFamily="2" charset="2"/>
              </a:rPr>
              <a:t>Python function is </a:t>
            </a:r>
            <a:r>
              <a:rPr lang="en-US" sz="2000" b="0" dirty="0" err="1">
                <a:sym typeface="Wingdings" panose="05000000000000000000" pitchFamily="2" charset="2"/>
              </a:rPr>
              <a:t>Zemax</a:t>
            </a:r>
            <a:r>
              <a:rPr lang="en-US" sz="2000" b="0" dirty="0">
                <a:sym typeface="Wingdings" panose="05000000000000000000" pitchFamily="2" charset="2"/>
              </a:rPr>
              <a:t>  SPEOS</a:t>
            </a:r>
          </a:p>
          <a:p>
            <a:endParaRPr lang="en-US" sz="2000" b="0" dirty="0">
              <a:sym typeface="Wingdings" panose="05000000000000000000" pitchFamily="2" charset="2"/>
            </a:endParaRPr>
          </a:p>
          <a:p>
            <a:r>
              <a:rPr lang="en-US" sz="2000" b="0" dirty="0">
                <a:highlight>
                  <a:srgbClr val="FFFF00"/>
                </a:highlight>
                <a:sym typeface="Wingdings" panose="05000000000000000000" pitchFamily="2" charset="2"/>
              </a:rPr>
              <a:t>So, workflow for SPEOS will be RT-300S  FRED  </a:t>
            </a:r>
            <a:r>
              <a:rPr lang="en-US" sz="2000" b="0" dirty="0" err="1">
                <a:highlight>
                  <a:srgbClr val="FFFF00"/>
                </a:highlight>
                <a:sym typeface="Wingdings" panose="05000000000000000000" pitchFamily="2" charset="2"/>
              </a:rPr>
              <a:t>Zemax</a:t>
            </a:r>
            <a:r>
              <a:rPr lang="en-US" sz="2000" b="0" dirty="0">
                <a:highlight>
                  <a:srgbClr val="FFFF00"/>
                </a:highlight>
                <a:sym typeface="Wingdings" panose="05000000000000000000" pitchFamily="2" charset="2"/>
              </a:rPr>
              <a:t>  SPEOS</a:t>
            </a:r>
          </a:p>
          <a:p>
            <a:r>
              <a:rPr lang="en-US" sz="2000" b="0" dirty="0">
                <a:highlight>
                  <a:srgbClr val="FFFF00"/>
                </a:highlight>
                <a:sym typeface="Wingdings" panose="05000000000000000000" pitchFamily="2" charset="2"/>
              </a:rPr>
              <a:t>Note SPEOS supports multiple wavelengths, but FRED uses one file per wavelength</a:t>
            </a:r>
            <a:endParaRPr lang="en-US" sz="2000" b="0" dirty="0">
              <a:highlight>
                <a:srgbClr val="FFFF00"/>
              </a:highlight>
            </a:endParaRPr>
          </a:p>
        </p:txBody>
      </p:sp>
    </p:spTree>
    <p:extLst>
      <p:ext uri="{BB962C8B-B14F-4D97-AF65-F5344CB8AC3E}">
        <p14:creationId xmlns:p14="http://schemas.microsoft.com/office/powerpoint/2010/main" val="398445926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2CC7A-78B9-41E0-D99B-8D1E8EC507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3BB317-5BED-901F-6445-C72DEB4C4EC4}"/>
              </a:ext>
            </a:extLst>
          </p:cNvPr>
          <p:cNvSpPr>
            <a:spLocks noGrp="1"/>
          </p:cNvSpPr>
          <p:nvPr>
            <p:ph type="title"/>
          </p:nvPr>
        </p:nvSpPr>
        <p:spPr/>
        <p:txBody>
          <a:bodyPr/>
          <a:lstStyle/>
          <a:p>
            <a:r>
              <a:rPr lang="en-US" dirty="0"/>
              <a:t>Python package implemented</a:t>
            </a:r>
          </a:p>
        </p:txBody>
      </p:sp>
      <p:sp>
        <p:nvSpPr>
          <p:cNvPr id="3" name="Text Placeholder 2">
            <a:extLst>
              <a:ext uri="{FF2B5EF4-FFF2-40B4-BE49-F238E27FC236}">
                <a16:creationId xmlns:a16="http://schemas.microsoft.com/office/drawing/2014/main" id="{D1FF2B75-939A-E597-D0A4-9D98F954397B}"/>
              </a:ext>
            </a:extLst>
          </p:cNvPr>
          <p:cNvSpPr>
            <a:spLocks noGrp="1"/>
          </p:cNvSpPr>
          <p:nvPr>
            <p:ph type="body" idx="1"/>
          </p:nvPr>
        </p:nvSpPr>
        <p:spPr/>
        <p:txBody>
          <a:bodyPr>
            <a:normAutofit/>
          </a:bodyPr>
          <a:lstStyle/>
          <a:p>
            <a:r>
              <a:rPr lang="en-US" sz="2000" b="0" dirty="0"/>
              <a:t>Not yet independently verified, but ‘</a:t>
            </a:r>
            <a:r>
              <a:rPr lang="en-US" sz="2000" b="0" dirty="0" err="1"/>
              <a:t>bsdf</a:t>
            </a:r>
            <a:r>
              <a:rPr lang="en-US" sz="2000" b="0" dirty="0"/>
              <a:t>-tools’ implementation follows ANSYS example</a:t>
            </a:r>
          </a:p>
          <a:p>
            <a:r>
              <a:rPr lang="en-US" sz="2000" b="0" dirty="0"/>
              <a:t>All monochromatic BSDF files converted to SPEOS for v1.5.0 repo release</a:t>
            </a:r>
          </a:p>
          <a:p>
            <a:pPr lvl="1"/>
            <a:r>
              <a:rPr lang="en-US" sz="1600" dirty="0"/>
              <a:t>SPEOS supports multi wavelength, but I don’t yet have custom routine to load the multiple FRED files (one file for each wavelength) and combine in Python for single SPEOS file</a:t>
            </a:r>
            <a:endParaRPr lang="en-US" sz="1600" b="0" dirty="0"/>
          </a:p>
        </p:txBody>
      </p:sp>
    </p:spTree>
    <p:extLst>
      <p:ext uri="{BB962C8B-B14F-4D97-AF65-F5344CB8AC3E}">
        <p14:creationId xmlns:p14="http://schemas.microsoft.com/office/powerpoint/2010/main" val="1171915695"/>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E81F7-7013-BD33-4986-EA63F88134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539A30-C7A2-33BE-91B9-3990148EAFC0}"/>
              </a:ext>
            </a:extLst>
          </p:cNvPr>
          <p:cNvSpPr>
            <a:spLocks noGrp="1"/>
          </p:cNvSpPr>
          <p:nvPr>
            <p:ph type="ctrTitle"/>
          </p:nvPr>
        </p:nvSpPr>
        <p:spPr/>
        <p:txBody>
          <a:bodyPr/>
          <a:lstStyle/>
          <a:p>
            <a:r>
              <a:rPr lang="en-US" sz="3600" dirty="0"/>
              <a:t>Validation of </a:t>
            </a:r>
            <a:r>
              <a:rPr lang="en-US" sz="3600" dirty="0" err="1"/>
              <a:t>Zemax</a:t>
            </a:r>
            <a:r>
              <a:rPr lang="en-US" sz="3600" dirty="0"/>
              <a:t> to SPEOS conversion</a:t>
            </a:r>
            <a:endParaRPr lang="en-US" sz="3600" dirty="0">
              <a:solidFill>
                <a:schemeClr val="bg2"/>
              </a:solidFill>
            </a:endParaRPr>
          </a:p>
        </p:txBody>
      </p:sp>
      <p:sp>
        <p:nvSpPr>
          <p:cNvPr id="3" name="Subtitle 2">
            <a:extLst>
              <a:ext uri="{FF2B5EF4-FFF2-40B4-BE49-F238E27FC236}">
                <a16:creationId xmlns:a16="http://schemas.microsoft.com/office/drawing/2014/main" id="{E6336441-1F66-5722-9047-5F78D69F10CD}"/>
              </a:ext>
            </a:extLst>
          </p:cNvPr>
          <p:cNvSpPr>
            <a:spLocks noGrp="1"/>
          </p:cNvSpPr>
          <p:nvPr>
            <p:ph type="subTitle" idx="1"/>
          </p:nvPr>
        </p:nvSpPr>
        <p:spPr/>
        <p:txBody>
          <a:bodyPr>
            <a:normAutofit/>
          </a:bodyPr>
          <a:lstStyle/>
          <a:p>
            <a:endParaRPr lang="en-US" dirty="0"/>
          </a:p>
          <a:p>
            <a:r>
              <a:rPr lang="en-US" dirty="0"/>
              <a:t>2026/07/02</a:t>
            </a:r>
          </a:p>
        </p:txBody>
      </p:sp>
    </p:spTree>
    <p:extLst>
      <p:ext uri="{BB962C8B-B14F-4D97-AF65-F5344CB8AC3E}">
        <p14:creationId xmlns:p14="http://schemas.microsoft.com/office/powerpoint/2010/main" val="3163764825"/>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EAC54-A3E5-0D9E-E328-7336CA5A8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CA3F57-56CA-C58B-F721-8067F6FF4C9C}"/>
              </a:ext>
            </a:extLst>
          </p:cNvPr>
          <p:cNvSpPr>
            <a:spLocks noGrp="1"/>
          </p:cNvSpPr>
          <p:nvPr>
            <p:ph type="title"/>
          </p:nvPr>
        </p:nvSpPr>
        <p:spPr>
          <a:xfrm>
            <a:off x="609599" y="152718"/>
            <a:ext cx="9011323" cy="640080"/>
          </a:xfrm>
        </p:spPr>
        <p:txBody>
          <a:bodyPr/>
          <a:lstStyle/>
          <a:p>
            <a:r>
              <a:rPr lang="en-US" dirty="0"/>
              <a:t>Comparison</a:t>
            </a:r>
          </a:p>
        </p:txBody>
      </p:sp>
      <p:sp>
        <p:nvSpPr>
          <p:cNvPr id="3" name="Text Placeholder 2">
            <a:extLst>
              <a:ext uri="{FF2B5EF4-FFF2-40B4-BE49-F238E27FC236}">
                <a16:creationId xmlns:a16="http://schemas.microsoft.com/office/drawing/2014/main" id="{83748BA5-D5F8-BE41-3938-48809F246840}"/>
              </a:ext>
            </a:extLst>
          </p:cNvPr>
          <p:cNvSpPr>
            <a:spLocks noGrp="1"/>
          </p:cNvSpPr>
          <p:nvPr>
            <p:ph type="body" idx="1"/>
          </p:nvPr>
        </p:nvSpPr>
        <p:spPr>
          <a:xfrm>
            <a:off x="609600" y="1024128"/>
            <a:ext cx="10160000" cy="5833872"/>
          </a:xfrm>
        </p:spPr>
        <p:txBody>
          <a:bodyPr>
            <a:normAutofit/>
          </a:bodyPr>
          <a:lstStyle/>
          <a:p>
            <a:r>
              <a:rPr lang="en-US" sz="1600" b="0" dirty="0"/>
              <a:t>Casey ran simulation in SPEOS mimicking RT-300S, for AnoBlackEC1onAlum</a:t>
            </a:r>
          </a:p>
          <a:p>
            <a:r>
              <a:rPr lang="en-US" sz="1600" b="0" dirty="0"/>
              <a:t>BRDF ≈ [SPEOS output] / cos(AOI)</a:t>
            </a:r>
          </a:p>
        </p:txBody>
      </p:sp>
    </p:spTree>
    <p:extLst>
      <p:ext uri="{BB962C8B-B14F-4D97-AF65-F5344CB8AC3E}">
        <p14:creationId xmlns:p14="http://schemas.microsoft.com/office/powerpoint/2010/main" val="212567485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F8BB8-A947-5321-528B-6DD3A58E1D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31A757-2AB3-884D-B703-8BAEBF27F63B}"/>
              </a:ext>
            </a:extLst>
          </p:cNvPr>
          <p:cNvSpPr>
            <a:spLocks noGrp="1"/>
          </p:cNvSpPr>
          <p:nvPr>
            <p:ph type="title"/>
          </p:nvPr>
        </p:nvSpPr>
        <p:spPr>
          <a:xfrm>
            <a:off x="609599" y="152718"/>
            <a:ext cx="9011323" cy="640080"/>
          </a:xfrm>
        </p:spPr>
        <p:txBody>
          <a:bodyPr/>
          <a:lstStyle/>
          <a:p>
            <a:r>
              <a:rPr lang="en-US" dirty="0"/>
              <a:t>SPEOS simulation results</a:t>
            </a:r>
          </a:p>
        </p:txBody>
      </p:sp>
      <p:pic>
        <p:nvPicPr>
          <p:cNvPr id="5" name="Picture 4">
            <a:extLst>
              <a:ext uri="{FF2B5EF4-FFF2-40B4-BE49-F238E27FC236}">
                <a16:creationId xmlns:a16="http://schemas.microsoft.com/office/drawing/2014/main" id="{97EB8178-5936-5496-B39F-3BF8EA4EB4BF}"/>
              </a:ext>
            </a:extLst>
          </p:cNvPr>
          <p:cNvPicPr>
            <a:picLocks noChangeAspect="1"/>
          </p:cNvPicPr>
          <p:nvPr/>
        </p:nvPicPr>
        <p:blipFill>
          <a:blip r:embed="rId2"/>
          <a:srcRect/>
          <a:stretch/>
        </p:blipFill>
        <p:spPr>
          <a:xfrm>
            <a:off x="927959" y="832601"/>
            <a:ext cx="4780153" cy="2926080"/>
          </a:xfrm>
          <a:prstGeom prst="rect">
            <a:avLst/>
          </a:prstGeom>
        </p:spPr>
      </p:pic>
      <p:pic>
        <p:nvPicPr>
          <p:cNvPr id="7" name="Picture 6">
            <a:extLst>
              <a:ext uri="{FF2B5EF4-FFF2-40B4-BE49-F238E27FC236}">
                <a16:creationId xmlns:a16="http://schemas.microsoft.com/office/drawing/2014/main" id="{760DDD41-0424-EE5E-B162-B40F9C35EA8C}"/>
              </a:ext>
            </a:extLst>
          </p:cNvPr>
          <p:cNvPicPr>
            <a:picLocks noChangeAspect="1"/>
          </p:cNvPicPr>
          <p:nvPr/>
        </p:nvPicPr>
        <p:blipFill>
          <a:blip r:embed="rId3"/>
          <a:srcRect/>
          <a:stretch/>
        </p:blipFill>
        <p:spPr>
          <a:xfrm>
            <a:off x="6081960" y="832601"/>
            <a:ext cx="4780153" cy="2926080"/>
          </a:xfrm>
          <a:prstGeom prst="rect">
            <a:avLst/>
          </a:prstGeom>
        </p:spPr>
      </p:pic>
      <p:pic>
        <p:nvPicPr>
          <p:cNvPr id="9" name="Picture 8">
            <a:extLst>
              <a:ext uri="{FF2B5EF4-FFF2-40B4-BE49-F238E27FC236}">
                <a16:creationId xmlns:a16="http://schemas.microsoft.com/office/drawing/2014/main" id="{8E794B94-3D7A-9620-E79A-8B0293FAC4B4}"/>
              </a:ext>
            </a:extLst>
          </p:cNvPr>
          <p:cNvPicPr>
            <a:picLocks noChangeAspect="1"/>
          </p:cNvPicPr>
          <p:nvPr/>
        </p:nvPicPr>
        <p:blipFill>
          <a:blip r:embed="rId4"/>
          <a:srcRect/>
          <a:stretch/>
        </p:blipFill>
        <p:spPr>
          <a:xfrm>
            <a:off x="927959" y="3874346"/>
            <a:ext cx="4742004" cy="2926079"/>
          </a:xfrm>
          <a:prstGeom prst="rect">
            <a:avLst/>
          </a:prstGeom>
        </p:spPr>
      </p:pic>
      <p:pic>
        <p:nvPicPr>
          <p:cNvPr id="11" name="Picture 10">
            <a:extLst>
              <a:ext uri="{FF2B5EF4-FFF2-40B4-BE49-F238E27FC236}">
                <a16:creationId xmlns:a16="http://schemas.microsoft.com/office/drawing/2014/main" id="{64E300E0-B31E-8DFB-7F79-42DF9EE58240}"/>
              </a:ext>
            </a:extLst>
          </p:cNvPr>
          <p:cNvPicPr>
            <a:picLocks noChangeAspect="1"/>
          </p:cNvPicPr>
          <p:nvPr/>
        </p:nvPicPr>
        <p:blipFill>
          <a:blip r:embed="rId5"/>
          <a:srcRect/>
          <a:stretch/>
        </p:blipFill>
        <p:spPr>
          <a:xfrm>
            <a:off x="6081960" y="3874346"/>
            <a:ext cx="4703854" cy="2926080"/>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E3A0799-6045-6470-18A5-DA18C8210194}"/>
                  </a:ext>
                </a:extLst>
              </p:cNvPr>
              <p:cNvSpPr txBox="1"/>
              <p:nvPr/>
            </p:nvSpPr>
            <p:spPr>
              <a:xfrm>
                <a:off x="1405797" y="922328"/>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𝟏𝟎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2" name="TextBox 11">
                <a:extLst>
                  <a:ext uri="{FF2B5EF4-FFF2-40B4-BE49-F238E27FC236}">
                    <a16:creationId xmlns:a16="http://schemas.microsoft.com/office/drawing/2014/main" id="{2E3A0799-6045-6470-18A5-DA18C8210194}"/>
                  </a:ext>
                </a:extLst>
              </p:cNvPr>
              <p:cNvSpPr txBox="1">
                <a:spLocks noRot="1" noChangeAspect="1" noMove="1" noResize="1" noEditPoints="1" noAdjustHandles="1" noChangeArrowheads="1" noChangeShapeType="1" noTextEdit="1"/>
              </p:cNvSpPr>
              <p:nvPr/>
            </p:nvSpPr>
            <p:spPr>
              <a:xfrm>
                <a:off x="1405797" y="922328"/>
                <a:ext cx="1318442" cy="461665"/>
              </a:xfrm>
              <a:prstGeom prst="rect">
                <a:avLst/>
              </a:prstGeom>
              <a:blipFill>
                <a:blip r:embed="rId6"/>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8DB9726-FAE1-64F0-14AE-C9F6CDDE7862}"/>
                  </a:ext>
                </a:extLst>
              </p:cNvPr>
              <p:cNvSpPr txBox="1"/>
              <p:nvPr/>
            </p:nvSpPr>
            <p:spPr>
              <a:xfrm>
                <a:off x="6540829" y="922328"/>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𝟑𝟎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4" name="TextBox 13">
                <a:extLst>
                  <a:ext uri="{FF2B5EF4-FFF2-40B4-BE49-F238E27FC236}">
                    <a16:creationId xmlns:a16="http://schemas.microsoft.com/office/drawing/2014/main" id="{08DB9726-FAE1-64F0-14AE-C9F6CDDE7862}"/>
                  </a:ext>
                </a:extLst>
              </p:cNvPr>
              <p:cNvSpPr txBox="1">
                <a:spLocks noRot="1" noChangeAspect="1" noMove="1" noResize="1" noEditPoints="1" noAdjustHandles="1" noChangeArrowheads="1" noChangeShapeType="1" noTextEdit="1"/>
              </p:cNvSpPr>
              <p:nvPr/>
            </p:nvSpPr>
            <p:spPr>
              <a:xfrm>
                <a:off x="6540829" y="922328"/>
                <a:ext cx="1318442" cy="461665"/>
              </a:xfrm>
              <a:prstGeom prst="rect">
                <a:avLst/>
              </a:prstGeom>
              <a:blipFill>
                <a:blip r:embed="rId7"/>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9A136CA-1972-8675-4153-AD532C9CD46D}"/>
                  </a:ext>
                </a:extLst>
              </p:cNvPr>
              <p:cNvSpPr txBox="1"/>
              <p:nvPr/>
            </p:nvSpPr>
            <p:spPr>
              <a:xfrm>
                <a:off x="1405797" y="3970867"/>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𝟓𝟎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6" name="TextBox 15">
                <a:extLst>
                  <a:ext uri="{FF2B5EF4-FFF2-40B4-BE49-F238E27FC236}">
                    <a16:creationId xmlns:a16="http://schemas.microsoft.com/office/drawing/2014/main" id="{29A136CA-1972-8675-4153-AD532C9CD46D}"/>
                  </a:ext>
                </a:extLst>
              </p:cNvPr>
              <p:cNvSpPr txBox="1">
                <a:spLocks noRot="1" noChangeAspect="1" noMove="1" noResize="1" noEditPoints="1" noAdjustHandles="1" noChangeArrowheads="1" noChangeShapeType="1" noTextEdit="1"/>
              </p:cNvSpPr>
              <p:nvPr/>
            </p:nvSpPr>
            <p:spPr>
              <a:xfrm>
                <a:off x="1405797" y="3970867"/>
                <a:ext cx="1318442" cy="461665"/>
              </a:xfrm>
              <a:prstGeom prst="rect">
                <a:avLst/>
              </a:prstGeom>
              <a:blipFill>
                <a:blip r:embed="rId8"/>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6440A54-8820-E893-0070-E54B75B10183}"/>
                  </a:ext>
                </a:extLst>
              </p:cNvPr>
              <p:cNvSpPr txBox="1"/>
              <p:nvPr/>
            </p:nvSpPr>
            <p:spPr>
              <a:xfrm>
                <a:off x="6540829" y="3970867"/>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𝟕𝟎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8" name="TextBox 17">
                <a:extLst>
                  <a:ext uri="{FF2B5EF4-FFF2-40B4-BE49-F238E27FC236}">
                    <a16:creationId xmlns:a16="http://schemas.microsoft.com/office/drawing/2014/main" id="{36440A54-8820-E893-0070-E54B75B10183}"/>
                  </a:ext>
                </a:extLst>
              </p:cNvPr>
              <p:cNvSpPr txBox="1">
                <a:spLocks noRot="1" noChangeAspect="1" noMove="1" noResize="1" noEditPoints="1" noAdjustHandles="1" noChangeArrowheads="1" noChangeShapeType="1" noTextEdit="1"/>
              </p:cNvSpPr>
              <p:nvPr/>
            </p:nvSpPr>
            <p:spPr>
              <a:xfrm>
                <a:off x="6540829" y="3970867"/>
                <a:ext cx="1318442" cy="461665"/>
              </a:xfrm>
              <a:prstGeom prst="rect">
                <a:avLst/>
              </a:prstGeom>
              <a:blipFill>
                <a:blip r:embed="rId9"/>
                <a:stretch>
                  <a:fillRect/>
                </a:stretch>
              </a:blipFill>
              <a:ln w="38100">
                <a:solidFill>
                  <a:schemeClr val="bg2"/>
                </a:solidFill>
              </a:ln>
            </p:spPr>
            <p:txBody>
              <a:bodyPr/>
              <a:lstStyle/>
              <a:p>
                <a:r>
                  <a:rPr lang="en-US">
                    <a:noFill/>
                  </a:rPr>
                  <a:t> </a:t>
                </a:r>
              </a:p>
            </p:txBody>
          </p:sp>
        </mc:Fallback>
      </mc:AlternateContent>
      <p:sp>
        <p:nvSpPr>
          <p:cNvPr id="20" name="TextBox 19">
            <a:extLst>
              <a:ext uri="{FF2B5EF4-FFF2-40B4-BE49-F238E27FC236}">
                <a16:creationId xmlns:a16="http://schemas.microsoft.com/office/drawing/2014/main" id="{5CA589DA-1D59-246F-CB67-077151620A3D}"/>
              </a:ext>
            </a:extLst>
          </p:cNvPr>
          <p:cNvSpPr txBox="1"/>
          <p:nvPr/>
        </p:nvSpPr>
        <p:spPr>
          <a:xfrm>
            <a:off x="3202077" y="983883"/>
            <a:ext cx="1582937" cy="338554"/>
          </a:xfrm>
          <a:prstGeom prst="rect">
            <a:avLst/>
          </a:prstGeom>
          <a:solidFill>
            <a:schemeClr val="bg1"/>
          </a:solidFill>
          <a:ln w="38100">
            <a:solidFill>
              <a:schemeClr val="bg2"/>
            </a:solidFill>
          </a:ln>
        </p:spPr>
        <p:txBody>
          <a:bodyPr wrap="square" rtlCol="0">
            <a:spAutoFit/>
          </a:bodyPr>
          <a:lstStyle/>
          <a:p>
            <a:r>
              <a:rPr lang="en-US" sz="1600" b="1" dirty="0">
                <a:solidFill>
                  <a:schemeClr val="bg2"/>
                </a:solidFill>
              </a:rPr>
              <a:t>Peak = 0.0328</a:t>
            </a:r>
          </a:p>
        </p:txBody>
      </p:sp>
      <p:sp>
        <p:nvSpPr>
          <p:cNvPr id="22" name="TextBox 21">
            <a:extLst>
              <a:ext uri="{FF2B5EF4-FFF2-40B4-BE49-F238E27FC236}">
                <a16:creationId xmlns:a16="http://schemas.microsoft.com/office/drawing/2014/main" id="{2D9267B2-83E0-EB7C-CF6C-CFFB13149850}"/>
              </a:ext>
            </a:extLst>
          </p:cNvPr>
          <p:cNvSpPr txBox="1"/>
          <p:nvPr/>
        </p:nvSpPr>
        <p:spPr>
          <a:xfrm>
            <a:off x="8318140" y="983883"/>
            <a:ext cx="1582937" cy="338554"/>
          </a:xfrm>
          <a:prstGeom prst="rect">
            <a:avLst/>
          </a:prstGeom>
          <a:solidFill>
            <a:schemeClr val="bg1"/>
          </a:solidFill>
          <a:ln w="38100">
            <a:solidFill>
              <a:schemeClr val="bg2"/>
            </a:solidFill>
          </a:ln>
        </p:spPr>
        <p:txBody>
          <a:bodyPr wrap="square" rtlCol="0">
            <a:spAutoFit/>
          </a:bodyPr>
          <a:lstStyle/>
          <a:p>
            <a:r>
              <a:rPr lang="en-US" sz="1600" b="1" dirty="0">
                <a:solidFill>
                  <a:schemeClr val="bg2"/>
                </a:solidFill>
              </a:rPr>
              <a:t>Peak = 0.0393</a:t>
            </a:r>
          </a:p>
        </p:txBody>
      </p:sp>
      <p:sp>
        <p:nvSpPr>
          <p:cNvPr id="24" name="TextBox 23">
            <a:extLst>
              <a:ext uri="{FF2B5EF4-FFF2-40B4-BE49-F238E27FC236}">
                <a16:creationId xmlns:a16="http://schemas.microsoft.com/office/drawing/2014/main" id="{95783207-0DAE-18C9-20CC-0207F237FC38}"/>
              </a:ext>
            </a:extLst>
          </p:cNvPr>
          <p:cNvSpPr txBox="1"/>
          <p:nvPr/>
        </p:nvSpPr>
        <p:spPr>
          <a:xfrm>
            <a:off x="3136236" y="4031883"/>
            <a:ext cx="1582937" cy="338554"/>
          </a:xfrm>
          <a:prstGeom prst="rect">
            <a:avLst/>
          </a:prstGeom>
          <a:solidFill>
            <a:schemeClr val="bg1"/>
          </a:solidFill>
          <a:ln w="38100">
            <a:solidFill>
              <a:schemeClr val="bg2"/>
            </a:solidFill>
          </a:ln>
        </p:spPr>
        <p:txBody>
          <a:bodyPr wrap="square" rtlCol="0">
            <a:spAutoFit/>
          </a:bodyPr>
          <a:lstStyle/>
          <a:p>
            <a:r>
              <a:rPr lang="en-US" sz="1600" b="1" dirty="0">
                <a:solidFill>
                  <a:schemeClr val="bg2"/>
                </a:solidFill>
              </a:rPr>
              <a:t>Peak = 0.0817</a:t>
            </a:r>
          </a:p>
        </p:txBody>
      </p:sp>
      <p:sp>
        <p:nvSpPr>
          <p:cNvPr id="26" name="TextBox 25">
            <a:extLst>
              <a:ext uri="{FF2B5EF4-FFF2-40B4-BE49-F238E27FC236}">
                <a16:creationId xmlns:a16="http://schemas.microsoft.com/office/drawing/2014/main" id="{C8BA1592-0AF3-33D8-F125-CAAFC0DA761D}"/>
              </a:ext>
            </a:extLst>
          </p:cNvPr>
          <p:cNvSpPr txBox="1"/>
          <p:nvPr/>
        </p:nvSpPr>
        <p:spPr>
          <a:xfrm>
            <a:off x="8252299" y="4031883"/>
            <a:ext cx="1582937" cy="338554"/>
          </a:xfrm>
          <a:prstGeom prst="rect">
            <a:avLst/>
          </a:prstGeom>
          <a:solidFill>
            <a:schemeClr val="bg1"/>
          </a:solidFill>
          <a:ln w="38100">
            <a:solidFill>
              <a:schemeClr val="bg2"/>
            </a:solidFill>
          </a:ln>
        </p:spPr>
        <p:txBody>
          <a:bodyPr wrap="square" rtlCol="0">
            <a:spAutoFit/>
          </a:bodyPr>
          <a:lstStyle/>
          <a:p>
            <a:r>
              <a:rPr lang="en-US" sz="1600" b="1" dirty="0">
                <a:solidFill>
                  <a:schemeClr val="bg2"/>
                </a:solidFill>
              </a:rPr>
              <a:t>Peak = 0.7359</a:t>
            </a:r>
          </a:p>
        </p:txBody>
      </p:sp>
    </p:spTree>
    <p:extLst>
      <p:ext uri="{BB962C8B-B14F-4D97-AF65-F5344CB8AC3E}">
        <p14:creationId xmlns:p14="http://schemas.microsoft.com/office/powerpoint/2010/main" val="249584846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47C3F-7A3A-1FD1-EFAD-63F0D1CD6B1A}"/>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6A43C4C6-1068-0435-E50D-719A22C2824C}"/>
              </a:ext>
            </a:extLst>
          </p:cNvPr>
          <p:cNvPicPr>
            <a:picLocks noChangeAspect="1"/>
          </p:cNvPicPr>
          <p:nvPr/>
        </p:nvPicPr>
        <p:blipFill>
          <a:blip r:embed="rId2"/>
          <a:srcRect r="26282" b="21235"/>
          <a:stretch>
            <a:fillRect/>
          </a:stretch>
        </p:blipFill>
        <p:spPr>
          <a:xfrm>
            <a:off x="1991888" y="743172"/>
            <a:ext cx="3650647" cy="2926080"/>
          </a:xfrm>
          <a:prstGeom prst="rect">
            <a:avLst/>
          </a:prstGeom>
        </p:spPr>
      </p:pic>
      <p:pic>
        <p:nvPicPr>
          <p:cNvPr id="13" name="Picture 12">
            <a:extLst>
              <a:ext uri="{FF2B5EF4-FFF2-40B4-BE49-F238E27FC236}">
                <a16:creationId xmlns:a16="http://schemas.microsoft.com/office/drawing/2014/main" id="{B7FA55D8-CE8A-D940-3CDC-100D05A5750F}"/>
              </a:ext>
            </a:extLst>
          </p:cNvPr>
          <p:cNvPicPr>
            <a:picLocks noChangeAspect="1"/>
          </p:cNvPicPr>
          <p:nvPr/>
        </p:nvPicPr>
        <p:blipFill>
          <a:blip r:embed="rId3"/>
          <a:srcRect r="26282" b="21235"/>
          <a:stretch>
            <a:fillRect/>
          </a:stretch>
        </p:blipFill>
        <p:spPr>
          <a:xfrm>
            <a:off x="7221702" y="755705"/>
            <a:ext cx="3650647" cy="2926080"/>
          </a:xfrm>
          <a:prstGeom prst="rect">
            <a:avLst/>
          </a:prstGeom>
        </p:spPr>
      </p:pic>
      <p:pic>
        <p:nvPicPr>
          <p:cNvPr id="8" name="Picture 7">
            <a:extLst>
              <a:ext uri="{FF2B5EF4-FFF2-40B4-BE49-F238E27FC236}">
                <a16:creationId xmlns:a16="http://schemas.microsoft.com/office/drawing/2014/main" id="{B9759704-9C2A-309B-6C37-EB07D52E5BB3}"/>
              </a:ext>
            </a:extLst>
          </p:cNvPr>
          <p:cNvPicPr>
            <a:picLocks noChangeAspect="1"/>
          </p:cNvPicPr>
          <p:nvPr/>
        </p:nvPicPr>
        <p:blipFill>
          <a:blip r:embed="rId4"/>
          <a:srcRect r="26282" b="21235"/>
          <a:stretch>
            <a:fillRect/>
          </a:stretch>
        </p:blipFill>
        <p:spPr>
          <a:xfrm>
            <a:off x="1991888" y="3798484"/>
            <a:ext cx="3650647" cy="2926080"/>
          </a:xfrm>
          <a:prstGeom prst="rect">
            <a:avLst/>
          </a:prstGeom>
        </p:spPr>
      </p:pic>
      <p:pic>
        <p:nvPicPr>
          <p:cNvPr id="21" name="Picture 20">
            <a:extLst>
              <a:ext uri="{FF2B5EF4-FFF2-40B4-BE49-F238E27FC236}">
                <a16:creationId xmlns:a16="http://schemas.microsoft.com/office/drawing/2014/main" id="{48B9E6F6-AE31-680B-D9EA-ED7E1C9162DB}"/>
              </a:ext>
            </a:extLst>
          </p:cNvPr>
          <p:cNvPicPr>
            <a:picLocks noChangeAspect="1"/>
          </p:cNvPicPr>
          <p:nvPr/>
        </p:nvPicPr>
        <p:blipFill>
          <a:blip r:embed="rId5"/>
          <a:srcRect r="26413" b="21235"/>
          <a:stretch>
            <a:fillRect/>
          </a:stretch>
        </p:blipFill>
        <p:spPr>
          <a:xfrm>
            <a:off x="7221702" y="3798484"/>
            <a:ext cx="3644129" cy="2926080"/>
          </a:xfrm>
          <a:prstGeom prst="rect">
            <a:avLst/>
          </a:prstGeom>
        </p:spPr>
      </p:pic>
      <p:sp>
        <p:nvSpPr>
          <p:cNvPr id="2" name="Title 1">
            <a:extLst>
              <a:ext uri="{FF2B5EF4-FFF2-40B4-BE49-F238E27FC236}">
                <a16:creationId xmlns:a16="http://schemas.microsoft.com/office/drawing/2014/main" id="{EEF19AF7-514C-00CB-009F-3E1742BD66DD}"/>
              </a:ext>
            </a:extLst>
          </p:cNvPr>
          <p:cNvSpPr>
            <a:spLocks noGrp="1"/>
          </p:cNvSpPr>
          <p:nvPr>
            <p:ph type="title"/>
          </p:nvPr>
        </p:nvSpPr>
        <p:spPr>
          <a:xfrm>
            <a:off x="609599" y="152718"/>
            <a:ext cx="9011323" cy="640080"/>
          </a:xfrm>
        </p:spPr>
        <p:txBody>
          <a:bodyPr/>
          <a:lstStyle/>
          <a:p>
            <a:r>
              <a:rPr lang="en-US" dirty="0"/>
              <a:t>Known data (in </a:t>
            </a:r>
            <a:r>
              <a:rPr lang="en-US" dirty="0" err="1"/>
              <a:t>Zemax</a:t>
            </a:r>
            <a:r>
              <a:rPr lang="en-US" dirty="0"/>
              <a:t> format)</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3516310-640F-647F-7A51-1BB59CB00F84}"/>
                  </a:ext>
                </a:extLst>
              </p:cNvPr>
              <p:cNvSpPr txBox="1"/>
              <p:nvPr/>
            </p:nvSpPr>
            <p:spPr>
              <a:xfrm>
                <a:off x="1405797" y="922328"/>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𝟏𝟎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2" name="TextBox 11">
                <a:extLst>
                  <a:ext uri="{FF2B5EF4-FFF2-40B4-BE49-F238E27FC236}">
                    <a16:creationId xmlns:a16="http://schemas.microsoft.com/office/drawing/2014/main" id="{D3516310-640F-647F-7A51-1BB59CB00F84}"/>
                  </a:ext>
                </a:extLst>
              </p:cNvPr>
              <p:cNvSpPr txBox="1">
                <a:spLocks noRot="1" noChangeAspect="1" noMove="1" noResize="1" noEditPoints="1" noAdjustHandles="1" noChangeArrowheads="1" noChangeShapeType="1" noTextEdit="1"/>
              </p:cNvSpPr>
              <p:nvPr/>
            </p:nvSpPr>
            <p:spPr>
              <a:xfrm>
                <a:off x="1405797" y="922328"/>
                <a:ext cx="1318442" cy="461665"/>
              </a:xfrm>
              <a:prstGeom prst="rect">
                <a:avLst/>
              </a:prstGeom>
              <a:blipFill>
                <a:blip r:embed="rId6"/>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420C77-3ABE-D6E9-57CD-381754BFEF77}"/>
                  </a:ext>
                </a:extLst>
              </p:cNvPr>
              <p:cNvSpPr txBox="1"/>
              <p:nvPr/>
            </p:nvSpPr>
            <p:spPr>
              <a:xfrm>
                <a:off x="6540829" y="922328"/>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𝟑𝟎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4" name="TextBox 13">
                <a:extLst>
                  <a:ext uri="{FF2B5EF4-FFF2-40B4-BE49-F238E27FC236}">
                    <a16:creationId xmlns:a16="http://schemas.microsoft.com/office/drawing/2014/main" id="{2F420C77-3ABE-D6E9-57CD-381754BFEF77}"/>
                  </a:ext>
                </a:extLst>
              </p:cNvPr>
              <p:cNvSpPr txBox="1">
                <a:spLocks noRot="1" noChangeAspect="1" noMove="1" noResize="1" noEditPoints="1" noAdjustHandles="1" noChangeArrowheads="1" noChangeShapeType="1" noTextEdit="1"/>
              </p:cNvSpPr>
              <p:nvPr/>
            </p:nvSpPr>
            <p:spPr>
              <a:xfrm>
                <a:off x="6540829" y="922328"/>
                <a:ext cx="1318442" cy="461665"/>
              </a:xfrm>
              <a:prstGeom prst="rect">
                <a:avLst/>
              </a:prstGeom>
              <a:blipFill>
                <a:blip r:embed="rId7"/>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87DC07A-78CA-8161-5EE4-2EDBDB424200}"/>
                  </a:ext>
                </a:extLst>
              </p:cNvPr>
              <p:cNvSpPr txBox="1"/>
              <p:nvPr/>
            </p:nvSpPr>
            <p:spPr>
              <a:xfrm>
                <a:off x="1405797" y="3970867"/>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𝟓𝟎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6" name="TextBox 15">
                <a:extLst>
                  <a:ext uri="{FF2B5EF4-FFF2-40B4-BE49-F238E27FC236}">
                    <a16:creationId xmlns:a16="http://schemas.microsoft.com/office/drawing/2014/main" id="{987DC07A-78CA-8161-5EE4-2EDBDB424200}"/>
                  </a:ext>
                </a:extLst>
              </p:cNvPr>
              <p:cNvSpPr txBox="1">
                <a:spLocks noRot="1" noChangeAspect="1" noMove="1" noResize="1" noEditPoints="1" noAdjustHandles="1" noChangeArrowheads="1" noChangeShapeType="1" noTextEdit="1"/>
              </p:cNvSpPr>
              <p:nvPr/>
            </p:nvSpPr>
            <p:spPr>
              <a:xfrm>
                <a:off x="1405797" y="3970867"/>
                <a:ext cx="1318442" cy="461665"/>
              </a:xfrm>
              <a:prstGeom prst="rect">
                <a:avLst/>
              </a:prstGeom>
              <a:blipFill>
                <a:blip r:embed="rId8"/>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417FFC9-3651-67B9-9A28-996378E29899}"/>
                  </a:ext>
                </a:extLst>
              </p:cNvPr>
              <p:cNvSpPr txBox="1"/>
              <p:nvPr/>
            </p:nvSpPr>
            <p:spPr>
              <a:xfrm>
                <a:off x="6540829" y="3970867"/>
                <a:ext cx="1318442" cy="461665"/>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400" b="1" i="1" smtClean="0">
                          <a:solidFill>
                            <a:schemeClr val="bg2"/>
                          </a:solidFill>
                          <a:latin typeface="Cambria Math" panose="02040503050406030204" pitchFamily="18" charset="0"/>
                        </a:rPr>
                        <m:t>𝑰</m:t>
                      </m:r>
                      <m:r>
                        <a:rPr lang="en-US" sz="2400" b="1" i="1" smtClean="0">
                          <a:solidFill>
                            <a:schemeClr val="bg2"/>
                          </a:solidFill>
                          <a:latin typeface="Cambria Math" panose="02040503050406030204" pitchFamily="18" charset="0"/>
                        </a:rPr>
                        <m:t>=</m:t>
                      </m:r>
                      <m:sSup>
                        <m:sSupPr>
                          <m:ctrlPr>
                            <a:rPr lang="en-US" sz="2400" b="1" i="1" smtClean="0">
                              <a:solidFill>
                                <a:schemeClr val="bg2"/>
                              </a:solidFill>
                              <a:latin typeface="Cambria Math" panose="02040503050406030204" pitchFamily="18" charset="0"/>
                            </a:rPr>
                          </m:ctrlPr>
                        </m:sSupPr>
                        <m:e>
                          <m:r>
                            <a:rPr lang="en-US" sz="2400" b="1" i="1" smtClean="0">
                              <a:solidFill>
                                <a:schemeClr val="bg2"/>
                              </a:solidFill>
                              <a:latin typeface="Cambria Math" panose="02040503050406030204" pitchFamily="18" charset="0"/>
                            </a:rPr>
                            <m:t>𝟕𝟎</m:t>
                          </m:r>
                        </m:e>
                        <m:sup>
                          <m:r>
                            <a:rPr lang="en-US" sz="2400" b="1" i="1" smtClean="0">
                              <a:solidFill>
                                <a:schemeClr val="bg2"/>
                              </a:solidFill>
                              <a:latin typeface="Cambria Math" panose="02040503050406030204" pitchFamily="18" charset="0"/>
                            </a:rPr>
                            <m:t>∘</m:t>
                          </m:r>
                        </m:sup>
                      </m:sSup>
                    </m:oMath>
                  </m:oMathPara>
                </a14:m>
                <a:endParaRPr lang="en-US" sz="2400" b="1" dirty="0">
                  <a:solidFill>
                    <a:schemeClr val="bg2"/>
                  </a:solidFill>
                </a:endParaRPr>
              </a:p>
            </p:txBody>
          </p:sp>
        </mc:Choice>
        <mc:Fallback xmlns="">
          <p:sp>
            <p:nvSpPr>
              <p:cNvPr id="18" name="TextBox 17">
                <a:extLst>
                  <a:ext uri="{FF2B5EF4-FFF2-40B4-BE49-F238E27FC236}">
                    <a16:creationId xmlns:a16="http://schemas.microsoft.com/office/drawing/2014/main" id="{9417FFC9-3651-67B9-9A28-996378E29899}"/>
                  </a:ext>
                </a:extLst>
              </p:cNvPr>
              <p:cNvSpPr txBox="1">
                <a:spLocks noRot="1" noChangeAspect="1" noMove="1" noResize="1" noEditPoints="1" noAdjustHandles="1" noChangeArrowheads="1" noChangeShapeType="1" noTextEdit="1"/>
              </p:cNvSpPr>
              <p:nvPr/>
            </p:nvSpPr>
            <p:spPr>
              <a:xfrm>
                <a:off x="6540829" y="3970867"/>
                <a:ext cx="1318442" cy="461665"/>
              </a:xfrm>
              <a:prstGeom prst="rect">
                <a:avLst/>
              </a:prstGeom>
              <a:blipFill>
                <a:blip r:embed="rId9"/>
                <a:stretch>
                  <a:fillRect/>
                </a:stretch>
              </a:blipFill>
              <a:ln w="38100">
                <a:solidFill>
                  <a:schemeClr val="bg2"/>
                </a:solidFill>
              </a:ln>
            </p:spPr>
            <p:txBody>
              <a:bodyPr/>
              <a:lstStyle/>
              <a:p>
                <a:r>
                  <a:rPr lang="en-US">
                    <a:noFill/>
                  </a:rPr>
                  <a:t> </a:t>
                </a:r>
              </a:p>
            </p:txBody>
          </p:sp>
        </mc:Fallback>
      </mc:AlternateContent>
      <p:sp>
        <p:nvSpPr>
          <p:cNvPr id="20" name="TextBox 19">
            <a:extLst>
              <a:ext uri="{FF2B5EF4-FFF2-40B4-BE49-F238E27FC236}">
                <a16:creationId xmlns:a16="http://schemas.microsoft.com/office/drawing/2014/main" id="{1F0A9E96-F47D-D33E-E46A-D12A13F48FDB}"/>
              </a:ext>
            </a:extLst>
          </p:cNvPr>
          <p:cNvSpPr txBox="1"/>
          <p:nvPr/>
        </p:nvSpPr>
        <p:spPr>
          <a:xfrm>
            <a:off x="3202077" y="983883"/>
            <a:ext cx="1582937" cy="338554"/>
          </a:xfrm>
          <a:prstGeom prst="rect">
            <a:avLst/>
          </a:prstGeom>
          <a:solidFill>
            <a:schemeClr val="bg1"/>
          </a:solidFill>
          <a:ln w="38100">
            <a:solidFill>
              <a:schemeClr val="bg2"/>
            </a:solidFill>
          </a:ln>
        </p:spPr>
        <p:txBody>
          <a:bodyPr wrap="square" rtlCol="0">
            <a:spAutoFit/>
          </a:bodyPr>
          <a:lstStyle/>
          <a:p>
            <a:r>
              <a:rPr lang="en-US" sz="1600" b="1" dirty="0">
                <a:solidFill>
                  <a:schemeClr val="bg2"/>
                </a:solidFill>
              </a:rPr>
              <a:t>Peak = 0.0348</a:t>
            </a:r>
          </a:p>
        </p:txBody>
      </p:sp>
      <p:sp>
        <p:nvSpPr>
          <p:cNvPr id="22" name="TextBox 21">
            <a:extLst>
              <a:ext uri="{FF2B5EF4-FFF2-40B4-BE49-F238E27FC236}">
                <a16:creationId xmlns:a16="http://schemas.microsoft.com/office/drawing/2014/main" id="{4F5E2030-E96B-3E02-21EC-8E2B77393100}"/>
              </a:ext>
            </a:extLst>
          </p:cNvPr>
          <p:cNvSpPr txBox="1"/>
          <p:nvPr/>
        </p:nvSpPr>
        <p:spPr>
          <a:xfrm>
            <a:off x="8318140" y="983883"/>
            <a:ext cx="1582937" cy="338554"/>
          </a:xfrm>
          <a:prstGeom prst="rect">
            <a:avLst/>
          </a:prstGeom>
          <a:solidFill>
            <a:schemeClr val="bg1"/>
          </a:solidFill>
          <a:ln w="38100">
            <a:solidFill>
              <a:schemeClr val="bg2"/>
            </a:solidFill>
          </a:ln>
        </p:spPr>
        <p:txBody>
          <a:bodyPr wrap="square" rtlCol="0">
            <a:spAutoFit/>
          </a:bodyPr>
          <a:lstStyle/>
          <a:p>
            <a:r>
              <a:rPr lang="en-US" sz="1600" b="1" dirty="0">
                <a:solidFill>
                  <a:schemeClr val="bg2"/>
                </a:solidFill>
              </a:rPr>
              <a:t>Peak = 0.0428</a:t>
            </a:r>
          </a:p>
        </p:txBody>
      </p:sp>
      <p:sp>
        <p:nvSpPr>
          <p:cNvPr id="24" name="TextBox 23">
            <a:extLst>
              <a:ext uri="{FF2B5EF4-FFF2-40B4-BE49-F238E27FC236}">
                <a16:creationId xmlns:a16="http://schemas.microsoft.com/office/drawing/2014/main" id="{A38EE69D-233A-4CAA-CC0E-48AB7B7AF9E3}"/>
              </a:ext>
            </a:extLst>
          </p:cNvPr>
          <p:cNvSpPr txBox="1"/>
          <p:nvPr/>
        </p:nvSpPr>
        <p:spPr>
          <a:xfrm>
            <a:off x="3136236" y="4031883"/>
            <a:ext cx="1582937" cy="338554"/>
          </a:xfrm>
          <a:prstGeom prst="rect">
            <a:avLst/>
          </a:prstGeom>
          <a:solidFill>
            <a:schemeClr val="bg1"/>
          </a:solidFill>
          <a:ln w="38100">
            <a:solidFill>
              <a:schemeClr val="bg2"/>
            </a:solidFill>
          </a:ln>
        </p:spPr>
        <p:txBody>
          <a:bodyPr wrap="square" rtlCol="0">
            <a:spAutoFit/>
          </a:bodyPr>
          <a:lstStyle/>
          <a:p>
            <a:r>
              <a:rPr lang="en-US" sz="1600" b="1" dirty="0">
                <a:solidFill>
                  <a:schemeClr val="bg2"/>
                </a:solidFill>
              </a:rPr>
              <a:t>Peak = 0.1407</a:t>
            </a:r>
          </a:p>
        </p:txBody>
      </p:sp>
      <p:sp>
        <p:nvSpPr>
          <p:cNvPr id="26" name="TextBox 25">
            <a:extLst>
              <a:ext uri="{FF2B5EF4-FFF2-40B4-BE49-F238E27FC236}">
                <a16:creationId xmlns:a16="http://schemas.microsoft.com/office/drawing/2014/main" id="{80C4694D-2590-3A01-9384-FAEF41F9AB19}"/>
              </a:ext>
            </a:extLst>
          </p:cNvPr>
          <p:cNvSpPr txBox="1"/>
          <p:nvPr/>
        </p:nvSpPr>
        <p:spPr>
          <a:xfrm>
            <a:off x="8252299" y="4031883"/>
            <a:ext cx="1582937" cy="338554"/>
          </a:xfrm>
          <a:prstGeom prst="rect">
            <a:avLst/>
          </a:prstGeom>
          <a:solidFill>
            <a:schemeClr val="bg1"/>
          </a:solidFill>
          <a:ln w="38100">
            <a:solidFill>
              <a:schemeClr val="bg2"/>
            </a:solidFill>
          </a:ln>
        </p:spPr>
        <p:txBody>
          <a:bodyPr wrap="square" rtlCol="0">
            <a:spAutoFit/>
          </a:bodyPr>
          <a:lstStyle/>
          <a:p>
            <a:r>
              <a:rPr lang="en-US" sz="1600" b="1" dirty="0">
                <a:solidFill>
                  <a:schemeClr val="bg2"/>
                </a:solidFill>
              </a:rPr>
              <a:t>Peak = 1.82</a:t>
            </a:r>
          </a:p>
        </p:txBody>
      </p:sp>
    </p:spTree>
    <p:extLst>
      <p:ext uri="{BB962C8B-B14F-4D97-AF65-F5344CB8AC3E}">
        <p14:creationId xmlns:p14="http://schemas.microsoft.com/office/powerpoint/2010/main" val="3878973538"/>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BA1A1-FE58-E4E7-C270-8826319E36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E577B-4DB1-3CC6-12E7-10017816AF54}"/>
              </a:ext>
            </a:extLst>
          </p:cNvPr>
          <p:cNvSpPr>
            <a:spLocks noGrp="1"/>
          </p:cNvSpPr>
          <p:nvPr>
            <p:ph type="ctrTitle"/>
          </p:nvPr>
        </p:nvSpPr>
        <p:spPr/>
        <p:txBody>
          <a:bodyPr/>
          <a:lstStyle/>
          <a:p>
            <a:r>
              <a:rPr lang="en-US" sz="3600" dirty="0"/>
              <a:t>Debugging low TIS values</a:t>
            </a:r>
            <a:br>
              <a:rPr lang="en-US" sz="3600" dirty="0"/>
            </a:br>
            <a:r>
              <a:rPr lang="en-US" sz="2400" dirty="0">
                <a:solidFill>
                  <a:schemeClr val="bg2"/>
                </a:solidFill>
              </a:rPr>
              <a:t>[flagged by Photon Engineering, comparing our Z307 BRDF data to RTX’s Z307 BRDF data and FRED’s Z306 model]</a:t>
            </a:r>
            <a:endParaRPr lang="en-US" sz="3600" dirty="0">
              <a:solidFill>
                <a:schemeClr val="bg2"/>
              </a:solidFill>
            </a:endParaRPr>
          </a:p>
        </p:txBody>
      </p:sp>
      <p:sp>
        <p:nvSpPr>
          <p:cNvPr id="3" name="Subtitle 2">
            <a:extLst>
              <a:ext uri="{FF2B5EF4-FFF2-40B4-BE49-F238E27FC236}">
                <a16:creationId xmlns:a16="http://schemas.microsoft.com/office/drawing/2014/main" id="{D39F2048-1966-3FF0-5E30-5F93E30C9841}"/>
              </a:ext>
            </a:extLst>
          </p:cNvPr>
          <p:cNvSpPr>
            <a:spLocks noGrp="1"/>
          </p:cNvSpPr>
          <p:nvPr>
            <p:ph type="subTitle" idx="1"/>
          </p:nvPr>
        </p:nvSpPr>
        <p:spPr/>
        <p:txBody>
          <a:bodyPr>
            <a:normAutofit/>
          </a:bodyPr>
          <a:lstStyle/>
          <a:p>
            <a:endParaRPr lang="en-US" dirty="0"/>
          </a:p>
          <a:p>
            <a:r>
              <a:rPr lang="en-US" dirty="0"/>
              <a:t>2026/08/09</a:t>
            </a:r>
          </a:p>
        </p:txBody>
      </p:sp>
    </p:spTree>
    <p:extLst>
      <p:ext uri="{BB962C8B-B14F-4D97-AF65-F5344CB8AC3E}">
        <p14:creationId xmlns:p14="http://schemas.microsoft.com/office/powerpoint/2010/main" val="278079181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BE11D-D45B-0F83-4BDD-45710AE224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4CCF80-913D-EC4D-7558-E078E03DF559}"/>
              </a:ext>
            </a:extLst>
          </p:cNvPr>
          <p:cNvSpPr>
            <a:spLocks noGrp="1"/>
          </p:cNvSpPr>
          <p:nvPr>
            <p:ph type="title"/>
          </p:nvPr>
        </p:nvSpPr>
        <p:spPr>
          <a:xfrm>
            <a:off x="609599" y="152718"/>
            <a:ext cx="9011323" cy="640080"/>
          </a:xfrm>
        </p:spPr>
        <p:txBody>
          <a:bodyPr>
            <a:normAutofit/>
          </a:bodyPr>
          <a:lstStyle/>
          <a:p>
            <a:r>
              <a:rPr lang="en-US" dirty="0"/>
              <a:t>Re-measure </a:t>
            </a:r>
            <a:r>
              <a:rPr lang="en-US" sz="2000" dirty="0"/>
              <a:t>(of 76.4x254.0mm sample, not 12”x12”)</a:t>
            </a:r>
            <a:r>
              <a:rPr lang="en-US" dirty="0"/>
              <a:t> </a:t>
            </a:r>
          </a:p>
        </p:txBody>
      </p:sp>
      <p:pic>
        <p:nvPicPr>
          <p:cNvPr id="7" name="Picture 6">
            <a:extLst>
              <a:ext uri="{FF2B5EF4-FFF2-40B4-BE49-F238E27FC236}">
                <a16:creationId xmlns:a16="http://schemas.microsoft.com/office/drawing/2014/main" id="{0257EA44-8344-C11C-E06E-B88CBC564760}"/>
              </a:ext>
            </a:extLst>
          </p:cNvPr>
          <p:cNvPicPr>
            <a:picLocks noChangeAspect="1"/>
          </p:cNvPicPr>
          <p:nvPr/>
        </p:nvPicPr>
        <p:blipFill>
          <a:blip r:embed="rId2"/>
          <a:srcRect/>
          <a:stretch/>
        </p:blipFill>
        <p:spPr>
          <a:xfrm>
            <a:off x="5002734" y="792798"/>
            <a:ext cx="6723187" cy="6065202"/>
          </a:xfrm>
          <a:prstGeom prst="rect">
            <a:avLst/>
          </a:prstGeom>
        </p:spPr>
      </p:pic>
      <p:sp>
        <p:nvSpPr>
          <p:cNvPr id="8" name="Rectangle 7">
            <a:extLst>
              <a:ext uri="{FF2B5EF4-FFF2-40B4-BE49-F238E27FC236}">
                <a16:creationId xmlns:a16="http://schemas.microsoft.com/office/drawing/2014/main" id="{1EF2320F-4089-EDEC-193F-C17B1CF4ED89}"/>
              </a:ext>
            </a:extLst>
          </p:cNvPr>
          <p:cNvSpPr/>
          <p:nvPr/>
        </p:nvSpPr>
        <p:spPr>
          <a:xfrm>
            <a:off x="4876805" y="870532"/>
            <a:ext cx="3564466" cy="5909733"/>
          </a:xfrm>
          <a:prstGeom prst="rect">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2E4042-AD7A-0747-1B95-BE1AA046147E}"/>
              </a:ext>
            </a:extLst>
          </p:cNvPr>
          <p:cNvSpPr/>
          <p:nvPr/>
        </p:nvSpPr>
        <p:spPr>
          <a:xfrm>
            <a:off x="8554904" y="870532"/>
            <a:ext cx="3383096" cy="5909733"/>
          </a:xfrm>
          <a:prstGeom prst="rect">
            <a:avLst/>
          </a:prstGeom>
          <a:noFill/>
          <a:ln w="762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F480907-D840-1DAE-C048-34F5D002928E}"/>
              </a:ext>
            </a:extLst>
          </p:cNvPr>
          <p:cNvSpPr txBox="1"/>
          <p:nvPr/>
        </p:nvSpPr>
        <p:spPr>
          <a:xfrm>
            <a:off x="143933" y="1176865"/>
            <a:ext cx="4732871" cy="5755422"/>
          </a:xfrm>
          <a:prstGeom prst="rect">
            <a:avLst/>
          </a:prstGeom>
          <a:noFill/>
        </p:spPr>
        <p:txBody>
          <a:bodyPr wrap="square" rtlCol="0">
            <a:spAutoFit/>
          </a:bodyPr>
          <a:lstStyle/>
          <a:p>
            <a:r>
              <a:rPr lang="en-US" sz="1600" i="1" dirty="0" err="1">
                <a:solidFill>
                  <a:schemeClr val="tx1"/>
                </a:solidFill>
              </a:rPr>
              <a:t>bsdf-tools</a:t>
            </a:r>
            <a:r>
              <a:rPr lang="en-US" sz="1600" dirty="0" err="1">
                <a:solidFill>
                  <a:schemeClr val="tx1"/>
                </a:solidFill>
              </a:rPr>
              <a:t>’s</a:t>
            </a:r>
            <a:r>
              <a:rPr lang="en-US" sz="1600" dirty="0">
                <a:solidFill>
                  <a:schemeClr val="tx1"/>
                </a:solidFill>
              </a:rPr>
              <a:t> Z307:</a:t>
            </a:r>
          </a:p>
          <a:p>
            <a:r>
              <a:rPr lang="en-US" sz="1600" dirty="0">
                <a:solidFill>
                  <a:schemeClr val="tx1"/>
                </a:solidFill>
              </a:rPr>
              <a:t>~2.4% near normal, ~4.6% near grazing.</a:t>
            </a:r>
          </a:p>
          <a:p>
            <a:endParaRPr lang="en-US" sz="1600" dirty="0">
              <a:solidFill>
                <a:schemeClr val="tx1"/>
              </a:solidFill>
            </a:endParaRPr>
          </a:p>
          <a:p>
            <a:r>
              <a:rPr lang="en-US" sz="1600" dirty="0">
                <a:solidFill>
                  <a:schemeClr val="tx1"/>
                </a:solidFill>
              </a:rPr>
              <a:t>RTX’s Z307:</a:t>
            </a:r>
          </a:p>
          <a:p>
            <a:r>
              <a:rPr lang="en-US" sz="1600" dirty="0">
                <a:solidFill>
                  <a:schemeClr val="tx1"/>
                </a:solidFill>
              </a:rPr>
              <a:t>~5.4% near normal, ~</a:t>
            </a:r>
            <a:r>
              <a:rPr lang="en-US" sz="1600" dirty="0">
                <a:solidFill>
                  <a:schemeClr val="tx1"/>
                </a:solidFill>
                <a:sym typeface="Wingdings" panose="05000000000000000000" pitchFamily="2" charset="2"/>
              </a:rPr>
              <a:t>50% near grazing.</a:t>
            </a:r>
          </a:p>
          <a:p>
            <a:endParaRPr lang="en-US" sz="1600" dirty="0">
              <a:solidFill>
                <a:schemeClr val="tx1"/>
              </a:solidFill>
              <a:sym typeface="Wingdings" panose="05000000000000000000" pitchFamily="2" charset="2"/>
            </a:endParaRPr>
          </a:p>
          <a:p>
            <a:r>
              <a:rPr lang="en-US" sz="1600" dirty="0">
                <a:solidFill>
                  <a:schemeClr val="tx1"/>
                </a:solidFill>
                <a:sym typeface="Wingdings" panose="05000000000000000000" pitchFamily="2" charset="2"/>
              </a:rPr>
              <a:t>FRED’s Z306:</a:t>
            </a:r>
            <a:endParaRPr lang="en-US" sz="1600" dirty="0">
              <a:solidFill>
                <a:schemeClr val="tx1"/>
              </a:solidFill>
            </a:endParaRPr>
          </a:p>
          <a:p>
            <a:r>
              <a:rPr lang="en-US" sz="1600" dirty="0">
                <a:solidFill>
                  <a:schemeClr val="tx1"/>
                </a:solidFill>
              </a:rPr>
              <a:t>~4% near normal, ~24% near grazing.</a:t>
            </a:r>
            <a:endParaRPr lang="en-US" sz="1600" dirty="0">
              <a:solidFill>
                <a:schemeClr val="bg2"/>
              </a:solidFill>
            </a:endParaRPr>
          </a:p>
          <a:p>
            <a:endParaRPr lang="en-US" sz="1600" dirty="0">
              <a:solidFill>
                <a:schemeClr val="bg2"/>
              </a:solidFill>
            </a:endParaRPr>
          </a:p>
          <a:p>
            <a:r>
              <a:rPr lang="en-US" sz="1600" i="1" dirty="0" err="1">
                <a:solidFill>
                  <a:schemeClr val="bg2"/>
                </a:solidFill>
              </a:rPr>
              <a:t>bsdf</a:t>
            </a:r>
            <a:r>
              <a:rPr lang="en-US" sz="1600" i="1" dirty="0">
                <a:solidFill>
                  <a:schemeClr val="bg2"/>
                </a:solidFill>
              </a:rPr>
              <a:t>-tool</a:t>
            </a:r>
            <a:r>
              <a:rPr lang="en-US" sz="1600" dirty="0">
                <a:solidFill>
                  <a:schemeClr val="bg2"/>
                </a:solidFill>
              </a:rPr>
              <a:t>’s re-measured Z307 (right):</a:t>
            </a:r>
          </a:p>
          <a:p>
            <a:pPr marL="285750" indent="-285750">
              <a:buFont typeface="Arial" panose="020B0604020202020204" pitchFamily="34" charset="0"/>
              <a:buChar char="•"/>
            </a:pPr>
            <a:r>
              <a:rPr lang="en-US" sz="1600" dirty="0">
                <a:solidFill>
                  <a:schemeClr val="bg2"/>
                </a:solidFill>
              </a:rPr>
              <a:t>No significant change… (so keep using same “Aeroglaze_9924Primer_Z307Black_onAlum” file).</a:t>
            </a:r>
          </a:p>
          <a:p>
            <a:pPr marL="285750" indent="-285750">
              <a:buFont typeface="Arial" panose="020B0604020202020204" pitchFamily="34" charset="0"/>
              <a:buChar char="•"/>
            </a:pPr>
            <a:r>
              <a:rPr lang="en-US" sz="1600" dirty="0">
                <a:solidFill>
                  <a:schemeClr val="accent3"/>
                </a:solidFill>
              </a:rPr>
              <a:t>Thought maybe bug in blank dataset, so tried v2.0 blank file, but similar (side note: adds confidence that blank v3.2 agrees with blank v2.0)</a:t>
            </a:r>
          </a:p>
          <a:p>
            <a:pPr marL="285750" indent="-285750">
              <a:buFont typeface="Arial" panose="020B0604020202020204" pitchFamily="34" charset="0"/>
              <a:buChar char="•"/>
            </a:pPr>
            <a:endParaRPr lang="en-US" sz="1600" dirty="0">
              <a:solidFill>
                <a:schemeClr val="accent3"/>
              </a:solidFill>
            </a:endParaRPr>
          </a:p>
          <a:p>
            <a:pPr marL="285750" indent="-285750">
              <a:buFont typeface="Arial" panose="020B0604020202020204" pitchFamily="34" charset="0"/>
              <a:buChar char="•"/>
            </a:pPr>
            <a:r>
              <a:rPr lang="en-US" sz="1600" dirty="0">
                <a:solidFill>
                  <a:schemeClr val="tx1"/>
                </a:solidFill>
              </a:rPr>
              <a:t>Also… thought could be cosine factor bug; that is if RT-300S outputs BRF, and BRF = RT/cos(R), ... But 1/cos increases values not decreases</a:t>
            </a:r>
            <a:br>
              <a:rPr lang="en-US" sz="1600" dirty="0">
                <a:solidFill>
                  <a:schemeClr val="bg2"/>
                </a:solidFill>
              </a:rPr>
            </a:br>
            <a:endParaRPr lang="en-US" sz="1600" dirty="0">
              <a:solidFill>
                <a:schemeClr val="bg2"/>
              </a:solidFill>
            </a:endParaRPr>
          </a:p>
        </p:txBody>
      </p:sp>
      <p:sp>
        <p:nvSpPr>
          <p:cNvPr id="4" name="TextBox 3">
            <a:extLst>
              <a:ext uri="{FF2B5EF4-FFF2-40B4-BE49-F238E27FC236}">
                <a16:creationId xmlns:a16="http://schemas.microsoft.com/office/drawing/2014/main" id="{F9D5EC00-A68C-45C3-C24C-EEC5A625F068}"/>
              </a:ext>
            </a:extLst>
          </p:cNvPr>
          <p:cNvSpPr txBox="1"/>
          <p:nvPr/>
        </p:nvSpPr>
        <p:spPr>
          <a:xfrm>
            <a:off x="6909135" y="2878723"/>
            <a:ext cx="1244266" cy="338554"/>
          </a:xfrm>
          <a:prstGeom prst="rect">
            <a:avLst/>
          </a:prstGeom>
          <a:solidFill>
            <a:schemeClr val="bg1"/>
          </a:solidFill>
          <a:ln w="38100">
            <a:solidFill>
              <a:schemeClr val="bg2"/>
            </a:solidFill>
          </a:ln>
        </p:spPr>
        <p:txBody>
          <a:bodyPr wrap="square" rtlCol="0">
            <a:spAutoFit/>
          </a:bodyPr>
          <a:lstStyle/>
          <a:p>
            <a:r>
              <a:rPr lang="en-US" sz="1600" b="1" dirty="0">
                <a:solidFill>
                  <a:schemeClr val="bg2"/>
                </a:solidFill>
              </a:rPr>
              <a:t>TIS = 2.5%</a:t>
            </a:r>
          </a:p>
        </p:txBody>
      </p:sp>
      <p:sp>
        <p:nvSpPr>
          <p:cNvPr id="6" name="TextBox 5">
            <a:extLst>
              <a:ext uri="{FF2B5EF4-FFF2-40B4-BE49-F238E27FC236}">
                <a16:creationId xmlns:a16="http://schemas.microsoft.com/office/drawing/2014/main" id="{6D914AC8-F130-F400-2C6E-FCBE9EA08B48}"/>
              </a:ext>
            </a:extLst>
          </p:cNvPr>
          <p:cNvSpPr txBox="1"/>
          <p:nvPr/>
        </p:nvSpPr>
        <p:spPr>
          <a:xfrm>
            <a:off x="6909135" y="5962067"/>
            <a:ext cx="1244266" cy="338554"/>
          </a:xfrm>
          <a:prstGeom prst="rect">
            <a:avLst/>
          </a:prstGeom>
          <a:solidFill>
            <a:schemeClr val="bg1"/>
          </a:solidFill>
          <a:ln w="38100">
            <a:solidFill>
              <a:schemeClr val="bg2"/>
            </a:solidFill>
          </a:ln>
        </p:spPr>
        <p:txBody>
          <a:bodyPr wrap="square" rtlCol="0">
            <a:spAutoFit/>
          </a:bodyPr>
          <a:lstStyle/>
          <a:p>
            <a:r>
              <a:rPr lang="en-US" sz="1600" b="1" dirty="0">
                <a:solidFill>
                  <a:schemeClr val="bg2"/>
                </a:solidFill>
              </a:rPr>
              <a:t>TIS = 6.2%</a:t>
            </a:r>
          </a:p>
        </p:txBody>
      </p:sp>
      <p:sp>
        <p:nvSpPr>
          <p:cNvPr id="12" name="TextBox 11">
            <a:extLst>
              <a:ext uri="{FF2B5EF4-FFF2-40B4-BE49-F238E27FC236}">
                <a16:creationId xmlns:a16="http://schemas.microsoft.com/office/drawing/2014/main" id="{48C0E832-A2BE-9ADE-61B1-EA377D327E81}"/>
              </a:ext>
            </a:extLst>
          </p:cNvPr>
          <p:cNvSpPr txBox="1"/>
          <p:nvPr/>
        </p:nvSpPr>
        <p:spPr>
          <a:xfrm>
            <a:off x="10481655" y="2878723"/>
            <a:ext cx="1244266" cy="338554"/>
          </a:xfrm>
          <a:prstGeom prst="rect">
            <a:avLst/>
          </a:prstGeom>
          <a:solidFill>
            <a:schemeClr val="bg1"/>
          </a:solidFill>
          <a:ln w="38100">
            <a:solidFill>
              <a:schemeClr val="accent3"/>
            </a:solidFill>
          </a:ln>
        </p:spPr>
        <p:txBody>
          <a:bodyPr wrap="square" rtlCol="0">
            <a:spAutoFit/>
          </a:bodyPr>
          <a:lstStyle/>
          <a:p>
            <a:r>
              <a:rPr lang="en-US" sz="1600" b="1" dirty="0">
                <a:solidFill>
                  <a:schemeClr val="accent3"/>
                </a:solidFill>
              </a:rPr>
              <a:t>TIS = 2.6%</a:t>
            </a:r>
          </a:p>
        </p:txBody>
      </p:sp>
      <p:sp>
        <p:nvSpPr>
          <p:cNvPr id="14" name="TextBox 13">
            <a:extLst>
              <a:ext uri="{FF2B5EF4-FFF2-40B4-BE49-F238E27FC236}">
                <a16:creationId xmlns:a16="http://schemas.microsoft.com/office/drawing/2014/main" id="{768AA6E4-230A-7238-D24D-B67EC38FEF81}"/>
              </a:ext>
            </a:extLst>
          </p:cNvPr>
          <p:cNvSpPr txBox="1"/>
          <p:nvPr/>
        </p:nvSpPr>
        <p:spPr>
          <a:xfrm>
            <a:off x="10481655" y="5962067"/>
            <a:ext cx="1244266" cy="338554"/>
          </a:xfrm>
          <a:prstGeom prst="rect">
            <a:avLst/>
          </a:prstGeom>
          <a:solidFill>
            <a:schemeClr val="bg1"/>
          </a:solidFill>
          <a:ln w="38100">
            <a:solidFill>
              <a:schemeClr val="accent3"/>
            </a:solidFill>
          </a:ln>
        </p:spPr>
        <p:txBody>
          <a:bodyPr wrap="square" rtlCol="0">
            <a:spAutoFit/>
          </a:bodyPr>
          <a:lstStyle/>
          <a:p>
            <a:r>
              <a:rPr lang="en-US" sz="1600" b="1" dirty="0">
                <a:solidFill>
                  <a:schemeClr val="accent3"/>
                </a:solidFill>
              </a:rPr>
              <a:t>TIS = 6.3%</a:t>
            </a:r>
          </a:p>
        </p:txBody>
      </p:sp>
    </p:spTree>
    <p:extLst>
      <p:ext uri="{BB962C8B-B14F-4D97-AF65-F5344CB8AC3E}">
        <p14:creationId xmlns:p14="http://schemas.microsoft.com/office/powerpoint/2010/main" val="94118124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91353-85D8-A09C-F9D1-64E506B361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C5F45F-BCA5-00C6-EF72-20C1B21F2D7F}"/>
              </a:ext>
            </a:extLst>
          </p:cNvPr>
          <p:cNvSpPr>
            <a:spLocks noGrp="1"/>
          </p:cNvSpPr>
          <p:nvPr>
            <p:ph type="title"/>
          </p:nvPr>
        </p:nvSpPr>
        <p:spPr>
          <a:xfrm>
            <a:off x="609599" y="152718"/>
            <a:ext cx="9011323" cy="640080"/>
          </a:xfrm>
        </p:spPr>
        <p:txBody>
          <a:bodyPr>
            <a:normAutofit/>
          </a:bodyPr>
          <a:lstStyle/>
          <a:p>
            <a:r>
              <a:rPr lang="en-US" dirty="0"/>
              <a:t>Moving forward</a:t>
            </a:r>
          </a:p>
        </p:txBody>
      </p:sp>
      <p:sp>
        <p:nvSpPr>
          <p:cNvPr id="3" name="Text Placeholder 2">
            <a:extLst>
              <a:ext uri="{FF2B5EF4-FFF2-40B4-BE49-F238E27FC236}">
                <a16:creationId xmlns:a16="http://schemas.microsoft.com/office/drawing/2014/main" id="{DFF31AE2-1B33-1B4C-50C8-91D272B0D04B}"/>
              </a:ext>
            </a:extLst>
          </p:cNvPr>
          <p:cNvSpPr>
            <a:spLocks noGrp="1"/>
          </p:cNvSpPr>
          <p:nvPr>
            <p:ph type="body" idx="1"/>
          </p:nvPr>
        </p:nvSpPr>
        <p:spPr>
          <a:xfrm>
            <a:off x="609599" y="1024128"/>
            <a:ext cx="9948334" cy="5833872"/>
          </a:xfrm>
        </p:spPr>
        <p:txBody>
          <a:bodyPr>
            <a:normAutofit/>
          </a:bodyPr>
          <a:lstStyle/>
          <a:p>
            <a:r>
              <a:rPr lang="en-US" sz="2000" b="0" dirty="0"/>
              <a:t>Need to know wavelength of RTX data and FRED model</a:t>
            </a:r>
          </a:p>
          <a:p>
            <a:pPr lvl="2"/>
            <a:r>
              <a:rPr lang="en-US" sz="2000" dirty="0"/>
              <a:t>B/c expecting higher reflectivity in near IR</a:t>
            </a:r>
          </a:p>
          <a:p>
            <a:pPr lvl="2"/>
            <a:endParaRPr lang="en-US" sz="2000" dirty="0"/>
          </a:p>
          <a:p>
            <a:endParaRPr lang="en-US" sz="2000" b="0" dirty="0"/>
          </a:p>
          <a:p>
            <a:endParaRPr lang="en-US" sz="2000" b="0" dirty="0"/>
          </a:p>
          <a:p>
            <a:endParaRPr lang="en-US" sz="2000" b="0" dirty="0"/>
          </a:p>
          <a:p>
            <a:endParaRPr lang="en-US" sz="2000" b="0" dirty="0"/>
          </a:p>
          <a:p>
            <a:endParaRPr lang="en-US" sz="2000" b="0" dirty="0"/>
          </a:p>
          <a:p>
            <a:endParaRPr lang="en-US" sz="2000" b="0" dirty="0"/>
          </a:p>
          <a:p>
            <a:endParaRPr lang="en-US" sz="2000" b="0" dirty="0"/>
          </a:p>
          <a:p>
            <a:endParaRPr lang="en-US" sz="2000" b="0" dirty="0"/>
          </a:p>
          <a:p>
            <a:endParaRPr lang="en-US" sz="2000" b="0" dirty="0"/>
          </a:p>
          <a:p>
            <a:endParaRPr lang="en-US" sz="2000" b="0" dirty="0"/>
          </a:p>
          <a:p>
            <a:pPr marL="533400" lvl="1" indent="0">
              <a:buNone/>
            </a:pPr>
            <a:endParaRPr lang="en-US" sz="2000" dirty="0"/>
          </a:p>
          <a:p>
            <a:pPr lvl="1"/>
            <a:endParaRPr lang="en-US" sz="2000" dirty="0"/>
          </a:p>
        </p:txBody>
      </p:sp>
      <p:pic>
        <p:nvPicPr>
          <p:cNvPr id="13" name="Picture 12">
            <a:extLst>
              <a:ext uri="{FF2B5EF4-FFF2-40B4-BE49-F238E27FC236}">
                <a16:creationId xmlns:a16="http://schemas.microsoft.com/office/drawing/2014/main" id="{E66B6094-A69D-BDA8-ABAC-5F6D8A136245}"/>
              </a:ext>
            </a:extLst>
          </p:cNvPr>
          <p:cNvPicPr>
            <a:picLocks noChangeAspect="1"/>
          </p:cNvPicPr>
          <p:nvPr/>
        </p:nvPicPr>
        <p:blipFill>
          <a:blip r:embed="rId2"/>
          <a:stretch>
            <a:fillRect/>
          </a:stretch>
        </p:blipFill>
        <p:spPr>
          <a:xfrm>
            <a:off x="2069216" y="1948095"/>
            <a:ext cx="5076651" cy="3686913"/>
          </a:xfrm>
          <a:prstGeom prst="rect">
            <a:avLst/>
          </a:prstGeom>
          <a:ln>
            <a:solidFill>
              <a:schemeClr val="tx1"/>
            </a:solidFill>
          </a:ln>
        </p:spPr>
      </p:pic>
      <p:sp>
        <p:nvSpPr>
          <p:cNvPr id="15" name="TextBox 14">
            <a:extLst>
              <a:ext uri="{FF2B5EF4-FFF2-40B4-BE49-F238E27FC236}">
                <a16:creationId xmlns:a16="http://schemas.microsoft.com/office/drawing/2014/main" id="{36A0EF63-58A0-F1CC-EC5A-C23786FD11E3}"/>
              </a:ext>
            </a:extLst>
          </p:cNvPr>
          <p:cNvSpPr txBox="1"/>
          <p:nvPr/>
        </p:nvSpPr>
        <p:spPr>
          <a:xfrm>
            <a:off x="7230533" y="2074333"/>
            <a:ext cx="4190999" cy="2862322"/>
          </a:xfrm>
          <a:prstGeom prst="rect">
            <a:avLst/>
          </a:prstGeom>
          <a:noFill/>
        </p:spPr>
        <p:txBody>
          <a:bodyPr wrap="square" rtlCol="0">
            <a:spAutoFit/>
          </a:bodyPr>
          <a:lstStyle/>
          <a:p>
            <a:r>
              <a:rPr lang="en-US" sz="1800" dirty="0"/>
              <a:t>Except Z307  (light green) has near even reflectance across wavelength…. </a:t>
            </a:r>
          </a:p>
          <a:p>
            <a:endParaRPr lang="en-US" sz="1800" dirty="0"/>
          </a:p>
          <a:p>
            <a:r>
              <a:rPr lang="en-US" sz="1800" dirty="0"/>
              <a:t>And expecting TIS to scale by </a:t>
            </a:r>
          </a:p>
          <a:p>
            <a:r>
              <a:rPr lang="en-US" sz="1800" dirty="0"/>
              <a:t>(RT_lambda2 / RT_lambda1)</a:t>
            </a:r>
          </a:p>
          <a:p>
            <a:r>
              <a:rPr lang="en-US" sz="1800" dirty="0"/>
              <a:t>factor… </a:t>
            </a:r>
          </a:p>
          <a:p>
            <a:endParaRPr lang="en-US" sz="1800" dirty="0"/>
          </a:p>
          <a:p>
            <a:r>
              <a:rPr lang="en-US" sz="1800" dirty="0"/>
              <a:t>But already noted TIS at normal vs TIS at grazing have different scale factors needed</a:t>
            </a:r>
          </a:p>
        </p:txBody>
      </p:sp>
    </p:spTree>
    <p:extLst>
      <p:ext uri="{BB962C8B-B14F-4D97-AF65-F5344CB8AC3E}">
        <p14:creationId xmlns:p14="http://schemas.microsoft.com/office/powerpoint/2010/main" val="58946481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41E70-02D8-B09A-C262-3A2578CDFA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427A01-46E8-809A-0E3A-0B74D1B8FEDB}"/>
              </a:ext>
            </a:extLst>
          </p:cNvPr>
          <p:cNvSpPr>
            <a:spLocks noGrp="1"/>
          </p:cNvSpPr>
          <p:nvPr>
            <p:ph type="title"/>
          </p:nvPr>
        </p:nvSpPr>
        <p:spPr>
          <a:xfrm>
            <a:off x="609599" y="152718"/>
            <a:ext cx="9011323" cy="640080"/>
          </a:xfrm>
        </p:spPr>
        <p:txBody>
          <a:bodyPr>
            <a:normAutofit/>
          </a:bodyPr>
          <a:lstStyle/>
          <a:p>
            <a:r>
              <a:rPr lang="en-US" dirty="0"/>
              <a:t>Moving forward</a:t>
            </a:r>
          </a:p>
        </p:txBody>
      </p:sp>
      <p:sp>
        <p:nvSpPr>
          <p:cNvPr id="3" name="Text Placeholder 2">
            <a:extLst>
              <a:ext uri="{FF2B5EF4-FFF2-40B4-BE49-F238E27FC236}">
                <a16:creationId xmlns:a16="http://schemas.microsoft.com/office/drawing/2014/main" id="{0CFEDD15-05AB-94D4-EB64-693F53BB082D}"/>
              </a:ext>
            </a:extLst>
          </p:cNvPr>
          <p:cNvSpPr>
            <a:spLocks noGrp="1"/>
          </p:cNvSpPr>
          <p:nvPr>
            <p:ph type="body" idx="1"/>
          </p:nvPr>
        </p:nvSpPr>
        <p:spPr>
          <a:xfrm>
            <a:off x="609599" y="1024128"/>
            <a:ext cx="6079068" cy="5833872"/>
          </a:xfrm>
        </p:spPr>
        <p:txBody>
          <a:bodyPr>
            <a:normAutofit/>
          </a:bodyPr>
          <a:lstStyle/>
          <a:p>
            <a:r>
              <a:rPr lang="en-US" sz="2000" b="0" dirty="0"/>
              <a:t>Measure 12”x12” and see if results are same</a:t>
            </a:r>
          </a:p>
          <a:p>
            <a:pPr lvl="1"/>
            <a:r>
              <a:rPr lang="en-US" sz="1600" dirty="0"/>
              <a:t>Yes, results are same</a:t>
            </a:r>
          </a:p>
          <a:p>
            <a:pPr lvl="1"/>
            <a:r>
              <a:rPr lang="en-US" sz="1600" b="0" dirty="0"/>
              <a:t>Meaning error is in data processing (if assuming RTX and FRED’s Z306 are true)</a:t>
            </a:r>
          </a:p>
          <a:p>
            <a:pPr lvl="1"/>
            <a:endParaRPr lang="en-US" sz="2000" dirty="0"/>
          </a:p>
          <a:p>
            <a:pPr lvl="1"/>
            <a:endParaRPr lang="en-US" sz="2000" dirty="0"/>
          </a:p>
        </p:txBody>
      </p:sp>
      <p:pic>
        <p:nvPicPr>
          <p:cNvPr id="5" name="Picture 4">
            <a:extLst>
              <a:ext uri="{FF2B5EF4-FFF2-40B4-BE49-F238E27FC236}">
                <a16:creationId xmlns:a16="http://schemas.microsoft.com/office/drawing/2014/main" id="{8DE79C30-E775-E285-70BA-405743A89606}"/>
              </a:ext>
            </a:extLst>
          </p:cNvPr>
          <p:cNvPicPr>
            <a:picLocks noChangeAspect="1"/>
          </p:cNvPicPr>
          <p:nvPr/>
        </p:nvPicPr>
        <p:blipFill>
          <a:blip r:embed="rId2"/>
          <a:stretch>
            <a:fillRect/>
          </a:stretch>
        </p:blipFill>
        <p:spPr>
          <a:xfrm>
            <a:off x="6773333" y="99541"/>
            <a:ext cx="3759202" cy="6677530"/>
          </a:xfrm>
          <a:prstGeom prst="rect">
            <a:avLst/>
          </a:prstGeom>
          <a:ln>
            <a:solidFill>
              <a:schemeClr val="tx1"/>
            </a:solidFill>
          </a:ln>
        </p:spPr>
      </p:pic>
      <p:pic>
        <p:nvPicPr>
          <p:cNvPr id="7" name="Picture 6">
            <a:extLst>
              <a:ext uri="{FF2B5EF4-FFF2-40B4-BE49-F238E27FC236}">
                <a16:creationId xmlns:a16="http://schemas.microsoft.com/office/drawing/2014/main" id="{70C61D59-A553-59DC-4018-38B6DAE227B9}"/>
              </a:ext>
            </a:extLst>
          </p:cNvPr>
          <p:cNvPicPr>
            <a:picLocks noChangeAspect="1"/>
          </p:cNvPicPr>
          <p:nvPr/>
        </p:nvPicPr>
        <p:blipFill>
          <a:blip r:embed="rId3"/>
          <a:stretch>
            <a:fillRect/>
          </a:stretch>
        </p:blipFill>
        <p:spPr>
          <a:xfrm>
            <a:off x="609599" y="2882166"/>
            <a:ext cx="2082801" cy="3687967"/>
          </a:xfrm>
          <a:prstGeom prst="rect">
            <a:avLst/>
          </a:prstGeom>
        </p:spPr>
      </p:pic>
      <p:sp>
        <p:nvSpPr>
          <p:cNvPr id="8" name="TextBox 7">
            <a:extLst>
              <a:ext uri="{FF2B5EF4-FFF2-40B4-BE49-F238E27FC236}">
                <a16:creationId xmlns:a16="http://schemas.microsoft.com/office/drawing/2014/main" id="{DAAA429A-567F-8C4C-72DA-A41C214BE476}"/>
              </a:ext>
            </a:extLst>
          </p:cNvPr>
          <p:cNvSpPr txBox="1"/>
          <p:nvPr/>
        </p:nvSpPr>
        <p:spPr>
          <a:xfrm>
            <a:off x="2971799" y="3092437"/>
            <a:ext cx="3369734" cy="3323987"/>
          </a:xfrm>
          <a:prstGeom prst="rect">
            <a:avLst/>
          </a:prstGeom>
          <a:noFill/>
        </p:spPr>
        <p:txBody>
          <a:bodyPr wrap="square" rtlCol="0">
            <a:spAutoFit/>
          </a:bodyPr>
          <a:lstStyle/>
          <a:p>
            <a:r>
              <a:rPr lang="en-US" b="1" dirty="0">
                <a:solidFill>
                  <a:schemeClr val="bg2"/>
                </a:solidFill>
                <a:highlight>
                  <a:srgbClr val="FFFF00"/>
                </a:highlight>
              </a:rPr>
              <a:t>Tried dividing BRDF by cos(incident angle) per intuition….. </a:t>
            </a:r>
            <a:br>
              <a:rPr lang="en-US" dirty="0">
                <a:solidFill>
                  <a:schemeClr val="bg2"/>
                </a:solidFill>
              </a:rPr>
            </a:br>
            <a:endParaRPr lang="en-US" dirty="0">
              <a:solidFill>
                <a:schemeClr val="bg2"/>
              </a:solidFill>
            </a:endParaRPr>
          </a:p>
          <a:p>
            <a:r>
              <a:rPr lang="en-US" dirty="0">
                <a:solidFill>
                  <a:schemeClr val="bg2"/>
                </a:solidFill>
              </a:rPr>
              <a:t>Yields near grazing TIS of ~18%</a:t>
            </a:r>
          </a:p>
          <a:p>
            <a:endParaRPr lang="en-US" dirty="0">
              <a:solidFill>
                <a:schemeClr val="bg2"/>
              </a:solidFill>
            </a:endParaRPr>
          </a:p>
          <a:p>
            <a:r>
              <a:rPr lang="en-US" dirty="0">
                <a:solidFill>
                  <a:schemeClr val="bg2"/>
                </a:solidFill>
              </a:rPr>
              <a:t>Maybe this is solution, but need to confirm physics/math is expected</a:t>
            </a:r>
          </a:p>
          <a:p>
            <a:endParaRPr lang="en-US" dirty="0">
              <a:solidFill>
                <a:schemeClr val="bg2"/>
              </a:solidFill>
            </a:endParaRPr>
          </a:p>
          <a:p>
            <a:r>
              <a:rPr lang="en-US" dirty="0">
                <a:solidFill>
                  <a:schemeClr val="bg2"/>
                </a:solidFill>
              </a:rPr>
              <a:t>Also, if solution, still may need a linear addition constant to adjust zero-RT-floor from (2.6%, 18%) TIS to (2.6% + C, 18% + C) TIS </a:t>
            </a:r>
          </a:p>
          <a:p>
            <a:pPr marL="285750" indent="-285750">
              <a:buFont typeface="Arial" panose="020B0604020202020204" pitchFamily="34" charset="0"/>
              <a:buChar char="•"/>
            </a:pPr>
            <a:r>
              <a:rPr lang="en-US" dirty="0">
                <a:solidFill>
                  <a:schemeClr val="bg2"/>
                </a:solidFill>
              </a:rPr>
              <a:t>Currently subtracting blank RT from sample RT, then setting all new RT &lt; 0 equal to 0</a:t>
            </a:r>
          </a:p>
        </p:txBody>
      </p:sp>
      <p:sp>
        <p:nvSpPr>
          <p:cNvPr id="9" name="Rectangle 8">
            <a:extLst>
              <a:ext uri="{FF2B5EF4-FFF2-40B4-BE49-F238E27FC236}">
                <a16:creationId xmlns:a16="http://schemas.microsoft.com/office/drawing/2014/main" id="{F5CF463E-50B9-FB5F-37DF-246A7EE12F8B}"/>
              </a:ext>
            </a:extLst>
          </p:cNvPr>
          <p:cNvSpPr/>
          <p:nvPr/>
        </p:nvSpPr>
        <p:spPr>
          <a:xfrm>
            <a:off x="465666" y="2768600"/>
            <a:ext cx="5952067" cy="3936682"/>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1" name="TextBox 10">
            <a:extLst>
              <a:ext uri="{FF2B5EF4-FFF2-40B4-BE49-F238E27FC236}">
                <a16:creationId xmlns:a16="http://schemas.microsoft.com/office/drawing/2014/main" id="{FF624C69-5308-69FA-1845-51627F752A53}"/>
              </a:ext>
            </a:extLst>
          </p:cNvPr>
          <p:cNvSpPr txBox="1"/>
          <p:nvPr/>
        </p:nvSpPr>
        <p:spPr>
          <a:xfrm>
            <a:off x="8998789" y="2302990"/>
            <a:ext cx="1244266" cy="338554"/>
          </a:xfrm>
          <a:prstGeom prst="rect">
            <a:avLst/>
          </a:prstGeom>
          <a:solidFill>
            <a:schemeClr val="bg1"/>
          </a:solidFill>
          <a:ln w="38100">
            <a:solidFill>
              <a:schemeClr val="tx1"/>
            </a:solidFill>
          </a:ln>
        </p:spPr>
        <p:txBody>
          <a:bodyPr wrap="square" rtlCol="0">
            <a:spAutoFit/>
          </a:bodyPr>
          <a:lstStyle/>
          <a:p>
            <a:r>
              <a:rPr lang="en-US" sz="1600" b="1" dirty="0">
                <a:solidFill>
                  <a:schemeClr val="tx1"/>
                </a:solidFill>
              </a:rPr>
              <a:t>TIS = 2.5%</a:t>
            </a:r>
          </a:p>
        </p:txBody>
      </p:sp>
      <p:sp>
        <p:nvSpPr>
          <p:cNvPr id="14" name="TextBox 13">
            <a:extLst>
              <a:ext uri="{FF2B5EF4-FFF2-40B4-BE49-F238E27FC236}">
                <a16:creationId xmlns:a16="http://schemas.microsoft.com/office/drawing/2014/main" id="{AF4C3010-02DB-438E-8C16-742EE70FD8EE}"/>
              </a:ext>
            </a:extLst>
          </p:cNvPr>
          <p:cNvSpPr txBox="1"/>
          <p:nvPr/>
        </p:nvSpPr>
        <p:spPr>
          <a:xfrm>
            <a:off x="8998789" y="5623403"/>
            <a:ext cx="1244266" cy="338554"/>
          </a:xfrm>
          <a:prstGeom prst="rect">
            <a:avLst/>
          </a:prstGeom>
          <a:solidFill>
            <a:schemeClr val="bg1"/>
          </a:solidFill>
          <a:ln w="38100">
            <a:solidFill>
              <a:schemeClr val="tx1"/>
            </a:solidFill>
          </a:ln>
        </p:spPr>
        <p:txBody>
          <a:bodyPr wrap="square" rtlCol="0">
            <a:spAutoFit/>
          </a:bodyPr>
          <a:lstStyle/>
          <a:p>
            <a:r>
              <a:rPr lang="en-US" sz="1600" b="1" dirty="0">
                <a:solidFill>
                  <a:schemeClr val="tx1"/>
                </a:solidFill>
              </a:rPr>
              <a:t>TIS = 6.1%</a:t>
            </a:r>
          </a:p>
        </p:txBody>
      </p:sp>
      <p:sp>
        <p:nvSpPr>
          <p:cNvPr id="17" name="TextBox 16">
            <a:extLst>
              <a:ext uri="{FF2B5EF4-FFF2-40B4-BE49-F238E27FC236}">
                <a16:creationId xmlns:a16="http://schemas.microsoft.com/office/drawing/2014/main" id="{3AC4E158-7BAD-2F73-1179-CC886D362092}"/>
              </a:ext>
            </a:extLst>
          </p:cNvPr>
          <p:cNvSpPr txBox="1"/>
          <p:nvPr/>
        </p:nvSpPr>
        <p:spPr>
          <a:xfrm>
            <a:off x="1481667" y="4085284"/>
            <a:ext cx="1346200" cy="338554"/>
          </a:xfrm>
          <a:prstGeom prst="rect">
            <a:avLst/>
          </a:prstGeom>
          <a:solidFill>
            <a:schemeClr val="bg1"/>
          </a:solidFill>
          <a:ln w="38100">
            <a:solidFill>
              <a:schemeClr val="bg2"/>
            </a:solidFill>
          </a:ln>
        </p:spPr>
        <p:txBody>
          <a:bodyPr wrap="square" rtlCol="0">
            <a:spAutoFit/>
          </a:bodyPr>
          <a:lstStyle/>
          <a:p>
            <a:r>
              <a:rPr lang="en-US" sz="1600" b="1" dirty="0">
                <a:solidFill>
                  <a:schemeClr val="bg2"/>
                </a:solidFill>
              </a:rPr>
              <a:t>TIS = 2.6%</a:t>
            </a:r>
          </a:p>
        </p:txBody>
      </p:sp>
      <p:sp>
        <p:nvSpPr>
          <p:cNvPr id="19" name="TextBox 18">
            <a:extLst>
              <a:ext uri="{FF2B5EF4-FFF2-40B4-BE49-F238E27FC236}">
                <a16:creationId xmlns:a16="http://schemas.microsoft.com/office/drawing/2014/main" id="{3EF54084-A8ED-8660-78F2-298D45F8EDC8}"/>
              </a:ext>
            </a:extLst>
          </p:cNvPr>
          <p:cNvSpPr txBox="1"/>
          <p:nvPr/>
        </p:nvSpPr>
        <p:spPr>
          <a:xfrm>
            <a:off x="1481667" y="5965510"/>
            <a:ext cx="1346200" cy="338554"/>
          </a:xfrm>
          <a:prstGeom prst="rect">
            <a:avLst/>
          </a:prstGeom>
          <a:solidFill>
            <a:schemeClr val="bg1"/>
          </a:solidFill>
          <a:ln w="38100">
            <a:solidFill>
              <a:schemeClr val="bg2"/>
            </a:solidFill>
          </a:ln>
        </p:spPr>
        <p:txBody>
          <a:bodyPr wrap="square" rtlCol="0">
            <a:spAutoFit/>
          </a:bodyPr>
          <a:lstStyle/>
          <a:p>
            <a:r>
              <a:rPr lang="en-US" sz="1600" b="1" dirty="0">
                <a:solidFill>
                  <a:schemeClr val="bg2"/>
                </a:solidFill>
              </a:rPr>
              <a:t>TIS = 17.8%</a:t>
            </a:r>
          </a:p>
        </p:txBody>
      </p:sp>
    </p:spTree>
    <p:extLst>
      <p:ext uri="{BB962C8B-B14F-4D97-AF65-F5344CB8AC3E}">
        <p14:creationId xmlns:p14="http://schemas.microsoft.com/office/powerpoint/2010/main" val="1283146642"/>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A0701-4FFA-1829-4451-C634D88E25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F14319-6188-F7A2-5D21-A5C11156CE87}"/>
              </a:ext>
            </a:extLst>
          </p:cNvPr>
          <p:cNvSpPr>
            <a:spLocks noGrp="1"/>
          </p:cNvSpPr>
          <p:nvPr>
            <p:ph type="title"/>
          </p:nvPr>
        </p:nvSpPr>
        <p:spPr>
          <a:xfrm>
            <a:off x="609599" y="152718"/>
            <a:ext cx="9011323" cy="640080"/>
          </a:xfrm>
        </p:spPr>
        <p:txBody>
          <a:bodyPr>
            <a:normAutofit/>
          </a:bodyPr>
          <a:lstStyle/>
          <a:p>
            <a:r>
              <a:rPr lang="en-US" dirty="0"/>
              <a:t>How RT floor changes TIS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FB7BBE7A-4F00-2202-EAF0-0C38B2B615F6}"/>
                  </a:ext>
                </a:extLst>
              </p:cNvPr>
              <p:cNvSpPr>
                <a:spLocks noGrp="1"/>
              </p:cNvSpPr>
              <p:nvPr>
                <p:ph type="body" idx="1"/>
              </p:nvPr>
            </p:nvSpPr>
            <p:spPr>
              <a:xfrm>
                <a:off x="609598" y="1024128"/>
                <a:ext cx="11065935" cy="5833872"/>
              </a:xfrm>
            </p:spPr>
            <p:txBody>
              <a:bodyPr>
                <a:normAutofit/>
              </a:bodyPr>
              <a:lstStyle/>
              <a:p>
                <a:r>
                  <a:rPr lang="en-US" sz="2000" b="0" dirty="0"/>
                  <a:t>If adding constant to all RT, how does that drive TIS integral?</a:t>
                </a:r>
              </a:p>
              <a:p>
                <a:endParaRPr lang="en-US" sz="2000" b="0" dirty="0"/>
              </a:p>
              <a:p>
                <a:pPr marL="50800" indent="0">
                  <a:buNone/>
                </a:pPr>
                <a14:m>
                  <m:oMathPara xmlns:m="http://schemas.openxmlformats.org/officeDocument/2006/math">
                    <m:oMath>
                      <m:r>
                        <a:rPr lang="en-US" sz="2000" b="0" i="1" smtClean="0">
                          <a:latin typeface="Cambria Math" panose="02040503050406030204" pitchFamily="18" charset="0"/>
                        </a:rPr>
                        <m:t>𝑇𝐼𝑆</m:t>
                      </m:r>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𝜋</m:t>
                          </m:r>
                        </m:den>
                      </m:f>
                      <m:nary>
                        <m:naryPr>
                          <m:ctrlPr>
                            <a:rPr lang="en-US" sz="2000" b="0" i="0" smtClean="0">
                              <a:latin typeface="Cambria Math" panose="02040503050406030204" pitchFamily="18" charset="0"/>
                            </a:rPr>
                          </m:ctrlPr>
                        </m:naryPr>
                        <m:sub>
                          <m:r>
                            <m:rPr>
                              <m:sty m:val="p"/>
                              <m:brk m:alnAt="23"/>
                            </m:rPr>
                            <a:rPr lang="en-US" sz="2000" b="0" i="0" smtClean="0">
                              <a:latin typeface="Cambria Math" panose="02040503050406030204" pitchFamily="18" charset="0"/>
                            </a:rPr>
                            <m:t>h</m:t>
                          </m:r>
                          <m:r>
                            <m:rPr>
                              <m:sty m:val="p"/>
                              <m:brk m:alnAt="23"/>
                            </m:rPr>
                            <a:rPr lang="en-US" sz="2000" b="0" i="0" smtClean="0">
                              <a:latin typeface="Cambria Math" panose="02040503050406030204" pitchFamily="18" charset="0"/>
                            </a:rPr>
                            <m:t>e</m:t>
                          </m:r>
                          <m:r>
                            <m:rPr>
                              <m:sty m:val="p"/>
                              <m:brk m:alnAt="23"/>
                            </m:rPr>
                            <a:rPr lang="en-US" sz="2000" b="0" i="0" smtClean="0">
                              <a:latin typeface="Cambria Math" panose="02040503050406030204" pitchFamily="18" charset="0"/>
                            </a:rPr>
                            <m:t>m</m:t>
                          </m:r>
                          <m:r>
                            <m:rPr>
                              <m:sty m:val="p"/>
                              <m:brk m:alnAt="23"/>
                            </m:rPr>
                            <a:rPr lang="en-US" sz="2000" b="0" i="0" smtClean="0">
                              <a:latin typeface="Cambria Math" panose="02040503050406030204" pitchFamily="18" charset="0"/>
                            </a:rPr>
                            <m:t>i</m:t>
                          </m:r>
                          <m:r>
                            <m:rPr>
                              <m:sty m:val="p"/>
                              <m:brk m:alnAt="23"/>
                            </m:rPr>
                            <a:rPr lang="en-US" sz="2000" b="0" i="0" smtClean="0">
                              <a:latin typeface="Cambria Math" panose="02040503050406030204" pitchFamily="18" charset="0"/>
                            </a:rPr>
                            <m:t>s</m:t>
                          </m:r>
                          <m:r>
                            <m:rPr>
                              <m:sty m:val="p"/>
                              <m:brk m:alnAt="23"/>
                            </m:rPr>
                            <a:rPr lang="en-US" sz="2000" b="0" i="0" smtClean="0">
                              <a:latin typeface="Cambria Math" panose="02040503050406030204" pitchFamily="18" charset="0"/>
                            </a:rPr>
                            <m:t>p</m:t>
                          </m:r>
                          <m:r>
                            <m:rPr>
                              <m:sty m:val="p"/>
                              <m:brk m:alnAt="23"/>
                            </m:rPr>
                            <a:rPr lang="en-US" sz="2000" b="0" i="0" smtClean="0">
                              <a:latin typeface="Cambria Math" panose="02040503050406030204" pitchFamily="18" charset="0"/>
                            </a:rPr>
                            <m:t>h</m:t>
                          </m:r>
                          <m:r>
                            <m:rPr>
                              <m:sty m:val="p"/>
                              <m:brk m:alnAt="23"/>
                            </m:rPr>
                            <a:rPr lang="en-US" sz="2000" b="0" i="0" smtClean="0">
                              <a:latin typeface="Cambria Math" panose="02040503050406030204" pitchFamily="18" charset="0"/>
                            </a:rPr>
                            <m:t>e</m:t>
                          </m:r>
                          <m:r>
                            <m:rPr>
                              <m:sty m:val="p"/>
                              <m:brk m:alnAt="23"/>
                            </m:rPr>
                            <a:rPr lang="en-US" sz="2000" b="0" i="0" smtClean="0">
                              <a:latin typeface="Cambria Math" panose="02040503050406030204" pitchFamily="18" charset="0"/>
                            </a:rPr>
                            <m:t>r</m:t>
                          </m:r>
                          <m:r>
                            <m:rPr>
                              <m:sty m:val="p"/>
                              <m:brk m:alnAt="23"/>
                            </m:rPr>
                            <a:rPr lang="en-US" sz="2000" b="0" i="0" smtClean="0">
                              <a:latin typeface="Cambria Math" panose="02040503050406030204" pitchFamily="18" charset="0"/>
                            </a:rPr>
                            <m:t>e</m:t>
                          </m:r>
                        </m:sub>
                        <m:sup/>
                        <m:e>
                          <m:r>
                            <a:rPr lang="en-US" sz="2000" b="0" i="1" smtClean="0">
                              <a:latin typeface="Cambria Math" panose="02040503050406030204" pitchFamily="18" charset="0"/>
                            </a:rPr>
                            <m:t>𝑅𝑇</m:t>
                          </m:r>
                          <m:r>
                            <a:rPr lang="en-US" sz="2000" b="0" i="1" smtClean="0">
                              <a:latin typeface="Cambria Math" panose="02040503050406030204" pitchFamily="18" charset="0"/>
                            </a:rPr>
                            <m:t> </m:t>
                          </m:r>
                          <m:r>
                            <a:rPr lang="en-US" sz="2000" b="0" i="1" smtClean="0">
                              <a:latin typeface="Cambria Math" panose="02040503050406030204" pitchFamily="18" charset="0"/>
                            </a:rPr>
                            <m:t>𝑑</m:t>
                          </m:r>
                          <m:r>
                            <m:rPr>
                              <m:sty m:val="p"/>
                            </m:rPr>
                            <a:rPr lang="en-US" sz="2000" b="0" i="0" smtClean="0">
                              <a:latin typeface="Cambria Math" panose="02040503050406030204" pitchFamily="18" charset="0"/>
                            </a:rPr>
                            <m:t>Ω</m:t>
                          </m:r>
                        </m:e>
                      </m:nary>
                    </m:oMath>
                  </m:oMathPara>
                </a14:m>
                <a:endParaRPr lang="en-US" sz="2000" b="0" dirty="0"/>
              </a:p>
              <a:p>
                <a:pPr marL="50800" indent="0">
                  <a:buNone/>
                </a:pPr>
                <a:endParaRPr lang="en-US" sz="2000" b="0" dirty="0"/>
              </a:p>
              <a:p>
                <a:pPr marL="50800" indent="0">
                  <a:buNone/>
                </a:pPr>
                <a14:m>
                  <m:oMathPara xmlns:m="http://schemas.openxmlformats.org/officeDocument/2006/math">
                    <m:oMath>
                      <m:r>
                        <a:rPr lang="en-US" sz="2000" b="0" i="1" smtClean="0">
                          <a:latin typeface="Cambria Math" panose="02040503050406030204" pitchFamily="18" charset="0"/>
                          <a:ea typeface="Cambria Math" panose="02040503050406030204" pitchFamily="18" charset="0"/>
                        </a:rPr>
                        <m:t>⟹</m:t>
                      </m:r>
                      <m:r>
                        <a:rPr lang="en-US" sz="2000" b="0" i="1">
                          <a:latin typeface="Cambria Math" panose="02040503050406030204" pitchFamily="18" charset="0"/>
                        </a:rPr>
                        <m:t>𝑇𝐼</m:t>
                      </m:r>
                      <m:sSup>
                        <m:sSupPr>
                          <m:ctrlPr>
                            <a:rPr lang="en-US" sz="2000" b="0" i="1">
                              <a:latin typeface="Cambria Math" panose="02040503050406030204" pitchFamily="18" charset="0"/>
                            </a:rPr>
                          </m:ctrlPr>
                        </m:sSupPr>
                        <m:e>
                          <m:r>
                            <a:rPr lang="en-US" sz="2000" b="0" i="1">
                              <a:latin typeface="Cambria Math" panose="02040503050406030204" pitchFamily="18" charset="0"/>
                            </a:rPr>
                            <m:t>𝑆</m:t>
                          </m:r>
                        </m:e>
                        <m:sup>
                          <m:r>
                            <a:rPr lang="en-US" sz="2000" b="0" i="1" smtClean="0">
                              <a:latin typeface="Cambria Math" panose="02040503050406030204" pitchFamily="18" charset="0"/>
                            </a:rPr>
                            <m:t>′</m:t>
                          </m:r>
                        </m:sup>
                      </m:sSup>
                      <m:r>
                        <a:rPr lang="en-US" sz="2000" b="0" i="1">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𝜋</m:t>
                          </m:r>
                        </m:den>
                      </m:f>
                      <m:nary>
                        <m:naryPr>
                          <m:ctrlPr>
                            <a:rPr lang="en-US" sz="2000" b="0">
                              <a:latin typeface="Cambria Math" panose="02040503050406030204" pitchFamily="18" charset="0"/>
                            </a:rPr>
                          </m:ctrlPr>
                        </m:naryPr>
                        <m:sub>
                          <m:r>
                            <m:rPr>
                              <m:sty m:val="p"/>
                              <m:brk m:alnAt="23"/>
                            </m:rPr>
                            <a:rPr lang="en-US" sz="2000" b="0">
                              <a:latin typeface="Cambria Math" panose="02040503050406030204" pitchFamily="18" charset="0"/>
                            </a:rPr>
                            <m:t>h</m:t>
                          </m:r>
                          <m:r>
                            <m:rPr>
                              <m:sty m:val="p"/>
                              <m:brk m:alnAt="23"/>
                            </m:rPr>
                            <a:rPr lang="en-US" sz="2000" b="0">
                              <a:latin typeface="Cambria Math" panose="02040503050406030204" pitchFamily="18" charset="0"/>
                            </a:rPr>
                            <m:t>e</m:t>
                          </m:r>
                          <m:r>
                            <m:rPr>
                              <m:sty m:val="p"/>
                              <m:brk m:alnAt="23"/>
                            </m:rPr>
                            <a:rPr lang="en-US" sz="2000" b="0">
                              <a:latin typeface="Cambria Math" panose="02040503050406030204" pitchFamily="18" charset="0"/>
                            </a:rPr>
                            <m:t>m</m:t>
                          </m:r>
                          <m:r>
                            <m:rPr>
                              <m:sty m:val="p"/>
                              <m:brk m:alnAt="23"/>
                            </m:rPr>
                            <a:rPr lang="en-US" sz="2000" b="0">
                              <a:latin typeface="Cambria Math" panose="02040503050406030204" pitchFamily="18" charset="0"/>
                            </a:rPr>
                            <m:t>i</m:t>
                          </m:r>
                          <m:r>
                            <m:rPr>
                              <m:sty m:val="p"/>
                              <m:brk m:alnAt="23"/>
                            </m:rPr>
                            <a:rPr lang="en-US" sz="2000" b="0">
                              <a:latin typeface="Cambria Math" panose="02040503050406030204" pitchFamily="18" charset="0"/>
                            </a:rPr>
                            <m:t>s</m:t>
                          </m:r>
                          <m:r>
                            <m:rPr>
                              <m:sty m:val="p"/>
                              <m:brk m:alnAt="23"/>
                            </m:rPr>
                            <a:rPr lang="en-US" sz="2000" b="0">
                              <a:latin typeface="Cambria Math" panose="02040503050406030204" pitchFamily="18" charset="0"/>
                            </a:rPr>
                            <m:t>p</m:t>
                          </m:r>
                          <m:r>
                            <m:rPr>
                              <m:sty m:val="p"/>
                              <m:brk m:alnAt="23"/>
                            </m:rPr>
                            <a:rPr lang="en-US" sz="2000" b="0">
                              <a:latin typeface="Cambria Math" panose="02040503050406030204" pitchFamily="18" charset="0"/>
                            </a:rPr>
                            <m:t>h</m:t>
                          </m:r>
                          <m:r>
                            <m:rPr>
                              <m:sty m:val="p"/>
                              <m:brk m:alnAt="23"/>
                            </m:rPr>
                            <a:rPr lang="en-US" sz="2000" b="0">
                              <a:latin typeface="Cambria Math" panose="02040503050406030204" pitchFamily="18" charset="0"/>
                            </a:rPr>
                            <m:t>e</m:t>
                          </m:r>
                          <m:r>
                            <m:rPr>
                              <m:sty m:val="p"/>
                              <m:brk m:alnAt="23"/>
                            </m:rPr>
                            <a:rPr lang="en-US" sz="2000" b="0">
                              <a:latin typeface="Cambria Math" panose="02040503050406030204" pitchFamily="18" charset="0"/>
                            </a:rPr>
                            <m:t>r</m:t>
                          </m:r>
                          <m:r>
                            <m:rPr>
                              <m:sty m:val="p"/>
                              <m:brk m:alnAt="23"/>
                            </m:rPr>
                            <a:rPr lang="en-US" sz="2000" b="0">
                              <a:latin typeface="Cambria Math" panose="02040503050406030204" pitchFamily="18" charset="0"/>
                            </a:rPr>
                            <m:t>e</m:t>
                          </m:r>
                        </m:sub>
                        <m:sup/>
                        <m:e>
                          <m:r>
                            <a:rPr lang="en-US" sz="2000" b="0" i="1">
                              <a:latin typeface="Cambria Math" panose="02040503050406030204" pitchFamily="18" charset="0"/>
                            </a:rPr>
                            <m:t>𝑅𝑇</m:t>
                          </m:r>
                          <m:r>
                            <a:rPr lang="en-US" sz="2000" b="0" i="1" smtClean="0">
                              <a:latin typeface="Cambria Math" panose="02040503050406030204" pitchFamily="18" charset="0"/>
                            </a:rPr>
                            <m:t>′</m:t>
                          </m:r>
                          <m:r>
                            <a:rPr lang="en-US" sz="2000" b="0" i="1">
                              <a:latin typeface="Cambria Math" panose="02040503050406030204" pitchFamily="18" charset="0"/>
                            </a:rPr>
                            <m:t> </m:t>
                          </m:r>
                          <m:r>
                            <a:rPr lang="en-US" sz="2000" b="0" i="1">
                              <a:latin typeface="Cambria Math" panose="02040503050406030204" pitchFamily="18" charset="0"/>
                            </a:rPr>
                            <m:t>𝑑</m:t>
                          </m:r>
                          <m:r>
                            <m:rPr>
                              <m:sty m:val="p"/>
                            </m:rPr>
                            <a:rPr lang="en-US" sz="2000" b="0">
                              <a:latin typeface="Cambria Math" panose="02040503050406030204" pitchFamily="18" charset="0"/>
                            </a:rPr>
                            <m:t>Ω</m:t>
                          </m:r>
                        </m:e>
                      </m:nary>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𝜋</m:t>
                          </m:r>
                        </m:den>
                      </m:f>
                      <m:nary>
                        <m:naryPr>
                          <m:ctrlPr>
                            <a:rPr lang="en-US" sz="2000" b="0">
                              <a:latin typeface="Cambria Math" panose="02040503050406030204" pitchFamily="18" charset="0"/>
                            </a:rPr>
                          </m:ctrlPr>
                        </m:naryPr>
                        <m:sub>
                          <m:r>
                            <m:rPr>
                              <m:sty m:val="p"/>
                              <m:brk m:alnAt="23"/>
                            </m:rPr>
                            <a:rPr lang="en-US" sz="2000" b="0">
                              <a:latin typeface="Cambria Math" panose="02040503050406030204" pitchFamily="18" charset="0"/>
                            </a:rPr>
                            <m:t>h</m:t>
                          </m:r>
                          <m:r>
                            <m:rPr>
                              <m:sty m:val="p"/>
                              <m:brk m:alnAt="23"/>
                            </m:rPr>
                            <a:rPr lang="en-US" sz="2000" b="0">
                              <a:latin typeface="Cambria Math" panose="02040503050406030204" pitchFamily="18" charset="0"/>
                            </a:rPr>
                            <m:t>e</m:t>
                          </m:r>
                          <m:r>
                            <m:rPr>
                              <m:sty m:val="p"/>
                              <m:brk m:alnAt="23"/>
                            </m:rPr>
                            <a:rPr lang="en-US" sz="2000" b="0">
                              <a:latin typeface="Cambria Math" panose="02040503050406030204" pitchFamily="18" charset="0"/>
                            </a:rPr>
                            <m:t>m</m:t>
                          </m:r>
                          <m:r>
                            <m:rPr>
                              <m:sty m:val="p"/>
                              <m:brk m:alnAt="23"/>
                            </m:rPr>
                            <a:rPr lang="en-US" sz="2000" b="0">
                              <a:latin typeface="Cambria Math" panose="02040503050406030204" pitchFamily="18" charset="0"/>
                            </a:rPr>
                            <m:t>i</m:t>
                          </m:r>
                          <m:r>
                            <m:rPr>
                              <m:sty m:val="p"/>
                              <m:brk m:alnAt="23"/>
                            </m:rPr>
                            <a:rPr lang="en-US" sz="2000" b="0">
                              <a:latin typeface="Cambria Math" panose="02040503050406030204" pitchFamily="18" charset="0"/>
                            </a:rPr>
                            <m:t>s</m:t>
                          </m:r>
                          <m:r>
                            <m:rPr>
                              <m:sty m:val="p"/>
                              <m:brk m:alnAt="23"/>
                            </m:rPr>
                            <a:rPr lang="en-US" sz="2000" b="0">
                              <a:latin typeface="Cambria Math" panose="02040503050406030204" pitchFamily="18" charset="0"/>
                            </a:rPr>
                            <m:t>p</m:t>
                          </m:r>
                          <m:r>
                            <m:rPr>
                              <m:sty m:val="p"/>
                              <m:brk m:alnAt="23"/>
                            </m:rPr>
                            <a:rPr lang="en-US" sz="2000" b="0">
                              <a:latin typeface="Cambria Math" panose="02040503050406030204" pitchFamily="18" charset="0"/>
                            </a:rPr>
                            <m:t>h</m:t>
                          </m:r>
                          <m:r>
                            <m:rPr>
                              <m:sty m:val="p"/>
                              <m:brk m:alnAt="23"/>
                            </m:rPr>
                            <a:rPr lang="en-US" sz="2000" b="0">
                              <a:latin typeface="Cambria Math" panose="02040503050406030204" pitchFamily="18" charset="0"/>
                            </a:rPr>
                            <m:t>e</m:t>
                          </m:r>
                          <m:r>
                            <m:rPr>
                              <m:sty m:val="p"/>
                              <m:brk m:alnAt="23"/>
                            </m:rPr>
                            <a:rPr lang="en-US" sz="2000" b="0">
                              <a:latin typeface="Cambria Math" panose="02040503050406030204" pitchFamily="18" charset="0"/>
                            </a:rPr>
                            <m:t>r</m:t>
                          </m:r>
                          <m:r>
                            <m:rPr>
                              <m:sty m:val="p"/>
                              <m:brk m:alnAt="23"/>
                            </m:rPr>
                            <a:rPr lang="en-US" sz="2000" b="0">
                              <a:latin typeface="Cambria Math" panose="02040503050406030204" pitchFamily="18" charset="0"/>
                            </a:rPr>
                            <m:t>e</m:t>
                          </m:r>
                        </m:sub>
                        <m:sup/>
                        <m:e>
                          <m:r>
                            <a:rPr lang="en-US" sz="2000" b="0" i="1" smtClean="0">
                              <a:latin typeface="Cambria Math" panose="02040503050406030204" pitchFamily="18" charset="0"/>
                            </a:rPr>
                            <m:t>𝑎</m:t>
                          </m:r>
                          <m:d>
                            <m:dPr>
                              <m:ctrlPr>
                                <a:rPr lang="en-US" sz="2000" b="0" i="1">
                                  <a:latin typeface="Cambria Math" panose="02040503050406030204" pitchFamily="18" charset="0"/>
                                </a:rPr>
                              </m:ctrlPr>
                            </m:dPr>
                            <m:e>
                              <m:r>
                                <a:rPr lang="en-US" sz="2000" b="0" i="1">
                                  <a:latin typeface="Cambria Math" panose="02040503050406030204" pitchFamily="18" charset="0"/>
                                </a:rPr>
                                <m:t>𝑅𝑇</m:t>
                              </m:r>
                              <m:r>
                                <a:rPr lang="en-US" sz="2000" b="0" i="1" smtClean="0">
                                  <a:latin typeface="Cambria Math" panose="02040503050406030204" pitchFamily="18" charset="0"/>
                                </a:rPr>
                                <m:t>+</m:t>
                              </m:r>
                              <m:r>
                                <a:rPr lang="en-US" sz="2000" b="0" i="1" smtClean="0">
                                  <a:latin typeface="Cambria Math" panose="02040503050406030204" pitchFamily="18" charset="0"/>
                                </a:rPr>
                                <m:t>𝐶</m:t>
                              </m:r>
                            </m:e>
                          </m:d>
                          <m:r>
                            <a:rPr lang="en-US" sz="2000" b="0" i="1">
                              <a:latin typeface="Cambria Math" panose="02040503050406030204" pitchFamily="18" charset="0"/>
                            </a:rPr>
                            <m:t>𝑑</m:t>
                          </m:r>
                          <m:r>
                            <m:rPr>
                              <m:sty m:val="p"/>
                            </m:rPr>
                            <a:rPr lang="en-US" sz="2000" b="0">
                              <a:latin typeface="Cambria Math" panose="02040503050406030204" pitchFamily="18" charset="0"/>
                            </a:rPr>
                            <m:t>Ω</m:t>
                          </m:r>
                        </m:e>
                      </m:nary>
                    </m:oMath>
                  </m:oMathPara>
                </a14:m>
                <a:endParaRPr lang="en-US" sz="2000" b="0" dirty="0"/>
              </a:p>
              <a:p>
                <a:pPr marL="50800" indent="0">
                  <a:buNone/>
                </a:pPr>
                <a:r>
                  <a:rPr lang="en-US" sz="2000" b="0" dirty="0"/>
                  <a:t>where </a:t>
                </a:r>
                <a14:m>
                  <m:oMath xmlns:m="http://schemas.openxmlformats.org/officeDocument/2006/math">
                    <m:r>
                      <a:rPr lang="en-US" sz="2000" b="0" i="1" smtClean="0">
                        <a:latin typeface="Cambria Math" panose="02040503050406030204" pitchFamily="18" charset="0"/>
                      </a:rPr>
                      <m:t>𝑇𝐼𝑆</m:t>
                    </m:r>
                    <m:r>
                      <a:rPr lang="en-US" sz="2000" b="0" i="1" smtClean="0">
                        <a:latin typeface="Cambria Math" panose="02040503050406030204" pitchFamily="18" charset="0"/>
                      </a:rPr>
                      <m:t>′</m:t>
                    </m:r>
                  </m:oMath>
                </a14:m>
                <a:r>
                  <a:rPr lang="en-US" sz="2000" b="0" dirty="0"/>
                  <a:t> is corrected </a:t>
                </a:r>
                <a14:m>
                  <m:oMath xmlns:m="http://schemas.openxmlformats.org/officeDocument/2006/math">
                    <m:r>
                      <a:rPr lang="en-US" sz="2000" b="0" i="1" smtClean="0">
                        <a:latin typeface="Cambria Math" panose="02040503050406030204" pitchFamily="18" charset="0"/>
                      </a:rPr>
                      <m:t>𝑇𝐼𝑆</m:t>
                    </m:r>
                  </m:oMath>
                </a14:m>
                <a:r>
                  <a:rPr lang="en-US" sz="2000" b="0" dirty="0"/>
                  <a:t>, </a:t>
                </a:r>
                <a14:m>
                  <m:oMath xmlns:m="http://schemas.openxmlformats.org/officeDocument/2006/math">
                    <m:r>
                      <a:rPr lang="en-US" sz="2000" b="0" i="1" smtClean="0">
                        <a:latin typeface="Cambria Math" panose="02040503050406030204" pitchFamily="18" charset="0"/>
                      </a:rPr>
                      <m:t>𝑅𝑇</m:t>
                    </m:r>
                    <m:r>
                      <a:rPr lang="en-US" sz="2000" b="0" i="1" smtClean="0">
                        <a:latin typeface="Cambria Math" panose="02040503050406030204" pitchFamily="18" charset="0"/>
                      </a:rPr>
                      <m:t>′</m:t>
                    </m:r>
                  </m:oMath>
                </a14:m>
                <a:r>
                  <a:rPr lang="en-US" sz="2000" b="0" dirty="0"/>
                  <a:t> is corrected </a:t>
                </a:r>
                <a14:m>
                  <m:oMath xmlns:m="http://schemas.openxmlformats.org/officeDocument/2006/math">
                    <m:r>
                      <a:rPr lang="en-US" sz="2000" b="0" i="1" smtClean="0">
                        <a:latin typeface="Cambria Math" panose="02040503050406030204" pitchFamily="18" charset="0"/>
                      </a:rPr>
                      <m:t>𝑅𝑇</m:t>
                    </m:r>
                  </m:oMath>
                </a14:m>
                <a:r>
                  <a:rPr lang="en-US" sz="2000" b="0" dirty="0"/>
                  <a:t>, </a:t>
                </a:r>
                <a14:m>
                  <m:oMath xmlns:m="http://schemas.openxmlformats.org/officeDocument/2006/math">
                    <m:r>
                      <a:rPr lang="en-US" sz="2000" b="0" i="1" smtClean="0">
                        <a:latin typeface="Cambria Math" panose="02040503050406030204" pitchFamily="18" charset="0"/>
                      </a:rPr>
                      <m:t>𝑎</m:t>
                    </m:r>
                  </m:oMath>
                </a14:m>
                <a:r>
                  <a:rPr lang="en-US" sz="2000" b="0" dirty="0"/>
                  <a:t> is scale factor, </a:t>
                </a:r>
                <a14:m>
                  <m:oMath xmlns:m="http://schemas.openxmlformats.org/officeDocument/2006/math">
                    <m:r>
                      <a:rPr lang="en-US" sz="2000" b="0" i="1" smtClean="0">
                        <a:latin typeface="Cambria Math" panose="02040503050406030204" pitchFamily="18" charset="0"/>
                      </a:rPr>
                      <m:t>𝐶</m:t>
                    </m:r>
                  </m:oMath>
                </a14:m>
                <a:r>
                  <a:rPr lang="en-US" sz="2000" b="0" dirty="0"/>
                  <a:t> is floor.</a:t>
                </a:r>
              </a:p>
              <a:p>
                <a:pPr marL="50800" indent="0">
                  <a:buNone/>
                </a:pPr>
                <a14:m>
                  <m:oMathPara xmlns:m="http://schemas.openxmlformats.org/officeDocument/2006/math">
                    <m:oMath>
                      <m:r>
                        <a:rPr lang="en-US" sz="2000" b="0" i="1">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𝜋</m:t>
                          </m:r>
                        </m:den>
                      </m:f>
                      <m:d>
                        <m:dPr>
                          <m:ctrlPr>
                            <a:rPr lang="en-US" sz="2000" b="0" i="1">
                              <a:latin typeface="Cambria Math" panose="02040503050406030204" pitchFamily="18" charset="0"/>
                            </a:rPr>
                          </m:ctrlPr>
                        </m:dPr>
                        <m:e>
                          <m:r>
                            <a:rPr lang="en-US" sz="2000" b="0" i="1">
                              <a:latin typeface="Cambria Math" panose="02040503050406030204" pitchFamily="18" charset="0"/>
                            </a:rPr>
                            <m:t>𝑎</m:t>
                          </m:r>
                          <m:nary>
                            <m:naryPr>
                              <m:ctrlPr>
                                <a:rPr lang="en-US" sz="2000" b="0">
                                  <a:latin typeface="Cambria Math" panose="02040503050406030204" pitchFamily="18" charset="0"/>
                                </a:rPr>
                              </m:ctrlPr>
                            </m:naryPr>
                            <m:sub>
                              <m:r>
                                <m:rPr>
                                  <m:sty m:val="p"/>
                                  <m:brk m:alnAt="15"/>
                                </m:rPr>
                                <a:rPr lang="en-US" sz="2000" b="0">
                                  <a:latin typeface="Cambria Math" panose="02040503050406030204" pitchFamily="18" charset="0"/>
                                </a:rPr>
                                <m:t>h</m:t>
                              </m:r>
                              <m:r>
                                <m:rPr>
                                  <m:sty m:val="p"/>
                                  <m:brk m:alnAt="23"/>
                                </m:rPr>
                                <a:rPr lang="en-US" sz="2000" b="0">
                                  <a:latin typeface="Cambria Math" panose="02040503050406030204" pitchFamily="18" charset="0"/>
                                </a:rPr>
                                <m:t>e</m:t>
                              </m:r>
                              <m:r>
                                <m:rPr>
                                  <m:sty m:val="p"/>
                                  <m:brk m:alnAt="23"/>
                                </m:rPr>
                                <a:rPr lang="en-US" sz="2000" b="0">
                                  <a:latin typeface="Cambria Math" panose="02040503050406030204" pitchFamily="18" charset="0"/>
                                </a:rPr>
                                <m:t>m</m:t>
                              </m:r>
                              <m:r>
                                <m:rPr>
                                  <m:sty m:val="p"/>
                                  <m:brk m:alnAt="23"/>
                                </m:rPr>
                                <a:rPr lang="en-US" sz="2000" b="0">
                                  <a:latin typeface="Cambria Math" panose="02040503050406030204" pitchFamily="18" charset="0"/>
                                </a:rPr>
                                <m:t>i</m:t>
                              </m:r>
                              <m:r>
                                <m:rPr>
                                  <m:sty m:val="p"/>
                                  <m:brk m:alnAt="23"/>
                                </m:rPr>
                                <a:rPr lang="en-US" sz="2000" b="0">
                                  <a:latin typeface="Cambria Math" panose="02040503050406030204" pitchFamily="18" charset="0"/>
                                </a:rPr>
                                <m:t>s</m:t>
                              </m:r>
                              <m:r>
                                <m:rPr>
                                  <m:sty m:val="p"/>
                                  <m:brk m:alnAt="23"/>
                                </m:rPr>
                                <a:rPr lang="en-US" sz="2000" b="0">
                                  <a:latin typeface="Cambria Math" panose="02040503050406030204" pitchFamily="18" charset="0"/>
                                </a:rPr>
                                <m:t>p</m:t>
                              </m:r>
                              <m:r>
                                <m:rPr>
                                  <m:sty m:val="p"/>
                                  <m:brk m:alnAt="23"/>
                                </m:rPr>
                                <a:rPr lang="en-US" sz="2000" b="0">
                                  <a:latin typeface="Cambria Math" panose="02040503050406030204" pitchFamily="18" charset="0"/>
                                </a:rPr>
                                <m:t>h</m:t>
                              </m:r>
                              <m:r>
                                <m:rPr>
                                  <m:sty m:val="p"/>
                                  <m:brk m:alnAt="23"/>
                                </m:rPr>
                                <a:rPr lang="en-US" sz="2000" b="0">
                                  <a:latin typeface="Cambria Math" panose="02040503050406030204" pitchFamily="18" charset="0"/>
                                </a:rPr>
                                <m:t>e</m:t>
                              </m:r>
                              <m:r>
                                <m:rPr>
                                  <m:sty m:val="p"/>
                                  <m:brk m:alnAt="23"/>
                                </m:rPr>
                                <a:rPr lang="en-US" sz="2000" b="0">
                                  <a:latin typeface="Cambria Math" panose="02040503050406030204" pitchFamily="18" charset="0"/>
                                </a:rPr>
                                <m:t>r</m:t>
                              </m:r>
                              <m:r>
                                <m:rPr>
                                  <m:sty m:val="p"/>
                                  <m:brk m:alnAt="23"/>
                                </m:rPr>
                                <a:rPr lang="en-US" sz="2000" b="0">
                                  <a:latin typeface="Cambria Math" panose="02040503050406030204" pitchFamily="18" charset="0"/>
                                </a:rPr>
                                <m:t>e</m:t>
                              </m:r>
                            </m:sub>
                            <m:sup/>
                            <m:e>
                              <m:r>
                                <a:rPr lang="en-US" sz="2000" b="0" i="1">
                                  <a:latin typeface="Cambria Math" panose="02040503050406030204" pitchFamily="18" charset="0"/>
                                </a:rPr>
                                <m:t>𝑅𝑇</m:t>
                              </m:r>
                              <m:r>
                                <a:rPr lang="en-US" sz="2000" b="0" i="1">
                                  <a:latin typeface="Cambria Math" panose="02040503050406030204" pitchFamily="18" charset="0"/>
                                </a:rPr>
                                <m:t> </m:t>
                              </m:r>
                              <m:r>
                                <a:rPr lang="en-US" sz="2000" b="0" i="1">
                                  <a:latin typeface="Cambria Math" panose="02040503050406030204" pitchFamily="18" charset="0"/>
                                </a:rPr>
                                <m:t>𝑑</m:t>
                              </m:r>
                              <m:r>
                                <m:rPr>
                                  <m:sty m:val="p"/>
                                </m:rPr>
                                <a:rPr lang="en-US" sz="2000" b="0">
                                  <a:latin typeface="Cambria Math" panose="02040503050406030204" pitchFamily="18" charset="0"/>
                                </a:rPr>
                                <m:t>Ω</m:t>
                              </m:r>
                            </m:e>
                          </m:nary>
                          <m:r>
                            <a:rPr lang="en-US" sz="2000" b="0" i="1">
                              <a:latin typeface="Cambria Math" panose="02040503050406030204" pitchFamily="18" charset="0"/>
                            </a:rPr>
                            <m:t>+</m:t>
                          </m:r>
                          <m:r>
                            <a:rPr lang="en-US" sz="2000" b="0" i="1">
                              <a:latin typeface="Cambria Math" panose="02040503050406030204" pitchFamily="18" charset="0"/>
                            </a:rPr>
                            <m:t>𝑎𝐶</m:t>
                          </m:r>
                          <m:nary>
                            <m:naryPr>
                              <m:ctrlPr>
                                <a:rPr lang="en-US" sz="2000" b="0">
                                  <a:latin typeface="Cambria Math" panose="02040503050406030204" pitchFamily="18" charset="0"/>
                                </a:rPr>
                              </m:ctrlPr>
                            </m:naryPr>
                            <m:sub>
                              <m:r>
                                <m:rPr>
                                  <m:sty m:val="p"/>
                                  <m:brk m:alnAt="15"/>
                                </m:rPr>
                                <a:rPr lang="en-US" sz="2000" b="0">
                                  <a:latin typeface="Cambria Math" panose="02040503050406030204" pitchFamily="18" charset="0"/>
                                </a:rPr>
                                <m:t>h</m:t>
                              </m:r>
                              <m:r>
                                <m:rPr>
                                  <m:sty m:val="p"/>
                                  <m:brk m:alnAt="23"/>
                                </m:rPr>
                                <a:rPr lang="en-US" sz="2000" b="0">
                                  <a:latin typeface="Cambria Math" panose="02040503050406030204" pitchFamily="18" charset="0"/>
                                </a:rPr>
                                <m:t>e</m:t>
                              </m:r>
                              <m:r>
                                <m:rPr>
                                  <m:sty m:val="p"/>
                                  <m:brk m:alnAt="23"/>
                                </m:rPr>
                                <a:rPr lang="en-US" sz="2000" b="0">
                                  <a:latin typeface="Cambria Math" panose="02040503050406030204" pitchFamily="18" charset="0"/>
                                </a:rPr>
                                <m:t>m</m:t>
                              </m:r>
                              <m:r>
                                <m:rPr>
                                  <m:sty m:val="p"/>
                                  <m:brk m:alnAt="23"/>
                                </m:rPr>
                                <a:rPr lang="en-US" sz="2000" b="0">
                                  <a:latin typeface="Cambria Math" panose="02040503050406030204" pitchFamily="18" charset="0"/>
                                </a:rPr>
                                <m:t>i</m:t>
                              </m:r>
                              <m:r>
                                <m:rPr>
                                  <m:sty m:val="p"/>
                                  <m:brk m:alnAt="23"/>
                                </m:rPr>
                                <a:rPr lang="en-US" sz="2000" b="0">
                                  <a:latin typeface="Cambria Math" panose="02040503050406030204" pitchFamily="18" charset="0"/>
                                </a:rPr>
                                <m:t>s</m:t>
                              </m:r>
                              <m:r>
                                <m:rPr>
                                  <m:sty m:val="p"/>
                                  <m:brk m:alnAt="23"/>
                                </m:rPr>
                                <a:rPr lang="en-US" sz="2000" b="0">
                                  <a:latin typeface="Cambria Math" panose="02040503050406030204" pitchFamily="18" charset="0"/>
                                </a:rPr>
                                <m:t>p</m:t>
                              </m:r>
                              <m:r>
                                <m:rPr>
                                  <m:sty m:val="p"/>
                                  <m:brk m:alnAt="23"/>
                                </m:rPr>
                                <a:rPr lang="en-US" sz="2000" b="0">
                                  <a:latin typeface="Cambria Math" panose="02040503050406030204" pitchFamily="18" charset="0"/>
                                </a:rPr>
                                <m:t>h</m:t>
                              </m:r>
                              <m:r>
                                <m:rPr>
                                  <m:sty m:val="p"/>
                                  <m:brk m:alnAt="23"/>
                                </m:rPr>
                                <a:rPr lang="en-US" sz="2000" b="0">
                                  <a:latin typeface="Cambria Math" panose="02040503050406030204" pitchFamily="18" charset="0"/>
                                </a:rPr>
                                <m:t>e</m:t>
                              </m:r>
                              <m:r>
                                <m:rPr>
                                  <m:sty m:val="p"/>
                                  <m:brk m:alnAt="23"/>
                                </m:rPr>
                                <a:rPr lang="en-US" sz="2000" b="0">
                                  <a:latin typeface="Cambria Math" panose="02040503050406030204" pitchFamily="18" charset="0"/>
                                </a:rPr>
                                <m:t>r</m:t>
                              </m:r>
                              <m:r>
                                <m:rPr>
                                  <m:sty m:val="p"/>
                                  <m:brk m:alnAt="23"/>
                                </m:rPr>
                                <a:rPr lang="en-US" sz="2000" b="0">
                                  <a:latin typeface="Cambria Math" panose="02040503050406030204" pitchFamily="18" charset="0"/>
                                </a:rPr>
                                <m:t>e</m:t>
                              </m:r>
                            </m:sub>
                            <m:sup/>
                            <m:e>
                              <m:r>
                                <a:rPr lang="en-US" sz="2000" b="0" i="1">
                                  <a:latin typeface="Cambria Math" panose="02040503050406030204" pitchFamily="18" charset="0"/>
                                </a:rPr>
                                <m:t>𝑑</m:t>
                              </m:r>
                              <m:r>
                                <m:rPr>
                                  <m:sty m:val="p"/>
                                </m:rPr>
                                <a:rPr lang="en-US" sz="2000" b="0">
                                  <a:latin typeface="Cambria Math" panose="02040503050406030204" pitchFamily="18" charset="0"/>
                                </a:rPr>
                                <m:t>Ω</m:t>
                              </m:r>
                            </m:e>
                          </m:nary>
                        </m:e>
                      </m:d>
                    </m:oMath>
                  </m:oMathPara>
                </a14:m>
                <a:endParaRPr lang="en-US" sz="2000" b="0" dirty="0"/>
              </a:p>
              <a:p>
                <a:pPr marL="50800" indent="0">
                  <a:buNone/>
                </a:pPr>
                <a14:m>
                  <m:oMathPara xmlns:m="http://schemas.openxmlformats.org/officeDocument/2006/math">
                    <m:oMath>
                      <m:r>
                        <a:rPr lang="en-US" sz="2000" b="0" i="1">
                          <a:latin typeface="Cambria Math" panose="02040503050406030204" pitchFamily="18" charset="0"/>
                        </a:rPr>
                        <m:t>=</m:t>
                      </m:r>
                      <m:r>
                        <a:rPr lang="en-US" sz="2000" b="0" i="1" smtClean="0">
                          <a:latin typeface="Cambria Math" panose="02040503050406030204" pitchFamily="18" charset="0"/>
                        </a:rPr>
                        <m:t>𝑎</m:t>
                      </m:r>
                      <m:r>
                        <a:rPr lang="en-US" sz="2000" b="0" i="1">
                          <a:latin typeface="Cambria Math" panose="02040503050406030204" pitchFamily="18" charset="0"/>
                        </a:rPr>
                        <m:t>𝑇</m:t>
                      </m:r>
                      <m:r>
                        <a:rPr lang="en-US" sz="2000" b="0" i="1" smtClean="0">
                          <a:latin typeface="Cambria Math" panose="02040503050406030204" pitchFamily="18" charset="0"/>
                        </a:rPr>
                        <m:t>𝐼𝑆</m:t>
                      </m:r>
                      <m:r>
                        <a:rPr lang="en-US" sz="2000" b="0" i="1">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𝑎𝐶</m:t>
                          </m:r>
                        </m:num>
                        <m:den>
                          <m:r>
                            <a:rPr lang="en-US" sz="2000" b="0" i="1" smtClean="0">
                              <a:latin typeface="Cambria Math" panose="02040503050406030204" pitchFamily="18" charset="0"/>
                            </a:rPr>
                            <m:t>𝜋</m:t>
                          </m:r>
                        </m:den>
                      </m:f>
                      <m:r>
                        <a:rPr lang="en-US" sz="2000" b="0" i="1" smtClean="0">
                          <a:latin typeface="Cambria Math" panose="02040503050406030204" pitchFamily="18" charset="0"/>
                        </a:rPr>
                        <m:t>2</m:t>
                      </m:r>
                      <m:r>
                        <a:rPr lang="en-US" sz="2000" b="0" i="1" smtClean="0">
                          <a:latin typeface="Cambria Math" panose="02040503050406030204" pitchFamily="18" charset="0"/>
                        </a:rPr>
                        <m:t>𝜋</m:t>
                      </m:r>
                      <m:r>
                        <a:rPr lang="en-US" sz="2000" b="0" i="1" smtClean="0">
                          <a:latin typeface="Cambria Math" panose="02040503050406030204" pitchFamily="18" charset="0"/>
                        </a:rPr>
                        <m:t>=</m:t>
                      </m:r>
                      <m:r>
                        <a:rPr lang="en-US" sz="2000" b="0" i="1" smtClean="0">
                          <a:latin typeface="Cambria Math" panose="02040503050406030204" pitchFamily="18" charset="0"/>
                        </a:rPr>
                        <m:t>𝑎𝑇𝐼𝑆</m:t>
                      </m:r>
                      <m:r>
                        <a:rPr lang="en-US" sz="2000" b="0" i="1" smtClean="0">
                          <a:latin typeface="Cambria Math" panose="02040503050406030204" pitchFamily="18" charset="0"/>
                        </a:rPr>
                        <m:t>+2</m:t>
                      </m:r>
                      <m:r>
                        <a:rPr lang="en-US" sz="2000" b="0" i="1" smtClean="0">
                          <a:latin typeface="Cambria Math" panose="02040503050406030204" pitchFamily="18" charset="0"/>
                        </a:rPr>
                        <m:t>𝑎𝐶</m:t>
                      </m:r>
                    </m:oMath>
                  </m:oMathPara>
                </a14:m>
                <a:endParaRPr lang="en-US" sz="2000" b="0" dirty="0"/>
              </a:p>
              <a:p>
                <a:pPr marL="50800" indent="0">
                  <a:buNone/>
                </a:pPr>
                <a:endParaRPr lang="en-US" sz="2000" b="0" dirty="0"/>
              </a:p>
              <a:p>
                <a:pPr marL="50800" indent="0">
                  <a:buNone/>
                </a:pPr>
                <a:r>
                  <a:rPr lang="en-US" sz="2000" b="0" dirty="0"/>
                  <a:t>Assuming (RT+C) needs no scale factor, then a=1, </a:t>
                </a:r>
                <a14:m>
                  <m:oMath xmlns:m="http://schemas.openxmlformats.org/officeDocument/2006/math">
                    <m:r>
                      <a:rPr lang="en-US" sz="2000" b="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𝑇𝐼</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𝑆</m:t>
                        </m:r>
                      </m:e>
                      <m:sup>
                        <m:r>
                          <a:rPr lang="en-US" sz="2000" b="0" i="1" smtClean="0">
                            <a:latin typeface="Cambria Math" panose="02040503050406030204" pitchFamily="18" charset="0"/>
                          </a:rPr>
                          <m:t>′</m:t>
                        </m:r>
                      </m:sup>
                    </m:sSup>
                    <m:r>
                      <a:rPr lang="en-US" sz="2000" b="0" i="1">
                        <a:latin typeface="Cambria Math" panose="02040503050406030204" pitchFamily="18" charset="0"/>
                      </a:rPr>
                      <m:t>=</m:t>
                    </m:r>
                    <m:r>
                      <a:rPr lang="en-US" sz="2000" b="0" i="1">
                        <a:latin typeface="Cambria Math" panose="02040503050406030204" pitchFamily="18" charset="0"/>
                      </a:rPr>
                      <m:t>𝑇𝐼𝑆</m:t>
                    </m:r>
                    <m:r>
                      <a:rPr lang="en-US" sz="2000" b="0" i="1">
                        <a:latin typeface="Cambria Math" panose="02040503050406030204" pitchFamily="18" charset="0"/>
                      </a:rPr>
                      <m:t>+2</m:t>
                    </m:r>
                    <m:r>
                      <a:rPr lang="en-US" sz="2000" b="0" i="1">
                        <a:latin typeface="Cambria Math" panose="02040503050406030204" pitchFamily="18" charset="0"/>
                      </a:rPr>
                      <m:t>𝐶</m:t>
                    </m:r>
                  </m:oMath>
                </a14:m>
                <a:r>
                  <a:rPr lang="en-US" sz="2000" b="0" dirty="0"/>
                  <a:t>.</a:t>
                </a:r>
              </a:p>
              <a:p>
                <a:pPr marL="50800" indent="0">
                  <a:buNone/>
                </a:pPr>
                <a:r>
                  <a:rPr lang="en-US" sz="2000" b="0" dirty="0">
                    <a:highlight>
                      <a:srgbClr val="FFFF00"/>
                    </a:highlight>
                  </a:rPr>
                  <a:t>So, floor yields linear (2.5%, 6.1%) + 2C, but needed non-linear to approach (~5%, ~25-50%).</a:t>
                </a:r>
              </a:p>
              <a:p>
                <a:pPr marL="50800" indent="0">
                  <a:buNone/>
                </a:pPr>
                <a:endParaRPr lang="en-US" sz="2000" b="0" dirty="0"/>
              </a:p>
              <a:p>
                <a:pPr marL="50800" indent="0">
                  <a:buNone/>
                </a:pPr>
                <a:endParaRPr lang="en-US" sz="2000" b="0" dirty="0"/>
              </a:p>
            </p:txBody>
          </p:sp>
        </mc:Choice>
        <mc:Fallback xmlns="">
          <p:sp>
            <p:nvSpPr>
              <p:cNvPr id="3" name="Text Placeholder 2">
                <a:extLst>
                  <a:ext uri="{FF2B5EF4-FFF2-40B4-BE49-F238E27FC236}">
                    <a16:creationId xmlns:a16="http://schemas.microsoft.com/office/drawing/2014/main" id="{FB7BBE7A-4F00-2202-EAF0-0C38B2B615F6}"/>
                  </a:ext>
                </a:extLst>
              </p:cNvPr>
              <p:cNvSpPr>
                <a:spLocks noGrp="1" noRot="1" noChangeAspect="1" noMove="1" noResize="1" noEditPoints="1" noAdjustHandles="1" noChangeArrowheads="1" noChangeShapeType="1" noTextEdit="1"/>
              </p:cNvSpPr>
              <p:nvPr>
                <p:ph type="body" idx="1"/>
              </p:nvPr>
            </p:nvSpPr>
            <p:spPr>
              <a:xfrm>
                <a:off x="609598" y="1024128"/>
                <a:ext cx="11065935" cy="5833872"/>
              </a:xfrm>
              <a:blipFill>
                <a:blip r:embed="rId2"/>
                <a:stretch>
                  <a:fillRect l="-551" t="-940"/>
                </a:stretch>
              </a:blipFill>
            </p:spPr>
            <p:txBody>
              <a:bodyPr/>
              <a:lstStyle/>
              <a:p>
                <a:r>
                  <a:rPr lang="en-US">
                    <a:noFill/>
                  </a:rPr>
                  <a:t> </a:t>
                </a:r>
              </a:p>
            </p:txBody>
          </p:sp>
        </mc:Fallback>
      </mc:AlternateContent>
    </p:spTree>
    <p:extLst>
      <p:ext uri="{BB962C8B-B14F-4D97-AF65-F5344CB8AC3E}">
        <p14:creationId xmlns:p14="http://schemas.microsoft.com/office/powerpoint/2010/main" val="587939982"/>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BD4CE-9ECF-2CE9-9965-0A7DBCDF05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06C7C7-4887-6A54-9E4F-CF2395EA3AD4}"/>
              </a:ext>
            </a:extLst>
          </p:cNvPr>
          <p:cNvSpPr>
            <a:spLocks noGrp="1"/>
          </p:cNvSpPr>
          <p:nvPr>
            <p:ph type="title"/>
          </p:nvPr>
        </p:nvSpPr>
        <p:spPr>
          <a:xfrm>
            <a:off x="609599" y="152718"/>
            <a:ext cx="9011323" cy="640080"/>
          </a:xfrm>
        </p:spPr>
        <p:txBody>
          <a:bodyPr>
            <a:normAutofit/>
          </a:bodyPr>
          <a:lstStyle/>
          <a:p>
            <a:r>
              <a:rPr lang="en-US" dirty="0"/>
              <a:t>Moving forward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4D1E669-77BC-531E-90C4-74A0413C291C}"/>
                  </a:ext>
                </a:extLst>
              </p:cNvPr>
              <p:cNvSpPr>
                <a:spLocks noGrp="1"/>
              </p:cNvSpPr>
              <p:nvPr>
                <p:ph type="body" idx="1"/>
              </p:nvPr>
            </p:nvSpPr>
            <p:spPr>
              <a:xfrm>
                <a:off x="609598" y="1024128"/>
                <a:ext cx="10684044" cy="5342805"/>
              </a:xfrm>
            </p:spPr>
            <p:txBody>
              <a:bodyPr>
                <a:normAutofit/>
              </a:bodyPr>
              <a:lstStyle/>
              <a:p>
                <a:r>
                  <a:rPr lang="en-US" sz="2000" b="0" dirty="0"/>
                  <a:t>BRDF values only change if </a:t>
                </a:r>
                <a14:m>
                  <m:oMath xmlns:m="http://schemas.openxmlformats.org/officeDocument/2006/math">
                    <m:r>
                      <a:rPr lang="en-US" sz="2000" b="0" i="1" smtClean="0">
                        <a:latin typeface="Cambria Math" panose="02040503050406030204" pitchFamily="18" charset="0"/>
                      </a:rPr>
                      <m:t>𝐶</m:t>
                    </m:r>
                    <m:r>
                      <a:rPr lang="en-US" sz="2000" b="0" i="1" smtClean="0">
                        <a:latin typeface="Cambria Math" panose="02040503050406030204" pitchFamily="18" charset="0"/>
                      </a:rPr>
                      <m:t>≠0</m:t>
                    </m:r>
                  </m:oMath>
                </a14:m>
                <a:r>
                  <a:rPr lang="en-US" sz="2000" b="0" dirty="0"/>
                  <a:t> or if using </a:t>
                </a:r>
                <a14:m>
                  <m:oMath xmlns:m="http://schemas.openxmlformats.org/officeDocument/2006/math">
                    <m:r>
                      <a:rPr lang="en-US" sz="2000" b="0" i="1" smtClean="0">
                        <a:latin typeface="Cambria Math" panose="02040503050406030204" pitchFamily="18" charset="0"/>
                      </a:rPr>
                      <m:t>1/</m:t>
                    </m:r>
                    <m:func>
                      <m:funcPr>
                        <m:ctrlPr>
                          <a:rPr lang="en-US" sz="2000" b="0" i="0"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𝜃</m:t>
                            </m:r>
                          </m:e>
                          <m:sub>
                            <m:r>
                              <a:rPr lang="en-US" sz="2000" b="0" i="1" smtClean="0">
                                <a:latin typeface="Cambria Math" panose="02040503050406030204" pitchFamily="18" charset="0"/>
                              </a:rPr>
                              <m:t>𝑖</m:t>
                            </m:r>
                          </m:sub>
                        </m:sSub>
                      </m:e>
                    </m:func>
                  </m:oMath>
                </a14:m>
                <a:endParaRPr lang="en-US" sz="2000" b="0" dirty="0"/>
              </a:p>
              <a:p>
                <a:pPr lvl="1"/>
                <a:r>
                  <a:rPr lang="en-US" sz="1600" dirty="0"/>
                  <a:t>And, need to both to get from ~(2.6%, 17.8%) + 2C to ~(5%, 20%), which still under quantifies grazing</a:t>
                </a:r>
                <a:endParaRPr lang="en-US" sz="1600" b="0" dirty="0"/>
              </a:p>
              <a:p>
                <a:r>
                  <a:rPr lang="en-US" sz="2000" b="0" dirty="0">
                    <a:highlight>
                      <a:srgbClr val="FFFF00"/>
                    </a:highlight>
                  </a:rPr>
                  <a:t>Did PE flag low TIS based on internal FRED TIS calculation (or </a:t>
                </a:r>
                <a:r>
                  <a:rPr lang="en-US" sz="2000" b="0" dirty="0" err="1">
                    <a:highlight>
                      <a:srgbClr val="FFFF00"/>
                    </a:highlight>
                  </a:rPr>
                  <a:t>bsdf</a:t>
                </a:r>
                <a:r>
                  <a:rPr lang="en-US" sz="2000" b="0" dirty="0">
                    <a:highlight>
                      <a:srgbClr val="FFFF00"/>
                    </a:highlight>
                  </a:rPr>
                  <a:t>-tools calculation)? Because need </a:t>
                </a:r>
                <a:r>
                  <a:rPr lang="en-US" sz="2000" b="0" dirty="0" err="1">
                    <a:highlight>
                      <a:srgbClr val="FFFF00"/>
                    </a:highlight>
                  </a:rPr>
                  <a:t>bsdf</a:t>
                </a:r>
                <a:r>
                  <a:rPr lang="en-US" sz="2000" b="0" dirty="0">
                    <a:highlight>
                      <a:srgbClr val="FFFF00"/>
                    </a:highlight>
                  </a:rPr>
                  <a:t>-tools to agree with FRED, and FRED only changes if BRDF changes.</a:t>
                </a:r>
              </a:p>
              <a:p>
                <a:pPr lvl="1"/>
                <a:r>
                  <a:rPr lang="en-US" sz="1600" dirty="0"/>
                  <a:t>Scott flagged based on FRED’s internal calculation</a:t>
                </a:r>
              </a:p>
              <a:p>
                <a:pPr lvl="1"/>
                <a:r>
                  <a:rPr lang="en-US" sz="1600" b="0" dirty="0"/>
                  <a:t>So, suggests original TIS calculation was correct </a:t>
                </a:r>
                <a:r>
                  <a:rPr lang="en-US" sz="1600" dirty="0"/>
                  <a:t>since </a:t>
                </a:r>
                <a:r>
                  <a:rPr lang="en-US" sz="1600" dirty="0" err="1"/>
                  <a:t>bsdf</a:t>
                </a:r>
                <a:r>
                  <a:rPr lang="en-US" sz="1600" dirty="0"/>
                  <a:t>-tools had TIS similar to what Scott flagged</a:t>
                </a:r>
              </a:p>
              <a:p>
                <a:pPr lvl="1"/>
                <a:endParaRPr lang="en-US" sz="1600" dirty="0"/>
              </a:p>
              <a:p>
                <a:pPr marL="50800" indent="0">
                  <a:buNone/>
                </a:pPr>
                <a:r>
                  <a:rPr lang="en-US" sz="2000" dirty="0"/>
                  <a:t>TIS Calculation – revisited</a:t>
                </a:r>
              </a:p>
              <a:p>
                <a:r>
                  <a:rPr lang="en-US" sz="2000" b="0" dirty="0"/>
                  <a:t>At normal incidence, can approximate using surface RMS as: </a:t>
                </a:r>
                <a14:m>
                  <m:oMath xmlns:m="http://schemas.openxmlformats.org/officeDocument/2006/math">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4</m:t>
                                </m:r>
                                <m:r>
                                  <a:rPr lang="en-US" sz="2000" b="0" i="1" smtClean="0">
                                    <a:latin typeface="Cambria Math" panose="02040503050406030204" pitchFamily="18" charset="0"/>
                                  </a:rPr>
                                  <m:t>𝜋𝜎</m:t>
                                </m:r>
                              </m:num>
                              <m:den>
                                <m:r>
                                  <a:rPr lang="en-US" sz="2000" b="0" i="1" smtClean="0">
                                    <a:latin typeface="Cambria Math" panose="02040503050406030204" pitchFamily="18" charset="0"/>
                                  </a:rPr>
                                  <m:t>𝜆</m:t>
                                </m:r>
                              </m:den>
                            </m:f>
                          </m:e>
                        </m:d>
                      </m:e>
                      <m:sup>
                        <m:r>
                          <a:rPr lang="en-US" sz="2000" b="0" i="1" smtClean="0">
                            <a:latin typeface="Cambria Math" panose="02040503050406030204" pitchFamily="18" charset="0"/>
                          </a:rPr>
                          <m:t>2</m:t>
                        </m:r>
                      </m:sup>
                    </m:sSup>
                  </m:oMath>
                </a14:m>
                <a:endParaRPr lang="en-US" sz="2000" b="0" dirty="0"/>
              </a:p>
              <a:p>
                <a:pPr lvl="1"/>
                <a:r>
                  <a:rPr lang="en-US" sz="1600" dirty="0"/>
                  <a:t>From CSI measurements, </a:t>
                </a:r>
                <a14:m>
                  <m:oMath xmlns:m="http://schemas.openxmlformats.org/officeDocument/2006/math">
                    <m:r>
                      <a:rPr lang="en-US" sz="1600" b="0" i="1" smtClean="0">
                        <a:latin typeface="Cambria Math" panose="02040503050406030204" pitchFamily="18" charset="0"/>
                      </a:rPr>
                      <m:t>𝜎</m:t>
                    </m:r>
                    <m:r>
                      <a:rPr lang="en-US" sz="1600" b="0" i="1" smtClean="0">
                        <a:latin typeface="Cambria Math" panose="02040503050406030204" pitchFamily="18" charset="0"/>
                      </a:rPr>
                      <m:t>=2.025 </m:t>
                    </m:r>
                    <m:r>
                      <a:rPr lang="en-US" sz="1600" b="0" i="1" smtClean="0">
                        <a:latin typeface="Cambria Math" panose="02040503050406030204" pitchFamily="18" charset="0"/>
                      </a:rPr>
                      <m:t>𝜇</m:t>
                    </m:r>
                    <m:r>
                      <a:rPr lang="en-US" sz="1600" b="0" i="1" smtClean="0">
                        <a:latin typeface="Cambria Math" panose="02040503050406030204" pitchFamily="18" charset="0"/>
                      </a:rPr>
                      <m:t>𝑚</m:t>
                    </m:r>
                  </m:oMath>
                </a14:m>
                <a:endParaRPr lang="en-US" sz="1600" b="0" dirty="0"/>
              </a:p>
              <a:p>
                <a:pPr lvl="1"/>
                <a14:m>
                  <m:oMath xmlns:m="http://schemas.openxmlformats.org/officeDocument/2006/math">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𝑇𝐼</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𝑆</m:t>
                        </m:r>
                      </m:e>
                      <m:sub>
                        <m:r>
                          <a:rPr lang="en-US" sz="1600" b="0" i="1" smtClean="0">
                            <a:latin typeface="Cambria Math" panose="02040503050406030204" pitchFamily="18" charset="0"/>
                            <a:ea typeface="Cambria Math" panose="02040503050406030204" pitchFamily="18" charset="0"/>
                          </a:rPr>
                          <m:t>𝐴𝑂𝐼</m:t>
                        </m:r>
                        <m:r>
                          <a:rPr lang="en-US" sz="1600" b="0" i="1" smtClean="0">
                            <a:latin typeface="Cambria Math" panose="02040503050406030204" pitchFamily="18" charset="0"/>
                            <a:ea typeface="Cambria Math" panose="02040503050406030204" pitchFamily="18" charset="0"/>
                          </a:rPr>
                          <m:t>≈0</m:t>
                        </m:r>
                      </m:sub>
                    </m:sSub>
                    <m:r>
                      <a:rPr lang="en-US" sz="1600" b="0" i="1" smtClean="0">
                        <a:latin typeface="Cambria Math" panose="02040503050406030204" pitchFamily="18" charset="0"/>
                        <a:ea typeface="Cambria Math" panose="02040503050406030204" pitchFamily="18" charset="0"/>
                      </a:rPr>
                      <m:t>≈</m:t>
                    </m:r>
                    <m:sSup>
                      <m:sSupPr>
                        <m:ctrlPr>
                          <a:rPr lang="en-US" sz="1600" b="0" i="1" smtClean="0">
                            <a:latin typeface="Cambria Math" panose="02040503050406030204" pitchFamily="18" charset="0"/>
                            <a:ea typeface="Cambria Math" panose="02040503050406030204" pitchFamily="18" charset="0"/>
                          </a:rPr>
                        </m:ctrlPr>
                      </m:sSupPr>
                      <m:e>
                        <m:d>
                          <m:dPr>
                            <m:ctrlPr>
                              <a:rPr lang="en-US" sz="1600" b="0" i="1" smtClean="0">
                                <a:latin typeface="Cambria Math" panose="02040503050406030204" pitchFamily="18" charset="0"/>
                                <a:ea typeface="Cambria Math" panose="02040503050406030204" pitchFamily="18" charset="0"/>
                              </a:rPr>
                            </m:ctrlPr>
                          </m:dPr>
                          <m:e>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4</m:t>
                                </m:r>
                                <m:r>
                                  <a:rPr lang="en-US" sz="1600" b="0" i="1" smtClean="0">
                                    <a:latin typeface="Cambria Math" panose="02040503050406030204" pitchFamily="18" charset="0"/>
                                    <a:ea typeface="Cambria Math" panose="02040503050406030204" pitchFamily="18" charset="0"/>
                                  </a:rPr>
                                  <m:t>𝜋</m:t>
                                </m:r>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2.025</m:t>
                                    </m:r>
                                    <m:r>
                                      <a:rPr lang="en-US" sz="1600" b="0" i="1" smtClean="0">
                                        <a:latin typeface="Cambria Math" panose="02040503050406030204" pitchFamily="18" charset="0"/>
                                        <a:ea typeface="Cambria Math" panose="02040503050406030204" pitchFamily="18" charset="0"/>
                                      </a:rPr>
                                      <m:t>𝜇</m:t>
                                    </m:r>
                                    <m:r>
                                      <a:rPr lang="en-US" sz="1600" b="0" i="1" smtClean="0">
                                        <a:latin typeface="Cambria Math" panose="02040503050406030204" pitchFamily="18" charset="0"/>
                                        <a:ea typeface="Cambria Math" panose="02040503050406030204" pitchFamily="18" charset="0"/>
                                      </a:rPr>
                                      <m:t>𝑚</m:t>
                                    </m:r>
                                  </m:e>
                                </m:d>
                              </m:num>
                              <m:den>
                                <m:r>
                                  <a:rPr lang="en-US" sz="1600" b="0" i="1" smtClean="0">
                                    <a:latin typeface="Cambria Math" panose="02040503050406030204" pitchFamily="18" charset="0"/>
                                    <a:ea typeface="Cambria Math" panose="02040503050406030204" pitchFamily="18" charset="0"/>
                                  </a:rPr>
                                  <m:t>630</m:t>
                                </m:r>
                                <m:r>
                                  <a:rPr lang="en-US" sz="1600" b="0" i="1" smtClean="0">
                                    <a:latin typeface="Cambria Math" panose="02040503050406030204" pitchFamily="18" charset="0"/>
                                    <a:ea typeface="Cambria Math" panose="02040503050406030204" pitchFamily="18" charset="0"/>
                                  </a:rPr>
                                  <m:t>𝑛𝑚</m:t>
                                </m:r>
                              </m:den>
                            </m:f>
                          </m:e>
                        </m:d>
                      </m:e>
                      <m:sup>
                        <m:r>
                          <a:rPr lang="en-US" sz="1600" b="0" i="1" smtClean="0">
                            <a:latin typeface="Cambria Math" panose="02040503050406030204" pitchFamily="18" charset="0"/>
                            <a:ea typeface="Cambria Math" panose="02040503050406030204" pitchFamily="18" charset="0"/>
                          </a:rPr>
                          <m:t>2</m:t>
                        </m:r>
                      </m:sup>
                    </m:sSup>
                    <m:r>
                      <a:rPr lang="en-US" sz="1600" b="0" i="1" smtClean="0">
                        <a:latin typeface="Cambria Math" panose="02040503050406030204" pitchFamily="18" charset="0"/>
                        <a:ea typeface="Cambria Math" panose="02040503050406030204" pitchFamily="18" charset="0"/>
                      </a:rPr>
                      <m:t>=1631.5</m:t>
                    </m:r>
                  </m:oMath>
                </a14:m>
                <a:r>
                  <a:rPr lang="en-US" sz="1600" b="0" dirty="0"/>
                  <a:t> ------- </a:t>
                </a:r>
                <a:r>
                  <a:rPr lang="en-US" sz="1600" b="0" dirty="0" err="1"/>
                  <a:t>nevermind</a:t>
                </a:r>
                <a:r>
                  <a:rPr lang="en-US" sz="1600" b="0" dirty="0"/>
                  <a:t>, only for smooth (polished) surfaces</a:t>
                </a:r>
              </a:p>
              <a:p>
                <a:r>
                  <a:rPr lang="en-US" sz="2000" b="0" dirty="0"/>
                  <a:t>For (8%, 19%) to show up in FRED, would need to put BRF values not BRDF (effectively introducing the pi factor added to ‘</a:t>
                </a:r>
                <a:r>
                  <a:rPr lang="en-US" sz="2000" b="0" dirty="0" err="1"/>
                  <a:t>calculate_TIS.m</a:t>
                </a:r>
                <a:r>
                  <a:rPr lang="en-US" sz="2000" b="0" dirty="0"/>
                  <a:t>’); but surprising if true</a:t>
                </a:r>
              </a:p>
            </p:txBody>
          </p:sp>
        </mc:Choice>
        <mc:Fallback xmlns="">
          <p:sp>
            <p:nvSpPr>
              <p:cNvPr id="3" name="Text Placeholder 2">
                <a:extLst>
                  <a:ext uri="{FF2B5EF4-FFF2-40B4-BE49-F238E27FC236}">
                    <a16:creationId xmlns:a16="http://schemas.microsoft.com/office/drawing/2014/main" id="{04D1E669-77BC-531E-90C4-74A0413C291C}"/>
                  </a:ext>
                </a:extLst>
              </p:cNvPr>
              <p:cNvSpPr>
                <a:spLocks noGrp="1" noRot="1" noChangeAspect="1" noMove="1" noResize="1" noEditPoints="1" noAdjustHandles="1" noChangeArrowheads="1" noChangeShapeType="1" noTextEdit="1"/>
              </p:cNvSpPr>
              <p:nvPr>
                <p:ph type="body" idx="1"/>
              </p:nvPr>
            </p:nvSpPr>
            <p:spPr>
              <a:xfrm>
                <a:off x="609598" y="1024128"/>
                <a:ext cx="10684044" cy="5342805"/>
              </a:xfrm>
              <a:blipFill>
                <a:blip r:embed="rId2"/>
                <a:stretch>
                  <a:fillRect l="-570" t="-1027" r="-399"/>
                </a:stretch>
              </a:blipFill>
            </p:spPr>
            <p:txBody>
              <a:bodyPr/>
              <a:lstStyle/>
              <a:p>
                <a:r>
                  <a:rPr lang="en-US">
                    <a:noFill/>
                  </a:rPr>
                  <a:t> </a:t>
                </a:r>
              </a:p>
            </p:txBody>
          </p:sp>
        </mc:Fallback>
      </mc:AlternateContent>
    </p:spTree>
    <p:extLst>
      <p:ext uri="{BB962C8B-B14F-4D97-AF65-F5344CB8AC3E}">
        <p14:creationId xmlns:p14="http://schemas.microsoft.com/office/powerpoint/2010/main" val="482394775"/>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A85D1-3550-4F01-A763-0CA5BF1931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3DDDD7-B490-9BD1-C338-5020C629B3BD}"/>
              </a:ext>
            </a:extLst>
          </p:cNvPr>
          <p:cNvSpPr>
            <a:spLocks noGrp="1"/>
          </p:cNvSpPr>
          <p:nvPr>
            <p:ph type="title"/>
          </p:nvPr>
        </p:nvSpPr>
        <p:spPr>
          <a:xfrm>
            <a:off x="609599" y="152718"/>
            <a:ext cx="9011323" cy="640080"/>
          </a:xfrm>
        </p:spPr>
        <p:txBody>
          <a:bodyPr>
            <a:normAutofit/>
          </a:bodyPr>
          <a:lstStyle/>
          <a:p>
            <a:r>
              <a:rPr lang="en-US" dirty="0"/>
              <a:t>Attempt removing 1/cos(R)</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B1F99CE-0EBE-6603-67FD-841FF579E233}"/>
                  </a:ext>
                </a:extLst>
              </p:cNvPr>
              <p:cNvSpPr>
                <a:spLocks noGrp="1"/>
              </p:cNvSpPr>
              <p:nvPr>
                <p:ph type="body" idx="1"/>
              </p:nvPr>
            </p:nvSpPr>
            <p:spPr>
              <a:xfrm>
                <a:off x="609598" y="1024128"/>
                <a:ext cx="10684044" cy="5833872"/>
              </a:xfrm>
            </p:spPr>
            <p:txBody>
              <a:bodyPr>
                <a:normAutofit/>
              </a:bodyPr>
              <a:lstStyle/>
              <a:p>
                <a:r>
                  <a:rPr lang="en-US" sz="2000" b="0" dirty="0"/>
                  <a:t>Decreases BRDF values and decreases TIS. Integrand becomes:</a:t>
                </a:r>
              </a:p>
              <a:p>
                <a:pPr lvl="1"/>
                <a14:m>
                  <m:oMath xmlns:m="http://schemas.openxmlformats.org/officeDocument/2006/math">
                    <m:r>
                      <a:rPr lang="en-US" sz="1600" b="0" i="1" smtClean="0">
                        <a:latin typeface="Cambria Math" panose="02040503050406030204" pitchFamily="18" charset="0"/>
                      </a:rPr>
                      <m:t>𝐵𝑅𝐷𝐹</m:t>
                    </m:r>
                    <m:func>
                      <m:funcPr>
                        <m:ctrlPr>
                          <a:rPr lang="en-US" sz="1600" b="0" i="0"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𝜃</m:t>
                            </m:r>
                          </m:e>
                          <m:sub>
                            <m:r>
                              <a:rPr lang="en-US" sz="1600" b="0" i="1" smtClean="0">
                                <a:latin typeface="Cambria Math" panose="02040503050406030204" pitchFamily="18" charset="0"/>
                              </a:rPr>
                              <m:t>𝑠</m:t>
                            </m:r>
                          </m:sub>
                        </m:sSub>
                      </m:e>
                    </m:func>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𝑅𝑇</m:t>
                        </m:r>
                      </m:num>
                      <m:den>
                        <m:r>
                          <a:rPr lang="en-US" sz="1600" b="0" i="1" smtClean="0">
                            <a:latin typeface="Cambria Math" panose="02040503050406030204" pitchFamily="18" charset="0"/>
                          </a:rPr>
                          <m:t>𝜋</m:t>
                        </m:r>
                        <m:func>
                          <m:funcPr>
                            <m:ctrlPr>
                              <a:rPr lang="en-US" sz="1600" b="0" i="0"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𝜃</m:t>
                                </m:r>
                              </m:e>
                              <m:sub>
                                <m:r>
                                  <a:rPr lang="en-US" sz="1600" b="0" i="1" smtClean="0">
                                    <a:latin typeface="Cambria Math" panose="02040503050406030204" pitchFamily="18" charset="0"/>
                                  </a:rPr>
                                  <m:t>𝑠</m:t>
                                </m:r>
                              </m:sub>
                            </m:sSub>
                          </m:e>
                        </m:func>
                      </m:den>
                    </m:f>
                    <m:func>
                      <m:funcPr>
                        <m:ctrlPr>
                          <a:rPr lang="en-US" sz="1600" b="0" i="0"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𝜃</m:t>
                            </m:r>
                          </m:e>
                          <m:sub>
                            <m:r>
                              <a:rPr lang="en-US" sz="1600" b="0" i="1" smtClean="0">
                                <a:latin typeface="Cambria Math" panose="02040503050406030204" pitchFamily="18" charset="0"/>
                              </a:rPr>
                              <m:t>𝑠</m:t>
                            </m:r>
                          </m:sub>
                        </m:sSub>
                      </m:e>
                    </m:func>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𝑅𝑇</m:t>
                        </m:r>
                      </m:num>
                      <m:den>
                        <m:r>
                          <a:rPr lang="en-US" sz="1600" b="0" i="1" smtClean="0">
                            <a:latin typeface="Cambria Math" panose="02040503050406030204" pitchFamily="18" charset="0"/>
                          </a:rPr>
                          <m:t>𝜋</m:t>
                        </m:r>
                      </m:den>
                    </m:f>
                  </m:oMath>
                </a14:m>
                <a:r>
                  <a:rPr lang="en-US" sz="1600" b="0" dirty="0"/>
                  <a:t> </a:t>
                </a:r>
              </a:p>
              <a:p>
                <a:pPr lvl="1"/>
                <a14:m>
                  <m:oMath xmlns:m="http://schemas.openxmlformats.org/officeDocument/2006/math">
                    <m:r>
                      <a:rPr lang="en-US" sz="1600" i="1">
                        <a:latin typeface="Cambria Math" panose="02040503050406030204" pitchFamily="18" charset="0"/>
                      </a:rPr>
                      <m:t>𝐵𝑅𝐷</m:t>
                    </m:r>
                    <m:sSup>
                      <m:sSupPr>
                        <m:ctrlPr>
                          <a:rPr lang="en-US" sz="1600" i="1">
                            <a:latin typeface="Cambria Math" panose="02040503050406030204" pitchFamily="18" charset="0"/>
                          </a:rPr>
                        </m:ctrlPr>
                      </m:sSupPr>
                      <m:e>
                        <m:r>
                          <a:rPr lang="en-US" sz="1600" i="1">
                            <a:latin typeface="Cambria Math" panose="02040503050406030204" pitchFamily="18" charset="0"/>
                          </a:rPr>
                          <m:t>𝐹</m:t>
                        </m:r>
                      </m:e>
                      <m:sup>
                        <m:r>
                          <a:rPr lang="en-US" sz="1600" b="0" i="1" smtClean="0">
                            <a:latin typeface="Cambria Math" panose="02040503050406030204" pitchFamily="18" charset="0"/>
                          </a:rPr>
                          <m:t>′</m:t>
                        </m:r>
                      </m:sup>
                    </m:sSup>
                    <m:func>
                      <m:funcPr>
                        <m:ctrlPr>
                          <a:rPr lang="en-US" sz="1600" b="0" i="0"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𝜃</m:t>
                            </m:r>
                          </m:e>
                          <m:sub>
                            <m:r>
                              <a:rPr lang="en-US" sz="1600" b="0" i="1" smtClean="0">
                                <a:latin typeface="Cambria Math" panose="02040503050406030204" pitchFamily="18" charset="0"/>
                              </a:rPr>
                              <m:t>𝑠</m:t>
                            </m:r>
                          </m:sub>
                        </m:sSub>
                      </m:e>
                    </m:func>
                    <m:r>
                      <a:rPr lang="en-US" sz="1600" i="1">
                        <a:latin typeface="Cambria Math" panose="02040503050406030204" pitchFamily="18" charset="0"/>
                      </a:rPr>
                      <m:t>=</m:t>
                    </m:r>
                    <m:f>
                      <m:fPr>
                        <m:ctrlPr>
                          <a:rPr lang="en-US" sz="1600" i="1">
                            <a:latin typeface="Cambria Math" panose="02040503050406030204" pitchFamily="18" charset="0"/>
                          </a:rPr>
                        </m:ctrlPr>
                      </m:fPr>
                      <m:num>
                        <m:r>
                          <a:rPr lang="en-US" sz="1600" i="1">
                            <a:latin typeface="Cambria Math" panose="02040503050406030204" pitchFamily="18" charset="0"/>
                          </a:rPr>
                          <m:t>𝑅𝑇</m:t>
                        </m:r>
                      </m:num>
                      <m:den>
                        <m:r>
                          <a:rPr lang="en-US" sz="1600" i="1">
                            <a:latin typeface="Cambria Math" panose="02040503050406030204" pitchFamily="18" charset="0"/>
                          </a:rPr>
                          <m:t>𝜋</m:t>
                        </m:r>
                      </m:den>
                    </m:f>
                    <m:func>
                      <m:funcPr>
                        <m:ctrlPr>
                          <a:rPr lang="en-US" sz="1600">
                            <a:latin typeface="Cambria Math" panose="02040503050406030204" pitchFamily="18" charset="0"/>
                          </a:rPr>
                        </m:ctrlPr>
                      </m:funcPr>
                      <m:fName>
                        <m:r>
                          <m:rPr>
                            <m:sty m:val="p"/>
                          </m:rPr>
                          <a:rPr lang="en-US" sz="1600">
                            <a:latin typeface="Cambria Math" panose="02040503050406030204" pitchFamily="18" charset="0"/>
                          </a:rPr>
                          <m:t>cos</m:t>
                        </m:r>
                      </m:fName>
                      <m:e>
                        <m:sSub>
                          <m:sSubPr>
                            <m:ctrlPr>
                              <a:rPr lang="en-US" sz="1600" i="1">
                                <a:latin typeface="Cambria Math" panose="02040503050406030204" pitchFamily="18" charset="0"/>
                              </a:rPr>
                            </m:ctrlPr>
                          </m:sSubPr>
                          <m:e>
                            <m:r>
                              <a:rPr lang="en-US" sz="1600" i="1">
                                <a:latin typeface="Cambria Math" panose="02040503050406030204" pitchFamily="18" charset="0"/>
                              </a:rPr>
                              <m:t>𝜃</m:t>
                            </m:r>
                          </m:e>
                          <m:sub>
                            <m:r>
                              <a:rPr lang="en-US" sz="1600" i="1">
                                <a:latin typeface="Cambria Math" panose="02040503050406030204" pitchFamily="18" charset="0"/>
                              </a:rPr>
                              <m:t>𝑠</m:t>
                            </m:r>
                          </m:sub>
                        </m:sSub>
                      </m:e>
                    </m:func>
                    <m:r>
                      <a:rPr lang="en-US" sz="1600" b="0" i="1" smtClean="0">
                        <a:latin typeface="Cambria Math" panose="02040503050406030204" pitchFamily="18" charset="0"/>
                      </a:rPr>
                      <m:t>≤</m:t>
                    </m:r>
                    <m:f>
                      <m:fPr>
                        <m:ctrlPr>
                          <a:rPr lang="en-US" sz="1600" i="1">
                            <a:latin typeface="Cambria Math" panose="02040503050406030204" pitchFamily="18" charset="0"/>
                          </a:rPr>
                        </m:ctrlPr>
                      </m:fPr>
                      <m:num>
                        <m:r>
                          <a:rPr lang="en-US" sz="1600" i="1">
                            <a:latin typeface="Cambria Math" panose="02040503050406030204" pitchFamily="18" charset="0"/>
                          </a:rPr>
                          <m:t>𝑅𝑇</m:t>
                        </m:r>
                      </m:num>
                      <m:den>
                        <m:r>
                          <a:rPr lang="en-US" sz="1600" i="1">
                            <a:latin typeface="Cambria Math" panose="02040503050406030204" pitchFamily="18" charset="0"/>
                          </a:rPr>
                          <m:t>𝜋</m:t>
                        </m:r>
                      </m:den>
                    </m:f>
                  </m:oMath>
                </a14:m>
                <a:endParaRPr lang="en-US" sz="1600" b="0" dirty="0"/>
              </a:p>
              <a:p>
                <a:r>
                  <a:rPr lang="en-US" sz="2000" b="0" dirty="0"/>
                  <a:t>This is not solution.</a:t>
                </a:r>
              </a:p>
            </p:txBody>
          </p:sp>
        </mc:Choice>
        <mc:Fallback xmlns="">
          <p:sp>
            <p:nvSpPr>
              <p:cNvPr id="3" name="Text Placeholder 2">
                <a:extLst>
                  <a:ext uri="{FF2B5EF4-FFF2-40B4-BE49-F238E27FC236}">
                    <a16:creationId xmlns:a16="http://schemas.microsoft.com/office/drawing/2014/main" id="{9B1F99CE-0EBE-6603-67FD-841FF579E233}"/>
                  </a:ext>
                </a:extLst>
              </p:cNvPr>
              <p:cNvSpPr>
                <a:spLocks noGrp="1" noRot="1" noChangeAspect="1" noMove="1" noResize="1" noEditPoints="1" noAdjustHandles="1" noChangeArrowheads="1" noChangeShapeType="1" noTextEdit="1"/>
              </p:cNvSpPr>
              <p:nvPr>
                <p:ph type="body" idx="1"/>
              </p:nvPr>
            </p:nvSpPr>
            <p:spPr>
              <a:xfrm>
                <a:off x="609598" y="1024128"/>
                <a:ext cx="10684044" cy="5833872"/>
              </a:xfrm>
              <a:blipFill>
                <a:blip r:embed="rId2"/>
                <a:stretch>
                  <a:fillRect l="-570" t="-940"/>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B4458F3F-10D8-2D43-7C6C-7A2F9310B1AF}"/>
              </a:ext>
            </a:extLst>
          </p:cNvPr>
          <p:cNvPicPr>
            <a:picLocks noChangeAspect="1"/>
          </p:cNvPicPr>
          <p:nvPr/>
        </p:nvPicPr>
        <p:blipFill>
          <a:blip r:embed="rId3"/>
          <a:stretch>
            <a:fillRect/>
          </a:stretch>
        </p:blipFill>
        <p:spPr>
          <a:xfrm>
            <a:off x="8632743" y="0"/>
            <a:ext cx="3223847" cy="6858000"/>
          </a:xfrm>
          <a:prstGeom prst="rect">
            <a:avLst/>
          </a:prstGeom>
        </p:spPr>
      </p:pic>
    </p:spTree>
    <p:extLst>
      <p:ext uri="{BB962C8B-B14F-4D97-AF65-F5344CB8AC3E}">
        <p14:creationId xmlns:p14="http://schemas.microsoft.com/office/powerpoint/2010/main" val="3587713182"/>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5CF5B-DDB4-B7A3-71DD-5A5A3FD2D0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2AAEFD-033D-CE94-2C46-24B5EA9D3401}"/>
              </a:ext>
            </a:extLst>
          </p:cNvPr>
          <p:cNvSpPr>
            <a:spLocks noGrp="1"/>
          </p:cNvSpPr>
          <p:nvPr>
            <p:ph type="title"/>
          </p:nvPr>
        </p:nvSpPr>
        <p:spPr>
          <a:xfrm>
            <a:off x="609599" y="152718"/>
            <a:ext cx="9011323" cy="640080"/>
          </a:xfrm>
        </p:spPr>
        <p:txBody>
          <a:bodyPr>
            <a:normAutofit/>
          </a:bodyPr>
          <a:lstStyle/>
          <a:p>
            <a:r>
              <a:rPr lang="en-US" dirty="0"/>
              <a:t>Comparison to Max’s data</a:t>
            </a:r>
          </a:p>
        </p:txBody>
      </p:sp>
      <p:pic>
        <p:nvPicPr>
          <p:cNvPr id="8" name="Picture 7">
            <a:extLst>
              <a:ext uri="{FF2B5EF4-FFF2-40B4-BE49-F238E27FC236}">
                <a16:creationId xmlns:a16="http://schemas.microsoft.com/office/drawing/2014/main" id="{BCE5A30B-C3A1-E1F0-3932-D3EFC9C83282}"/>
              </a:ext>
            </a:extLst>
          </p:cNvPr>
          <p:cNvPicPr>
            <a:picLocks noChangeAspect="1"/>
          </p:cNvPicPr>
          <p:nvPr/>
        </p:nvPicPr>
        <p:blipFill>
          <a:blip r:embed="rId2"/>
          <a:stretch>
            <a:fillRect/>
          </a:stretch>
        </p:blipFill>
        <p:spPr>
          <a:xfrm>
            <a:off x="6444527" y="4019329"/>
            <a:ext cx="4505661" cy="2773054"/>
          </a:xfrm>
          <a:prstGeom prst="rect">
            <a:avLst/>
          </a:prstGeom>
        </p:spPr>
      </p:pic>
      <p:pic>
        <p:nvPicPr>
          <p:cNvPr id="10" name="Picture 9">
            <a:extLst>
              <a:ext uri="{FF2B5EF4-FFF2-40B4-BE49-F238E27FC236}">
                <a16:creationId xmlns:a16="http://schemas.microsoft.com/office/drawing/2014/main" id="{07B0D82B-C331-E22F-9256-D9F270BC08E5}"/>
              </a:ext>
            </a:extLst>
          </p:cNvPr>
          <p:cNvPicPr>
            <a:picLocks noChangeAspect="1"/>
          </p:cNvPicPr>
          <p:nvPr/>
        </p:nvPicPr>
        <p:blipFill>
          <a:blip r:embed="rId3"/>
          <a:stretch>
            <a:fillRect/>
          </a:stretch>
        </p:blipFill>
        <p:spPr>
          <a:xfrm>
            <a:off x="6444528" y="992274"/>
            <a:ext cx="4505662" cy="2773054"/>
          </a:xfrm>
          <a:prstGeom prst="rect">
            <a:avLst/>
          </a:prstGeom>
        </p:spPr>
      </p:pic>
      <p:pic>
        <p:nvPicPr>
          <p:cNvPr id="12" name="Picture 11">
            <a:extLst>
              <a:ext uri="{FF2B5EF4-FFF2-40B4-BE49-F238E27FC236}">
                <a16:creationId xmlns:a16="http://schemas.microsoft.com/office/drawing/2014/main" id="{4619A886-64ED-3312-5D40-3DD8EA3FC0D8}"/>
              </a:ext>
            </a:extLst>
          </p:cNvPr>
          <p:cNvPicPr>
            <a:picLocks noChangeAspect="1"/>
          </p:cNvPicPr>
          <p:nvPr/>
        </p:nvPicPr>
        <p:blipFill>
          <a:blip r:embed="rId4"/>
          <a:srcRect l="1739" r="7072"/>
          <a:stretch>
            <a:fillRect/>
          </a:stretch>
        </p:blipFill>
        <p:spPr>
          <a:xfrm>
            <a:off x="931333" y="912186"/>
            <a:ext cx="4842934" cy="2853141"/>
          </a:xfrm>
          <a:prstGeom prst="rect">
            <a:avLst/>
          </a:prstGeom>
        </p:spPr>
      </p:pic>
      <p:sp>
        <p:nvSpPr>
          <p:cNvPr id="13" name="Rectangle 12">
            <a:extLst>
              <a:ext uri="{FF2B5EF4-FFF2-40B4-BE49-F238E27FC236}">
                <a16:creationId xmlns:a16="http://schemas.microsoft.com/office/drawing/2014/main" id="{35F901F2-498C-38BA-2E77-1FA6FBF3583B}"/>
              </a:ext>
            </a:extLst>
          </p:cNvPr>
          <p:cNvSpPr/>
          <p:nvPr/>
        </p:nvSpPr>
        <p:spPr>
          <a:xfrm>
            <a:off x="482600" y="792798"/>
            <a:ext cx="10955867" cy="3051069"/>
          </a:xfrm>
          <a:prstGeom prst="rect">
            <a:avLst/>
          </a:prstGeom>
          <a:noFill/>
          <a:ln w="571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3CE6633-FC1F-56A3-F5BC-BF27E77B7C7D}"/>
              </a:ext>
            </a:extLst>
          </p:cNvPr>
          <p:cNvSpPr txBox="1"/>
          <p:nvPr/>
        </p:nvSpPr>
        <p:spPr>
          <a:xfrm>
            <a:off x="1456267" y="1659466"/>
            <a:ext cx="3369733" cy="307777"/>
          </a:xfrm>
          <a:prstGeom prst="rect">
            <a:avLst/>
          </a:prstGeom>
          <a:noFill/>
        </p:spPr>
        <p:txBody>
          <a:bodyPr wrap="square" rtlCol="0">
            <a:spAutoFit/>
          </a:bodyPr>
          <a:lstStyle/>
          <a:p>
            <a:r>
              <a:rPr lang="en-US" dirty="0">
                <a:solidFill>
                  <a:schemeClr val="bg2"/>
                </a:solidFill>
              </a:rPr>
              <a:t>Figure 12 of Max’s RT-300S Whitepaper</a:t>
            </a:r>
          </a:p>
        </p:txBody>
      </p:sp>
      <p:sp>
        <p:nvSpPr>
          <p:cNvPr id="16" name="TextBox 15">
            <a:extLst>
              <a:ext uri="{FF2B5EF4-FFF2-40B4-BE49-F238E27FC236}">
                <a16:creationId xmlns:a16="http://schemas.microsoft.com/office/drawing/2014/main" id="{AACBA38B-F224-182C-C078-F441310CD84B}"/>
              </a:ext>
            </a:extLst>
          </p:cNvPr>
          <p:cNvSpPr txBox="1"/>
          <p:nvPr/>
        </p:nvSpPr>
        <p:spPr>
          <a:xfrm>
            <a:off x="6921500" y="1659465"/>
            <a:ext cx="3369733" cy="1169551"/>
          </a:xfrm>
          <a:prstGeom prst="rect">
            <a:avLst/>
          </a:prstGeom>
          <a:noFill/>
        </p:spPr>
        <p:txBody>
          <a:bodyPr wrap="square" rtlCol="0">
            <a:spAutoFit/>
          </a:bodyPr>
          <a:lstStyle/>
          <a:p>
            <a:r>
              <a:rPr lang="en-US" dirty="0">
                <a:solidFill>
                  <a:schemeClr val="bg2"/>
                </a:solidFill>
              </a:rPr>
              <a:t>Same sample, same methodology;</a:t>
            </a:r>
            <a:br>
              <a:rPr lang="en-US" dirty="0">
                <a:solidFill>
                  <a:schemeClr val="bg2"/>
                </a:solidFill>
              </a:rPr>
            </a:br>
            <a:r>
              <a:rPr lang="en-US" dirty="0">
                <a:solidFill>
                  <a:schemeClr val="bg2"/>
                </a:solidFill>
              </a:rPr>
              <a:t>all repeated following Whitepaper</a:t>
            </a:r>
          </a:p>
          <a:p>
            <a:br>
              <a:rPr lang="en-US" dirty="0">
                <a:solidFill>
                  <a:schemeClr val="bg2"/>
                </a:solidFill>
              </a:rPr>
            </a:br>
            <a:r>
              <a:rPr lang="en-US" dirty="0">
                <a:solidFill>
                  <a:schemeClr val="bg2"/>
                </a:solidFill>
              </a:rPr>
              <a:t>(new calibration file, new laser alignment, etc.)</a:t>
            </a:r>
          </a:p>
        </p:txBody>
      </p:sp>
      <p:sp>
        <p:nvSpPr>
          <p:cNvPr id="18" name="TextBox 17">
            <a:extLst>
              <a:ext uri="{FF2B5EF4-FFF2-40B4-BE49-F238E27FC236}">
                <a16:creationId xmlns:a16="http://schemas.microsoft.com/office/drawing/2014/main" id="{998C5DE4-F6CE-61DF-9196-EBC0E5508C03}"/>
              </a:ext>
            </a:extLst>
          </p:cNvPr>
          <p:cNvSpPr txBox="1"/>
          <p:nvPr/>
        </p:nvSpPr>
        <p:spPr>
          <a:xfrm>
            <a:off x="7112001" y="4675315"/>
            <a:ext cx="3369733" cy="523220"/>
          </a:xfrm>
          <a:prstGeom prst="rect">
            <a:avLst/>
          </a:prstGeom>
          <a:noFill/>
        </p:spPr>
        <p:txBody>
          <a:bodyPr wrap="square" rtlCol="0">
            <a:spAutoFit/>
          </a:bodyPr>
          <a:lstStyle/>
          <a:p>
            <a:r>
              <a:rPr lang="en-US" dirty="0">
                <a:solidFill>
                  <a:schemeClr val="bg2"/>
                </a:solidFill>
              </a:rPr>
              <a:t>Different Z307 sample (12”x12”);</a:t>
            </a:r>
          </a:p>
          <a:p>
            <a:r>
              <a:rPr lang="en-US" dirty="0">
                <a:solidFill>
                  <a:schemeClr val="bg2"/>
                </a:solidFill>
              </a:rPr>
              <a:t>Similar result</a:t>
            </a:r>
          </a:p>
        </p:txBody>
      </p:sp>
      <p:sp>
        <p:nvSpPr>
          <p:cNvPr id="19" name="TextBox 18">
            <a:extLst>
              <a:ext uri="{FF2B5EF4-FFF2-40B4-BE49-F238E27FC236}">
                <a16:creationId xmlns:a16="http://schemas.microsoft.com/office/drawing/2014/main" id="{632A76A5-1C5C-ABE1-4FA0-7B676C757B6C}"/>
              </a:ext>
            </a:extLst>
          </p:cNvPr>
          <p:cNvSpPr txBox="1"/>
          <p:nvPr/>
        </p:nvSpPr>
        <p:spPr>
          <a:xfrm>
            <a:off x="397237" y="4413704"/>
            <a:ext cx="5377030" cy="2062103"/>
          </a:xfrm>
          <a:prstGeom prst="rect">
            <a:avLst/>
          </a:prstGeom>
          <a:noFill/>
        </p:spPr>
        <p:txBody>
          <a:bodyPr wrap="square" rtlCol="0">
            <a:spAutoFit/>
          </a:bodyPr>
          <a:lstStyle/>
          <a:p>
            <a:r>
              <a:rPr lang="en-US" sz="1600" b="1" u="sng" dirty="0"/>
              <a:t>Conclusion</a:t>
            </a:r>
            <a:endParaRPr lang="en-US" sz="1600" dirty="0"/>
          </a:p>
          <a:p>
            <a:pPr marL="285750" indent="-285750">
              <a:buFont typeface="Arial" panose="020B0604020202020204" pitchFamily="34" charset="0"/>
              <a:buChar char="•"/>
            </a:pPr>
            <a:r>
              <a:rPr lang="en-US" sz="1600" dirty="0"/>
              <a:t>RT-300S is calibrated according to prior methodology</a:t>
            </a:r>
          </a:p>
          <a:p>
            <a:pPr marL="285750" indent="-285750">
              <a:buFont typeface="Arial" panose="020B0604020202020204" pitchFamily="34" charset="0"/>
              <a:buChar char="•"/>
            </a:pPr>
            <a:endParaRPr lang="en-US" sz="1600" dirty="0"/>
          </a:p>
          <a:p>
            <a:r>
              <a:rPr lang="en-US" sz="1600" b="1" u="sng" dirty="0"/>
              <a:t>Moving forward</a:t>
            </a:r>
            <a:endParaRPr lang="en-US" sz="1600" dirty="0"/>
          </a:p>
          <a:p>
            <a:pPr marL="285750" indent="-285750">
              <a:buFont typeface="Arial" panose="020B0604020202020204" pitchFamily="34" charset="0"/>
              <a:buChar char="•"/>
            </a:pPr>
            <a:r>
              <a:rPr lang="en-US" sz="1600" dirty="0"/>
              <a:t>Fine-tune calibration/processing method</a:t>
            </a:r>
          </a:p>
          <a:p>
            <a:pPr marL="285750" indent="-285750">
              <a:buFont typeface="Arial" panose="020B0604020202020204" pitchFamily="34" charset="0"/>
              <a:buChar char="•"/>
            </a:pPr>
            <a:r>
              <a:rPr lang="en-US" sz="1600" dirty="0"/>
              <a:t>Or look for other explanations (e.g., low angular sampling near specular… but seems unlikely to drive ~30% vs. ~6% TIS difference)</a:t>
            </a:r>
          </a:p>
        </p:txBody>
      </p:sp>
    </p:spTree>
    <p:extLst>
      <p:ext uri="{BB962C8B-B14F-4D97-AF65-F5344CB8AC3E}">
        <p14:creationId xmlns:p14="http://schemas.microsoft.com/office/powerpoint/2010/main" val="262644173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938A4-1E47-6339-8B98-8C638EA577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EAB195-1772-333E-6A27-0F8F306A710A}"/>
              </a:ext>
            </a:extLst>
          </p:cNvPr>
          <p:cNvSpPr>
            <a:spLocks noGrp="1"/>
          </p:cNvSpPr>
          <p:nvPr>
            <p:ph type="ctrTitle"/>
          </p:nvPr>
        </p:nvSpPr>
        <p:spPr/>
        <p:txBody>
          <a:bodyPr/>
          <a:lstStyle/>
          <a:p>
            <a:r>
              <a:rPr lang="en-US" sz="3600" dirty="0" err="1"/>
              <a:t>Aeroglaze</a:t>
            </a:r>
            <a:r>
              <a:rPr lang="en-US" sz="3600" dirty="0"/>
              <a:t> Z306 data</a:t>
            </a:r>
            <a:br>
              <a:rPr lang="en-US" sz="3600" dirty="0"/>
            </a:br>
            <a:r>
              <a:rPr lang="en-US" sz="2400" dirty="0">
                <a:solidFill>
                  <a:schemeClr val="bg2"/>
                </a:solidFill>
              </a:rPr>
              <a:t>[from Photon Engineering’s FRED Z306 binomial model, processed into FRED then </a:t>
            </a:r>
            <a:r>
              <a:rPr lang="en-US" sz="2400" dirty="0" err="1">
                <a:solidFill>
                  <a:schemeClr val="bg2"/>
                </a:solidFill>
              </a:rPr>
              <a:t>Zemax</a:t>
            </a:r>
            <a:r>
              <a:rPr lang="en-US" sz="2400" dirty="0">
                <a:solidFill>
                  <a:schemeClr val="bg2"/>
                </a:solidFill>
              </a:rPr>
              <a:t> format via </a:t>
            </a:r>
            <a:r>
              <a:rPr lang="en-US" sz="2400" dirty="0" err="1">
                <a:solidFill>
                  <a:schemeClr val="bg2"/>
                </a:solidFill>
              </a:rPr>
              <a:t>bsdf</a:t>
            </a:r>
            <a:r>
              <a:rPr lang="en-US" sz="2400" dirty="0">
                <a:solidFill>
                  <a:schemeClr val="bg2"/>
                </a:solidFill>
              </a:rPr>
              <a:t>-tools]</a:t>
            </a:r>
            <a:endParaRPr lang="en-US" sz="3600" dirty="0">
              <a:solidFill>
                <a:schemeClr val="bg2"/>
              </a:solidFill>
            </a:endParaRPr>
          </a:p>
        </p:txBody>
      </p:sp>
      <p:sp>
        <p:nvSpPr>
          <p:cNvPr id="3" name="Subtitle 2">
            <a:extLst>
              <a:ext uri="{FF2B5EF4-FFF2-40B4-BE49-F238E27FC236}">
                <a16:creationId xmlns:a16="http://schemas.microsoft.com/office/drawing/2014/main" id="{94B72162-AD7E-7D97-FB5D-583AE77BB43E}"/>
              </a:ext>
            </a:extLst>
          </p:cNvPr>
          <p:cNvSpPr>
            <a:spLocks noGrp="1"/>
          </p:cNvSpPr>
          <p:nvPr>
            <p:ph type="subTitle" idx="1"/>
          </p:nvPr>
        </p:nvSpPr>
        <p:spPr/>
        <p:txBody>
          <a:bodyPr>
            <a:normAutofit/>
          </a:bodyPr>
          <a:lstStyle/>
          <a:p>
            <a:endParaRPr lang="en-US" dirty="0"/>
          </a:p>
          <a:p>
            <a:r>
              <a:rPr lang="en-US" dirty="0"/>
              <a:t>2026/08/13</a:t>
            </a:r>
          </a:p>
        </p:txBody>
      </p:sp>
    </p:spTree>
    <p:extLst>
      <p:ext uri="{BB962C8B-B14F-4D97-AF65-F5344CB8AC3E}">
        <p14:creationId xmlns:p14="http://schemas.microsoft.com/office/powerpoint/2010/main" val="3349745237"/>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F38B9-19F3-7561-6450-8BF7EEFE5D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D76503-0F9F-C947-8D90-EADCFC8BA547}"/>
              </a:ext>
            </a:extLst>
          </p:cNvPr>
          <p:cNvSpPr>
            <a:spLocks noGrp="1"/>
          </p:cNvSpPr>
          <p:nvPr>
            <p:ph type="title"/>
          </p:nvPr>
        </p:nvSpPr>
        <p:spPr>
          <a:xfrm>
            <a:off x="609599" y="152718"/>
            <a:ext cx="9011323" cy="640080"/>
          </a:xfrm>
        </p:spPr>
        <p:txBody>
          <a:bodyPr>
            <a:normAutofit/>
          </a:bodyPr>
          <a:lstStyle/>
          <a:p>
            <a:r>
              <a:rPr lang="en-US" dirty="0" err="1"/>
              <a:t>Zemax</a:t>
            </a:r>
            <a:r>
              <a:rPr lang="en-US" dirty="0"/>
              <a:t> conversion as expected</a:t>
            </a:r>
          </a:p>
        </p:txBody>
      </p:sp>
      <p:pic>
        <p:nvPicPr>
          <p:cNvPr id="8" name="Picture 7">
            <a:extLst>
              <a:ext uri="{FF2B5EF4-FFF2-40B4-BE49-F238E27FC236}">
                <a16:creationId xmlns:a16="http://schemas.microsoft.com/office/drawing/2014/main" id="{BDC947FE-17CD-50C4-C810-AD2A1A2C7780}"/>
              </a:ext>
            </a:extLst>
          </p:cNvPr>
          <p:cNvPicPr>
            <a:picLocks noChangeAspect="1"/>
          </p:cNvPicPr>
          <p:nvPr/>
        </p:nvPicPr>
        <p:blipFill>
          <a:blip r:embed="rId2"/>
          <a:stretch>
            <a:fillRect/>
          </a:stretch>
        </p:blipFill>
        <p:spPr>
          <a:xfrm>
            <a:off x="0" y="800705"/>
            <a:ext cx="12192000" cy="6057295"/>
          </a:xfrm>
          <a:prstGeom prst="rect">
            <a:avLst/>
          </a:prstGeom>
          <a:ln>
            <a:solidFill>
              <a:schemeClr val="tx1"/>
            </a:solidFill>
          </a:ln>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2D48D5B-F398-F544-CBCC-F3ED404576FC}"/>
                  </a:ext>
                </a:extLst>
              </p:cNvPr>
              <p:cNvSpPr txBox="1"/>
              <p:nvPr/>
            </p:nvSpPr>
            <p:spPr>
              <a:xfrm>
                <a:off x="1672495" y="2751128"/>
                <a:ext cx="1316237" cy="400110"/>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10" name="TextBox 9">
                <a:extLst>
                  <a:ext uri="{FF2B5EF4-FFF2-40B4-BE49-F238E27FC236}">
                    <a16:creationId xmlns:a16="http://schemas.microsoft.com/office/drawing/2014/main" id="{02D48D5B-F398-F544-CBCC-F3ED404576FC}"/>
                  </a:ext>
                </a:extLst>
              </p:cNvPr>
              <p:cNvSpPr txBox="1">
                <a:spLocks noRot="1" noChangeAspect="1" noMove="1" noResize="1" noEditPoints="1" noAdjustHandles="1" noChangeArrowheads="1" noChangeShapeType="1" noTextEdit="1"/>
              </p:cNvSpPr>
              <p:nvPr/>
            </p:nvSpPr>
            <p:spPr>
              <a:xfrm>
                <a:off x="1672495" y="2751128"/>
                <a:ext cx="1316237" cy="400110"/>
              </a:xfrm>
              <a:prstGeom prst="rect">
                <a:avLst/>
              </a:prstGeom>
              <a:blipFill>
                <a:blip r:embed="rId3"/>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706F9C2-CF0C-59EB-669A-0DD9D2D35BF3}"/>
                  </a:ext>
                </a:extLst>
              </p:cNvPr>
              <p:cNvSpPr txBox="1"/>
              <p:nvPr/>
            </p:nvSpPr>
            <p:spPr>
              <a:xfrm>
                <a:off x="4762829" y="2751128"/>
                <a:ext cx="1316237" cy="400110"/>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𝟏𝟓</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12" name="TextBox 11">
                <a:extLst>
                  <a:ext uri="{FF2B5EF4-FFF2-40B4-BE49-F238E27FC236}">
                    <a16:creationId xmlns:a16="http://schemas.microsoft.com/office/drawing/2014/main" id="{2706F9C2-CF0C-59EB-669A-0DD9D2D35BF3}"/>
                  </a:ext>
                </a:extLst>
              </p:cNvPr>
              <p:cNvSpPr txBox="1">
                <a:spLocks noRot="1" noChangeAspect="1" noMove="1" noResize="1" noEditPoints="1" noAdjustHandles="1" noChangeArrowheads="1" noChangeShapeType="1" noTextEdit="1"/>
              </p:cNvSpPr>
              <p:nvPr/>
            </p:nvSpPr>
            <p:spPr>
              <a:xfrm>
                <a:off x="4762829" y="2751128"/>
                <a:ext cx="1316237" cy="400110"/>
              </a:xfrm>
              <a:prstGeom prst="rect">
                <a:avLst/>
              </a:prstGeom>
              <a:blipFill>
                <a:blip r:embed="rId4"/>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5CEA07F-9751-85E6-5B01-6D405F7F2E40}"/>
                  </a:ext>
                </a:extLst>
              </p:cNvPr>
              <p:cNvSpPr txBox="1"/>
              <p:nvPr/>
            </p:nvSpPr>
            <p:spPr>
              <a:xfrm>
                <a:off x="7853163" y="2751128"/>
                <a:ext cx="1316237" cy="400110"/>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𝟑𝟎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14" name="TextBox 13">
                <a:extLst>
                  <a:ext uri="{FF2B5EF4-FFF2-40B4-BE49-F238E27FC236}">
                    <a16:creationId xmlns:a16="http://schemas.microsoft.com/office/drawing/2014/main" id="{B5CEA07F-9751-85E6-5B01-6D405F7F2E40}"/>
                  </a:ext>
                </a:extLst>
              </p:cNvPr>
              <p:cNvSpPr txBox="1">
                <a:spLocks noRot="1" noChangeAspect="1" noMove="1" noResize="1" noEditPoints="1" noAdjustHandles="1" noChangeArrowheads="1" noChangeShapeType="1" noTextEdit="1"/>
              </p:cNvSpPr>
              <p:nvPr/>
            </p:nvSpPr>
            <p:spPr>
              <a:xfrm>
                <a:off x="7853163" y="2751128"/>
                <a:ext cx="1316237" cy="400110"/>
              </a:xfrm>
              <a:prstGeom prst="rect">
                <a:avLst/>
              </a:prstGeom>
              <a:blipFill>
                <a:blip r:embed="rId5"/>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F537839-3528-0340-6F69-B720F74F2920}"/>
                  </a:ext>
                </a:extLst>
              </p:cNvPr>
              <p:cNvSpPr txBox="1"/>
              <p:nvPr/>
            </p:nvSpPr>
            <p:spPr>
              <a:xfrm>
                <a:off x="10791095" y="2751128"/>
                <a:ext cx="1316237" cy="411523"/>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𝟒𝟓</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16" name="TextBox 15">
                <a:extLst>
                  <a:ext uri="{FF2B5EF4-FFF2-40B4-BE49-F238E27FC236}">
                    <a16:creationId xmlns:a16="http://schemas.microsoft.com/office/drawing/2014/main" id="{9F537839-3528-0340-6F69-B720F74F2920}"/>
                  </a:ext>
                </a:extLst>
              </p:cNvPr>
              <p:cNvSpPr txBox="1">
                <a:spLocks noRot="1" noChangeAspect="1" noMove="1" noResize="1" noEditPoints="1" noAdjustHandles="1" noChangeArrowheads="1" noChangeShapeType="1" noTextEdit="1"/>
              </p:cNvSpPr>
              <p:nvPr/>
            </p:nvSpPr>
            <p:spPr>
              <a:xfrm>
                <a:off x="10791095" y="2751128"/>
                <a:ext cx="1316237" cy="411523"/>
              </a:xfrm>
              <a:prstGeom prst="rect">
                <a:avLst/>
              </a:prstGeom>
              <a:blipFill>
                <a:blip r:embed="rId6"/>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C11FCBD-1DCE-93B4-72E5-2242C2FE10CA}"/>
                  </a:ext>
                </a:extLst>
              </p:cNvPr>
              <p:cNvSpPr txBox="1"/>
              <p:nvPr/>
            </p:nvSpPr>
            <p:spPr>
              <a:xfrm>
                <a:off x="1672495" y="5926128"/>
                <a:ext cx="1316237" cy="400110"/>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𝟔𝟎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18" name="TextBox 17">
                <a:extLst>
                  <a:ext uri="{FF2B5EF4-FFF2-40B4-BE49-F238E27FC236}">
                    <a16:creationId xmlns:a16="http://schemas.microsoft.com/office/drawing/2014/main" id="{5C11FCBD-1DCE-93B4-72E5-2242C2FE10CA}"/>
                  </a:ext>
                </a:extLst>
              </p:cNvPr>
              <p:cNvSpPr txBox="1">
                <a:spLocks noRot="1" noChangeAspect="1" noMove="1" noResize="1" noEditPoints="1" noAdjustHandles="1" noChangeArrowheads="1" noChangeShapeType="1" noTextEdit="1"/>
              </p:cNvSpPr>
              <p:nvPr/>
            </p:nvSpPr>
            <p:spPr>
              <a:xfrm>
                <a:off x="1672495" y="5926128"/>
                <a:ext cx="1316237" cy="400110"/>
              </a:xfrm>
              <a:prstGeom prst="rect">
                <a:avLst/>
              </a:prstGeom>
              <a:blipFill>
                <a:blip r:embed="rId7"/>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576E04E-C421-25BA-5E49-F41ADC134653}"/>
                  </a:ext>
                </a:extLst>
              </p:cNvPr>
              <p:cNvSpPr txBox="1"/>
              <p:nvPr/>
            </p:nvSpPr>
            <p:spPr>
              <a:xfrm>
                <a:off x="4762829" y="5926128"/>
                <a:ext cx="1316237" cy="400110"/>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𝟕𝟎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20" name="TextBox 19">
                <a:extLst>
                  <a:ext uri="{FF2B5EF4-FFF2-40B4-BE49-F238E27FC236}">
                    <a16:creationId xmlns:a16="http://schemas.microsoft.com/office/drawing/2014/main" id="{8576E04E-C421-25BA-5E49-F41ADC134653}"/>
                  </a:ext>
                </a:extLst>
              </p:cNvPr>
              <p:cNvSpPr txBox="1">
                <a:spLocks noRot="1" noChangeAspect="1" noMove="1" noResize="1" noEditPoints="1" noAdjustHandles="1" noChangeArrowheads="1" noChangeShapeType="1" noTextEdit="1"/>
              </p:cNvSpPr>
              <p:nvPr/>
            </p:nvSpPr>
            <p:spPr>
              <a:xfrm>
                <a:off x="4762829" y="5926128"/>
                <a:ext cx="1316237" cy="400110"/>
              </a:xfrm>
              <a:prstGeom prst="rect">
                <a:avLst/>
              </a:prstGeom>
              <a:blipFill>
                <a:blip r:embed="rId8"/>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15E411F-7DE9-4AAB-C181-F99E0606EB53}"/>
                  </a:ext>
                </a:extLst>
              </p:cNvPr>
              <p:cNvSpPr txBox="1"/>
              <p:nvPr/>
            </p:nvSpPr>
            <p:spPr>
              <a:xfrm>
                <a:off x="7853163" y="5926128"/>
                <a:ext cx="1316237" cy="400110"/>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𝟖𝟎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22" name="TextBox 21">
                <a:extLst>
                  <a:ext uri="{FF2B5EF4-FFF2-40B4-BE49-F238E27FC236}">
                    <a16:creationId xmlns:a16="http://schemas.microsoft.com/office/drawing/2014/main" id="{515E411F-7DE9-4AAB-C181-F99E0606EB53}"/>
                  </a:ext>
                </a:extLst>
              </p:cNvPr>
              <p:cNvSpPr txBox="1">
                <a:spLocks noRot="1" noChangeAspect="1" noMove="1" noResize="1" noEditPoints="1" noAdjustHandles="1" noChangeArrowheads="1" noChangeShapeType="1" noTextEdit="1"/>
              </p:cNvSpPr>
              <p:nvPr/>
            </p:nvSpPr>
            <p:spPr>
              <a:xfrm>
                <a:off x="7853163" y="5926128"/>
                <a:ext cx="1316237" cy="400110"/>
              </a:xfrm>
              <a:prstGeom prst="rect">
                <a:avLst/>
              </a:prstGeom>
              <a:blipFill>
                <a:blip r:embed="rId9"/>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E5CF4D5-9BF0-9E72-D712-979257EAA97A}"/>
                  </a:ext>
                </a:extLst>
              </p:cNvPr>
              <p:cNvSpPr txBox="1"/>
              <p:nvPr/>
            </p:nvSpPr>
            <p:spPr>
              <a:xfrm>
                <a:off x="10791095" y="5926128"/>
                <a:ext cx="1316237" cy="400110"/>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𝟖𝟗</m:t>
                          </m:r>
                          <m:r>
                            <a:rPr lang="en-US" sz="2000" b="1" i="1" smtClean="0">
                              <a:solidFill>
                                <a:schemeClr val="bg2"/>
                              </a:solidFill>
                              <a:latin typeface="Cambria Math" panose="02040503050406030204" pitchFamily="18" charset="0"/>
                            </a:rPr>
                            <m:t>.</m:t>
                          </m:r>
                          <m:r>
                            <a:rPr lang="en-US" sz="2000" b="1" i="1" smtClean="0">
                              <a:solidFill>
                                <a:schemeClr val="bg2"/>
                              </a:solidFill>
                              <a:latin typeface="Cambria Math" panose="02040503050406030204" pitchFamily="18" charset="0"/>
                            </a:rPr>
                            <m:t>𝟗</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xmlns="">
          <p:sp>
            <p:nvSpPr>
              <p:cNvPr id="24" name="TextBox 23">
                <a:extLst>
                  <a:ext uri="{FF2B5EF4-FFF2-40B4-BE49-F238E27FC236}">
                    <a16:creationId xmlns:a16="http://schemas.microsoft.com/office/drawing/2014/main" id="{CE5CF4D5-9BF0-9E72-D712-979257EAA97A}"/>
                  </a:ext>
                </a:extLst>
              </p:cNvPr>
              <p:cNvSpPr txBox="1">
                <a:spLocks noRot="1" noChangeAspect="1" noMove="1" noResize="1" noEditPoints="1" noAdjustHandles="1" noChangeArrowheads="1" noChangeShapeType="1" noTextEdit="1"/>
              </p:cNvSpPr>
              <p:nvPr/>
            </p:nvSpPr>
            <p:spPr>
              <a:xfrm>
                <a:off x="10791095" y="5926128"/>
                <a:ext cx="1316237" cy="400110"/>
              </a:xfrm>
              <a:prstGeom prst="rect">
                <a:avLst/>
              </a:prstGeom>
              <a:blipFill>
                <a:blip r:embed="rId10"/>
                <a:stretch>
                  <a:fillRect/>
                </a:stretch>
              </a:blipFill>
              <a:ln w="38100">
                <a:solidFill>
                  <a:schemeClr val="bg2"/>
                </a:solidFill>
              </a:ln>
            </p:spPr>
            <p:txBody>
              <a:bodyPr/>
              <a:lstStyle/>
              <a:p>
                <a:r>
                  <a:rPr lang="en-US">
                    <a:noFill/>
                  </a:rPr>
                  <a:t> </a:t>
                </a:r>
              </a:p>
            </p:txBody>
          </p:sp>
        </mc:Fallback>
      </mc:AlternateContent>
      <p:sp>
        <p:nvSpPr>
          <p:cNvPr id="25" name="TextBox 24">
            <a:extLst>
              <a:ext uri="{FF2B5EF4-FFF2-40B4-BE49-F238E27FC236}">
                <a16:creationId xmlns:a16="http://schemas.microsoft.com/office/drawing/2014/main" id="{2F49F142-7B79-EE40-0D35-E63C3AE532A7}"/>
              </a:ext>
            </a:extLst>
          </p:cNvPr>
          <p:cNvSpPr txBox="1"/>
          <p:nvPr/>
        </p:nvSpPr>
        <p:spPr>
          <a:xfrm>
            <a:off x="2116666" y="3709093"/>
            <a:ext cx="8522029" cy="584775"/>
          </a:xfrm>
          <a:prstGeom prst="rect">
            <a:avLst/>
          </a:prstGeom>
          <a:solidFill>
            <a:schemeClr val="accent2"/>
          </a:solidFill>
          <a:ln w="38100">
            <a:solidFill>
              <a:schemeClr val="tx1"/>
            </a:solidFill>
          </a:ln>
        </p:spPr>
        <p:txBody>
          <a:bodyPr wrap="square" rtlCol="0">
            <a:spAutoFit/>
          </a:bodyPr>
          <a:lstStyle/>
          <a:p>
            <a:pPr algn="ctr"/>
            <a:r>
              <a:rPr lang="en-US" sz="1600" b="1" dirty="0" err="1">
                <a:solidFill>
                  <a:schemeClr val="tx1"/>
                </a:solidFill>
              </a:rPr>
              <a:t>Zemax</a:t>
            </a:r>
            <a:r>
              <a:rPr lang="en-US" sz="1600" b="1" dirty="0">
                <a:solidFill>
                  <a:schemeClr val="tx1"/>
                </a:solidFill>
              </a:rPr>
              <a:t> file: “Aeroglaze_Z306_from_PEs_FRED_binomial_model_20260811_6percNormTIS.bsdf”</a:t>
            </a:r>
          </a:p>
        </p:txBody>
      </p:sp>
      <p:sp>
        <p:nvSpPr>
          <p:cNvPr id="4" name="TextBox 3">
            <a:extLst>
              <a:ext uri="{FF2B5EF4-FFF2-40B4-BE49-F238E27FC236}">
                <a16:creationId xmlns:a16="http://schemas.microsoft.com/office/drawing/2014/main" id="{00567B9B-D61D-B371-7FEC-95B3F154E26F}"/>
              </a:ext>
            </a:extLst>
          </p:cNvPr>
          <p:cNvSpPr txBox="1"/>
          <p:nvPr/>
        </p:nvSpPr>
        <p:spPr>
          <a:xfrm>
            <a:off x="1672494" y="3217064"/>
            <a:ext cx="1316237" cy="400110"/>
          </a:xfrm>
          <a:prstGeom prst="rect">
            <a:avLst/>
          </a:prstGeom>
          <a:solidFill>
            <a:schemeClr val="bg1"/>
          </a:solidFill>
          <a:ln w="38100">
            <a:solidFill>
              <a:schemeClr val="accent3"/>
            </a:solidFill>
          </a:ln>
        </p:spPr>
        <p:txBody>
          <a:bodyPr wrap="square" rtlCol="0">
            <a:spAutoFit/>
          </a:bodyPr>
          <a:lstStyle/>
          <a:p>
            <a:pPr algn="ctr"/>
            <a:r>
              <a:rPr lang="en-US" sz="2000" b="1" dirty="0">
                <a:solidFill>
                  <a:schemeClr val="accent3"/>
                </a:solidFill>
              </a:rPr>
              <a:t>TIS 6.2%</a:t>
            </a:r>
          </a:p>
        </p:txBody>
      </p:sp>
      <p:sp>
        <p:nvSpPr>
          <p:cNvPr id="6" name="TextBox 5">
            <a:extLst>
              <a:ext uri="{FF2B5EF4-FFF2-40B4-BE49-F238E27FC236}">
                <a16:creationId xmlns:a16="http://schemas.microsoft.com/office/drawing/2014/main" id="{18F2E888-F28B-2CF1-901B-A49F7523BAC9}"/>
              </a:ext>
            </a:extLst>
          </p:cNvPr>
          <p:cNvSpPr txBox="1"/>
          <p:nvPr/>
        </p:nvSpPr>
        <p:spPr>
          <a:xfrm>
            <a:off x="4762828" y="3217064"/>
            <a:ext cx="1316237" cy="400110"/>
          </a:xfrm>
          <a:prstGeom prst="rect">
            <a:avLst/>
          </a:prstGeom>
          <a:solidFill>
            <a:schemeClr val="bg1"/>
          </a:solidFill>
          <a:ln w="38100">
            <a:solidFill>
              <a:schemeClr val="accent3"/>
            </a:solidFill>
          </a:ln>
        </p:spPr>
        <p:txBody>
          <a:bodyPr wrap="square" rtlCol="0">
            <a:spAutoFit/>
          </a:bodyPr>
          <a:lstStyle/>
          <a:p>
            <a:pPr algn="ctr"/>
            <a:r>
              <a:rPr lang="en-US" sz="2000" b="1" dirty="0">
                <a:solidFill>
                  <a:schemeClr val="accent3"/>
                </a:solidFill>
              </a:rPr>
              <a:t>TIS 6.2%</a:t>
            </a:r>
          </a:p>
        </p:txBody>
      </p:sp>
      <p:sp>
        <p:nvSpPr>
          <p:cNvPr id="13" name="TextBox 12">
            <a:extLst>
              <a:ext uri="{FF2B5EF4-FFF2-40B4-BE49-F238E27FC236}">
                <a16:creationId xmlns:a16="http://schemas.microsoft.com/office/drawing/2014/main" id="{757FAFDA-B8C0-5EB5-2313-F2DEB3A956AC}"/>
              </a:ext>
            </a:extLst>
          </p:cNvPr>
          <p:cNvSpPr txBox="1"/>
          <p:nvPr/>
        </p:nvSpPr>
        <p:spPr>
          <a:xfrm>
            <a:off x="7853163" y="3228945"/>
            <a:ext cx="1316237" cy="400110"/>
          </a:xfrm>
          <a:prstGeom prst="rect">
            <a:avLst/>
          </a:prstGeom>
          <a:solidFill>
            <a:schemeClr val="bg1"/>
          </a:solidFill>
          <a:ln w="38100">
            <a:solidFill>
              <a:schemeClr val="accent3"/>
            </a:solidFill>
          </a:ln>
        </p:spPr>
        <p:txBody>
          <a:bodyPr wrap="square" rtlCol="0">
            <a:spAutoFit/>
          </a:bodyPr>
          <a:lstStyle/>
          <a:p>
            <a:pPr algn="ctr"/>
            <a:r>
              <a:rPr lang="en-US" sz="2000" b="1" dirty="0">
                <a:solidFill>
                  <a:schemeClr val="accent3"/>
                </a:solidFill>
              </a:rPr>
              <a:t>TIS 6.8%</a:t>
            </a:r>
          </a:p>
        </p:txBody>
      </p:sp>
      <p:sp>
        <p:nvSpPr>
          <p:cNvPr id="17" name="TextBox 16">
            <a:extLst>
              <a:ext uri="{FF2B5EF4-FFF2-40B4-BE49-F238E27FC236}">
                <a16:creationId xmlns:a16="http://schemas.microsoft.com/office/drawing/2014/main" id="{D9805CAA-C1C0-4587-1C17-1BD44C88DBFB}"/>
              </a:ext>
            </a:extLst>
          </p:cNvPr>
          <p:cNvSpPr txBox="1"/>
          <p:nvPr/>
        </p:nvSpPr>
        <p:spPr>
          <a:xfrm>
            <a:off x="10791095" y="3228945"/>
            <a:ext cx="1316237" cy="400110"/>
          </a:xfrm>
          <a:prstGeom prst="rect">
            <a:avLst/>
          </a:prstGeom>
          <a:solidFill>
            <a:schemeClr val="bg1"/>
          </a:solidFill>
          <a:ln w="38100">
            <a:solidFill>
              <a:schemeClr val="accent3"/>
            </a:solidFill>
          </a:ln>
        </p:spPr>
        <p:txBody>
          <a:bodyPr wrap="square" rtlCol="0">
            <a:spAutoFit/>
          </a:bodyPr>
          <a:lstStyle/>
          <a:p>
            <a:pPr algn="ctr"/>
            <a:r>
              <a:rPr lang="en-US" sz="2000" b="1" dirty="0">
                <a:solidFill>
                  <a:schemeClr val="accent3"/>
                </a:solidFill>
              </a:rPr>
              <a:t>TIS 7.5%</a:t>
            </a:r>
          </a:p>
        </p:txBody>
      </p:sp>
      <p:sp>
        <p:nvSpPr>
          <p:cNvPr id="21" name="TextBox 20">
            <a:extLst>
              <a:ext uri="{FF2B5EF4-FFF2-40B4-BE49-F238E27FC236}">
                <a16:creationId xmlns:a16="http://schemas.microsoft.com/office/drawing/2014/main" id="{4D9B068D-4957-866B-9A48-7580074993BF}"/>
              </a:ext>
            </a:extLst>
          </p:cNvPr>
          <p:cNvSpPr txBox="1"/>
          <p:nvPr/>
        </p:nvSpPr>
        <p:spPr>
          <a:xfrm>
            <a:off x="1672494" y="6384157"/>
            <a:ext cx="1316237" cy="400110"/>
          </a:xfrm>
          <a:prstGeom prst="rect">
            <a:avLst/>
          </a:prstGeom>
          <a:solidFill>
            <a:schemeClr val="bg1"/>
          </a:solidFill>
          <a:ln w="38100">
            <a:solidFill>
              <a:schemeClr val="accent3"/>
            </a:solidFill>
          </a:ln>
        </p:spPr>
        <p:txBody>
          <a:bodyPr wrap="square" rtlCol="0">
            <a:spAutoFit/>
          </a:bodyPr>
          <a:lstStyle/>
          <a:p>
            <a:pPr algn="ctr"/>
            <a:r>
              <a:rPr lang="en-US" sz="2000" b="1" dirty="0">
                <a:solidFill>
                  <a:schemeClr val="accent3"/>
                </a:solidFill>
              </a:rPr>
              <a:t>TIS 10%</a:t>
            </a:r>
          </a:p>
        </p:txBody>
      </p:sp>
      <p:sp>
        <p:nvSpPr>
          <p:cNvPr id="26" name="TextBox 25">
            <a:extLst>
              <a:ext uri="{FF2B5EF4-FFF2-40B4-BE49-F238E27FC236}">
                <a16:creationId xmlns:a16="http://schemas.microsoft.com/office/drawing/2014/main" id="{6EDF6D79-2735-40A7-12FE-40F0A898EB4A}"/>
              </a:ext>
            </a:extLst>
          </p:cNvPr>
          <p:cNvSpPr txBox="1"/>
          <p:nvPr/>
        </p:nvSpPr>
        <p:spPr>
          <a:xfrm>
            <a:off x="4762828" y="6384157"/>
            <a:ext cx="1316237" cy="400110"/>
          </a:xfrm>
          <a:prstGeom prst="rect">
            <a:avLst/>
          </a:prstGeom>
          <a:solidFill>
            <a:schemeClr val="bg1"/>
          </a:solidFill>
          <a:ln w="38100">
            <a:solidFill>
              <a:schemeClr val="accent3"/>
            </a:solidFill>
          </a:ln>
        </p:spPr>
        <p:txBody>
          <a:bodyPr wrap="square" rtlCol="0">
            <a:spAutoFit/>
          </a:bodyPr>
          <a:lstStyle/>
          <a:p>
            <a:pPr algn="ctr"/>
            <a:r>
              <a:rPr lang="en-US" sz="2000" b="1" dirty="0">
                <a:solidFill>
                  <a:schemeClr val="accent3"/>
                </a:solidFill>
              </a:rPr>
              <a:t>TIS 13%</a:t>
            </a:r>
          </a:p>
        </p:txBody>
      </p:sp>
      <p:sp>
        <p:nvSpPr>
          <p:cNvPr id="28" name="TextBox 27">
            <a:extLst>
              <a:ext uri="{FF2B5EF4-FFF2-40B4-BE49-F238E27FC236}">
                <a16:creationId xmlns:a16="http://schemas.microsoft.com/office/drawing/2014/main" id="{8D6BC6F0-CBB6-C35F-FDBF-D95CB4DC4621}"/>
              </a:ext>
            </a:extLst>
          </p:cNvPr>
          <p:cNvSpPr txBox="1"/>
          <p:nvPr/>
        </p:nvSpPr>
        <p:spPr>
          <a:xfrm>
            <a:off x="7853163" y="6396038"/>
            <a:ext cx="1316237" cy="400110"/>
          </a:xfrm>
          <a:prstGeom prst="rect">
            <a:avLst/>
          </a:prstGeom>
          <a:solidFill>
            <a:schemeClr val="bg1"/>
          </a:solidFill>
          <a:ln w="38100">
            <a:solidFill>
              <a:schemeClr val="accent3"/>
            </a:solidFill>
          </a:ln>
        </p:spPr>
        <p:txBody>
          <a:bodyPr wrap="square" rtlCol="0">
            <a:spAutoFit/>
          </a:bodyPr>
          <a:lstStyle/>
          <a:p>
            <a:pPr algn="ctr"/>
            <a:r>
              <a:rPr lang="en-US" sz="2000" b="1" dirty="0">
                <a:solidFill>
                  <a:schemeClr val="accent3"/>
                </a:solidFill>
              </a:rPr>
              <a:t>TIS 19%</a:t>
            </a:r>
          </a:p>
        </p:txBody>
      </p:sp>
      <p:sp>
        <p:nvSpPr>
          <p:cNvPr id="30" name="TextBox 29">
            <a:extLst>
              <a:ext uri="{FF2B5EF4-FFF2-40B4-BE49-F238E27FC236}">
                <a16:creationId xmlns:a16="http://schemas.microsoft.com/office/drawing/2014/main" id="{48E694D2-B489-7B67-228C-D91C9C84355C}"/>
              </a:ext>
            </a:extLst>
          </p:cNvPr>
          <p:cNvSpPr txBox="1"/>
          <p:nvPr/>
        </p:nvSpPr>
        <p:spPr>
          <a:xfrm>
            <a:off x="10791095" y="6396038"/>
            <a:ext cx="1316237" cy="400110"/>
          </a:xfrm>
          <a:prstGeom prst="rect">
            <a:avLst/>
          </a:prstGeom>
          <a:solidFill>
            <a:schemeClr val="bg1"/>
          </a:solidFill>
          <a:ln w="38100">
            <a:solidFill>
              <a:schemeClr val="accent3"/>
            </a:solidFill>
          </a:ln>
        </p:spPr>
        <p:txBody>
          <a:bodyPr wrap="square" rtlCol="0">
            <a:spAutoFit/>
          </a:bodyPr>
          <a:lstStyle/>
          <a:p>
            <a:pPr algn="ctr"/>
            <a:r>
              <a:rPr lang="en-US" sz="2000" b="1" dirty="0">
                <a:solidFill>
                  <a:schemeClr val="accent3"/>
                </a:solidFill>
              </a:rPr>
              <a:t>TIS 24%</a:t>
            </a:r>
          </a:p>
        </p:txBody>
      </p:sp>
    </p:spTree>
    <p:extLst>
      <p:ext uri="{BB962C8B-B14F-4D97-AF65-F5344CB8AC3E}">
        <p14:creationId xmlns:p14="http://schemas.microsoft.com/office/powerpoint/2010/main" val="2446469790"/>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97D5A-5C85-72A4-E7CF-06B0E2DB10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0FD0F7-88C1-4344-BA94-97249FC6C90D}"/>
              </a:ext>
            </a:extLst>
          </p:cNvPr>
          <p:cNvSpPr>
            <a:spLocks noGrp="1"/>
          </p:cNvSpPr>
          <p:nvPr>
            <p:ph type="ctrTitle"/>
          </p:nvPr>
        </p:nvSpPr>
        <p:spPr/>
        <p:txBody>
          <a:bodyPr/>
          <a:lstStyle/>
          <a:p>
            <a:r>
              <a:rPr lang="en-US" sz="3600" dirty="0"/>
              <a:t>[cont.] Speos validation</a:t>
            </a:r>
            <a:endParaRPr lang="en-US" sz="3600" dirty="0">
              <a:solidFill>
                <a:schemeClr val="bg2"/>
              </a:solidFill>
            </a:endParaRPr>
          </a:p>
        </p:txBody>
      </p:sp>
      <p:sp>
        <p:nvSpPr>
          <p:cNvPr id="3" name="Subtitle 2">
            <a:extLst>
              <a:ext uri="{FF2B5EF4-FFF2-40B4-BE49-F238E27FC236}">
                <a16:creationId xmlns:a16="http://schemas.microsoft.com/office/drawing/2014/main" id="{DE06E5A6-0455-B976-7A56-1F0E9D7C445D}"/>
              </a:ext>
            </a:extLst>
          </p:cNvPr>
          <p:cNvSpPr>
            <a:spLocks noGrp="1"/>
          </p:cNvSpPr>
          <p:nvPr>
            <p:ph type="subTitle" idx="1"/>
          </p:nvPr>
        </p:nvSpPr>
        <p:spPr/>
        <p:txBody>
          <a:bodyPr>
            <a:normAutofit/>
          </a:bodyPr>
          <a:lstStyle/>
          <a:p>
            <a:endParaRPr lang="en-US" dirty="0"/>
          </a:p>
          <a:p>
            <a:r>
              <a:rPr lang="en-US" dirty="0"/>
              <a:t>2026/08/28</a:t>
            </a:r>
          </a:p>
        </p:txBody>
      </p:sp>
    </p:spTree>
    <p:extLst>
      <p:ext uri="{BB962C8B-B14F-4D97-AF65-F5344CB8AC3E}">
        <p14:creationId xmlns:p14="http://schemas.microsoft.com/office/powerpoint/2010/main" val="24379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87DDF-E704-3CE4-2380-F2306B7700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326A1C-87F1-D6C7-AB43-86D174A403EB}"/>
              </a:ext>
            </a:extLst>
          </p:cNvPr>
          <p:cNvSpPr>
            <a:spLocks noGrp="1"/>
          </p:cNvSpPr>
          <p:nvPr>
            <p:ph type="title"/>
          </p:nvPr>
        </p:nvSpPr>
        <p:spPr>
          <a:xfrm>
            <a:off x="609599" y="152718"/>
            <a:ext cx="9011323" cy="640080"/>
          </a:xfrm>
        </p:spPr>
        <p:txBody>
          <a:bodyPr>
            <a:normAutofit/>
          </a:bodyPr>
          <a:lstStyle/>
          <a:p>
            <a:r>
              <a:rPr lang="en-US" dirty="0"/>
              <a:t>‘main_v1o2.m’</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C083C72-2DFC-09D6-55B3-D449C8FCC72F}"/>
                  </a:ext>
                </a:extLst>
              </p:cNvPr>
              <p:cNvSpPr>
                <a:spLocks noGrp="1"/>
              </p:cNvSpPr>
              <p:nvPr>
                <p:ph type="body" idx="1"/>
              </p:nvPr>
            </p:nvSpPr>
            <p:spPr>
              <a:xfrm>
                <a:off x="609598" y="1024128"/>
                <a:ext cx="4218434" cy="5833872"/>
              </a:xfrm>
            </p:spPr>
            <p:txBody>
              <a:bodyPr>
                <a:normAutofit/>
              </a:bodyPr>
              <a:lstStyle/>
              <a:p>
                <a:r>
                  <a:rPr lang="en-US" sz="2000" b="0" dirty="0"/>
                  <a:t>Assuming speos output is W/</a:t>
                </a:r>
                <a:r>
                  <a:rPr lang="en-US" sz="2000" b="0" dirty="0" err="1"/>
                  <a:t>sr</a:t>
                </a:r>
                <a:endParaRPr lang="en-US" sz="2000" b="0" dirty="0"/>
              </a:p>
              <a:p>
                <a:r>
                  <a:rPr lang="en-US" sz="2000" b="0" dirty="0"/>
                  <a:t>Then,</a:t>
                </a:r>
              </a:p>
              <a:p>
                <a:pPr lvl="1"/>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𝑓</m:t>
                        </m:r>
                      </m:e>
                      <m:sub>
                        <m:r>
                          <a:rPr lang="en-US" sz="1600" b="0" i="1" smtClean="0">
                            <a:latin typeface="Cambria Math" panose="02040503050406030204" pitchFamily="18" charset="0"/>
                          </a:rPr>
                          <m:t>𝑟</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𝐼</m:t>
                            </m:r>
                          </m:e>
                          <m:sub>
                            <m:r>
                              <a:rPr lang="en-US" sz="1600" b="0" i="1" smtClean="0">
                                <a:latin typeface="Cambria Math" panose="02040503050406030204" pitchFamily="18" charset="0"/>
                              </a:rPr>
                              <m:t>𝑟</m:t>
                            </m:r>
                          </m:sub>
                        </m:sSub>
                      </m:num>
                      <m:den>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𝑃</m:t>
                            </m:r>
                          </m:e>
                          <m:sub>
                            <m:r>
                              <m:rPr>
                                <m:sty m:val="p"/>
                              </m:rPr>
                              <a:rPr lang="en-US" sz="1600" b="0" i="0" smtClean="0">
                                <a:latin typeface="Cambria Math" panose="02040503050406030204" pitchFamily="18" charset="0"/>
                              </a:rPr>
                              <m:t>inc</m:t>
                            </m:r>
                          </m:sub>
                        </m:sSub>
                        <m:func>
                          <m:funcPr>
                            <m:ctrlPr>
                              <a:rPr lang="en-US" sz="1600" b="0" i="0"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𝜃</m:t>
                                </m:r>
                              </m:e>
                              <m:sub>
                                <m:r>
                                  <a:rPr lang="en-US" sz="1600" b="0" i="1" smtClean="0">
                                    <a:latin typeface="Cambria Math" panose="02040503050406030204" pitchFamily="18" charset="0"/>
                                  </a:rPr>
                                  <m:t>𝑟</m:t>
                                </m:r>
                              </m:sub>
                            </m:sSub>
                          </m:e>
                        </m:func>
                      </m:den>
                    </m:f>
                  </m:oMath>
                </a14:m>
                <a:r>
                  <a:rPr lang="en-US" sz="1600" b="0" dirty="0"/>
                  <a:t>, where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𝑃</m:t>
                        </m:r>
                      </m:e>
                      <m:sub>
                        <m:r>
                          <m:rPr>
                            <m:sty m:val="p"/>
                          </m:rPr>
                          <a:rPr lang="en-US" sz="1600" b="0" i="0" smtClean="0">
                            <a:latin typeface="Cambria Math" panose="02040503050406030204" pitchFamily="18" charset="0"/>
                          </a:rPr>
                          <m:t>inc</m:t>
                        </m:r>
                      </m:sub>
                    </m:sSub>
                  </m:oMath>
                </a14:m>
                <a:r>
                  <a:rPr lang="en-US" sz="1600" b="0" dirty="0"/>
                  <a:t> is total incident power (which Casey set to 1 W in speos simulation)</a:t>
                </a:r>
              </a:p>
              <a:p>
                <a:r>
                  <a:rPr lang="en-US" sz="2000" b="0" dirty="0"/>
                  <a:t>Assuming the </a:t>
                </a:r>
                <a:r>
                  <a:rPr lang="en-US" sz="2000" b="0" dirty="0" err="1"/>
                  <a:t>x,y</a:t>
                </a:r>
                <a:r>
                  <a:rPr lang="en-US" sz="2000" b="0" dirty="0"/>
                  <a:t> values of the speos output is of an arbitrary grid overlayed on top of a polar plot, then:</a:t>
                </a:r>
              </a:p>
            </p:txBody>
          </p:sp>
        </mc:Choice>
        <mc:Fallback xmlns="">
          <p:sp>
            <p:nvSpPr>
              <p:cNvPr id="3" name="Text Placeholder 2">
                <a:extLst>
                  <a:ext uri="{FF2B5EF4-FFF2-40B4-BE49-F238E27FC236}">
                    <a16:creationId xmlns:a16="http://schemas.microsoft.com/office/drawing/2014/main" id="{CC083C72-2DFC-09D6-55B3-D449C8FCC72F}"/>
                  </a:ext>
                </a:extLst>
              </p:cNvPr>
              <p:cNvSpPr>
                <a:spLocks noGrp="1" noRot="1" noChangeAspect="1" noMove="1" noResize="1" noEditPoints="1" noAdjustHandles="1" noChangeArrowheads="1" noChangeShapeType="1" noTextEdit="1"/>
              </p:cNvSpPr>
              <p:nvPr>
                <p:ph type="body" idx="1"/>
              </p:nvPr>
            </p:nvSpPr>
            <p:spPr>
              <a:xfrm>
                <a:off x="609598" y="1024128"/>
                <a:ext cx="4218434" cy="5833872"/>
              </a:xfrm>
              <a:blipFill>
                <a:blip r:embed="rId2"/>
                <a:stretch>
                  <a:fillRect l="-1445" t="-940" r="-1156"/>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9A6BC1CB-4FFD-377B-5E65-E03B67D1357E}"/>
              </a:ext>
            </a:extLst>
          </p:cNvPr>
          <p:cNvPicPr>
            <a:picLocks noChangeAspect="1"/>
          </p:cNvPicPr>
          <p:nvPr/>
        </p:nvPicPr>
        <p:blipFill>
          <a:blip r:embed="rId3"/>
          <a:stretch>
            <a:fillRect/>
          </a:stretch>
        </p:blipFill>
        <p:spPr>
          <a:xfrm>
            <a:off x="5115260" y="1024128"/>
            <a:ext cx="6314740" cy="5201252"/>
          </a:xfrm>
          <a:prstGeom prst="rect">
            <a:avLst/>
          </a:prstGeom>
        </p:spPr>
      </p:pic>
    </p:spTree>
    <p:extLst>
      <p:ext uri="{BB962C8B-B14F-4D97-AF65-F5344CB8AC3E}">
        <p14:creationId xmlns:p14="http://schemas.microsoft.com/office/powerpoint/2010/main" val="156973170"/>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61EA2-4D2D-594A-A15C-50D8B7466C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7C1ACD-7391-486B-08EA-CE7EF889B0C0}"/>
              </a:ext>
            </a:extLst>
          </p:cNvPr>
          <p:cNvSpPr>
            <a:spLocks noGrp="1"/>
          </p:cNvSpPr>
          <p:nvPr>
            <p:ph type="title"/>
          </p:nvPr>
        </p:nvSpPr>
        <p:spPr>
          <a:xfrm>
            <a:off x="609599" y="152718"/>
            <a:ext cx="9011323" cy="640080"/>
          </a:xfrm>
        </p:spPr>
        <p:txBody>
          <a:bodyPr>
            <a:normAutofit/>
          </a:bodyPr>
          <a:lstStyle/>
          <a:p>
            <a:r>
              <a:rPr lang="en-US" dirty="0"/>
              <a:t>‘main_v1o2.m’</a:t>
            </a:r>
          </a:p>
        </p:txBody>
      </p:sp>
      <p:sp>
        <p:nvSpPr>
          <p:cNvPr id="3" name="Text Placeholder 2">
            <a:extLst>
              <a:ext uri="{FF2B5EF4-FFF2-40B4-BE49-F238E27FC236}">
                <a16:creationId xmlns:a16="http://schemas.microsoft.com/office/drawing/2014/main" id="{6F7C10CF-8467-6471-81FB-9EDC06A2D356}"/>
              </a:ext>
            </a:extLst>
          </p:cNvPr>
          <p:cNvSpPr>
            <a:spLocks noGrp="1"/>
          </p:cNvSpPr>
          <p:nvPr>
            <p:ph type="body" idx="1"/>
          </p:nvPr>
        </p:nvSpPr>
        <p:spPr>
          <a:xfrm>
            <a:off x="609598" y="1024128"/>
            <a:ext cx="4218434" cy="5833872"/>
          </a:xfrm>
        </p:spPr>
        <p:txBody>
          <a:bodyPr>
            <a:normAutofit/>
          </a:bodyPr>
          <a:lstStyle/>
          <a:p>
            <a:r>
              <a:rPr lang="en-US" sz="2000" b="0" dirty="0"/>
              <a:t>If however </a:t>
            </a:r>
            <a:r>
              <a:rPr lang="en-US" sz="2000" b="0" dirty="0" err="1"/>
              <a:t>x,y</a:t>
            </a:r>
            <a:r>
              <a:rPr lang="en-US" sz="2000" b="0" dirty="0"/>
              <a:t> are actually global values (meaning bird’s eye view of hemisphere, not hemisphere projected to polar plot), then:</a:t>
            </a:r>
          </a:p>
          <a:p>
            <a:endParaRPr lang="en-US" sz="2000" b="0" dirty="0"/>
          </a:p>
          <a:p>
            <a:r>
              <a:rPr lang="en-US" sz="2000" b="0" dirty="0" err="1"/>
              <a:t>X,y</a:t>
            </a:r>
            <a:r>
              <a:rPr lang="en-US" sz="2000" b="0" dirty="0"/>
              <a:t> as grid overlayed on top of polar plot shows greater agreement with known BRDF, so assuming speos output a polar plot (i.e., NOT this one)</a:t>
            </a:r>
          </a:p>
        </p:txBody>
      </p:sp>
      <p:pic>
        <p:nvPicPr>
          <p:cNvPr id="5" name="Picture 4">
            <a:extLst>
              <a:ext uri="{FF2B5EF4-FFF2-40B4-BE49-F238E27FC236}">
                <a16:creationId xmlns:a16="http://schemas.microsoft.com/office/drawing/2014/main" id="{65EA9CC0-D6A9-33E0-3EB2-62C0BD97069B}"/>
              </a:ext>
            </a:extLst>
          </p:cNvPr>
          <p:cNvPicPr>
            <a:picLocks noChangeAspect="1"/>
          </p:cNvPicPr>
          <p:nvPr/>
        </p:nvPicPr>
        <p:blipFill>
          <a:blip r:embed="rId2"/>
          <a:srcRect/>
          <a:stretch/>
        </p:blipFill>
        <p:spPr>
          <a:xfrm>
            <a:off x="5115261" y="1024128"/>
            <a:ext cx="6314738" cy="5201252"/>
          </a:xfrm>
          <a:prstGeom prst="rect">
            <a:avLst/>
          </a:prstGeom>
        </p:spPr>
      </p:pic>
    </p:spTree>
    <p:extLst>
      <p:ext uri="{BB962C8B-B14F-4D97-AF65-F5344CB8AC3E}">
        <p14:creationId xmlns:p14="http://schemas.microsoft.com/office/powerpoint/2010/main" val="2067002984"/>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C2D9A-5B4F-6391-0E7E-067A8AD47AE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1087554-F36C-D91C-493C-91E228421B4B}"/>
              </a:ext>
            </a:extLst>
          </p:cNvPr>
          <p:cNvPicPr>
            <a:picLocks noChangeAspect="1"/>
          </p:cNvPicPr>
          <p:nvPr/>
        </p:nvPicPr>
        <p:blipFill>
          <a:blip r:embed="rId2"/>
          <a:stretch>
            <a:fillRect/>
          </a:stretch>
        </p:blipFill>
        <p:spPr>
          <a:xfrm>
            <a:off x="0" y="0"/>
            <a:ext cx="8326166" cy="6858000"/>
          </a:xfrm>
          <a:prstGeom prst="rect">
            <a:avLst/>
          </a:prstGeom>
        </p:spPr>
      </p:pic>
      <p:grpSp>
        <p:nvGrpSpPr>
          <p:cNvPr id="16" name="Group 15">
            <a:extLst>
              <a:ext uri="{FF2B5EF4-FFF2-40B4-BE49-F238E27FC236}">
                <a16:creationId xmlns:a16="http://schemas.microsoft.com/office/drawing/2014/main" id="{4C6250F6-0AAE-CFC4-4DEF-FD6D423E5F96}"/>
              </a:ext>
            </a:extLst>
          </p:cNvPr>
          <p:cNvGrpSpPr/>
          <p:nvPr/>
        </p:nvGrpSpPr>
        <p:grpSpPr>
          <a:xfrm>
            <a:off x="-3" y="132215"/>
            <a:ext cx="8357143" cy="6725785"/>
            <a:chOff x="-3" y="132215"/>
            <a:chExt cx="8357143" cy="6725785"/>
          </a:xfrm>
        </p:grpSpPr>
        <p:pic>
          <p:nvPicPr>
            <p:cNvPr id="9" name="Picture 8">
              <a:extLst>
                <a:ext uri="{FF2B5EF4-FFF2-40B4-BE49-F238E27FC236}">
                  <a16:creationId xmlns:a16="http://schemas.microsoft.com/office/drawing/2014/main" id="{06DDEFAC-7AEE-15B9-B044-9800629DA54C}"/>
                </a:ext>
              </a:extLst>
            </p:cNvPr>
            <p:cNvPicPr>
              <a:picLocks noChangeAspect="1"/>
            </p:cNvPicPr>
            <p:nvPr/>
          </p:nvPicPr>
          <p:blipFill>
            <a:blip r:embed="rId3"/>
            <a:srcRect l="4183" t="4591" r="25333" b="24358"/>
            <a:stretch>
              <a:fillRect/>
            </a:stretch>
          </p:blipFill>
          <p:spPr>
            <a:xfrm>
              <a:off x="-2" y="206828"/>
              <a:ext cx="4060372" cy="3069771"/>
            </a:xfrm>
            <a:prstGeom prst="rect">
              <a:avLst/>
            </a:prstGeom>
          </p:spPr>
        </p:pic>
        <p:pic>
          <p:nvPicPr>
            <p:cNvPr id="13" name="Picture 12">
              <a:extLst>
                <a:ext uri="{FF2B5EF4-FFF2-40B4-BE49-F238E27FC236}">
                  <a16:creationId xmlns:a16="http://schemas.microsoft.com/office/drawing/2014/main" id="{4D59B91D-7050-0A26-353F-BF3658FF4D6E}"/>
                </a:ext>
              </a:extLst>
            </p:cNvPr>
            <p:cNvPicPr>
              <a:picLocks noChangeAspect="1"/>
            </p:cNvPicPr>
            <p:nvPr/>
          </p:nvPicPr>
          <p:blipFill>
            <a:blip r:embed="rId4"/>
            <a:srcRect l="4184" t="3917" r="25333" b="25032"/>
            <a:stretch>
              <a:fillRect/>
            </a:stretch>
          </p:blipFill>
          <p:spPr>
            <a:xfrm>
              <a:off x="-3" y="3737804"/>
              <a:ext cx="4060371" cy="3069771"/>
            </a:xfrm>
            <a:prstGeom prst="rect">
              <a:avLst/>
            </a:prstGeom>
          </p:spPr>
        </p:pic>
        <p:pic>
          <p:nvPicPr>
            <p:cNvPr id="15" name="Picture 14">
              <a:extLst>
                <a:ext uri="{FF2B5EF4-FFF2-40B4-BE49-F238E27FC236}">
                  <a16:creationId xmlns:a16="http://schemas.microsoft.com/office/drawing/2014/main" id="{9135AD9C-9509-2309-0C82-260CDAC1D417}"/>
                </a:ext>
              </a:extLst>
            </p:cNvPr>
            <p:cNvPicPr>
              <a:picLocks noChangeAspect="1"/>
            </p:cNvPicPr>
            <p:nvPr/>
          </p:nvPicPr>
          <p:blipFill>
            <a:blip r:embed="rId5"/>
            <a:srcRect l="4184" t="3917" r="25333" b="25032"/>
            <a:stretch>
              <a:fillRect/>
            </a:stretch>
          </p:blipFill>
          <p:spPr>
            <a:xfrm>
              <a:off x="4296768" y="3737804"/>
              <a:ext cx="4060372" cy="3069771"/>
            </a:xfrm>
            <a:prstGeom prst="rect">
              <a:avLst/>
            </a:prstGeom>
          </p:spPr>
        </p:pic>
        <p:pic>
          <p:nvPicPr>
            <p:cNvPr id="30" name="Picture 29">
              <a:extLst>
                <a:ext uri="{FF2B5EF4-FFF2-40B4-BE49-F238E27FC236}">
                  <a16:creationId xmlns:a16="http://schemas.microsoft.com/office/drawing/2014/main" id="{035D2D6E-693B-B8D4-3FAC-1AF46E6EA645}"/>
                </a:ext>
              </a:extLst>
            </p:cNvPr>
            <p:cNvPicPr>
              <a:picLocks noChangeAspect="1"/>
            </p:cNvPicPr>
            <p:nvPr/>
          </p:nvPicPr>
          <p:blipFill>
            <a:blip r:embed="rId6"/>
            <a:srcRect l="4183" t="3917" r="25334" b="25032"/>
            <a:stretch>
              <a:fillRect/>
            </a:stretch>
          </p:blipFill>
          <p:spPr>
            <a:xfrm>
              <a:off x="4296769" y="206828"/>
              <a:ext cx="4060371" cy="3069771"/>
            </a:xfrm>
            <a:prstGeom prst="rect">
              <a:avLst/>
            </a:prstGeom>
          </p:spPr>
        </p:pic>
        <p:sp>
          <p:nvSpPr>
            <p:cNvPr id="2" name="Rectangle 1">
              <a:extLst>
                <a:ext uri="{FF2B5EF4-FFF2-40B4-BE49-F238E27FC236}">
                  <a16:creationId xmlns:a16="http://schemas.microsoft.com/office/drawing/2014/main" id="{ACF3E646-CC45-AA7B-4A7E-B98AA41B8FE4}"/>
                </a:ext>
              </a:extLst>
            </p:cNvPr>
            <p:cNvSpPr/>
            <p:nvPr/>
          </p:nvSpPr>
          <p:spPr>
            <a:xfrm>
              <a:off x="3009530" y="142043"/>
              <a:ext cx="71021" cy="67159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EAD61AC-A426-21CB-FAF9-55200923DACC}"/>
                </a:ext>
              </a:extLst>
            </p:cNvPr>
            <p:cNvSpPr/>
            <p:nvPr/>
          </p:nvSpPr>
          <p:spPr>
            <a:xfrm>
              <a:off x="3200400" y="3191435"/>
              <a:ext cx="690282" cy="2375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B209E93-27E4-2057-05C5-9EF9BC4239D7}"/>
                </a:ext>
              </a:extLst>
            </p:cNvPr>
            <p:cNvSpPr/>
            <p:nvPr/>
          </p:nvSpPr>
          <p:spPr>
            <a:xfrm>
              <a:off x="3200400" y="6616231"/>
              <a:ext cx="690282" cy="2375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B59DA59-88EB-2960-9A99-F0DFE88D2A42}"/>
                </a:ext>
              </a:extLst>
            </p:cNvPr>
            <p:cNvSpPr/>
            <p:nvPr/>
          </p:nvSpPr>
          <p:spPr>
            <a:xfrm>
              <a:off x="7317472" y="132215"/>
              <a:ext cx="71021" cy="67159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1D0DD4B-FFA2-4808-658B-04D7D6872042}"/>
                </a:ext>
              </a:extLst>
            </p:cNvPr>
            <p:cNvSpPr/>
            <p:nvPr/>
          </p:nvSpPr>
          <p:spPr>
            <a:xfrm>
              <a:off x="7508342" y="3181607"/>
              <a:ext cx="690282" cy="2375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65C89B8-541B-F6CD-F5DB-6557FD33F91C}"/>
                </a:ext>
              </a:extLst>
            </p:cNvPr>
            <p:cNvSpPr/>
            <p:nvPr/>
          </p:nvSpPr>
          <p:spPr>
            <a:xfrm>
              <a:off x="7508342" y="6615456"/>
              <a:ext cx="690282" cy="2375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3135926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F7661-6858-71D2-A9DE-58BB03FC07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429A65-2A09-438C-67FF-F4B9C253CD01}"/>
              </a:ext>
            </a:extLst>
          </p:cNvPr>
          <p:cNvSpPr>
            <a:spLocks noGrp="1"/>
          </p:cNvSpPr>
          <p:nvPr>
            <p:ph type="ctrTitle"/>
          </p:nvPr>
        </p:nvSpPr>
        <p:spPr/>
        <p:txBody>
          <a:bodyPr/>
          <a:lstStyle/>
          <a:p>
            <a:r>
              <a:rPr lang="en-US" sz="3600" dirty="0" err="1"/>
              <a:t>Blacklab</a:t>
            </a:r>
            <a:r>
              <a:rPr lang="en-US" sz="3600" dirty="0"/>
              <a:t> – small FOV</a:t>
            </a:r>
            <a:br>
              <a:rPr lang="en-US" sz="3600" dirty="0"/>
            </a:br>
            <a:r>
              <a:rPr lang="en-US" sz="2400" dirty="0"/>
              <a:t>[comparison of 3”x6” </a:t>
            </a:r>
            <a:r>
              <a:rPr lang="en-US" sz="2400" dirty="0" err="1"/>
              <a:t>NiTE</a:t>
            </a:r>
            <a:r>
              <a:rPr lang="en-US" sz="2400" dirty="0"/>
              <a:t> on Invar with 12”x12”]</a:t>
            </a:r>
            <a:endParaRPr lang="en-US" sz="2400" dirty="0">
              <a:solidFill>
                <a:schemeClr val="bg2"/>
              </a:solidFill>
            </a:endParaRPr>
          </a:p>
        </p:txBody>
      </p:sp>
      <p:sp>
        <p:nvSpPr>
          <p:cNvPr id="3" name="Subtitle 2">
            <a:extLst>
              <a:ext uri="{FF2B5EF4-FFF2-40B4-BE49-F238E27FC236}">
                <a16:creationId xmlns:a16="http://schemas.microsoft.com/office/drawing/2014/main" id="{DFE332FF-DD2A-AF60-74D1-1EE7C04ACFBC}"/>
              </a:ext>
            </a:extLst>
          </p:cNvPr>
          <p:cNvSpPr>
            <a:spLocks noGrp="1"/>
          </p:cNvSpPr>
          <p:nvPr>
            <p:ph type="subTitle" idx="1"/>
          </p:nvPr>
        </p:nvSpPr>
        <p:spPr/>
        <p:txBody>
          <a:bodyPr>
            <a:normAutofit/>
          </a:bodyPr>
          <a:lstStyle/>
          <a:p>
            <a:endParaRPr lang="en-US" dirty="0"/>
          </a:p>
          <a:p>
            <a:r>
              <a:rPr lang="en-US" dirty="0"/>
              <a:t>2026/09/25</a:t>
            </a:r>
          </a:p>
        </p:txBody>
      </p:sp>
    </p:spTree>
    <p:extLst>
      <p:ext uri="{BB962C8B-B14F-4D97-AF65-F5344CB8AC3E}">
        <p14:creationId xmlns:p14="http://schemas.microsoft.com/office/powerpoint/2010/main" val="4046330738"/>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845CB-B661-D970-88D7-143453F249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2C7E45-B772-400C-18F5-C9529732FBDC}"/>
              </a:ext>
            </a:extLst>
          </p:cNvPr>
          <p:cNvSpPr>
            <a:spLocks noGrp="1"/>
          </p:cNvSpPr>
          <p:nvPr>
            <p:ph type="title"/>
          </p:nvPr>
        </p:nvSpPr>
        <p:spPr>
          <a:xfrm>
            <a:off x="609599" y="152718"/>
            <a:ext cx="9011323" cy="640080"/>
          </a:xfrm>
        </p:spPr>
        <p:txBody>
          <a:bodyPr>
            <a:normAutofit/>
          </a:bodyPr>
          <a:lstStyle/>
          <a:p>
            <a:r>
              <a:rPr lang="en-US" dirty="0"/>
              <a:t>Comparison</a:t>
            </a:r>
          </a:p>
        </p:txBody>
      </p:sp>
      <p:sp>
        <p:nvSpPr>
          <p:cNvPr id="3" name="Text Placeholder 2">
            <a:extLst>
              <a:ext uri="{FF2B5EF4-FFF2-40B4-BE49-F238E27FC236}">
                <a16:creationId xmlns:a16="http://schemas.microsoft.com/office/drawing/2014/main" id="{626D57B7-D640-B48D-0A55-5B45BC26E251}"/>
              </a:ext>
            </a:extLst>
          </p:cNvPr>
          <p:cNvSpPr>
            <a:spLocks noGrp="1"/>
          </p:cNvSpPr>
          <p:nvPr>
            <p:ph type="body" idx="1"/>
          </p:nvPr>
        </p:nvSpPr>
        <p:spPr>
          <a:xfrm>
            <a:off x="609597" y="1024128"/>
            <a:ext cx="10625669" cy="5833872"/>
          </a:xfrm>
        </p:spPr>
        <p:txBody>
          <a:bodyPr>
            <a:normAutofit/>
          </a:bodyPr>
          <a:lstStyle/>
          <a:p>
            <a:r>
              <a:rPr lang="en-US" sz="2000" b="0" dirty="0"/>
              <a:t>Adding new file to SPIE plot:</a:t>
            </a:r>
          </a:p>
          <a:p>
            <a:pPr lvl="1"/>
            <a:r>
              <a:rPr lang="en-US" sz="1600" dirty="0"/>
              <a:t>Small FOV on 3”x6”: ./data/raw/</a:t>
            </a:r>
            <a:r>
              <a:rPr lang="en-US" sz="1600" dirty="0" err="1"/>
              <a:t>blacklab</a:t>
            </a:r>
            <a:r>
              <a:rPr lang="en-US" sz="1600" dirty="0"/>
              <a:t>/lazuli/</a:t>
            </a:r>
            <a:r>
              <a:rPr lang="en-US" sz="1600" dirty="0" err="1"/>
              <a:t>control_set</a:t>
            </a:r>
            <a:r>
              <a:rPr lang="en-US" sz="1600" dirty="0"/>
              <a:t>/AnoBlackNiTE_on_INVAR36_3x6in/</a:t>
            </a:r>
            <a:r>
              <a:rPr lang="en-US" sz="1600" dirty="0" err="1"/>
              <a:t>vnir</a:t>
            </a:r>
            <a:r>
              <a:rPr lang="en-US" sz="1600" dirty="0"/>
              <a:t>/20260909_LOFT_Anoblack_NITE_3x6_smallFOV/20260909_LOFT_Anoblack_NITE_3x6_smallFOV_sample.txt</a:t>
            </a:r>
          </a:p>
          <a:p>
            <a:r>
              <a:rPr lang="en-US" sz="2000" b="0" dirty="0"/>
              <a:t>Slightly better, but not by much; more noticeable improvement at longer wavelength</a:t>
            </a:r>
          </a:p>
          <a:p>
            <a:pPr lvl="1"/>
            <a:endParaRPr lang="en-US" sz="1600" dirty="0"/>
          </a:p>
        </p:txBody>
      </p:sp>
      <p:pic>
        <p:nvPicPr>
          <p:cNvPr id="6" name="Picture 5">
            <a:extLst>
              <a:ext uri="{FF2B5EF4-FFF2-40B4-BE49-F238E27FC236}">
                <a16:creationId xmlns:a16="http://schemas.microsoft.com/office/drawing/2014/main" id="{3C8E8463-38DA-17C4-70E9-4233D97E3C91}"/>
              </a:ext>
            </a:extLst>
          </p:cNvPr>
          <p:cNvPicPr>
            <a:picLocks noChangeAspect="1"/>
          </p:cNvPicPr>
          <p:nvPr/>
        </p:nvPicPr>
        <p:blipFill>
          <a:blip r:embed="rId2"/>
          <a:stretch>
            <a:fillRect/>
          </a:stretch>
        </p:blipFill>
        <p:spPr>
          <a:xfrm>
            <a:off x="2123932" y="3119880"/>
            <a:ext cx="7121671" cy="3551853"/>
          </a:xfrm>
          <a:prstGeom prst="rect">
            <a:avLst/>
          </a:prstGeom>
        </p:spPr>
      </p:pic>
    </p:spTree>
    <p:extLst>
      <p:ext uri="{BB962C8B-B14F-4D97-AF65-F5344CB8AC3E}">
        <p14:creationId xmlns:p14="http://schemas.microsoft.com/office/powerpoint/2010/main" val="3445426905"/>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6F285-D28C-205A-C24B-1F4A205650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17E0BA-311F-7413-F100-EECFE50C5FD0}"/>
              </a:ext>
            </a:extLst>
          </p:cNvPr>
          <p:cNvSpPr>
            <a:spLocks noGrp="1"/>
          </p:cNvSpPr>
          <p:nvPr>
            <p:ph type="ctrTitle"/>
          </p:nvPr>
        </p:nvSpPr>
        <p:spPr/>
        <p:txBody>
          <a:bodyPr/>
          <a:lstStyle/>
          <a:p>
            <a:r>
              <a:rPr lang="en-US" sz="3600" dirty="0"/>
              <a:t>Magic Black – remeasured on least-worst section of damaged sample</a:t>
            </a:r>
            <a:endParaRPr lang="en-US" sz="2400" dirty="0">
              <a:solidFill>
                <a:schemeClr val="bg2"/>
              </a:solidFill>
            </a:endParaRPr>
          </a:p>
        </p:txBody>
      </p:sp>
      <p:sp>
        <p:nvSpPr>
          <p:cNvPr id="3" name="Subtitle 2">
            <a:extLst>
              <a:ext uri="{FF2B5EF4-FFF2-40B4-BE49-F238E27FC236}">
                <a16:creationId xmlns:a16="http://schemas.microsoft.com/office/drawing/2014/main" id="{C39DDD99-8D8B-9495-DAC1-1B1B7704CA72}"/>
              </a:ext>
            </a:extLst>
          </p:cNvPr>
          <p:cNvSpPr>
            <a:spLocks noGrp="1"/>
          </p:cNvSpPr>
          <p:nvPr>
            <p:ph type="subTitle" idx="1"/>
          </p:nvPr>
        </p:nvSpPr>
        <p:spPr/>
        <p:txBody>
          <a:bodyPr>
            <a:normAutofit/>
          </a:bodyPr>
          <a:lstStyle/>
          <a:p>
            <a:endParaRPr lang="en-US" dirty="0"/>
          </a:p>
          <a:p>
            <a:r>
              <a:rPr lang="en-US" dirty="0"/>
              <a:t>2026/10/18</a:t>
            </a:r>
          </a:p>
        </p:txBody>
      </p:sp>
    </p:spTree>
    <p:extLst>
      <p:ext uri="{BB962C8B-B14F-4D97-AF65-F5344CB8AC3E}">
        <p14:creationId xmlns:p14="http://schemas.microsoft.com/office/powerpoint/2010/main" val="59116983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BA88F8E-9A92-6E1A-A898-AE55DA929FEB}"/>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8B2F981D-3186-2309-3359-D1FEB56B7408}"/>
              </a:ext>
            </a:extLst>
          </p:cNvPr>
          <p:cNvPicPr>
            <a:picLocks noChangeAspect="1"/>
          </p:cNvPicPr>
          <p:nvPr/>
        </p:nvPicPr>
        <p:blipFill>
          <a:blip r:embed="rId2"/>
          <a:stretch>
            <a:fillRect/>
          </a:stretch>
        </p:blipFill>
        <p:spPr>
          <a:xfrm>
            <a:off x="0" y="281997"/>
            <a:ext cx="12192000" cy="6364334"/>
          </a:xfrm>
          <a:prstGeom prst="rect">
            <a:avLst/>
          </a:prstGeom>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AB0D02C6-6D5D-E9D8-4C73-83F892098DEC}"/>
                  </a:ext>
                </a:extLst>
              </p:cNvPr>
              <p:cNvSpPr txBox="1"/>
              <p:nvPr/>
            </p:nvSpPr>
            <p:spPr>
              <a:xfrm>
                <a:off x="1164495" y="3217331"/>
                <a:ext cx="1316237" cy="400110"/>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𝟏</m:t>
                          </m:r>
                          <m:r>
                            <a:rPr lang="en-US" sz="2000" b="1" i="1" smtClean="0">
                              <a:solidFill>
                                <a:schemeClr val="bg2"/>
                              </a:solidFill>
                              <a:latin typeface="Cambria Math" panose="02040503050406030204" pitchFamily="18" charset="0"/>
                            </a:rPr>
                            <m:t>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p:sp>
            <p:nvSpPr>
              <p:cNvPr id="7" name="TextBox 6">
                <a:extLst>
                  <a:ext uri="{FF2B5EF4-FFF2-40B4-BE49-F238E27FC236}">
                    <a16:creationId xmlns:a16="http://schemas.microsoft.com/office/drawing/2014/main" id="{AB0D02C6-6D5D-E9D8-4C73-83F892098DEC}"/>
                  </a:ext>
                </a:extLst>
              </p:cNvPr>
              <p:cNvSpPr txBox="1">
                <a:spLocks noRot="1" noChangeAspect="1" noMove="1" noResize="1" noEditPoints="1" noAdjustHandles="1" noChangeArrowheads="1" noChangeShapeType="1" noTextEdit="1"/>
              </p:cNvSpPr>
              <p:nvPr/>
            </p:nvSpPr>
            <p:spPr>
              <a:xfrm>
                <a:off x="1164495" y="3217331"/>
                <a:ext cx="1316237" cy="400110"/>
              </a:xfrm>
              <a:prstGeom prst="rect">
                <a:avLst/>
              </a:prstGeom>
              <a:blipFill>
                <a:blip r:embed="rId3"/>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450B9CEA-42DD-72A6-5E4B-9E95ACBF4311}"/>
                  </a:ext>
                </a:extLst>
              </p:cNvPr>
              <p:cNvSpPr txBox="1"/>
              <p:nvPr/>
            </p:nvSpPr>
            <p:spPr>
              <a:xfrm>
                <a:off x="4650810" y="3264109"/>
                <a:ext cx="1316237" cy="400110"/>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𝟑</m:t>
                          </m:r>
                          <m:r>
                            <a:rPr lang="en-US" sz="2000" b="1" i="1" smtClean="0">
                              <a:solidFill>
                                <a:schemeClr val="bg2"/>
                              </a:solidFill>
                              <a:latin typeface="Cambria Math" panose="02040503050406030204" pitchFamily="18" charset="0"/>
                            </a:rPr>
                            <m:t>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p:sp>
            <p:nvSpPr>
              <p:cNvPr id="9" name="TextBox 8">
                <a:extLst>
                  <a:ext uri="{FF2B5EF4-FFF2-40B4-BE49-F238E27FC236}">
                    <a16:creationId xmlns:a16="http://schemas.microsoft.com/office/drawing/2014/main" id="{450B9CEA-42DD-72A6-5E4B-9E95ACBF4311}"/>
                  </a:ext>
                </a:extLst>
              </p:cNvPr>
              <p:cNvSpPr txBox="1">
                <a:spLocks noRot="1" noChangeAspect="1" noMove="1" noResize="1" noEditPoints="1" noAdjustHandles="1" noChangeArrowheads="1" noChangeShapeType="1" noTextEdit="1"/>
              </p:cNvSpPr>
              <p:nvPr/>
            </p:nvSpPr>
            <p:spPr>
              <a:xfrm>
                <a:off x="4650810" y="3264109"/>
                <a:ext cx="1316237" cy="400110"/>
              </a:xfrm>
              <a:prstGeom prst="rect">
                <a:avLst/>
              </a:prstGeom>
              <a:blipFill>
                <a:blip r:embed="rId4"/>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194F30DE-C90F-155E-50B0-4C9A3DD4C53C}"/>
                  </a:ext>
                </a:extLst>
              </p:cNvPr>
              <p:cNvSpPr txBox="1"/>
              <p:nvPr/>
            </p:nvSpPr>
            <p:spPr>
              <a:xfrm>
                <a:off x="8014029" y="3217331"/>
                <a:ext cx="1316237" cy="400110"/>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𝟓</m:t>
                          </m:r>
                          <m:r>
                            <a:rPr lang="en-US" sz="2000" b="1" i="1" smtClean="0">
                              <a:solidFill>
                                <a:schemeClr val="bg2"/>
                              </a:solidFill>
                              <a:latin typeface="Cambria Math" panose="02040503050406030204" pitchFamily="18" charset="0"/>
                            </a:rPr>
                            <m:t>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p:sp>
            <p:nvSpPr>
              <p:cNvPr id="11" name="TextBox 10">
                <a:extLst>
                  <a:ext uri="{FF2B5EF4-FFF2-40B4-BE49-F238E27FC236}">
                    <a16:creationId xmlns:a16="http://schemas.microsoft.com/office/drawing/2014/main" id="{194F30DE-C90F-155E-50B0-4C9A3DD4C53C}"/>
                  </a:ext>
                </a:extLst>
              </p:cNvPr>
              <p:cNvSpPr txBox="1">
                <a:spLocks noRot="1" noChangeAspect="1" noMove="1" noResize="1" noEditPoints="1" noAdjustHandles="1" noChangeArrowheads="1" noChangeShapeType="1" noTextEdit="1"/>
              </p:cNvSpPr>
              <p:nvPr/>
            </p:nvSpPr>
            <p:spPr>
              <a:xfrm>
                <a:off x="8014029" y="3217331"/>
                <a:ext cx="1316237" cy="400110"/>
              </a:xfrm>
              <a:prstGeom prst="rect">
                <a:avLst/>
              </a:prstGeom>
              <a:blipFill>
                <a:blip r:embed="rId5"/>
                <a:stretch>
                  <a:fillRect/>
                </a:stretch>
              </a:blipFill>
              <a:ln w="38100">
                <a:solidFill>
                  <a:schemeClr val="bg2"/>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2359C746-6254-C1B3-11BE-1F8D16F75DE9}"/>
                  </a:ext>
                </a:extLst>
              </p:cNvPr>
              <p:cNvSpPr txBox="1"/>
              <p:nvPr/>
            </p:nvSpPr>
            <p:spPr>
              <a:xfrm>
                <a:off x="10476853" y="3217331"/>
                <a:ext cx="1316237" cy="400110"/>
              </a:xfrm>
              <a:prstGeom prst="rect">
                <a:avLst/>
              </a:prstGeom>
              <a:solidFill>
                <a:schemeClr val="bg1"/>
              </a:solidFill>
              <a:ln w="38100">
                <a:solidFill>
                  <a:schemeClr val="bg2"/>
                </a:solidFill>
              </a:ln>
            </p:spPr>
            <p:txBody>
              <a:bodyPr wrap="square" rtlCol="0">
                <a:spAutoFit/>
              </a:bodyPr>
              <a:lstStyle/>
              <a:p>
                <a:pPr/>
                <a14:m>
                  <m:oMathPara xmlns:m="http://schemas.openxmlformats.org/officeDocument/2006/math">
                    <m:oMath>
                      <m:r>
                        <a:rPr lang="en-US" sz="2000" b="1" i="1" smtClean="0">
                          <a:solidFill>
                            <a:schemeClr val="bg2"/>
                          </a:solidFill>
                          <a:latin typeface="Cambria Math" panose="02040503050406030204" pitchFamily="18" charset="0"/>
                        </a:rPr>
                        <m:t>𝑰</m:t>
                      </m:r>
                      <m:r>
                        <a:rPr lang="en-US" sz="2000" b="1" i="1" smtClean="0">
                          <a:solidFill>
                            <a:schemeClr val="bg2"/>
                          </a:solidFill>
                          <a:latin typeface="Cambria Math" panose="02040503050406030204" pitchFamily="18" charset="0"/>
                        </a:rPr>
                        <m:t>=</m:t>
                      </m:r>
                      <m:sSup>
                        <m:sSupPr>
                          <m:ctrlPr>
                            <a:rPr lang="en-US" sz="2000" b="1" i="1" smtClean="0">
                              <a:solidFill>
                                <a:schemeClr val="bg2"/>
                              </a:solidFill>
                              <a:latin typeface="Cambria Math" panose="02040503050406030204" pitchFamily="18" charset="0"/>
                            </a:rPr>
                          </m:ctrlPr>
                        </m:sSupPr>
                        <m:e>
                          <m:r>
                            <a:rPr lang="en-US" sz="2000" b="1" i="1" smtClean="0">
                              <a:solidFill>
                                <a:schemeClr val="bg2"/>
                              </a:solidFill>
                              <a:latin typeface="Cambria Math" panose="02040503050406030204" pitchFamily="18" charset="0"/>
                            </a:rPr>
                            <m:t>𝟕</m:t>
                          </m:r>
                          <m:r>
                            <a:rPr lang="en-US" sz="2000" b="1" i="1" smtClean="0">
                              <a:solidFill>
                                <a:schemeClr val="bg2"/>
                              </a:solidFill>
                              <a:latin typeface="Cambria Math" panose="02040503050406030204" pitchFamily="18" charset="0"/>
                            </a:rPr>
                            <m:t>𝟎</m:t>
                          </m:r>
                        </m:e>
                        <m:sup>
                          <m:r>
                            <a:rPr lang="en-US" sz="2000" b="1" i="1" smtClean="0">
                              <a:solidFill>
                                <a:schemeClr val="bg2"/>
                              </a:solidFill>
                              <a:latin typeface="Cambria Math" panose="02040503050406030204" pitchFamily="18" charset="0"/>
                            </a:rPr>
                            <m:t>∘</m:t>
                          </m:r>
                        </m:sup>
                      </m:sSup>
                    </m:oMath>
                  </m:oMathPara>
                </a14:m>
                <a:endParaRPr lang="en-US" sz="2000" b="1" dirty="0">
                  <a:solidFill>
                    <a:schemeClr val="bg2"/>
                  </a:solidFill>
                </a:endParaRPr>
              </a:p>
            </p:txBody>
          </p:sp>
        </mc:Choice>
        <mc:Fallback>
          <p:sp>
            <p:nvSpPr>
              <p:cNvPr id="13" name="TextBox 12">
                <a:extLst>
                  <a:ext uri="{FF2B5EF4-FFF2-40B4-BE49-F238E27FC236}">
                    <a16:creationId xmlns:a16="http://schemas.microsoft.com/office/drawing/2014/main" id="{2359C746-6254-C1B3-11BE-1F8D16F75DE9}"/>
                  </a:ext>
                </a:extLst>
              </p:cNvPr>
              <p:cNvSpPr txBox="1">
                <a:spLocks noRot="1" noChangeAspect="1" noMove="1" noResize="1" noEditPoints="1" noAdjustHandles="1" noChangeArrowheads="1" noChangeShapeType="1" noTextEdit="1"/>
              </p:cNvSpPr>
              <p:nvPr/>
            </p:nvSpPr>
            <p:spPr>
              <a:xfrm>
                <a:off x="10476853" y="3217331"/>
                <a:ext cx="1316237" cy="400110"/>
              </a:xfrm>
              <a:prstGeom prst="rect">
                <a:avLst/>
              </a:prstGeom>
              <a:blipFill>
                <a:blip r:embed="rId6"/>
                <a:stretch>
                  <a:fillRect/>
                </a:stretch>
              </a:blipFill>
              <a:ln w="38100">
                <a:solidFill>
                  <a:schemeClr val="bg2"/>
                </a:solidFill>
              </a:ln>
            </p:spPr>
            <p:txBody>
              <a:bodyPr/>
              <a:lstStyle/>
              <a:p>
                <a:r>
                  <a:rPr lang="en-US">
                    <a:noFill/>
                  </a:rPr>
                  <a:t> </a:t>
                </a:r>
              </a:p>
            </p:txBody>
          </p:sp>
        </mc:Fallback>
      </mc:AlternateContent>
      <p:sp>
        <p:nvSpPr>
          <p:cNvPr id="15" name="TextBox 14">
            <a:extLst>
              <a:ext uri="{FF2B5EF4-FFF2-40B4-BE49-F238E27FC236}">
                <a16:creationId xmlns:a16="http://schemas.microsoft.com/office/drawing/2014/main" id="{0A4D50F3-9293-0721-9760-7E64C12A7FC8}"/>
              </a:ext>
            </a:extLst>
          </p:cNvPr>
          <p:cNvSpPr txBox="1"/>
          <p:nvPr/>
        </p:nvSpPr>
        <p:spPr>
          <a:xfrm>
            <a:off x="3390253" y="120057"/>
            <a:ext cx="5411494" cy="400110"/>
          </a:xfrm>
          <a:prstGeom prst="rect">
            <a:avLst/>
          </a:prstGeom>
          <a:solidFill>
            <a:schemeClr val="bg1"/>
          </a:solidFill>
          <a:ln w="38100">
            <a:solidFill>
              <a:schemeClr val="accent3"/>
            </a:solidFill>
          </a:ln>
        </p:spPr>
        <p:txBody>
          <a:bodyPr wrap="square" rtlCol="0">
            <a:spAutoFit/>
          </a:bodyPr>
          <a:lstStyle/>
          <a:p>
            <a:pPr algn="ctr"/>
            <a:r>
              <a:rPr lang="en-US" sz="2000" b="1" dirty="0">
                <a:solidFill>
                  <a:schemeClr val="accent3"/>
                </a:solidFill>
              </a:rPr>
              <a:t>Previous magic black measurement</a:t>
            </a:r>
          </a:p>
        </p:txBody>
      </p:sp>
      <p:sp>
        <p:nvSpPr>
          <p:cNvPr id="17" name="TextBox 16">
            <a:extLst>
              <a:ext uri="{FF2B5EF4-FFF2-40B4-BE49-F238E27FC236}">
                <a16:creationId xmlns:a16="http://schemas.microsoft.com/office/drawing/2014/main" id="{BE49FACD-CD8A-3CCD-A9BF-4202A0AA65AF}"/>
              </a:ext>
            </a:extLst>
          </p:cNvPr>
          <p:cNvSpPr txBox="1"/>
          <p:nvPr/>
        </p:nvSpPr>
        <p:spPr>
          <a:xfrm>
            <a:off x="3261300" y="6389735"/>
            <a:ext cx="5411494" cy="400110"/>
          </a:xfrm>
          <a:prstGeom prst="rect">
            <a:avLst/>
          </a:prstGeom>
          <a:solidFill>
            <a:schemeClr val="bg1"/>
          </a:solidFill>
          <a:ln w="38100">
            <a:solidFill>
              <a:schemeClr val="accent3"/>
            </a:solidFill>
          </a:ln>
        </p:spPr>
        <p:txBody>
          <a:bodyPr wrap="square" rtlCol="0">
            <a:spAutoFit/>
          </a:bodyPr>
          <a:lstStyle/>
          <a:p>
            <a:pPr algn="ctr"/>
            <a:r>
              <a:rPr lang="en-US" sz="2000" b="1" dirty="0">
                <a:solidFill>
                  <a:schemeClr val="accent3"/>
                </a:solidFill>
              </a:rPr>
              <a:t>New magic black measurement</a:t>
            </a:r>
          </a:p>
        </p:txBody>
      </p:sp>
    </p:spTree>
    <p:extLst>
      <p:ext uri="{BB962C8B-B14F-4D97-AF65-F5344CB8AC3E}">
        <p14:creationId xmlns:p14="http://schemas.microsoft.com/office/powerpoint/2010/main" val="3933968644"/>
      </p:ext>
    </p:extLst>
  </p:cSld>
  <p:clrMapOvr>
    <a:masterClrMapping/>
  </p:clrMapOvr>
</p:sld>
</file>

<file path=ppt/theme/theme1.xml><?xml version="1.0" encoding="utf-8"?>
<a:theme xmlns:a="http://schemas.openxmlformats.org/drawingml/2006/main" name="Essential">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Reviewer_x0020_2_x0020_Response xmlns="843b52bb-2659-484a-b433-9be16dd625b4">No Response</Reviewer_x0020_2_x0020_Response>
    <Reviewer_x0020_1_x0020_Response xmlns="843b52bb-2659-484a-b433-9be16dd625b4">No Response</Reviewer_x0020_1_x0020_Response>
    <Controlled xmlns="843b52bb-2659-484a-b433-9be16dd625b4">No</Controlled>
    <Doc_x0020_Status xmlns="843b52bb-2659-484a-b433-9be16dd625b4">Draft</Doc_x0020_Status>
    <Reviewer_x0020_4_x0020_Response xmlns="843b52bb-2659-484a-b433-9be16dd625b4">No Response</Reviewer_x0020_4_x0020_Response>
    <Reviewer_x0020_3_x0020_Response xmlns="843b52bb-2659-484a-b433-9be16dd625b4">No Response</Reviewer_x0020_3_x0020_Response>
    <Version_x0020_Date xmlns="843b52bb-2659-484a-b433-9be16dd625b4" xsi:nil="true"/>
    <lcf76f155ced4ddcb4097134ff3c332f xmlns="843b52bb-2659-484a-b433-9be16dd625b4">
      <Terms xmlns="http://schemas.microsoft.com/office/infopath/2007/PartnerControls"/>
    </lcf76f155ced4ddcb4097134ff3c332f>
    <Reviewer_x0020_5 xmlns="843b52bb-2659-484a-b433-9be16dd625b4">
      <UserInfo>
        <DisplayName/>
        <AccountId xsi:nil="true"/>
        <AccountType/>
      </UserInfo>
    </Reviewer_x0020_5>
    <TaxCatchAll xmlns="56a343c3-2b9e-4101-bc12-765935141999" xsi:nil="true"/>
    <Comments xmlns="843b52bb-2659-484a-b433-9be16dd625b4" xsi:nil="true"/>
    <Reviewer_x0020_2 xmlns="843b52bb-2659-484a-b433-9be16dd625b4">
      <UserInfo>
        <DisplayName/>
        <AccountId xsi:nil="true"/>
        <AccountType/>
      </UserInfo>
    </Reviewer_x0020_2>
    <Reviewer_x0020_3 xmlns="843b52bb-2659-484a-b433-9be16dd625b4">
      <UserInfo>
        <DisplayName/>
        <AccountId xsi:nil="true"/>
        <AccountType/>
      </UserInfo>
    </Reviewer_x0020_3>
    <Doc_x0020__x0023_ xmlns="843b52bb-2659-484a-b433-9be16dd625b4" xsi:nil="true"/>
    <Revision xmlns="843b52bb-2659-484a-b433-9be16dd625b4" xsi:nil="true"/>
    <IDmatch xmlns="843b52bb-2659-484a-b433-9be16dd625b4" xsi:nil="true"/>
    <Author0 xmlns="843b52bb-2659-484a-b433-9be16dd625b4">
      <UserInfo>
        <DisplayName/>
        <AccountId xsi:nil="true"/>
        <AccountType/>
      </UserInfo>
    </Author0>
    <Reviewer_x0020_1 xmlns="843b52bb-2659-484a-b433-9be16dd625b4">
      <UserInfo>
        <DisplayName/>
        <AccountId xsi:nil="true"/>
        <AccountType/>
      </UserInfo>
    </Reviewer_x0020_1>
    <Reviewer_x0020_4 xmlns="843b52bb-2659-484a-b433-9be16dd625b4">
      <UserInfo>
        <DisplayName/>
        <AccountId xsi:nil="true"/>
        <AccountType/>
      </UserInfo>
    </Reviewer_x0020_4>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974AC14ED87194BB3B0C005379ECB10" ma:contentTypeVersion="41" ma:contentTypeDescription="Create a new document." ma:contentTypeScope="" ma:versionID="23cef556ccca0e27fab193de5b85fd2b">
  <xsd:schema xmlns:xsd="http://www.w3.org/2001/XMLSchema" xmlns:xs="http://www.w3.org/2001/XMLSchema" xmlns:p="http://schemas.microsoft.com/office/2006/metadata/properties" xmlns:ns1="843b52bb-2659-484a-b433-9be16dd625b4" xmlns:ns3="56a343c3-2b9e-4101-bc12-765935141999" targetNamespace="http://schemas.microsoft.com/office/2006/metadata/properties" ma:root="true" ma:fieldsID="fe229f6c2d8c5e00d5d24f5446030e09" ns1:_="" ns3:_="">
    <xsd:import namespace="843b52bb-2659-484a-b433-9be16dd625b4"/>
    <xsd:import namespace="56a343c3-2b9e-4101-bc12-765935141999"/>
    <xsd:element name="properties">
      <xsd:complexType>
        <xsd:sequence>
          <xsd:element name="documentManagement">
            <xsd:complexType>
              <xsd:all>
                <xsd:element ref="ns1:Doc_x0020__x0023_" minOccurs="0"/>
                <xsd:element ref="ns1:Revision" minOccurs="0"/>
                <xsd:element ref="ns1:Doc_x0020_Status" minOccurs="0"/>
                <xsd:element ref="ns1:Controlled" minOccurs="0"/>
                <xsd:element ref="ns1:Author0" minOccurs="0"/>
                <xsd:element ref="ns1:Reviewer_x0020_1" minOccurs="0"/>
                <xsd:element ref="ns1:Reviewer_x0020_2" minOccurs="0"/>
                <xsd:element ref="ns1:Reviewer_x0020_3" minOccurs="0"/>
                <xsd:element ref="ns1:Reviewer_x0020_4" minOccurs="0"/>
                <xsd:element ref="ns1:Reviewer_x0020_5" minOccurs="0"/>
                <xsd:element ref="ns1:Comments" minOccurs="0"/>
                <xsd:element ref="ns1:Version_x0020_Date" minOccurs="0"/>
                <xsd:element ref="ns1:MediaServiceFastMetadata" minOccurs="0"/>
                <xsd:element ref="ns3:SharedWithUsers" minOccurs="0"/>
                <xsd:element ref="ns3:SharedWithDetails" minOccurs="0"/>
                <xsd:element ref="ns1:MediaServiceObjectDetectorVersions" minOccurs="0"/>
                <xsd:element ref="ns1:MediaServiceDateTaken" minOccurs="0"/>
                <xsd:element ref="ns1:MediaServiceGenerationTime" minOccurs="0"/>
                <xsd:element ref="ns1:MediaServiceEventHashCode" minOccurs="0"/>
                <xsd:element ref="ns1:MediaLengthInSeconds" minOccurs="0"/>
                <xsd:element ref="ns1:MediaServiceMetadata" minOccurs="0"/>
                <xsd:element ref="ns1:lcf76f155ced4ddcb4097134ff3c332f" minOccurs="0"/>
                <xsd:element ref="ns3:TaxCatchAll" minOccurs="0"/>
                <xsd:element ref="ns1:MediaServiceOCR" minOccurs="0"/>
                <xsd:element ref="ns1:MediaServiceSearchProperties" minOccurs="0"/>
                <xsd:element ref="ns1:MediaServiceLocation" minOccurs="0"/>
                <xsd:element ref="ns1:Reviewer_x0020_1_x0020_Response" minOccurs="0"/>
                <xsd:element ref="ns1:Reviewer_x0020_2_x0020_Response" minOccurs="0"/>
                <xsd:element ref="ns1:Reviewer_x0020_3_x0020_Response" minOccurs="0"/>
                <xsd:element ref="ns1:Reviewer_x0020_4_x0020_Response" minOccurs="0"/>
                <xsd:element ref="ns1:IDmatch" minOccurs="0"/>
                <xsd:element ref="ns1: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3b52bb-2659-484a-b433-9be16dd625b4" elementFormDefault="qualified">
    <xsd:import namespace="http://schemas.microsoft.com/office/2006/documentManagement/types"/>
    <xsd:import namespace="http://schemas.microsoft.com/office/infopath/2007/PartnerControls"/>
    <xsd:element name="Doc_x0020__x0023_" ma:index="3" nillable="true" ma:displayName="Doc/Dwg #" ma:internalName="Doc_x0020__x0023_">
      <xsd:simpleType>
        <xsd:restriction base="dms:Text">
          <xsd:maxLength value="255"/>
        </xsd:restriction>
      </xsd:simpleType>
    </xsd:element>
    <xsd:element name="Revision" ma:index="4" nillable="true" ma:displayName="Revision" ma:internalName="Revision">
      <xsd:simpleType>
        <xsd:restriction base="dms:Text">
          <xsd:maxLength value="3"/>
        </xsd:restriction>
      </xsd:simpleType>
    </xsd:element>
    <xsd:element name="Doc_x0020_Status" ma:index="5" nillable="true" ma:displayName="Doc Status" ma:default="Draft" ma:format="Dropdown" ma:internalName="Doc_x0020_Status">
      <xsd:simpleType>
        <xsd:restriction base="dms:Choice">
          <xsd:enumeration value="Draft"/>
          <xsd:enumeration value="Ready for Review"/>
          <xsd:enumeration value="In Review (serial)"/>
          <xsd:enumeration value="In Parallel Review"/>
          <xsd:enumeration value="Back To Author"/>
          <xsd:enumeration value="Ready for Signature"/>
          <xsd:enumeration value="In Signature"/>
          <xsd:enumeration value="Released"/>
          <xsd:enumeration value="Superceded"/>
          <xsd:enumeration value="Reference Only"/>
          <xsd:enumeration value="Test -p review"/>
        </xsd:restriction>
      </xsd:simpleType>
    </xsd:element>
    <xsd:element name="Controlled" ma:index="6" nillable="true" ma:displayName="Controlled" ma:default="No" ma:format="Dropdown" ma:internalName="Controlled">
      <xsd:simpleType>
        <xsd:restriction base="dms:Choice">
          <xsd:enumeration value="No"/>
          <xsd:enumeration value="Yes -Locked to changes"/>
        </xsd:restriction>
      </xsd:simpleType>
    </xsd:element>
    <xsd:element name="Author0" ma:index="7" nillable="true" ma:displayName="Main Author" ma:list="UserInfo" ma:SharePointGroup="36" ma:internalName="Author0" ma:showField="Titl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viewer_x0020_1" ma:index="8" nillable="true" ma:displayName="Reviewer 1" ma:list="UserInfo" ma:SharePointGroup="36" ma:internalName="Reviewer_x0020_1" ma:showField="Titl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viewer_x0020_2" ma:index="9" nillable="true" ma:displayName="Reviewer 2" ma:list="UserInfo" ma:SharePointGroup="36" ma:internalName="Reviewer_x0020_2" ma:showField="Titl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viewer_x0020_3" ma:index="10" nillable="true" ma:displayName="Reviewer 3" ma:list="UserInfo" ma:SharePointGroup="36" ma:internalName="Reviewer_x0020_3" ma:showField="Titl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viewer_x0020_4" ma:index="11" nillable="true" ma:displayName="Reviewer 4" ma:list="UserInfo" ma:SharePointGroup="36" ma:internalName="Reviewer_x0020_4" ma:showField="Titl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viewer_x0020_5" ma:index="12" nillable="true" ma:displayName="Reviewer 5" ma:list="UserInfo" ma:SharePointGroup="36" ma:internalName="Reviewer_x0020_5" ma:showField="Titl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mments" ma:index="13" nillable="true" ma:displayName="Comments" ma:internalName="Comments">
      <xsd:simpleType>
        <xsd:restriction base="dms:Text">
          <xsd:maxLength value="255"/>
        </xsd:restriction>
      </xsd:simpleType>
    </xsd:element>
    <xsd:element name="Version_x0020_Date" ma:index="14" nillable="true" ma:displayName="Version Date" ma:format="DateOnly" ma:internalName="Version_x0020_Date">
      <xsd:simpleType>
        <xsd:restriction base="dms:DateTim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DateTaken" ma:index="23" nillable="true" ma:displayName="MediaServiceDateTaken" ma:hidden="true" ma:indexed="true" ma:internalName="MediaServiceDateTaken" ma:readOnly="true">
      <xsd:simpleType>
        <xsd:restriction base="dms:Text"/>
      </xsd:simpleType>
    </xsd:element>
    <xsd:element name="MediaServiceGenerationTime" ma:index="24" nillable="true" ma:displayName="MediaServiceGenerationTime" ma:hidden="true" ma:internalName="MediaServiceGenerationTime" ma:readOnly="true">
      <xsd:simpleType>
        <xsd:restriction base="dms:Text"/>
      </xsd:simpleType>
    </xsd:element>
    <xsd:element name="MediaServiceEventHashCode" ma:index="25" nillable="true" ma:displayName="MediaServiceEventHashCode" ma:hidden="true" ma:internalName="MediaServiceEventHashCode" ma:readOnly="true">
      <xsd:simpleType>
        <xsd:restriction base="dms:Text"/>
      </xsd:simpleType>
    </xsd:element>
    <xsd:element name="MediaLengthInSeconds" ma:index="26" nillable="true" ma:displayName="MediaLengthInSeconds" ma:hidden="true" ma:internalName="MediaLengthInSeconds" ma:readOnly="true">
      <xsd:simpleType>
        <xsd:restriction base="dms:Unknown"/>
      </xsd:simpleType>
    </xsd:element>
    <xsd:element name="MediaServiceMetadata" ma:index="27" nillable="true" ma:displayName="MediaServiceMetadata" ma:hidden="true" ma:internalName="MediaServiceMetadata" ma:readOnly="true">
      <xsd:simpleType>
        <xsd:restriction base="dms:Note"/>
      </xsd:simpleType>
    </xsd:element>
    <xsd:element name="lcf76f155ced4ddcb4097134ff3c332f" ma:index="28" nillable="true" ma:taxonomy="true" ma:internalName="lcf76f155ced4ddcb4097134ff3c332f" ma:taxonomyFieldName="MediaServiceImageTags" ma:displayName="Image Tags" ma:readOnly="false" ma:fieldId="{5cf76f15-5ced-4ddc-b409-7134ff3c332f}" ma:taxonomyMulti="true" ma:sspId="261fe117-45e6-4481-aa75-fdb3bd655cd3" ma:termSetId="09814cd3-568e-fe90-9814-8d621ff8fb84" ma:anchorId="fba54fb3-c3e1-fe81-a776-ca4b69148c4d" ma:open="true" ma:isKeyword="false">
      <xsd:complexType>
        <xsd:sequence>
          <xsd:element ref="pc:Terms" minOccurs="0" maxOccurs="1"/>
        </xsd:sequence>
      </xsd:complexType>
    </xsd:element>
    <xsd:element name="MediaServiceOCR" ma:index="30" nillable="true" ma:displayName="Extracted Text" ma:internalName="MediaServiceOCR" ma:readOnly="true">
      <xsd:simpleType>
        <xsd:restriction base="dms:Note">
          <xsd:maxLength value="255"/>
        </xsd:restriction>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Location" ma:index="32" nillable="true" ma:displayName="Location" ma:indexed="true" ma:internalName="MediaServiceLocation" ma:readOnly="true">
      <xsd:simpleType>
        <xsd:restriction base="dms:Text"/>
      </xsd:simpleType>
    </xsd:element>
    <xsd:element name="Reviewer_x0020_1_x0020_Response" ma:index="35" nillable="true" ma:displayName="Reviewer 1 Response" ma:default="No Response" ma:internalName="Reviewer_x0020_1_x0020_Response">
      <xsd:simpleType>
        <xsd:restriction base="dms:Text">
          <xsd:maxLength value="25"/>
        </xsd:restriction>
      </xsd:simpleType>
    </xsd:element>
    <xsd:element name="Reviewer_x0020_2_x0020_Response" ma:index="36" nillable="true" ma:displayName="Reviewer 2 Response" ma:default="No Response" ma:internalName="Reviewer_x0020_2_x0020_Response">
      <xsd:simpleType>
        <xsd:restriction base="dms:Text">
          <xsd:maxLength value="25"/>
        </xsd:restriction>
      </xsd:simpleType>
    </xsd:element>
    <xsd:element name="Reviewer_x0020_3_x0020_Response" ma:index="37" nillable="true" ma:displayName="Reviewer 3 Response" ma:default="No Response" ma:internalName="Reviewer_x0020_3_x0020_Response">
      <xsd:simpleType>
        <xsd:restriction base="dms:Text">
          <xsd:maxLength value="25"/>
        </xsd:restriction>
      </xsd:simpleType>
    </xsd:element>
    <xsd:element name="Reviewer_x0020_4_x0020_Response" ma:index="38" nillable="true" ma:displayName="Reviewer 4 Response" ma:default="No Response" ma:internalName="Reviewer_x0020_4_x0020_Response">
      <xsd:simpleType>
        <xsd:restriction base="dms:Text">
          <xsd:maxLength value="25"/>
        </xsd:restriction>
      </xsd:simpleType>
    </xsd:element>
    <xsd:element name="IDmatch" ma:index="39" nillable="true" ma:displayName="IDmatch" ma:internalName="IDmatch">
      <xsd:simpleType>
        <xsd:restriction base="dms:Text">
          <xsd:maxLength value="25"/>
        </xsd:restriction>
      </xsd:simpleType>
    </xsd:element>
    <xsd:element name="MediaServiceBillingMetadata" ma:index="4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6a343c3-2b9e-4101-bc12-765935141999"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9" nillable="true" ma:displayName="Taxonomy Catch All Column" ma:hidden="true" ma:list="{23e811c3-4550-4222-afdb-1d26fe639134}" ma:internalName="TaxCatchAll" ma:showField="CatchAllData" ma:web="56a343c3-2b9e-4101-bc12-76593514199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6" ma:displayName="Content Type"/>
        <xsd:element ref="dc:title" minOccurs="0" maxOccurs="1" ma:index="2"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A6EBEC-4D29-49EF-9234-C6A21EACEFFD}">
  <ds:schemaRefs>
    <ds:schemaRef ds:uri="http://schemas.microsoft.com/sharepoint/v3/contenttype/forms"/>
  </ds:schemaRefs>
</ds:datastoreItem>
</file>

<file path=customXml/itemProps2.xml><?xml version="1.0" encoding="utf-8"?>
<ds:datastoreItem xmlns:ds="http://schemas.openxmlformats.org/officeDocument/2006/customXml" ds:itemID="{03287468-CBDE-451C-BE27-49CF9503199F}">
  <ds:schemaRefs>
    <ds:schemaRef ds:uri="http://purl.org/dc/terms/"/>
    <ds:schemaRef ds:uri="http://purl.org/dc/elements/1.1/"/>
    <ds:schemaRef ds:uri="http://schemas.microsoft.com/office/2006/documentManagement/types"/>
    <ds:schemaRef ds:uri="http://www.w3.org/XML/1998/namespace"/>
    <ds:schemaRef ds:uri="56a343c3-2b9e-4101-bc12-765935141999"/>
    <ds:schemaRef ds:uri="http://schemas.openxmlformats.org/package/2006/metadata/core-properties"/>
    <ds:schemaRef ds:uri="http://schemas.microsoft.com/office/infopath/2007/PartnerControls"/>
    <ds:schemaRef ds:uri="843b52bb-2659-484a-b433-9be16dd625b4"/>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B248A3FD-C071-4BE8-9248-E01D4E4A50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43b52bb-2659-484a-b433-9be16dd625b4"/>
    <ds:schemaRef ds:uri="56a343c3-2b9e-4101-bc12-76593514199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18922</TotalTime>
  <Words>9739</Words>
  <Application>Microsoft Office PowerPoint</Application>
  <PresentationFormat>Widescreen</PresentationFormat>
  <Paragraphs>1266</Paragraphs>
  <Slides>196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196</vt:i4>
      </vt:variant>
    </vt:vector>
  </HeadingPairs>
  <TitlesOfParts>
    <vt:vector size="202" baseType="lpstr">
      <vt:lpstr>Wingdings</vt:lpstr>
      <vt:lpstr>Cambria Math</vt:lpstr>
      <vt:lpstr>Arial</vt:lpstr>
      <vt:lpstr>Arial Black</vt:lpstr>
      <vt:lpstr>Calibri</vt:lpstr>
      <vt:lpstr>Essential</vt:lpstr>
      <vt:lpstr>Ongoing development notes for BRDF data processing [exportable STP material]</vt:lpstr>
      <vt:lpstr>Notes on BSDF processing</vt:lpstr>
      <vt:lpstr>Notes</vt:lpstr>
      <vt:lpstr>Caution</vt:lpstr>
      <vt:lpstr>Results</vt:lpstr>
      <vt:lpstr>Development of conversion to Zemax</vt:lpstr>
      <vt:lpstr>Coordinate definitions</vt:lpstr>
      <vt:lpstr>Interpolation strategy</vt:lpstr>
      <vt:lpstr>Interpolate BRDF or RT values ?</vt:lpstr>
      <vt:lpstr>R_specular as measured or inferred from max BRDF ?</vt:lpstr>
      <vt:lpstr>PowerPoint Presentation</vt:lpstr>
      <vt:lpstr>Empirically, transform is working</vt:lpstr>
      <vt:lpstr>Debugging coordinate transformation</vt:lpstr>
      <vt:lpstr>PowerPoint Presentation</vt:lpstr>
      <vt:lpstr>PowerPoint Presentation</vt:lpstr>
      <vt:lpstr>PowerPoint Presentation</vt:lpstr>
      <vt:lpstr>Some more results / debugging</vt:lpstr>
      <vt:lpstr>PowerPoint Presentation</vt:lpstr>
      <vt:lpstr>Coverage Plot</vt:lpstr>
      <vt:lpstr>Prior to zero-ing</vt:lpstr>
      <vt:lpstr>PowerPoint Presentation</vt:lpstr>
      <vt:lpstr>Moving forward (for now)</vt:lpstr>
      <vt:lpstr>More debugging</vt:lpstr>
      <vt:lpstr>V4.3 = debugging v4.2</vt:lpstr>
      <vt:lpstr>No azimuth correction needed, right?</vt:lpstr>
      <vt:lpstr>Do we need azimuthal correction?</vt:lpstr>
      <vt:lpstr>Measurements given to Cameron and team, using v3.1 (incident plane only)  (these are initial results intended to provide team ability to do “ballpark” analysis… debugging the (Az, Rz) interpolation will follow for “official” results)</vt:lpstr>
      <vt:lpstr>Samples – NiTE on steel</vt:lpstr>
      <vt:lpstr>Samples – NiTE on invar</vt:lpstr>
      <vt:lpstr>Recall v3.1 results</vt:lpstr>
      <vt:lpstr>Recall v3.1 method</vt:lpstr>
      <vt:lpstr>Repeating v3.1 but with “MagicBlack_v2o0_20250902” since that has same angles as NiTE</vt:lpstr>
      <vt:lpstr>Assumption for v4.2b (“official” simplified in-plane method)</vt:lpstr>
      <vt:lpstr>Results of v4.2b (“official” simplified in-plane method)</vt:lpstr>
      <vt:lpstr>Results of v4.2b (“official” simplified in-plane method)</vt:lpstr>
      <vt:lpstr>Results of v4.2b (“official” simplified in-plane method) – TIS values</vt:lpstr>
      <vt:lpstr>Assuming good enough,</vt:lpstr>
      <vt:lpstr>PowerPoint Presentation</vt:lpstr>
      <vt:lpstr>Measurement of non-isotropic detector</vt:lpstr>
      <vt:lpstr>PowerPoint Presentation</vt:lpstr>
      <vt:lpstr>Debugging of isotropic interpolation to (Az, Rz)</vt:lpstr>
      <vt:lpstr>V4.3</vt:lpstr>
      <vt:lpstr>Comparison of +/- azimuth measurements – raw </vt:lpstr>
      <vt:lpstr>Comparison of +/- azimuth measurements – overlay </vt:lpstr>
      <vt:lpstr>PowerPoint Presentation</vt:lpstr>
      <vt:lpstr>PowerPoint Presentation</vt:lpstr>
      <vt:lpstr>Comparison of +/- azimuth measurements</vt:lpstr>
      <vt:lpstr>BUT WAIT !!!</vt:lpstr>
      <vt:lpstr>Comparison of +/- azimuth measurements – raw </vt:lpstr>
      <vt:lpstr>Comparison of +/- azimuth measurements – overlay </vt:lpstr>
      <vt:lpstr>PowerPoint Presentation</vt:lpstr>
      <vt:lpstr>PowerPoint Presentation</vt:lpstr>
      <vt:lpstr>If misaligned left/right,</vt:lpstr>
      <vt:lpstr>If misaligned left/right,</vt:lpstr>
      <vt:lpstr>PowerPoint Presentation</vt:lpstr>
      <vt:lpstr>PowerPoint Presentation</vt:lpstr>
      <vt:lpstr>PowerPoint Presentation</vt:lpstr>
      <vt:lpstr>PowerPoint Presentation</vt:lpstr>
      <vt:lpstr>Note about shifting</vt:lpstr>
      <vt:lpstr>Now, onto interpolation of (Az,Rz)</vt:lpstr>
      <vt:lpstr>Other</vt:lpstr>
      <vt:lpstr>Note for anisotropic</vt:lpstr>
      <vt:lpstr>Note for TIS</vt:lpstr>
      <vt:lpstr>Note about Zemax / ScatterData</vt:lpstr>
      <vt:lpstr>Debugging of isotropic interpolation to (Az, Rz) [continued]</vt:lpstr>
      <vt:lpstr>Now, onto interpolation of (Az,Rz)</vt:lpstr>
      <vt:lpstr>Manual setting of RT=0</vt:lpstr>
      <vt:lpstr>Sanity check of successfully-debugged v4.3</vt:lpstr>
      <vt:lpstr>Zemax plots</vt:lpstr>
      <vt:lpstr>But…</vt:lpstr>
      <vt:lpstr>BrownVinyl template</vt:lpstr>
      <vt:lpstr>First official release (v1.0) of library for our scatterometer - Including Max’s whitepaper, Python script for incident plane, etc. - But now, a ‘process_RT300S_data’ MATLAB script for outputting full scatter cone to Zemax format</vt:lpstr>
      <vt:lpstr>process_RT300S_data_v1o0.m</vt:lpstr>
      <vt:lpstr>Averaging</vt:lpstr>
      <vt:lpstr>Deciding R cutoff</vt:lpstr>
      <vt:lpstr>Deciding R cutoff</vt:lpstr>
      <vt:lpstr>Deciding R cutoff</vt:lpstr>
      <vt:lpstr>Deciding R cutoff</vt:lpstr>
      <vt:lpstr>Deciding R cutoff</vt:lpstr>
      <vt:lpstr>Results</vt:lpstr>
      <vt:lpstr>Results</vt:lpstr>
      <vt:lpstr>Results</vt:lpstr>
      <vt:lpstr>Results</vt:lpstr>
      <vt:lpstr>TIS</vt:lpstr>
      <vt:lpstr>TIS  (this section is deriving for integration over more than just the incident plane)</vt:lpstr>
      <vt:lpstr>TIS as full scatter cone</vt:lpstr>
      <vt:lpstr>TIS as Zemax scatter cone</vt:lpstr>
      <vt:lpstr>TIS as Zemax scatter cone</vt:lpstr>
      <vt:lpstr>TIS as Zemax scatter cone</vt:lpstr>
      <vt:lpstr>TIS as Zemax scatter cone</vt:lpstr>
      <vt:lpstr>TIS derivation of specular  beam width</vt:lpstr>
      <vt:lpstr>TIS sanity check</vt:lpstr>
      <vt:lpstr>TIS sanity check</vt:lpstr>
      <vt:lpstr>TIS sanity check</vt:lpstr>
      <vt:lpstr>BRDF sanity check</vt:lpstr>
      <vt:lpstr>Ideas to improve from v1.0 to v1.1</vt:lpstr>
      <vt:lpstr>Ideas </vt:lpstr>
      <vt:lpstr>Upcoming  (post 2025/10/07 meeting)</vt:lpstr>
      <vt:lpstr>Anisotropic (v1.0, adapted)</vt:lpstr>
      <vt:lpstr>IMX455</vt:lpstr>
      <vt:lpstr>PowerPoint Presentation</vt:lpstr>
      <vt:lpstr>PowerPoint Presentation</vt:lpstr>
      <vt:lpstr>IMX455 filling [0,360] rotations from [0,90]</vt:lpstr>
      <vt:lpstr>PowerPoint Presentation</vt:lpstr>
      <vt:lpstr>10/14 meeting – upcoming to-do:</vt:lpstr>
      <vt:lpstr>Notes on anisotropic processing bugs</vt:lpstr>
      <vt:lpstr>V1.1 Development (what I’ve called v2 above, for anisotropic debugging)</vt:lpstr>
      <vt:lpstr>Github repo</vt:lpstr>
      <vt:lpstr>Questions</vt:lpstr>
      <vt:lpstr>Debugging why missing quadrant</vt:lpstr>
      <vt:lpstr>Debugging why missing quadrant</vt:lpstr>
      <vt:lpstr>Debugging why Az=0 at Rz=0 has different value than other Az</vt:lpstr>
      <vt:lpstr>PowerPoint Presentation</vt:lpstr>
      <vt:lpstr>PowerPoint Presentation</vt:lpstr>
      <vt:lpstr>PowerPoint Presentation</vt:lpstr>
      <vt:lpstr>PowerPoint Presentation</vt:lpstr>
      <vt:lpstr>Next up goals</vt:lpstr>
      <vt:lpstr>Wavelength dependence</vt:lpstr>
      <vt:lpstr>Wavelength dependence</vt:lpstr>
      <vt:lpstr>Urgent</vt:lpstr>
      <vt:lpstr>FRED formatting</vt:lpstr>
      <vt:lpstr>Coordinate Transformation</vt:lpstr>
      <vt:lpstr>Validation checks</vt:lpstr>
      <vt:lpstr>Revising FRED format (Applying isotropic plane symmetry, and θ_s=0^∘ with only one azimuth angle)</vt:lpstr>
      <vt:lpstr>Corrections</vt:lpstr>
      <vt:lpstr>From FRED help article</vt:lpstr>
      <vt:lpstr>Refactor from  RT-300S  Zemax  FRED to RT-300S  FRED  Zemax</vt:lpstr>
      <vt:lpstr>Motivation</vt:lpstr>
      <vt:lpstr>Results</vt:lpstr>
      <vt:lpstr>Interpolation to Zemax grid</vt:lpstr>
      <vt:lpstr>Validation test of anisotropic FRED</vt:lpstr>
      <vt:lpstr>Validation test of anisotropic FRED (recall prior IMX455 Zemax plots)</vt:lpstr>
      <vt:lpstr>Validation test of anisotropic FRED (recall prior IMX455 Zemax plots)</vt:lpstr>
      <vt:lpstr>Validation test of anisotropic FRED (recall prior IMX455 Zemax plots)</vt:lpstr>
      <vt:lpstr>Validation test of anisotropic FRED (recall prior IMX455 Zemax plots)</vt:lpstr>
      <vt:lpstr>Validation test of anisotropic FRED (recall prior IMX455 Zemax plots)</vt:lpstr>
      <vt:lpstr>Validation test of anisotropic FRED (recall prior IMX455 Zemax plots)</vt:lpstr>
      <vt:lpstr>Scatter plots of IMX455 (just for visualization)</vt:lpstr>
      <vt:lpstr>PowerPoint Presentation</vt:lpstr>
      <vt:lpstr>PowerPoint Presentation</vt:lpstr>
      <vt:lpstr>SPEOS format</vt:lpstr>
      <vt:lpstr>First pass</vt:lpstr>
      <vt:lpstr>TIS calculation for Zemax,  in FRED frame</vt:lpstr>
      <vt:lpstr>Revisiting Zemax’s TIS definition</vt:lpstr>
      <vt:lpstr>Verifying new code fixing this</vt:lpstr>
      <vt:lpstr>Verifying new code fixing this</vt:lpstr>
      <vt:lpstr>Verifying new code fixing this</vt:lpstr>
      <vt:lpstr>Aeroglaze measurement</vt:lpstr>
      <vt:lpstr>Discussion on measurement result</vt:lpstr>
      <vt:lpstr>PowerPoint Presentation</vt:lpstr>
      <vt:lpstr>PowerPoint Presentation</vt:lpstr>
      <vt:lpstr>PowerPoint Presentation</vt:lpstr>
      <vt:lpstr>PowerPoint Presentation</vt:lpstr>
      <vt:lpstr>Discussion</vt:lpstr>
      <vt:lpstr>Conclusion</vt:lpstr>
      <vt:lpstr>Measurement setup</vt:lpstr>
      <vt:lpstr>PowerPoint Presentation</vt:lpstr>
      <vt:lpstr>PowerPoint Presentation</vt:lpstr>
      <vt:lpstr>PowerPoint Presentation</vt:lpstr>
      <vt:lpstr>Conclusion</vt:lpstr>
      <vt:lpstr>IMX455 Plane Symmetry Validation</vt:lpstr>
      <vt:lpstr>Validation setup</vt:lpstr>
      <vt:lpstr>Results</vt:lpstr>
      <vt:lpstr>Results</vt:lpstr>
      <vt:lpstr>Conclusion</vt:lpstr>
      <vt:lpstr>Correction to IMX455 error [the sample is actually IMX571]</vt:lpstr>
      <vt:lpstr>Comparison</vt:lpstr>
      <vt:lpstr>Angles for Blacklab [tradeoff between resolution and measurement time]</vt:lpstr>
      <vt:lpstr>Available filters</vt:lpstr>
      <vt:lpstr>SPEOS format</vt:lpstr>
      <vt:lpstr>Notes</vt:lpstr>
      <vt:lpstr>Dev</vt:lpstr>
      <vt:lpstr>USE PYTHON PACKAGE</vt:lpstr>
      <vt:lpstr>Python package implemented</vt:lpstr>
      <vt:lpstr>Validation of Zemax to SPEOS conversion</vt:lpstr>
      <vt:lpstr>Comparison</vt:lpstr>
      <vt:lpstr>SPEOS simulation results</vt:lpstr>
      <vt:lpstr>Known data (in Zemax format)</vt:lpstr>
      <vt:lpstr>Debugging low TIS values [flagged by Photon Engineering, comparing our Z307 BRDF data to RTX’s Z307 BRDF data and FRED’s Z306 model]</vt:lpstr>
      <vt:lpstr>Re-measure (of 76.4x254.0mm sample, not 12”x12”) </vt:lpstr>
      <vt:lpstr>Moving forward</vt:lpstr>
      <vt:lpstr>Moving forward</vt:lpstr>
      <vt:lpstr>How RT floor changes TIS</vt:lpstr>
      <vt:lpstr>Moving forward</vt:lpstr>
      <vt:lpstr>Attempt removing 1/cos(R)</vt:lpstr>
      <vt:lpstr>Comparison to Max’s data</vt:lpstr>
      <vt:lpstr>Aeroglaze Z306 data [from Photon Engineering’s FRED Z306 binomial model, processed into FRED then Zemax format via bsdf-tools]</vt:lpstr>
      <vt:lpstr>Zemax conversion as expected</vt:lpstr>
      <vt:lpstr>[cont.] Speos validation</vt:lpstr>
      <vt:lpstr>‘main_v1o2.m’</vt:lpstr>
      <vt:lpstr>‘main_v1o2.m’</vt:lpstr>
      <vt:lpstr>PowerPoint Presentation</vt:lpstr>
      <vt:lpstr>Blacklab – small FOV [comparison of 3”x6” NiTE on Invar with 12”x12”]</vt:lpstr>
      <vt:lpstr>Comparison</vt:lpstr>
      <vt:lpstr>Magic Black – remeasured on least-worst section of damaged sample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KINEMATICALLY ENGAGED YOKE MECHANISM (KEYS) AND MOLDLESS OPTICAL SLUMPING</dc:title>
  <dc:creator>Jacob P. Krell</dc:creator>
  <cp:lastModifiedBy>Krell, Jacob Patrick - (jacobpkrell)</cp:lastModifiedBy>
  <cp:revision>1266</cp:revision>
  <dcterms:created xsi:type="dcterms:W3CDTF">2017-07-21T19:00:27Z</dcterms:created>
  <dcterms:modified xsi:type="dcterms:W3CDTF">2026-10-18T21:41:21Z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0x010100E974AC14ED87194BB3B0C005379ECB10</vt:lpwstr>
  </property>
  <property fmtid="{D5CDD505-2E9C-101B-9397-08002B2CF9AE}" pid="3" name="MediaServiceImageTags">
    <vt:lpwstr/>
  </property>
</Properties>
</file>