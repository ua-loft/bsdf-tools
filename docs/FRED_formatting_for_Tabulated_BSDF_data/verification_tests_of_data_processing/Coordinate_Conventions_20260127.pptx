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8"/>
  </p:notesMasterIdLst>
  <p:sldIdLst>
    <p:sldId id="272" r:id="rId5"/>
    <p:sldId id="409" r:id="rId6"/>
    <p:sldId id="406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Cambria Math" panose="02040503050406030204" pitchFamily="18" charset="0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31" roundtripDataSignature="AMtx7mg7b4a4HOdmfooKQnQZaRoq93cM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44A"/>
    <a:srgbClr val="D1282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B6764-9EEE-7350-0E91-5BB52201C81C}" v="106" dt="2025-10-07T18:17:23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56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33" Type="http://schemas.openxmlformats.org/officeDocument/2006/relationships/viewProps" Target="viewProps.xml"/><Relationship Id="rId7" Type="http://schemas.openxmlformats.org/officeDocument/2006/relationships/slide" Target="slides/slide3.xml"/><Relationship Id="rId137" Type="http://schemas.microsoft.com/office/2015/10/relationships/revisionInfo" Target="revisionInfo.xml"/><Relationship Id="rId2" Type="http://schemas.openxmlformats.org/officeDocument/2006/relationships/customXml" Target="../customXml/item2.xml"/><Relationship Id="rId13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31" Type="http://customschemas.google.com/relationships/presentationmetadata" Target="metadata"/><Relationship Id="rId136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13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3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parza, Marcos A - (maesparza)" userId="1b0460fc-f8b0-40fb-b03b-27fb3d2d7d63" providerId="ADAL" clId="{9E4B7386-269C-4573-83AB-00D8F7DF2D06}"/>
    <pc:docChg chg="custSel addSld delSld modSld">
      <pc:chgData name="Esparza, Marcos A - (maesparza)" userId="1b0460fc-f8b0-40fb-b03b-27fb3d2d7d63" providerId="ADAL" clId="{9E4B7386-269C-4573-83AB-00D8F7DF2D06}" dt="2025-03-04T03:23:03.657" v="427" actId="20577"/>
      <pc:docMkLst>
        <pc:docMk/>
      </pc:docMkLst>
      <pc:sldChg chg="modSp mod">
        <pc:chgData name="Esparza, Marcos A - (maesparza)" userId="1b0460fc-f8b0-40fb-b03b-27fb3d2d7d63" providerId="ADAL" clId="{9E4B7386-269C-4573-83AB-00D8F7DF2D06}" dt="2025-03-04T03:20:34.294" v="6" actId="20577"/>
        <pc:sldMkLst>
          <pc:docMk/>
          <pc:sldMk cId="3476571280" sldId="272"/>
        </pc:sldMkLst>
      </pc:sldChg>
      <pc:sldChg chg="addSp delSp modSp mod">
        <pc:chgData name="Esparza, Marcos A - (maesparza)" userId="1b0460fc-f8b0-40fb-b03b-27fb3d2d7d63" providerId="ADAL" clId="{9E4B7386-269C-4573-83AB-00D8F7DF2D06}" dt="2025-03-04T03:23:03.657" v="427" actId="20577"/>
        <pc:sldMkLst>
          <pc:docMk/>
          <pc:sldMk cId="4092025891" sldId="273"/>
        </pc:sldMkLst>
      </pc:sldChg>
      <pc:sldChg chg="addSp delSp modSp new mod">
        <pc:chgData name="Esparza, Marcos A - (maesparza)" userId="1b0460fc-f8b0-40fb-b03b-27fb3d2d7d63" providerId="ADAL" clId="{9E4B7386-269C-4573-83AB-00D8F7DF2D06}" dt="2025-03-04T03:22:27.743" v="307" actId="20577"/>
        <pc:sldMkLst>
          <pc:docMk/>
          <pc:sldMk cId="2251461906" sldId="274"/>
        </pc:sldMkLst>
      </pc:sldChg>
      <pc:sldChg chg="del">
        <pc:chgData name="Esparza, Marcos A - (maesparza)" userId="1b0460fc-f8b0-40fb-b03b-27fb3d2d7d63" providerId="ADAL" clId="{9E4B7386-269C-4573-83AB-00D8F7DF2D06}" dt="2025-03-04T03:22:02.256" v="257" actId="47"/>
        <pc:sldMkLst>
          <pc:docMk/>
          <pc:sldMk cId="2884476172" sldId="274"/>
        </pc:sldMkLst>
      </pc:sldChg>
    </pc:docChg>
  </pc:docChgLst>
  <pc:docChgLst>
    <pc:chgData name="Jacob Krell" userId="S::krell.j@titan.arizona.edu::fa2cdde1-a2be-4962-b54b-6145a6017cba" providerId="AD" clId="Web-{596B6764-9EEE-7350-0E91-5BB52201C81C}"/>
    <pc:docChg chg="modSld">
      <pc:chgData name="Jacob Krell" userId="S::krell.j@titan.arizona.edu::fa2cdde1-a2be-4962-b54b-6145a6017cba" providerId="AD" clId="Web-{596B6764-9EEE-7350-0E91-5BB52201C81C}" dt="2025-10-07T18:17:22.435" v="100" actId="20577"/>
      <pc:docMkLst>
        <pc:docMk/>
      </pc:docMkLst>
      <pc:sldChg chg="modSp">
        <pc:chgData name="Jacob Krell" userId="S::krell.j@titan.arizona.edu::fa2cdde1-a2be-4962-b54b-6145a6017cba" providerId="AD" clId="Web-{596B6764-9EEE-7350-0E91-5BB52201C81C}" dt="2025-10-07T18:17:22.435" v="100" actId="20577"/>
        <pc:sldMkLst>
          <pc:docMk/>
          <pc:sldMk cId="2577755336" sldId="378"/>
        </pc:sldMkLst>
        <pc:spChg chg="mod">
          <ac:chgData name="Jacob Krell" userId="S::krell.j@titan.arizona.edu::fa2cdde1-a2be-4962-b54b-6145a6017cba" providerId="AD" clId="Web-{596B6764-9EEE-7350-0E91-5BB52201C81C}" dt="2025-10-07T18:17:22.435" v="100" actId="20577"/>
          <ac:spMkLst>
            <pc:docMk/>
            <pc:sldMk cId="2577755336" sldId="378"/>
            <ac:spMk id="3" creationId="{3DCFD0A5-9DDF-0A51-1C1A-417B49721EE1}"/>
          </ac:spMkLst>
        </pc:spChg>
        <pc:spChg chg="mod">
          <ac:chgData name="Jacob Krell" userId="S::krell.j@titan.arizona.edu::fa2cdde1-a2be-4962-b54b-6145a6017cba" providerId="AD" clId="Web-{596B6764-9EEE-7350-0E91-5BB52201C81C}" dt="2025-10-07T18:15:26.295" v="1" actId="1076"/>
          <ac:spMkLst>
            <pc:docMk/>
            <pc:sldMk cId="2577755336" sldId="378"/>
            <ac:spMk id="5" creationId="{F874E550-41A5-C6A6-48CD-90319B2A0684}"/>
          </ac:spMkLst>
        </pc:spChg>
        <pc:graphicFrameChg chg="mod modGraphic">
          <ac:chgData name="Jacob Krell" userId="S::krell.j@titan.arizona.edu::fa2cdde1-a2be-4962-b54b-6145a6017cba" providerId="AD" clId="Web-{596B6764-9EEE-7350-0E91-5BB52201C81C}" dt="2025-10-07T18:17:16.529" v="95" actId="1076"/>
          <ac:graphicFrameMkLst>
            <pc:docMk/>
            <pc:sldMk cId="2577755336" sldId="378"/>
            <ac:graphicFrameMk id="4" creationId="{422E0867-F911-6515-8108-12F85A6865A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Arial Black"/>
              <a:buNone/>
              <a:defRPr sz="5400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2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4766733" y="1600200"/>
            <a:ext cx="6815667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609601" y="1600200"/>
            <a:ext cx="4011084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0"/>
          <p:cNvSpPr>
            <a:spLocks noGrp="1"/>
          </p:cNvSpPr>
          <p:nvPr>
            <p:ph type="pic" idx="2"/>
          </p:nvPr>
        </p:nvSpPr>
        <p:spPr>
          <a:xfrm>
            <a:off x="-1" y="0"/>
            <a:ext cx="12001169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9" name="Google Shape;59;p30"/>
          <p:cNvSpPr txBox="1">
            <a:spLocks noGrp="1"/>
          </p:cNvSpPr>
          <p:nvPr>
            <p:ph type="body" idx="1"/>
          </p:nvPr>
        </p:nvSpPr>
        <p:spPr>
          <a:xfrm>
            <a:off x="609600" y="5715000"/>
            <a:ext cx="108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body" idx="1"/>
          </p:nvPr>
        </p:nvSpPr>
        <p:spPr>
          <a:xfrm rot="5400000">
            <a:off x="3502818" y="-1140618"/>
            <a:ext cx="4373563" cy="10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>
            <a:spLocks noGrp="1"/>
          </p:cNvSpPr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body" idx="1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: cyan">
  <p:cSld name="Title slide: cya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ctrTitle"/>
          </p:nvPr>
        </p:nvSpPr>
        <p:spPr>
          <a:xfrm>
            <a:off x="1212783" y="2457203"/>
            <a:ext cx="7161196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 Black"/>
              <a:buNone/>
              <a:defRPr sz="3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ubTitle" idx="1"/>
          </p:nvPr>
        </p:nvSpPr>
        <p:spPr>
          <a:xfrm>
            <a:off x="1212783" y="3709760"/>
            <a:ext cx="71611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33"/>
          <p:cNvSpPr/>
          <p:nvPr/>
        </p:nvSpPr>
        <p:spPr>
          <a:xfrm>
            <a:off x="7826038" y="-6810"/>
            <a:ext cx="4372773" cy="6872473"/>
          </a:xfrm>
          <a:custGeom>
            <a:avLst/>
            <a:gdLst/>
            <a:ahLst/>
            <a:cxnLst/>
            <a:rect l="l" t="t" r="r" b="b"/>
            <a:pathLst>
              <a:path w="3279580" h="5154355" extrusionOk="0">
                <a:moveTo>
                  <a:pt x="0" y="0"/>
                </a:moveTo>
                <a:lnTo>
                  <a:pt x="3279580" y="5108"/>
                </a:lnTo>
                <a:lnTo>
                  <a:pt x="3279580" y="5149247"/>
                </a:lnTo>
                <a:lnTo>
                  <a:pt x="1568273" y="5154355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 flipH="1">
            <a:off x="7002657" y="0"/>
            <a:ext cx="3671224" cy="6858000"/>
          </a:xfrm>
          <a:prstGeom prst="parallelogram">
            <a:avLst>
              <a:gd name="adj" fmla="val 97000"/>
            </a:avLst>
          </a:prstGeom>
          <a:gradFill>
            <a:gsLst>
              <a:gs pos="0">
                <a:schemeClr val="dk2"/>
              </a:gs>
              <a:gs pos="51000">
                <a:schemeClr val="dk2"/>
              </a:gs>
              <a:gs pos="78000">
                <a:schemeClr val="accen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609599" y="152718"/>
            <a:ext cx="901132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 Black"/>
              <a:buNone/>
              <a:defRPr sz="3600" b="0" i="0" u="none" strike="noStrike" cap="none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609600" y="6456046"/>
            <a:ext cx="1026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2873598" y="6477001"/>
            <a:ext cx="5632003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 rot="-5400000">
            <a:off x="11189124" y="5824644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1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14969" y="396067"/>
            <a:ext cx="341508" cy="25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1" descr="COSLogoForPrintLandscape"/>
          <p:cNvPicPr preferRelativeResize="0"/>
          <p:nvPr/>
        </p:nvPicPr>
        <p:blipFill rotWithShape="1">
          <a:blip r:embed="rId12">
            <a:alphaModFix/>
          </a:blip>
          <a:srcRect l="9000" t="1455" r="78802"/>
          <a:stretch/>
        </p:blipFill>
        <p:spPr>
          <a:xfrm>
            <a:off x="10150523" y="372883"/>
            <a:ext cx="380071" cy="28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1" descr="UA_horiz_color_250_no%20ta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88262" y="398981"/>
            <a:ext cx="1322493" cy="28169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upport.photonengr.com/article/304-viavi-engineered-diffuser-bs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CC2C-DE94-B8FA-97F7-375F365DB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Coordinates of RT-300S and FRED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E3039-6CC8-7628-B7C2-FDBBE2D38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Jacob P. Krell (jacobpkrell@arizona.edu)</a:t>
            </a:r>
          </a:p>
          <a:p>
            <a:r>
              <a:rPr lang="en-US" dirty="0"/>
              <a:t>2026/01/27</a:t>
            </a:r>
          </a:p>
        </p:txBody>
      </p:sp>
    </p:spTree>
    <p:extLst>
      <p:ext uri="{BB962C8B-B14F-4D97-AF65-F5344CB8AC3E}">
        <p14:creationId xmlns:p14="http://schemas.microsoft.com/office/powerpoint/2010/main" val="347657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BA23-F97A-1D82-F99C-8CA6007E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69E6-7297-2164-BDB1-04BBAD18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FRED format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2B87D5-BE4B-563B-255A-EA55DF8292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sz="2400" b="0" dirty="0"/>
                  <a:t>FRED format for Tabulated BSDF:</a:t>
                </a:r>
              </a:p>
              <a:p>
                <a:pPr lvl="1"/>
                <a:r>
                  <a:rPr lang="en-US" sz="2000" dirty="0"/>
                  <a:t>Best documentation/resource currently found: </a:t>
                </a:r>
                <a:r>
                  <a:rPr lang="en-US" sz="2000" dirty="0">
                    <a:hlinkClick r:id="rId2"/>
                  </a:rPr>
                  <a:t>https://support.photonengr.com/article/304-viavi-engineered-diffuser-bsdf</a:t>
                </a:r>
                <a:endParaRPr lang="en-US" sz="2000" dirty="0"/>
              </a:p>
              <a:p>
                <a:r>
                  <a:rPr lang="en-US" sz="2400" b="0" dirty="0"/>
                  <a:t>Format of txt file for FRED: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0" dirty="0"/>
                  <a:t> (0)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0" dirty="0"/>
                  <a:t> (0)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(0)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(0)        BSDF value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(0)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(1)        BSDF value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(0)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(2)        BSDF value</a:t>
                </a:r>
              </a:p>
              <a:p>
                <a:pPr lvl="2"/>
                <a:r>
                  <a:rPr lang="en-US" sz="2000" dirty="0"/>
                  <a:t>…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(1)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(0)        BSDF value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(1)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(1)        BSDF value</a:t>
                </a:r>
              </a:p>
              <a:p>
                <a:pPr lvl="2"/>
                <a:r>
                  <a:rPr lang="en-US" sz="2000" dirty="0"/>
                  <a:t>…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(end)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(end)    BSDF value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(0)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(1)</a:t>
                </a:r>
              </a:p>
              <a:p>
                <a:pPr lvl="2"/>
                <a:r>
                  <a:rPr lang="en-US" sz="2000" dirty="0"/>
                  <a:t>…</a:t>
                </a:r>
              </a:p>
              <a:p>
                <a:pPr lvl="1"/>
                <a:r>
                  <a:rPr lang="en-US" sz="20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(end)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(end)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2B87D5-BE4B-563B-255A-EA55DF829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00" t="-3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F1711DB-5563-276C-7449-3E19BA4B5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818" y="3373737"/>
            <a:ext cx="4208104" cy="27028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33FA02-1040-10D1-EC0B-549EDB84D87C}"/>
              </a:ext>
            </a:extLst>
          </p:cNvPr>
          <p:cNvSpPr txBox="1"/>
          <p:nvPr/>
        </p:nvSpPr>
        <p:spPr>
          <a:xfrm>
            <a:off x="6172164" y="6173663"/>
            <a:ext cx="2689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1. FRED angle definitions.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9DA331-0AC9-C9F7-7A0D-3F1AB208C829}"/>
                  </a:ext>
                </a:extLst>
              </p:cNvPr>
              <p:cNvSpPr txBox="1"/>
              <p:nvPr/>
            </p:nvSpPr>
            <p:spPr>
              <a:xfrm>
                <a:off x="9699811" y="4075523"/>
                <a:ext cx="2492189" cy="140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08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tabLst/>
                  <a:defRPr/>
                </a:pPr>
                <a:r>
                  <a: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Angle definitions:</a:t>
                </a:r>
              </a:p>
              <a:p>
                <a:pPr marL="457200" indent="-406400">
                  <a:spcBef>
                    <a:spcPts val="560"/>
                  </a:spcBef>
                  <a:buSzPts val="2800"/>
                  <a:buFont typeface="Arial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1300" dirty="0"/>
                  <a:t> polar incident</a:t>
                </a:r>
              </a:p>
              <a:p>
                <a:pPr marL="457200" indent="-406400">
                  <a:spcBef>
                    <a:spcPts val="560"/>
                  </a:spcBef>
                  <a:buSzPts val="2800"/>
                  <a:buFont typeface="Arial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1300" dirty="0"/>
                  <a:t> azimuth incident</a:t>
                </a:r>
              </a:p>
              <a:p>
                <a:pPr marL="457200" indent="-406400">
                  <a:spcBef>
                    <a:spcPts val="560"/>
                  </a:spcBef>
                  <a:buSzPts val="2800"/>
                  <a:buFont typeface="Arial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3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1300" dirty="0"/>
                  <a:t> polar scatter</a:t>
                </a:r>
              </a:p>
              <a:p>
                <a:pPr marL="457200" indent="-406400">
                  <a:spcBef>
                    <a:spcPts val="560"/>
                  </a:spcBef>
                  <a:buSzPts val="2800"/>
                  <a:buFont typeface="Arial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3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1300" dirty="0"/>
                  <a:t> azimuth scatter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9DA331-0AC9-C9F7-7A0D-3F1AB208C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811" y="4075523"/>
                <a:ext cx="2492189" cy="1400383"/>
              </a:xfrm>
              <a:prstGeom prst="rect">
                <a:avLst/>
              </a:prstGeom>
              <a:blipFill>
                <a:blip r:embed="rId5"/>
                <a:stretch>
                  <a:fillRect l="-2445" t="-437" b="-12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02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43959-8013-BCEE-FDBC-DF9425EC0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From 2026/01/21 LOFT notebook,</a:t>
            </a:r>
          </a:p>
          <a:p>
            <a:pPr lvl="1"/>
            <a:endParaRPr lang="en-US" sz="1800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B36FDA-1489-9315-9734-5DC02BE29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2988584"/>
                  </p:ext>
                </p:extLst>
              </p:nvPr>
            </p:nvGraphicFramePr>
            <p:xfrm>
              <a:off x="609599" y="2328087"/>
              <a:ext cx="4062607" cy="20939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073">
                      <a:extLst>
                        <a:ext uri="{9D8B030D-6E8A-4147-A177-3AD203B41FA5}">
                          <a16:colId xmlns:a16="http://schemas.microsoft.com/office/drawing/2014/main" val="2604773758"/>
                        </a:ext>
                      </a:extLst>
                    </a:gridCol>
                    <a:gridCol w="3293534">
                      <a:extLst>
                        <a:ext uri="{9D8B030D-6E8A-4147-A177-3AD203B41FA5}">
                          <a16:colId xmlns:a16="http://schemas.microsoft.com/office/drawing/2014/main" val="21385932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RT-300S (machine coordinates)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2119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33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1600" b="0" dirty="0">
                              <a:ea typeface="Cambria Math" panose="02040503050406030204" pitchFamily="18" charset="0"/>
                            </a:rPr>
                            <a:t>*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8660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2669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1600" b="0" dirty="0">
                              <a:ea typeface="Cambria Math" panose="02040503050406030204" pitchFamily="18" charset="0"/>
                            </a:rPr>
                            <a:t>**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sign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d>
                                  </m:e>
                                </m:d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(90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),</m:t>
                                </m:r>
                              </m:oMath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all</m:t>
                                </m:r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real</m:t>
                                </m:r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numbers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60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3041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B36FDA-1489-9315-9734-5DC02BE29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2988584"/>
                  </p:ext>
                </p:extLst>
              </p:nvPr>
            </p:nvGraphicFramePr>
            <p:xfrm>
              <a:off x="609599" y="2328087"/>
              <a:ext cx="4062607" cy="20939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073">
                      <a:extLst>
                        <a:ext uri="{9D8B030D-6E8A-4147-A177-3AD203B41FA5}">
                          <a16:colId xmlns:a16="http://schemas.microsoft.com/office/drawing/2014/main" val="2604773758"/>
                        </a:ext>
                      </a:extLst>
                    </a:gridCol>
                    <a:gridCol w="3293534">
                      <a:extLst>
                        <a:ext uri="{9D8B030D-6E8A-4147-A177-3AD203B41FA5}">
                          <a16:colId xmlns:a16="http://schemas.microsoft.com/office/drawing/2014/main" val="21385932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RT-300S (machine coordinates)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2119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94" t="-101639" r="-433333" b="-3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32" t="-101639" r="-738" b="-368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335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94" t="-201639" r="-433333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32" t="-201639" r="-738" b="-268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8660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94" t="-301639" r="-433333" b="-1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32" t="-301639" r="-738" b="-168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2669507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94" t="-242574" r="-433333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32" t="-242574" r="-738" b="-1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63041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F1AB08-9FE9-FA7B-2147-BC1BB6E85C39}"/>
                  </a:ext>
                </a:extLst>
              </p:cNvPr>
              <p:cNvSpPr txBox="1"/>
              <p:nvPr/>
            </p:nvSpPr>
            <p:spPr>
              <a:xfrm>
                <a:off x="781523" y="4483761"/>
                <a:ext cx="38906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*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manually-set stage rotation;</a:t>
                </a:r>
              </a:p>
              <a:p>
                <a:r>
                  <a:rPr lang="en-US" dirty="0"/>
                  <a:t>**the (1-sign(R))(90) just adds 180 if R&lt;0.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F1AB08-9FE9-FA7B-2147-BC1BB6E85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23" y="4483761"/>
                <a:ext cx="3890683" cy="523220"/>
              </a:xfrm>
              <a:prstGeom prst="rect">
                <a:avLst/>
              </a:prstGeom>
              <a:blipFill>
                <a:blip r:embed="rId3"/>
                <a:stretch>
                  <a:fillRect l="-470" t="-23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6E5C5B6-4669-EDB5-03A8-39C88594FC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30" t="3894" r="5709" b="31512"/>
          <a:stretch>
            <a:fillRect/>
          </a:stretch>
        </p:blipFill>
        <p:spPr>
          <a:xfrm>
            <a:off x="5990018" y="81253"/>
            <a:ext cx="5917627" cy="6665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86FB8-94DA-670D-2D4C-AB6EDB8E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transformation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AE8E4-C12C-8438-8DEA-719FEC3B5287}"/>
              </a:ext>
            </a:extLst>
          </p:cNvPr>
          <p:cNvSpPr txBox="1"/>
          <p:nvPr/>
        </p:nvSpPr>
        <p:spPr>
          <a:xfrm>
            <a:off x="1927412" y="5747543"/>
            <a:ext cx="357927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Arbitrary because not actually measured, just hard-coded in FRED to manually force isotropic behavior – not sure if “isotropic setting” exists like in </a:t>
            </a:r>
            <a:r>
              <a:rPr lang="en-US" dirty="0" err="1"/>
              <a:t>Zemax</a:t>
            </a:r>
            <a:r>
              <a:rPr lang="en-US" dirty="0"/>
              <a:t> </a:t>
            </a:r>
            <a:r>
              <a:rPr lang="en-US" dirty="0" err="1"/>
              <a:t>bsdf</a:t>
            </a:r>
            <a:r>
              <a:rPr lang="en-US" dirty="0"/>
              <a:t> format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839121C-CB42-013D-241A-40D200117BD1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3717051" y="5369859"/>
            <a:ext cx="3107449" cy="37768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453A0E-962E-3537-BE9D-8CB5360EEDDF}"/>
                  </a:ext>
                </a:extLst>
              </p:cNvPr>
              <p:cNvSpPr txBox="1"/>
              <p:nvPr/>
            </p:nvSpPr>
            <p:spPr>
              <a:xfrm>
                <a:off x="6096000" y="178263"/>
                <a:ext cx="1864659" cy="7386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 are local axes of the sample in FRED coordinates.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453A0E-962E-3537-BE9D-8CB5360EE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8263"/>
                <a:ext cx="1864659" cy="738664"/>
              </a:xfrm>
              <a:prstGeom prst="rect">
                <a:avLst/>
              </a:prstGeom>
              <a:blipFill>
                <a:blip r:embed="rId5"/>
                <a:stretch>
                  <a:fillRect l="-649" t="-813" r="-2922" b="-73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060446"/>
      </p:ext>
    </p:extLst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74AC14ED87194BB3B0C005379ECB10" ma:contentTypeVersion="41" ma:contentTypeDescription="Create a new document." ma:contentTypeScope="" ma:versionID="23cef556ccca0e27fab193de5b85fd2b">
  <xsd:schema xmlns:xsd="http://www.w3.org/2001/XMLSchema" xmlns:xs="http://www.w3.org/2001/XMLSchema" xmlns:p="http://schemas.microsoft.com/office/2006/metadata/properties" xmlns:ns1="843b52bb-2659-484a-b433-9be16dd625b4" xmlns:ns3="56a343c3-2b9e-4101-bc12-765935141999" targetNamespace="http://schemas.microsoft.com/office/2006/metadata/properties" ma:root="true" ma:fieldsID="fe229f6c2d8c5e00d5d24f5446030e09" ns1:_="" ns3:_="">
    <xsd:import namespace="843b52bb-2659-484a-b433-9be16dd625b4"/>
    <xsd:import namespace="56a343c3-2b9e-4101-bc12-765935141999"/>
    <xsd:element name="properties">
      <xsd:complexType>
        <xsd:sequence>
          <xsd:element name="documentManagement">
            <xsd:complexType>
              <xsd:all>
                <xsd:element ref="ns1:Doc_x0020__x0023_" minOccurs="0"/>
                <xsd:element ref="ns1:Revision" minOccurs="0"/>
                <xsd:element ref="ns1:Doc_x0020_Status" minOccurs="0"/>
                <xsd:element ref="ns1:Controlled" minOccurs="0"/>
                <xsd:element ref="ns1:Author0" minOccurs="0"/>
                <xsd:element ref="ns1:Reviewer_x0020_1" minOccurs="0"/>
                <xsd:element ref="ns1:Reviewer_x0020_2" minOccurs="0"/>
                <xsd:element ref="ns1:Reviewer_x0020_3" minOccurs="0"/>
                <xsd:element ref="ns1:Reviewer_x0020_4" minOccurs="0"/>
                <xsd:element ref="ns1:Reviewer_x0020_5" minOccurs="0"/>
                <xsd:element ref="ns1:Comments" minOccurs="0"/>
                <xsd:element ref="ns1:Version_x0020_Date" minOccurs="0"/>
                <xsd:element ref="ns1:MediaServiceFastMetadata" minOccurs="0"/>
                <xsd:element ref="ns3:SharedWithUsers" minOccurs="0"/>
                <xsd:element ref="ns3:SharedWithDetails" minOccurs="0"/>
                <xsd:element ref="ns1:MediaServiceObjectDetectorVersions" minOccurs="0"/>
                <xsd:element ref="ns1:MediaServiceDateTaken" minOccurs="0"/>
                <xsd:element ref="ns1:MediaServiceGenerationTime" minOccurs="0"/>
                <xsd:element ref="ns1:MediaServiceEventHashCode" minOccurs="0"/>
                <xsd:element ref="ns1:MediaLengthInSeconds" minOccurs="0"/>
                <xsd:element ref="ns1:MediaServiceMetadata" minOccurs="0"/>
                <xsd:element ref="ns1:lcf76f155ced4ddcb4097134ff3c332f" minOccurs="0"/>
                <xsd:element ref="ns3:TaxCatchAll" minOccurs="0"/>
                <xsd:element ref="ns1:MediaServiceOCR" minOccurs="0"/>
                <xsd:element ref="ns1:MediaServiceSearchProperties" minOccurs="0"/>
                <xsd:element ref="ns1:MediaServiceLocation" minOccurs="0"/>
                <xsd:element ref="ns1:Reviewer_x0020_1_x0020_Response" minOccurs="0"/>
                <xsd:element ref="ns1:Reviewer_x0020_2_x0020_Response" minOccurs="0"/>
                <xsd:element ref="ns1:Reviewer_x0020_3_x0020_Response" minOccurs="0"/>
                <xsd:element ref="ns1:Reviewer_x0020_4_x0020_Response" minOccurs="0"/>
                <xsd:element ref="ns1:IDmatch" minOccurs="0"/>
                <xsd:element ref="ns1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b52bb-2659-484a-b433-9be16dd625b4" elementFormDefault="qualified">
    <xsd:import namespace="http://schemas.microsoft.com/office/2006/documentManagement/types"/>
    <xsd:import namespace="http://schemas.microsoft.com/office/infopath/2007/PartnerControls"/>
    <xsd:element name="Doc_x0020__x0023_" ma:index="3" nillable="true" ma:displayName="Doc/Dwg #" ma:internalName="Doc_x0020__x0023_">
      <xsd:simpleType>
        <xsd:restriction base="dms:Text">
          <xsd:maxLength value="255"/>
        </xsd:restriction>
      </xsd:simpleType>
    </xsd:element>
    <xsd:element name="Revision" ma:index="4" nillable="true" ma:displayName="Revision" ma:internalName="Revision">
      <xsd:simpleType>
        <xsd:restriction base="dms:Text">
          <xsd:maxLength value="3"/>
        </xsd:restriction>
      </xsd:simpleType>
    </xsd:element>
    <xsd:element name="Doc_x0020_Status" ma:index="5" nillable="true" ma:displayName="Doc Status" ma:default="Draft" ma:format="Dropdown" ma:internalName="Doc_x0020_Status">
      <xsd:simpleType>
        <xsd:restriction base="dms:Choice">
          <xsd:enumeration value="Draft"/>
          <xsd:enumeration value="Ready for Review"/>
          <xsd:enumeration value="In Review (serial)"/>
          <xsd:enumeration value="In Parallel Review"/>
          <xsd:enumeration value="Back To Author"/>
          <xsd:enumeration value="Ready for Signature"/>
          <xsd:enumeration value="In Signature"/>
          <xsd:enumeration value="Released"/>
          <xsd:enumeration value="Superceded"/>
          <xsd:enumeration value="Reference Only"/>
          <xsd:enumeration value="Test -p review"/>
        </xsd:restriction>
      </xsd:simpleType>
    </xsd:element>
    <xsd:element name="Controlled" ma:index="6" nillable="true" ma:displayName="Controlled" ma:default="No" ma:format="Dropdown" ma:internalName="Controlled">
      <xsd:simpleType>
        <xsd:restriction base="dms:Choice">
          <xsd:enumeration value="No"/>
          <xsd:enumeration value="Yes -Locked to changes"/>
        </xsd:restriction>
      </xsd:simpleType>
    </xsd:element>
    <xsd:element name="Author0" ma:index="7" nillable="true" ma:displayName="Main Author" ma:list="UserInfo" ma:SharePointGroup="36" ma:internalName="Author0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1" ma:index="8" nillable="true" ma:displayName="Reviewer 1" ma:list="UserInfo" ma:SharePointGroup="36" ma:internalName="Reviewer_x0020_1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2" ma:index="9" nillable="true" ma:displayName="Reviewer 2" ma:list="UserInfo" ma:SharePointGroup="36" ma:internalName="Reviewer_x0020_2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3" ma:index="10" nillable="true" ma:displayName="Reviewer 3" ma:list="UserInfo" ma:SharePointGroup="36" ma:internalName="Reviewer_x0020_3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4" ma:index="11" nillable="true" ma:displayName="Reviewer 4" ma:list="UserInfo" ma:SharePointGroup="36" ma:internalName="Reviewer_x0020_4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5" ma:index="12" nillable="true" ma:displayName="Reviewer 5" ma:list="UserInfo" ma:SharePointGroup="36" ma:internalName="Reviewer_x0020_5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mments" ma:index="13" nillable="true" ma:displayName="Comments" ma:internalName="Comments">
      <xsd:simpleType>
        <xsd:restriction base="dms:Text">
          <xsd:maxLength value="255"/>
        </xsd:restriction>
      </xsd:simpleType>
    </xsd:element>
    <xsd:element name="Version_x0020_Date" ma:index="14" nillable="true" ma:displayName="Version Date" ma:format="DateOnly" ma:internalName="Version_x0020_Date">
      <xsd:simpleType>
        <xsd:restriction base="dms:DateTim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Metadata" ma:index="27" nillable="true" ma:displayName="MediaServiceMetadata" ma:hidden="true" ma:internalName="MediaServiceMetadata" ma:readOnly="true">
      <xsd:simpleType>
        <xsd:restriction base="dms:Note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261fe117-45e6-4481-aa75-fdb3bd655c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32" nillable="true" ma:displayName="Location" ma:indexed="true" ma:internalName="MediaServiceLocation" ma:readOnly="true">
      <xsd:simpleType>
        <xsd:restriction base="dms:Text"/>
      </xsd:simpleType>
    </xsd:element>
    <xsd:element name="Reviewer_x0020_1_x0020_Response" ma:index="35" nillable="true" ma:displayName="Reviewer 1 Response" ma:default="No Response" ma:internalName="Reviewer_x0020_1_x0020_Response">
      <xsd:simpleType>
        <xsd:restriction base="dms:Text">
          <xsd:maxLength value="25"/>
        </xsd:restriction>
      </xsd:simpleType>
    </xsd:element>
    <xsd:element name="Reviewer_x0020_2_x0020_Response" ma:index="36" nillable="true" ma:displayName="Reviewer 2 Response" ma:default="No Response" ma:internalName="Reviewer_x0020_2_x0020_Response">
      <xsd:simpleType>
        <xsd:restriction base="dms:Text">
          <xsd:maxLength value="25"/>
        </xsd:restriction>
      </xsd:simpleType>
    </xsd:element>
    <xsd:element name="Reviewer_x0020_3_x0020_Response" ma:index="37" nillable="true" ma:displayName="Reviewer 3 Response" ma:default="No Response" ma:internalName="Reviewer_x0020_3_x0020_Response">
      <xsd:simpleType>
        <xsd:restriction base="dms:Text">
          <xsd:maxLength value="25"/>
        </xsd:restriction>
      </xsd:simpleType>
    </xsd:element>
    <xsd:element name="Reviewer_x0020_4_x0020_Response" ma:index="38" nillable="true" ma:displayName="Reviewer 4 Response" ma:default="No Response" ma:internalName="Reviewer_x0020_4_x0020_Response">
      <xsd:simpleType>
        <xsd:restriction base="dms:Text">
          <xsd:maxLength value="25"/>
        </xsd:restriction>
      </xsd:simpleType>
    </xsd:element>
    <xsd:element name="IDmatch" ma:index="39" nillable="true" ma:displayName="IDmatch" ma:internalName="IDmatch">
      <xsd:simpleType>
        <xsd:restriction base="dms:Text">
          <xsd:maxLength value="25"/>
        </xsd:restriction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a343c3-2b9e-4101-bc12-765935141999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9" nillable="true" ma:displayName="Taxonomy Catch All Column" ma:hidden="true" ma:list="{23e811c3-4550-4222-afdb-1d26fe639134}" ma:internalName="TaxCatchAll" ma:showField="CatchAllData" ma:web="56a343c3-2b9e-4101-bc12-7659351419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2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ewer_x0020_2_x0020_Response xmlns="843b52bb-2659-484a-b433-9be16dd625b4">No Response</Reviewer_x0020_2_x0020_Response>
    <Reviewer_x0020_1_x0020_Response xmlns="843b52bb-2659-484a-b433-9be16dd625b4">No Response</Reviewer_x0020_1_x0020_Response>
    <Controlled xmlns="843b52bb-2659-484a-b433-9be16dd625b4">No</Controlled>
    <Doc_x0020_Status xmlns="843b52bb-2659-484a-b433-9be16dd625b4">Draft</Doc_x0020_Status>
    <Reviewer_x0020_4_x0020_Response xmlns="843b52bb-2659-484a-b433-9be16dd625b4">No Response</Reviewer_x0020_4_x0020_Response>
    <Reviewer_x0020_3_x0020_Response xmlns="843b52bb-2659-484a-b433-9be16dd625b4">No Response</Reviewer_x0020_3_x0020_Response>
    <Version_x0020_Date xmlns="843b52bb-2659-484a-b433-9be16dd625b4" xsi:nil="true"/>
    <lcf76f155ced4ddcb4097134ff3c332f xmlns="843b52bb-2659-484a-b433-9be16dd625b4">
      <Terms xmlns="http://schemas.microsoft.com/office/infopath/2007/PartnerControls"/>
    </lcf76f155ced4ddcb4097134ff3c332f>
    <Reviewer_x0020_5 xmlns="843b52bb-2659-484a-b433-9be16dd625b4">
      <UserInfo>
        <DisplayName/>
        <AccountId xsi:nil="true"/>
        <AccountType/>
      </UserInfo>
    </Reviewer_x0020_5>
    <TaxCatchAll xmlns="56a343c3-2b9e-4101-bc12-765935141999" xsi:nil="true"/>
    <Comments xmlns="843b52bb-2659-484a-b433-9be16dd625b4" xsi:nil="true"/>
    <Reviewer_x0020_2 xmlns="843b52bb-2659-484a-b433-9be16dd625b4">
      <UserInfo>
        <DisplayName/>
        <AccountId xsi:nil="true"/>
        <AccountType/>
      </UserInfo>
    </Reviewer_x0020_2>
    <Reviewer_x0020_3 xmlns="843b52bb-2659-484a-b433-9be16dd625b4">
      <UserInfo>
        <DisplayName/>
        <AccountId xsi:nil="true"/>
        <AccountType/>
      </UserInfo>
    </Reviewer_x0020_3>
    <Doc_x0020__x0023_ xmlns="843b52bb-2659-484a-b433-9be16dd625b4" xsi:nil="true"/>
    <Revision xmlns="843b52bb-2659-484a-b433-9be16dd625b4" xsi:nil="true"/>
    <IDmatch xmlns="843b52bb-2659-484a-b433-9be16dd625b4" xsi:nil="true"/>
    <Author0 xmlns="843b52bb-2659-484a-b433-9be16dd625b4">
      <UserInfo>
        <DisplayName/>
        <AccountId xsi:nil="true"/>
        <AccountType/>
      </UserInfo>
    </Author0>
    <Reviewer_x0020_1 xmlns="843b52bb-2659-484a-b433-9be16dd625b4">
      <UserInfo>
        <DisplayName/>
        <AccountId xsi:nil="true"/>
        <AccountType/>
      </UserInfo>
    </Reviewer_x0020_1>
    <Reviewer_x0020_4 xmlns="843b52bb-2659-484a-b433-9be16dd625b4">
      <UserInfo>
        <DisplayName/>
        <AccountId xsi:nil="true"/>
        <AccountType/>
      </UserInfo>
    </Reviewer_x0020_4>
  </documentManagement>
</p:properties>
</file>

<file path=customXml/itemProps1.xml><?xml version="1.0" encoding="utf-8"?>
<ds:datastoreItem xmlns:ds="http://schemas.openxmlformats.org/officeDocument/2006/customXml" ds:itemID="{B248A3FD-C071-4BE8-9248-E01D4E4A50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3b52bb-2659-484a-b433-9be16dd625b4"/>
    <ds:schemaRef ds:uri="56a343c3-2b9e-4101-bc12-7659351419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A6EBEC-4D29-49EF-9234-C6A21EACEF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287468-CBDE-451C-BE27-49CF9503199F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56a343c3-2b9e-4101-bc12-765935141999"/>
    <ds:schemaRef ds:uri="843b52bb-2659-484a-b433-9be16dd625b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17306</TotalTime>
  <Words>273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Cambria Math</vt:lpstr>
      <vt:lpstr>Arial</vt:lpstr>
      <vt:lpstr>Arial Black</vt:lpstr>
      <vt:lpstr>Calibri</vt:lpstr>
      <vt:lpstr>Essential</vt:lpstr>
      <vt:lpstr>Coordinates of RT-300S and FRED</vt:lpstr>
      <vt:lpstr>FRED format</vt:lpstr>
      <vt:lpstr>Coordinate transformation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KINEMATICALLY ENGAGED YOKE MECHANISM (KEYS) AND MOLDLESS OPTICAL SLUMPING</dc:title>
  <dc:creator>Jacob Krell</dc:creator>
  <cp:lastModifiedBy>Krell, Jacob Patrick - (jacobpkrell)</cp:lastModifiedBy>
  <cp:revision>942</cp:revision>
  <dcterms:created xsi:type="dcterms:W3CDTF">2017-07-21T19:00:27Z</dcterms:created>
  <dcterms:modified xsi:type="dcterms:W3CDTF">2026-01-27T18:55:20Z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0x010100E974AC14ED87194BB3B0C005379ECB10</vt:lpwstr>
  </property>
  <property fmtid="{D5CDD505-2E9C-101B-9397-08002B2CF9AE}" pid="3" name="MediaServiceImageTags">
    <vt:lpwstr/>
  </property>
</Properties>
</file>