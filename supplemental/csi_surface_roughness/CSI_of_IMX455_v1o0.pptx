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12192000" cy="6858000"/>
  <p:notesSz cx="6858000" cy="9144000"/>
  <p:embeddedFontLst>
    <p:embeddedFont>
      <p:font typeface="Arial Black" panose="020B0A04020102020204" pitchFamily="34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g7b4a4HOdmfooKQnQZaRoq93cM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B7386-269C-4573-83AB-00D8F7DF2D06}" v="2" dt="2025-03-04T03:22:16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32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parza, Marcos A - (maesparza)" userId="1b0460fc-f8b0-40fb-b03b-27fb3d2d7d63" providerId="ADAL" clId="{9E4B7386-269C-4573-83AB-00D8F7DF2D06}"/>
    <pc:docChg chg="custSel addSld delSld modSld">
      <pc:chgData name="Esparza, Marcos A - (maesparza)" userId="1b0460fc-f8b0-40fb-b03b-27fb3d2d7d63" providerId="ADAL" clId="{9E4B7386-269C-4573-83AB-00D8F7DF2D06}" dt="2025-03-04T03:23:03.657" v="427" actId="20577"/>
      <pc:docMkLst>
        <pc:docMk/>
      </pc:docMkLst>
      <pc:sldChg chg="modSp mod">
        <pc:chgData name="Esparza, Marcos A - (maesparza)" userId="1b0460fc-f8b0-40fb-b03b-27fb3d2d7d63" providerId="ADAL" clId="{9E4B7386-269C-4573-83AB-00D8F7DF2D06}" dt="2025-03-04T03:20:34.294" v="6" actId="20577"/>
        <pc:sldMkLst>
          <pc:docMk/>
          <pc:sldMk cId="3476571280" sldId="272"/>
        </pc:sldMkLst>
        <pc:spChg chg="mod">
          <ac:chgData name="Esparza, Marcos A - (maesparza)" userId="1b0460fc-f8b0-40fb-b03b-27fb3d2d7d63" providerId="ADAL" clId="{9E4B7386-269C-4573-83AB-00D8F7DF2D06}" dt="2025-03-04T03:20:34.294" v="6" actId="20577"/>
          <ac:spMkLst>
            <pc:docMk/>
            <pc:sldMk cId="3476571280" sldId="272"/>
            <ac:spMk id="2" creationId="{7C6BCC2C-DE94-B8FA-97F7-375F365DB6F6}"/>
          </ac:spMkLst>
        </pc:spChg>
      </pc:sldChg>
      <pc:sldChg chg="addSp delSp modSp mod">
        <pc:chgData name="Esparza, Marcos A - (maesparza)" userId="1b0460fc-f8b0-40fb-b03b-27fb3d2d7d63" providerId="ADAL" clId="{9E4B7386-269C-4573-83AB-00D8F7DF2D06}" dt="2025-03-04T03:23:03.657" v="427" actId="20577"/>
        <pc:sldMkLst>
          <pc:docMk/>
          <pc:sldMk cId="4092025891" sldId="273"/>
        </pc:sldMkLst>
        <pc:spChg chg="mod">
          <ac:chgData name="Esparza, Marcos A - (maesparza)" userId="1b0460fc-f8b0-40fb-b03b-27fb3d2d7d63" providerId="ADAL" clId="{9E4B7386-269C-4573-83AB-00D8F7DF2D06}" dt="2025-03-04T03:23:03.657" v="427" actId="20577"/>
          <ac:spMkLst>
            <pc:docMk/>
            <pc:sldMk cId="4092025891" sldId="273"/>
            <ac:spMk id="2" creationId="{D36A5D25-5FB4-8142-A27B-8DE6C8E67AE1}"/>
          </ac:spMkLst>
        </pc:spChg>
        <pc:spChg chg="mod">
          <ac:chgData name="Esparza, Marcos A - (maesparza)" userId="1b0460fc-f8b0-40fb-b03b-27fb3d2d7d63" providerId="ADAL" clId="{9E4B7386-269C-4573-83AB-00D8F7DF2D06}" dt="2025-03-04T03:22:52.635" v="391" actId="20577"/>
          <ac:spMkLst>
            <pc:docMk/>
            <pc:sldMk cId="4092025891" sldId="273"/>
            <ac:spMk id="3" creationId="{9073D255-9339-484C-AB97-2B6198140E78}"/>
          </ac:spMkLst>
        </pc:spChg>
        <pc:picChg chg="del">
          <ac:chgData name="Esparza, Marcos A - (maesparza)" userId="1b0460fc-f8b0-40fb-b03b-27fb3d2d7d63" providerId="ADAL" clId="{9E4B7386-269C-4573-83AB-00D8F7DF2D06}" dt="2025-03-04T03:20:50.680" v="28" actId="478"/>
          <ac:picMkLst>
            <pc:docMk/>
            <pc:sldMk cId="4092025891" sldId="273"/>
            <ac:picMk id="5" creationId="{1E6D37A7-84C1-94AE-624E-46A6294646D0}"/>
          </ac:picMkLst>
        </pc:picChg>
        <pc:picChg chg="add mod">
          <ac:chgData name="Esparza, Marcos A - (maesparza)" userId="1b0460fc-f8b0-40fb-b03b-27fb3d2d7d63" providerId="ADAL" clId="{9E4B7386-269C-4573-83AB-00D8F7DF2D06}" dt="2025-03-04T03:20:58.915" v="35" actId="1076"/>
          <ac:picMkLst>
            <pc:docMk/>
            <pc:sldMk cId="4092025891" sldId="273"/>
            <ac:picMk id="6" creationId="{1D044173-699F-4535-85D5-F58AB05FCBF0}"/>
          </ac:picMkLst>
        </pc:picChg>
      </pc:sldChg>
      <pc:sldChg chg="addSp delSp modSp new mod">
        <pc:chgData name="Esparza, Marcos A - (maesparza)" userId="1b0460fc-f8b0-40fb-b03b-27fb3d2d7d63" providerId="ADAL" clId="{9E4B7386-269C-4573-83AB-00D8F7DF2D06}" dt="2025-03-04T03:22:27.743" v="307" actId="20577"/>
        <pc:sldMkLst>
          <pc:docMk/>
          <pc:sldMk cId="2251461906" sldId="274"/>
        </pc:sldMkLst>
        <pc:spChg chg="mod">
          <ac:chgData name="Esparza, Marcos A - (maesparza)" userId="1b0460fc-f8b0-40fb-b03b-27fb3d2d7d63" providerId="ADAL" clId="{9E4B7386-269C-4573-83AB-00D8F7DF2D06}" dt="2025-03-04T03:22:27.743" v="307" actId="20577"/>
          <ac:spMkLst>
            <pc:docMk/>
            <pc:sldMk cId="2251461906" sldId="274"/>
            <ac:spMk id="2" creationId="{5A48D89F-1D95-1254-0CA4-3A4A6DF9CA32}"/>
          </ac:spMkLst>
        </pc:spChg>
        <pc:spChg chg="del">
          <ac:chgData name="Esparza, Marcos A - (maesparza)" userId="1b0460fc-f8b0-40fb-b03b-27fb3d2d7d63" providerId="ADAL" clId="{9E4B7386-269C-4573-83AB-00D8F7DF2D06}" dt="2025-03-04T03:22:16.697" v="259" actId="478"/>
          <ac:spMkLst>
            <pc:docMk/>
            <pc:sldMk cId="2251461906" sldId="274"/>
            <ac:spMk id="3" creationId="{A89AD76F-8628-1923-30C6-F3AFB1AB1B4D}"/>
          </ac:spMkLst>
        </pc:spChg>
        <pc:picChg chg="add mod">
          <ac:chgData name="Esparza, Marcos A - (maesparza)" userId="1b0460fc-f8b0-40fb-b03b-27fb3d2d7d63" providerId="ADAL" clId="{9E4B7386-269C-4573-83AB-00D8F7DF2D06}" dt="2025-03-04T03:22:19.276" v="262" actId="27614"/>
          <ac:picMkLst>
            <pc:docMk/>
            <pc:sldMk cId="2251461906" sldId="274"/>
            <ac:picMk id="5" creationId="{1215DAFD-9538-5E3F-5E20-CA90D7A0790F}"/>
          </ac:picMkLst>
        </pc:picChg>
      </pc:sldChg>
      <pc:sldChg chg="del">
        <pc:chgData name="Esparza, Marcos A - (maesparza)" userId="1b0460fc-f8b0-40fb-b03b-27fb3d2d7d63" providerId="ADAL" clId="{9E4B7386-269C-4573-83AB-00D8F7DF2D06}" dt="2025-03-04T03:22:02.256" v="257" actId="47"/>
        <pc:sldMkLst>
          <pc:docMk/>
          <pc:sldMk cId="2884476172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Arial Black"/>
              <a:buNone/>
              <a:defRPr sz="5400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2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4766733" y="1600200"/>
            <a:ext cx="6815667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609601" y="1600200"/>
            <a:ext cx="4011084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0"/>
          <p:cNvSpPr>
            <a:spLocks noGrp="1"/>
          </p:cNvSpPr>
          <p:nvPr>
            <p:ph type="pic" idx="2"/>
          </p:nvPr>
        </p:nvSpPr>
        <p:spPr>
          <a:xfrm>
            <a:off x="-1" y="0"/>
            <a:ext cx="12001169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9" name="Google Shape;59;p30"/>
          <p:cNvSpPr txBox="1">
            <a:spLocks noGrp="1"/>
          </p:cNvSpPr>
          <p:nvPr>
            <p:ph type="body" idx="1"/>
          </p:nvPr>
        </p:nvSpPr>
        <p:spPr>
          <a:xfrm>
            <a:off x="609600" y="5715000"/>
            <a:ext cx="108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body" idx="1"/>
          </p:nvPr>
        </p:nvSpPr>
        <p:spPr>
          <a:xfrm rot="5400000">
            <a:off x="3502818" y="-1140618"/>
            <a:ext cx="4373563" cy="10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>
            <a:spLocks noGrp="1"/>
          </p:cNvSpPr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body" idx="1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: cyan">
  <p:cSld name="Title slide: cya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ctrTitle"/>
          </p:nvPr>
        </p:nvSpPr>
        <p:spPr>
          <a:xfrm>
            <a:off x="1212783" y="2457203"/>
            <a:ext cx="7161196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 Black"/>
              <a:buNone/>
              <a:defRPr sz="3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ubTitle" idx="1"/>
          </p:nvPr>
        </p:nvSpPr>
        <p:spPr>
          <a:xfrm>
            <a:off x="1212783" y="3709760"/>
            <a:ext cx="71611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33"/>
          <p:cNvSpPr/>
          <p:nvPr/>
        </p:nvSpPr>
        <p:spPr>
          <a:xfrm>
            <a:off x="7826038" y="-6810"/>
            <a:ext cx="4372773" cy="6872473"/>
          </a:xfrm>
          <a:custGeom>
            <a:avLst/>
            <a:gdLst/>
            <a:ahLst/>
            <a:cxnLst/>
            <a:rect l="l" t="t" r="r" b="b"/>
            <a:pathLst>
              <a:path w="3279580" h="5154355" extrusionOk="0">
                <a:moveTo>
                  <a:pt x="0" y="0"/>
                </a:moveTo>
                <a:lnTo>
                  <a:pt x="3279580" y="5108"/>
                </a:lnTo>
                <a:lnTo>
                  <a:pt x="3279580" y="5149247"/>
                </a:lnTo>
                <a:lnTo>
                  <a:pt x="1568273" y="5154355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 flipH="1">
            <a:off x="7002657" y="0"/>
            <a:ext cx="3671224" cy="6858000"/>
          </a:xfrm>
          <a:prstGeom prst="parallelogram">
            <a:avLst>
              <a:gd name="adj" fmla="val 97000"/>
            </a:avLst>
          </a:prstGeom>
          <a:gradFill>
            <a:gsLst>
              <a:gs pos="0">
                <a:schemeClr val="dk2"/>
              </a:gs>
              <a:gs pos="51000">
                <a:schemeClr val="dk2"/>
              </a:gs>
              <a:gs pos="78000">
                <a:schemeClr val="accen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 Black"/>
              <a:buNone/>
              <a:defRPr sz="3600" b="0" i="0" u="none" strike="noStrike" cap="none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1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1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14969" y="396067"/>
            <a:ext cx="341508" cy="25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1" descr="COSLogoForPrintLandscape"/>
          <p:cNvPicPr preferRelativeResize="0"/>
          <p:nvPr/>
        </p:nvPicPr>
        <p:blipFill rotWithShape="1">
          <a:blip r:embed="rId12">
            <a:alphaModFix/>
          </a:blip>
          <a:srcRect l="9000" t="1455" r="78802"/>
          <a:stretch/>
        </p:blipFill>
        <p:spPr>
          <a:xfrm>
            <a:off x="10150523" y="372883"/>
            <a:ext cx="380071" cy="28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1" descr="UA_horiz_color_250_no%20ta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88262" y="398981"/>
            <a:ext cx="1322493" cy="28169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CC2C-DE94-B8FA-97F7-375F365DB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White light interferometer</a:t>
            </a:r>
            <a:br>
              <a:rPr lang="en-US" sz="3600" dirty="0"/>
            </a:br>
            <a:r>
              <a:rPr lang="en-US" sz="3600" dirty="0"/>
              <a:t>measurements of Sony IMX455 detector</a:t>
            </a:r>
            <a:br>
              <a:rPr lang="en-US" sz="3600" dirty="0"/>
            </a:br>
            <a:r>
              <a:rPr lang="en-US" sz="2400" dirty="0">
                <a:solidFill>
                  <a:schemeClr val="bg2"/>
                </a:solidFill>
              </a:rPr>
              <a:t>[measured at Wyant College; cover glass removed]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E3039-6CC8-7628-B7C2-FDBBE2D38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Jacob P. Krell</a:t>
            </a:r>
          </a:p>
          <a:p>
            <a:r>
              <a:rPr lang="en-US" dirty="0"/>
              <a:t>2025/08/29</a:t>
            </a:r>
          </a:p>
        </p:txBody>
      </p:sp>
    </p:spTree>
    <p:extLst>
      <p:ext uri="{BB962C8B-B14F-4D97-AF65-F5344CB8AC3E}">
        <p14:creationId xmlns:p14="http://schemas.microsoft.com/office/powerpoint/2010/main" val="347657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5D25-5FB4-8142-A27B-8DE6C8E6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2718"/>
            <a:ext cx="9011323" cy="685800"/>
          </a:xfrm>
        </p:spPr>
        <p:txBody>
          <a:bodyPr/>
          <a:lstStyle/>
          <a:p>
            <a:r>
              <a:rPr lang="en-US" dirty="0"/>
              <a:t>50x mag., top-right corner</a:t>
            </a:r>
          </a:p>
        </p:txBody>
      </p:sp>
      <p:pic>
        <p:nvPicPr>
          <p:cNvPr id="9" name="Picture 8" descr="A computer generated image of a rectangular object&#10;&#10;AI-generated content may be incorrect.">
            <a:extLst>
              <a:ext uri="{FF2B5EF4-FFF2-40B4-BE49-F238E27FC236}">
                <a16:creationId xmlns:a16="http://schemas.microsoft.com/office/drawing/2014/main" id="{15CA26B0-98EA-2891-899F-62DBF8346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89" y="1193800"/>
            <a:ext cx="6603325" cy="3750734"/>
          </a:xfrm>
          <a:prstGeom prst="rect">
            <a:avLst/>
          </a:prstGeom>
        </p:spPr>
      </p:pic>
      <p:pic>
        <p:nvPicPr>
          <p:cNvPr id="11" name="Picture 10" descr="A blue and orange dot pattern&#10;&#10;AI-generated content may be incorrect.">
            <a:extLst>
              <a:ext uri="{FF2B5EF4-FFF2-40B4-BE49-F238E27FC236}">
                <a16:creationId xmlns:a16="http://schemas.microsoft.com/office/drawing/2014/main" id="{E18FACFB-8C6B-6F43-055F-F000AACB4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381" y="5159220"/>
            <a:ext cx="2323522" cy="1610458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99503CA-0A48-F82E-1CB6-A4FED1C673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07" t="2908" r="254" b="3330"/>
          <a:stretch>
            <a:fillRect/>
          </a:stretch>
        </p:blipFill>
        <p:spPr>
          <a:xfrm>
            <a:off x="7071434" y="1061670"/>
            <a:ext cx="4671833" cy="3810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F90FEB-DA9A-C301-3691-EA9A1D1BD937}"/>
              </a:ext>
            </a:extLst>
          </p:cNvPr>
          <p:cNvSpPr txBox="1"/>
          <p:nvPr/>
        </p:nvSpPr>
        <p:spPr>
          <a:xfrm>
            <a:off x="2946400" y="5410200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3"/>
                </a:solidFill>
              </a:rPr>
              <a:t>Blue is </a:t>
            </a:r>
            <a:r>
              <a:rPr lang="en-US" sz="1800" b="1" i="1" dirty="0">
                <a:solidFill>
                  <a:schemeClr val="accent3"/>
                </a:solidFill>
              </a:rPr>
              <a:t>not </a:t>
            </a:r>
            <a:r>
              <a:rPr lang="en-US" sz="1800" b="1" dirty="0">
                <a:solidFill>
                  <a:schemeClr val="accent3"/>
                </a:solidFill>
              </a:rPr>
              <a:t>pixels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FDE3E-B0EE-4558-A18B-FFB8B78BA902}"/>
              </a:ext>
            </a:extLst>
          </p:cNvPr>
          <p:cNvCxnSpPr>
            <a:cxnSpLocks/>
          </p:cNvCxnSpPr>
          <p:nvPr/>
        </p:nvCxnSpPr>
        <p:spPr>
          <a:xfrm flipH="1" flipV="1">
            <a:off x="1913467" y="4433811"/>
            <a:ext cx="1032933" cy="976389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ED5BEF-A300-39BD-F6CD-BF4F4046ADAC}"/>
              </a:ext>
            </a:extLst>
          </p:cNvPr>
          <p:cNvCxnSpPr>
            <a:cxnSpLocks/>
          </p:cNvCxnSpPr>
          <p:nvPr/>
        </p:nvCxnSpPr>
        <p:spPr>
          <a:xfrm flipV="1">
            <a:off x="5003800" y="4334933"/>
            <a:ext cx="2006602" cy="1075267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5CF559-3EA4-2A51-565F-77AB0607DE7F}"/>
              </a:ext>
            </a:extLst>
          </p:cNvPr>
          <p:cNvCxnSpPr>
            <a:cxnSpLocks/>
          </p:cNvCxnSpPr>
          <p:nvPr/>
        </p:nvCxnSpPr>
        <p:spPr>
          <a:xfrm>
            <a:off x="5080050" y="5664200"/>
            <a:ext cx="2074283" cy="31758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B9D7A68-8999-C399-32E5-7FC0EF67CF07}"/>
              </a:ext>
            </a:extLst>
          </p:cNvPr>
          <p:cNvSpPr txBox="1"/>
          <p:nvPr/>
        </p:nvSpPr>
        <p:spPr>
          <a:xfrm>
            <a:off x="1957576" y="6058951"/>
            <a:ext cx="3224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Pixels are here (not in above measurement)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A0E4AC-1B5E-B298-F40D-874F852E5666}"/>
              </a:ext>
            </a:extLst>
          </p:cNvPr>
          <p:cNvCxnSpPr>
            <a:cxnSpLocks/>
          </p:cNvCxnSpPr>
          <p:nvPr/>
        </p:nvCxnSpPr>
        <p:spPr>
          <a:xfrm>
            <a:off x="4748074" y="6321081"/>
            <a:ext cx="2074283" cy="31758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1590F4-AF57-E24D-E4E2-F40632017D2E}"/>
              </a:ext>
            </a:extLst>
          </p:cNvPr>
          <p:cNvCxnSpPr>
            <a:cxnSpLocks/>
          </p:cNvCxnSpPr>
          <p:nvPr/>
        </p:nvCxnSpPr>
        <p:spPr>
          <a:xfrm>
            <a:off x="7652142" y="4433811"/>
            <a:ext cx="0" cy="1161055"/>
          </a:xfrm>
          <a:prstGeom prst="straightConnector1">
            <a:avLst/>
          </a:prstGeom>
          <a:ln w="762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D673EF-EB7A-5D1D-742D-357FA726425E}"/>
              </a:ext>
            </a:extLst>
          </p:cNvPr>
          <p:cNvCxnSpPr>
            <a:cxnSpLocks/>
          </p:cNvCxnSpPr>
          <p:nvPr/>
        </p:nvCxnSpPr>
        <p:spPr>
          <a:xfrm flipH="1">
            <a:off x="8232851" y="4521200"/>
            <a:ext cx="487816" cy="1258332"/>
          </a:xfrm>
          <a:prstGeom prst="straightConnector1">
            <a:avLst/>
          </a:prstGeom>
          <a:ln w="762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ABEEE1-5BB9-C517-8A41-3B4D281371C3}"/>
              </a:ext>
            </a:extLst>
          </p:cNvPr>
          <p:cNvCxnSpPr>
            <a:cxnSpLocks/>
          </p:cNvCxnSpPr>
          <p:nvPr/>
        </p:nvCxnSpPr>
        <p:spPr>
          <a:xfrm flipV="1">
            <a:off x="3801533" y="1909426"/>
            <a:ext cx="1202267" cy="618942"/>
          </a:xfrm>
          <a:prstGeom prst="straightConnector1">
            <a:avLst/>
          </a:prstGeom>
          <a:ln w="57150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EE75FD4-746F-6DE1-27E1-1254F9DF22C1}"/>
              </a:ext>
            </a:extLst>
          </p:cNvPr>
          <p:cNvSpPr txBox="1"/>
          <p:nvPr/>
        </p:nvSpPr>
        <p:spPr>
          <a:xfrm>
            <a:off x="4505179" y="2132578"/>
            <a:ext cx="322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Glass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23ABF1-A50C-4CE0-5675-5C2BB5BCCF4E}"/>
              </a:ext>
            </a:extLst>
          </p:cNvPr>
          <p:cNvSpPr/>
          <p:nvPr/>
        </p:nvSpPr>
        <p:spPr>
          <a:xfrm rot="595073">
            <a:off x="4480626" y="1589023"/>
            <a:ext cx="2035740" cy="34435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842B44-D8E2-F4AE-7767-546F64AF90BD}"/>
              </a:ext>
            </a:extLst>
          </p:cNvPr>
          <p:cNvSpPr txBox="1"/>
          <p:nvPr/>
        </p:nvSpPr>
        <p:spPr>
          <a:xfrm rot="553473">
            <a:off x="4734843" y="1719665"/>
            <a:ext cx="322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Metal frame</a:t>
            </a:r>
          </a:p>
        </p:txBody>
      </p:sp>
    </p:spTree>
    <p:extLst>
      <p:ext uri="{BB962C8B-B14F-4D97-AF65-F5344CB8AC3E}">
        <p14:creationId xmlns:p14="http://schemas.microsoft.com/office/powerpoint/2010/main" val="409202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93D7-39BF-646E-FAD0-2C200888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C5AE-3330-470A-A8A9-C34123EB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2718"/>
            <a:ext cx="9011323" cy="685800"/>
          </a:xfrm>
        </p:spPr>
        <p:txBody>
          <a:bodyPr/>
          <a:lstStyle/>
          <a:p>
            <a:r>
              <a:rPr lang="en-US" dirty="0"/>
              <a:t>50x mag., center (pixels)</a:t>
            </a:r>
          </a:p>
        </p:txBody>
      </p:sp>
      <p:pic>
        <p:nvPicPr>
          <p:cNvPr id="6" name="Picture 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1A34551C-C72B-8C03-C577-48500CD17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36" y="916254"/>
            <a:ext cx="9242891" cy="5455360"/>
          </a:xfrm>
          <a:prstGeom prst="rect">
            <a:avLst/>
          </a:prstGeom>
        </p:spPr>
      </p:pic>
      <p:pic>
        <p:nvPicPr>
          <p:cNvPr id="8" name="Picture 7" descr="A rainbow colored square with white text&#10;&#10;AI-generated content may be incorrect.">
            <a:extLst>
              <a:ext uri="{FF2B5EF4-FFF2-40B4-BE49-F238E27FC236}">
                <a16:creationId xmlns:a16="http://schemas.microsoft.com/office/drawing/2014/main" id="{FCEAA2FB-272E-465F-612A-9652564A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474"/>
          <a:stretch>
            <a:fillRect/>
          </a:stretch>
        </p:blipFill>
        <p:spPr>
          <a:xfrm>
            <a:off x="11159067" y="889318"/>
            <a:ext cx="579587" cy="5732434"/>
          </a:xfrm>
          <a:prstGeom prst="rect">
            <a:avLst/>
          </a:prstGeom>
        </p:spPr>
      </p:pic>
      <p:pic>
        <p:nvPicPr>
          <p:cNvPr id="4" name="Picture 3" descr="A rainbow colored square with white text&#10;&#10;AI-generated content may be incorrect.">
            <a:extLst>
              <a:ext uri="{FF2B5EF4-FFF2-40B4-BE49-F238E27FC236}">
                <a16:creationId xmlns:a16="http://schemas.microsoft.com/office/drawing/2014/main" id="{8EC333D8-8DFE-B4EE-1DEB-4B789A5F6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958" r="13235" b="44923"/>
          <a:stretch>
            <a:fillRect/>
          </a:stretch>
        </p:blipFill>
        <p:spPr>
          <a:xfrm>
            <a:off x="5232400" y="5484624"/>
            <a:ext cx="5644349" cy="1313241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58087887"/>
      </p:ext>
    </p:extLst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10474</TotalTime>
  <Words>53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Arial Black</vt:lpstr>
      <vt:lpstr>Arial</vt:lpstr>
      <vt:lpstr>Essential</vt:lpstr>
      <vt:lpstr>White light interferometer measurements of Sony IMX455 detector [measured at Wyant College; cover glass removed]</vt:lpstr>
      <vt:lpstr>50x mag., top-right corner</vt:lpstr>
      <vt:lpstr>50x mag., center (pixels)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KINEMATICALLY ENGAGED YOKE MECHANISM (KEYS) AND MOLDLESS OPTICAL SLUMPING</dc:title>
  <dc:creator>Marcos Esparza</dc:creator>
  <cp:lastModifiedBy>Krell, Jacob Patrick - (jacobpkrell)</cp:lastModifiedBy>
  <cp:revision>156</cp:revision>
  <dcterms:created xsi:type="dcterms:W3CDTF">2017-07-21T19:00:27Z</dcterms:created>
  <dcterms:modified xsi:type="dcterms:W3CDTF">2026-02-24T21:26:02Z</dcterms:modified>
</cp:coreProperties>
</file>